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74" r:id="rId1"/>
  </p:sldMasterIdLst>
  <p:notesMasterIdLst>
    <p:notesMasterId r:id="rId118"/>
  </p:notesMasterIdLst>
  <p:sldIdLst>
    <p:sldId id="455" r:id="rId2"/>
    <p:sldId id="805" r:id="rId3"/>
    <p:sldId id="810" r:id="rId4"/>
    <p:sldId id="887" r:id="rId5"/>
    <p:sldId id="886" r:id="rId6"/>
    <p:sldId id="880" r:id="rId7"/>
    <p:sldId id="828" r:id="rId8"/>
    <p:sldId id="266" r:id="rId9"/>
    <p:sldId id="453" r:id="rId10"/>
    <p:sldId id="523" r:id="rId11"/>
    <p:sldId id="878" r:id="rId12"/>
    <p:sldId id="898" r:id="rId13"/>
    <p:sldId id="815" r:id="rId14"/>
    <p:sldId id="939" r:id="rId15"/>
    <p:sldId id="823" r:id="rId16"/>
    <p:sldId id="824" r:id="rId17"/>
    <p:sldId id="825" r:id="rId18"/>
    <p:sldId id="613" r:id="rId19"/>
    <p:sldId id="829" r:id="rId20"/>
    <p:sldId id="501" r:id="rId21"/>
    <p:sldId id="849" r:id="rId22"/>
    <p:sldId id="530" r:id="rId23"/>
    <p:sldId id="940" r:id="rId24"/>
    <p:sldId id="830" r:id="rId25"/>
    <p:sldId id="831" r:id="rId26"/>
    <p:sldId id="832" r:id="rId27"/>
    <p:sldId id="833" r:id="rId28"/>
    <p:sldId id="543" r:id="rId29"/>
    <p:sldId id="534" r:id="rId30"/>
    <p:sldId id="535" r:id="rId31"/>
    <p:sldId id="536" r:id="rId32"/>
    <p:sldId id="542" r:id="rId33"/>
    <p:sldId id="540" r:id="rId34"/>
    <p:sldId id="541" r:id="rId35"/>
    <p:sldId id="539" r:id="rId36"/>
    <p:sldId id="544" r:id="rId37"/>
    <p:sldId id="538" r:id="rId38"/>
    <p:sldId id="552" r:id="rId39"/>
    <p:sldId id="533" r:id="rId40"/>
    <p:sldId id="545" r:id="rId41"/>
    <p:sldId id="551" r:id="rId42"/>
    <p:sldId id="549" r:id="rId43"/>
    <p:sldId id="548" r:id="rId44"/>
    <p:sldId id="550" r:id="rId45"/>
    <p:sldId id="851" r:id="rId46"/>
    <p:sldId id="850" r:id="rId47"/>
    <p:sldId id="579" r:id="rId48"/>
    <p:sldId id="580" r:id="rId49"/>
    <p:sldId id="581" r:id="rId50"/>
    <p:sldId id="582" r:id="rId51"/>
    <p:sldId id="583" r:id="rId52"/>
    <p:sldId id="852" r:id="rId53"/>
    <p:sldId id="584" r:id="rId54"/>
    <p:sldId id="853" r:id="rId55"/>
    <p:sldId id="586" r:id="rId56"/>
    <p:sldId id="835" r:id="rId57"/>
    <p:sldId id="588" r:id="rId58"/>
    <p:sldId id="589" r:id="rId59"/>
    <p:sldId id="590" r:id="rId60"/>
    <p:sldId id="591" r:id="rId61"/>
    <p:sldId id="592" r:id="rId62"/>
    <p:sldId id="593" r:id="rId63"/>
    <p:sldId id="594" r:id="rId64"/>
    <p:sldId id="597" r:id="rId65"/>
    <p:sldId id="603" r:id="rId66"/>
    <p:sldId id="604" r:id="rId67"/>
    <p:sldId id="605" r:id="rId68"/>
    <p:sldId id="606" r:id="rId69"/>
    <p:sldId id="607" r:id="rId70"/>
    <p:sldId id="608" r:id="rId71"/>
    <p:sldId id="1046" r:id="rId72"/>
    <p:sldId id="941" r:id="rId73"/>
    <p:sldId id="1045" r:id="rId74"/>
    <p:sldId id="1044" r:id="rId75"/>
    <p:sldId id="262" r:id="rId76"/>
    <p:sldId id="1047" r:id="rId77"/>
    <p:sldId id="1048" r:id="rId78"/>
    <p:sldId id="836" r:id="rId79"/>
    <p:sldId id="531" r:id="rId80"/>
    <p:sldId id="847" r:id="rId81"/>
    <p:sldId id="546" r:id="rId82"/>
    <p:sldId id="547" r:id="rId83"/>
    <p:sldId id="848" r:id="rId84"/>
    <p:sldId id="882" r:id="rId85"/>
    <p:sldId id="883" r:id="rId86"/>
    <p:sldId id="341" r:id="rId87"/>
    <p:sldId id="1049" r:id="rId88"/>
    <p:sldId id="909" r:id="rId89"/>
    <p:sldId id="803" r:id="rId90"/>
    <p:sldId id="1050" r:id="rId91"/>
    <p:sldId id="1051" r:id="rId92"/>
    <p:sldId id="1052" r:id="rId93"/>
    <p:sldId id="1053" r:id="rId94"/>
    <p:sldId id="1054" r:id="rId95"/>
    <p:sldId id="1056" r:id="rId96"/>
    <p:sldId id="1057" r:id="rId97"/>
    <p:sldId id="1058" r:id="rId98"/>
    <p:sldId id="1059" r:id="rId99"/>
    <p:sldId id="1060" r:id="rId100"/>
    <p:sldId id="1061" r:id="rId101"/>
    <p:sldId id="1062" r:id="rId102"/>
    <p:sldId id="1063" r:id="rId103"/>
    <p:sldId id="1064" r:id="rId104"/>
    <p:sldId id="1065" r:id="rId105"/>
    <p:sldId id="1066" r:id="rId106"/>
    <p:sldId id="1067" r:id="rId107"/>
    <p:sldId id="1068" r:id="rId108"/>
    <p:sldId id="1069" r:id="rId109"/>
    <p:sldId id="1070" r:id="rId110"/>
    <p:sldId id="1071" r:id="rId111"/>
    <p:sldId id="1072" r:id="rId112"/>
    <p:sldId id="1073" r:id="rId113"/>
    <p:sldId id="1074" r:id="rId114"/>
    <p:sldId id="1075" r:id="rId115"/>
    <p:sldId id="1076" r:id="rId116"/>
    <p:sldId id="1077" r:id="rId117"/>
  </p:sldIdLst>
  <p:sldSz cx="12192000" cy="6858000"/>
  <p:notesSz cx="6858000" cy="9144000"/>
  <p:custDataLst>
    <p:tags r:id="rId119"/>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a:srgbClr val="00FF00"/>
    <a:srgbClr val="505B80"/>
    <a:srgbClr val="008000"/>
    <a:srgbClr val="0000FF"/>
    <a:srgbClr val="FFE8FF"/>
    <a:srgbClr val="F8E0FF"/>
    <a:srgbClr val="E4F0FF"/>
    <a:srgbClr val="E8F7FF"/>
    <a:srgbClr val="FFFF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267" autoAdjust="0"/>
    <p:restoredTop sz="96889" autoAdjust="0"/>
  </p:normalViewPr>
  <p:slideViewPr>
    <p:cSldViewPr>
      <p:cViewPr>
        <p:scale>
          <a:sx n="125" d="100"/>
          <a:sy n="125" d="100"/>
        </p:scale>
        <p:origin x="1340" y="776"/>
      </p:cViewPr>
      <p:guideLst>
        <p:guide orient="horz" pos="2160"/>
        <p:guide pos="3840"/>
      </p:guideLst>
    </p:cSldViewPr>
  </p:slideViewPr>
  <p:notesTextViewPr>
    <p:cViewPr>
      <p:scale>
        <a:sx n="100" d="100"/>
        <a:sy n="100" d="100"/>
      </p:scale>
      <p:origin x="0" y="0"/>
    </p:cViewPr>
  </p:notesText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notesMaster" Target="notesMasters/notes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tags" Target="tags/tag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2026/6/2</a:t>
            </a:fld>
            <a:endParaRPr kumimoji="1" lang="ja-JP" altLang="en-US"/>
          </a:p>
        </p:txBody>
      </p:sp>
      <p:sp>
        <p:nvSpPr>
          <p:cNvPr id="4" name="スライド イメージ プレースホルダー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1879E0F-6B73-4EF4-851E-289B8D795FF2}" type="slidenum">
              <a:rPr lang="en-US" altLang="ja-JP"/>
              <a:pPr/>
              <a:t>9</a:t>
            </a:fld>
            <a:endParaRPr lang="en-US" altLang="ja-JP"/>
          </a:p>
        </p:txBody>
      </p:sp>
      <p:sp>
        <p:nvSpPr>
          <p:cNvPr id="717826" name="Rectangle 2"/>
          <p:cNvSpPr>
            <a:spLocks noGrp="1" noRot="1" noChangeAspect="1" noChangeArrowheads="1" noTextEdit="1"/>
          </p:cNvSpPr>
          <p:nvPr>
            <p:ph type="sldImg"/>
          </p:nvPr>
        </p:nvSpPr>
        <p:spPr>
          <a:xfrm>
            <a:off x="-50800" y="161925"/>
            <a:ext cx="6959600" cy="3914775"/>
          </a:xfrm>
          <a:ln/>
        </p:spPr>
      </p:sp>
      <p:sp>
        <p:nvSpPr>
          <p:cNvPr id="71782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20057273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10</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400781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11</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2140038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6FB8A-0B0B-C212-C7BE-F67F52974DF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98670EB-ED5D-5EFD-4E03-FC8A36726A13}"/>
              </a:ext>
            </a:extLst>
          </p:cNvPr>
          <p:cNvSpPr>
            <a:spLocks noGrp="1" noRot="1" noChangeAspect="1"/>
          </p:cNvSpPr>
          <p:nvPr>
            <p:ph type="sldImg"/>
          </p:nvPr>
        </p:nvSpPr>
        <p:spPr>
          <a:xfrm>
            <a:off x="-50800" y="161925"/>
            <a:ext cx="6959600" cy="3914775"/>
          </a:xfrm>
        </p:spPr>
      </p:sp>
      <p:sp>
        <p:nvSpPr>
          <p:cNvPr id="3" name="ノート プレースホルダー 2">
            <a:extLst>
              <a:ext uri="{FF2B5EF4-FFF2-40B4-BE49-F238E27FC236}">
                <a16:creationId xmlns:a16="http://schemas.microsoft.com/office/drawing/2014/main" id="{C3909C36-5352-2547-0E1D-D11B99051B5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F2B897E-5D35-430A-CB3C-AD398D2F594E}"/>
              </a:ext>
            </a:extLst>
          </p:cNvPr>
          <p:cNvSpPr>
            <a:spLocks noGrp="1"/>
          </p:cNvSpPr>
          <p:nvPr>
            <p:ph type="sldNum" sz="quarter" idx="10"/>
          </p:nvPr>
        </p:nvSpPr>
        <p:spPr/>
        <p:txBody>
          <a:bodyPr/>
          <a:lstStyle/>
          <a:p>
            <a:fld id="{47424CC0-69D8-4EA1-A40C-A993AA6D964C}" type="slidenum">
              <a:rPr kumimoji="1" lang="ja-JP" altLang="en-US" smtClean="0"/>
              <a:t>12</a:t>
            </a:fld>
            <a:endParaRPr kumimoji="1" lang="ja-JP" altLang="en-US"/>
          </a:p>
        </p:txBody>
      </p:sp>
    </p:spTree>
    <p:extLst>
      <p:ext uri="{BB962C8B-B14F-4D97-AF65-F5344CB8AC3E}">
        <p14:creationId xmlns:p14="http://schemas.microsoft.com/office/powerpoint/2010/main" val="11289664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13</a:t>
            </a:fld>
            <a:endParaRPr kumimoji="1" lang="ja-JP" altLang="en-US"/>
          </a:p>
        </p:txBody>
      </p:sp>
    </p:spTree>
    <p:extLst>
      <p:ext uri="{BB962C8B-B14F-4D97-AF65-F5344CB8AC3E}">
        <p14:creationId xmlns:p14="http://schemas.microsoft.com/office/powerpoint/2010/main" val="25962547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23</a:t>
            </a:fld>
            <a:endParaRPr kumimoji="1" lang="ja-JP" altLang="en-US"/>
          </a:p>
        </p:txBody>
      </p:sp>
    </p:spTree>
    <p:extLst>
      <p:ext uri="{BB962C8B-B14F-4D97-AF65-F5344CB8AC3E}">
        <p14:creationId xmlns:p14="http://schemas.microsoft.com/office/powerpoint/2010/main" val="28277665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24</a:t>
            </a:fld>
            <a:endParaRPr kumimoji="1" lang="ja-JP" altLang="en-US"/>
          </a:p>
        </p:txBody>
      </p:sp>
    </p:spTree>
    <p:extLst>
      <p:ext uri="{BB962C8B-B14F-4D97-AF65-F5344CB8AC3E}">
        <p14:creationId xmlns:p14="http://schemas.microsoft.com/office/powerpoint/2010/main" val="21763502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25</a:t>
            </a:fld>
            <a:endParaRPr kumimoji="1" lang="ja-JP" altLang="en-US"/>
          </a:p>
        </p:txBody>
      </p:sp>
    </p:spTree>
    <p:extLst>
      <p:ext uri="{BB962C8B-B14F-4D97-AF65-F5344CB8AC3E}">
        <p14:creationId xmlns:p14="http://schemas.microsoft.com/office/powerpoint/2010/main" val="35566835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26</a:t>
            </a:fld>
            <a:endParaRPr kumimoji="1" lang="ja-JP" altLang="en-US"/>
          </a:p>
        </p:txBody>
      </p:sp>
    </p:spTree>
    <p:extLst>
      <p:ext uri="{BB962C8B-B14F-4D97-AF65-F5344CB8AC3E}">
        <p14:creationId xmlns:p14="http://schemas.microsoft.com/office/powerpoint/2010/main" val="38813467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48</a:t>
            </a:fld>
            <a:endParaRPr kumimoji="1" lang="ja-JP" altLang="en-US"/>
          </a:p>
        </p:txBody>
      </p:sp>
    </p:spTree>
    <p:extLst>
      <p:ext uri="{BB962C8B-B14F-4D97-AF65-F5344CB8AC3E}">
        <p14:creationId xmlns:p14="http://schemas.microsoft.com/office/powerpoint/2010/main" val="21816315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49</a:t>
            </a:fld>
            <a:endParaRPr kumimoji="1" lang="ja-JP" altLang="en-US"/>
          </a:p>
        </p:txBody>
      </p:sp>
    </p:spTree>
    <p:extLst>
      <p:ext uri="{BB962C8B-B14F-4D97-AF65-F5344CB8AC3E}">
        <p14:creationId xmlns:p14="http://schemas.microsoft.com/office/powerpoint/2010/main" val="39940038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52</a:t>
            </a:fld>
            <a:endParaRPr kumimoji="1" lang="ja-JP" altLang="en-US"/>
          </a:p>
        </p:txBody>
      </p:sp>
    </p:spTree>
    <p:extLst>
      <p:ext uri="{BB962C8B-B14F-4D97-AF65-F5344CB8AC3E}">
        <p14:creationId xmlns:p14="http://schemas.microsoft.com/office/powerpoint/2010/main" val="29957267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54</a:t>
            </a:fld>
            <a:endParaRPr kumimoji="1" lang="ja-JP" altLang="en-US"/>
          </a:p>
        </p:txBody>
      </p:sp>
    </p:spTree>
    <p:extLst>
      <p:ext uri="{BB962C8B-B14F-4D97-AF65-F5344CB8AC3E}">
        <p14:creationId xmlns:p14="http://schemas.microsoft.com/office/powerpoint/2010/main" val="12335094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61</a:t>
            </a:fld>
            <a:endParaRPr kumimoji="1" lang="ja-JP" altLang="en-US"/>
          </a:p>
        </p:txBody>
      </p:sp>
    </p:spTree>
    <p:extLst>
      <p:ext uri="{BB962C8B-B14F-4D97-AF65-F5344CB8AC3E}">
        <p14:creationId xmlns:p14="http://schemas.microsoft.com/office/powerpoint/2010/main" val="436349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66</a:t>
            </a:fld>
            <a:endParaRPr kumimoji="1" lang="ja-JP" altLang="en-US"/>
          </a:p>
        </p:txBody>
      </p:sp>
    </p:spTree>
    <p:extLst>
      <p:ext uri="{BB962C8B-B14F-4D97-AF65-F5344CB8AC3E}">
        <p14:creationId xmlns:p14="http://schemas.microsoft.com/office/powerpoint/2010/main" val="33865534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68</a:t>
            </a:fld>
            <a:endParaRPr kumimoji="1" lang="ja-JP" altLang="en-US"/>
          </a:p>
        </p:txBody>
      </p:sp>
    </p:spTree>
    <p:extLst>
      <p:ext uri="{BB962C8B-B14F-4D97-AF65-F5344CB8AC3E}">
        <p14:creationId xmlns:p14="http://schemas.microsoft.com/office/powerpoint/2010/main" val="6888501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69</a:t>
            </a:fld>
            <a:endParaRPr kumimoji="1" lang="ja-JP" altLang="en-US"/>
          </a:p>
        </p:txBody>
      </p:sp>
    </p:spTree>
    <p:extLst>
      <p:ext uri="{BB962C8B-B14F-4D97-AF65-F5344CB8AC3E}">
        <p14:creationId xmlns:p14="http://schemas.microsoft.com/office/powerpoint/2010/main" val="36767009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3B681C4-8BE2-4B31-9412-64C71E09F28E}" type="slidenum">
              <a:rPr kumimoji="1" lang="ja-JP" altLang="en-US" sz="1200" b="0" i="0" u="none" strike="noStrike" kern="1200" cap="none" spc="0" normalizeH="0" baseline="0" noProof="0" smtClean="0">
                <a:ln>
                  <a:noFill/>
                </a:ln>
                <a:solidFill>
                  <a:prstClr val="black"/>
                </a:solidFill>
                <a:effectLst/>
                <a:uLnTx/>
                <a:uFillTx/>
                <a:latin typeface="游ゴシック" panose="02110004020202020204"/>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75</a:t>
            </a:fld>
            <a:endParaRPr kumimoji="1" lang="ja-JP" altLang="en-US" sz="1200" b="0" i="0" u="none" strike="noStrike" kern="1200" cap="none" spc="0" normalizeH="0" baseline="0" noProof="0">
              <a:ln>
                <a:noFill/>
              </a:ln>
              <a:solidFill>
                <a:prstClr val="black"/>
              </a:solidFill>
              <a:effectLst/>
              <a:uLnTx/>
              <a:uFillTx/>
              <a:latin typeface="游ゴシック" panose="02110004020202020204"/>
              <a:ea typeface="游ゴシック" panose="020B0400000000000000" pitchFamily="50" charset="-128"/>
              <a:cs typeface="+mn-cs"/>
            </a:endParaRPr>
          </a:p>
        </p:txBody>
      </p:sp>
    </p:spTree>
    <p:extLst>
      <p:ext uri="{BB962C8B-B14F-4D97-AF65-F5344CB8AC3E}">
        <p14:creationId xmlns:p14="http://schemas.microsoft.com/office/powerpoint/2010/main" val="12823109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76</a:t>
            </a:fld>
            <a:endParaRPr kumimoji="1" lang="ja-JP" altLang="en-US"/>
          </a:p>
        </p:txBody>
      </p:sp>
    </p:spTree>
    <p:extLst>
      <p:ext uri="{BB962C8B-B14F-4D97-AF65-F5344CB8AC3E}">
        <p14:creationId xmlns:p14="http://schemas.microsoft.com/office/powerpoint/2010/main" val="33865534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77</a:t>
            </a:fld>
            <a:endParaRPr kumimoji="1" lang="ja-JP" altLang="en-US"/>
          </a:p>
        </p:txBody>
      </p:sp>
    </p:spTree>
    <p:extLst>
      <p:ext uri="{BB962C8B-B14F-4D97-AF65-F5344CB8AC3E}">
        <p14:creationId xmlns:p14="http://schemas.microsoft.com/office/powerpoint/2010/main" val="881920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65943" y="728968"/>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495960" y="4149008"/>
            <a:ext cx="7170080" cy="1440017"/>
          </a:xfrm>
        </p:spPr>
        <p:txBody>
          <a:bodyPr anchor="b"/>
          <a:lstStyle>
            <a:lvl1pPr marL="0" indent="0" algn="ct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cxnSp>
        <p:nvCxnSpPr>
          <p:cNvPr id="6" name="直線コネクタ 5"/>
          <p:cNvCxnSpPr>
            <a:cxnSpLocks/>
          </p:cNvCxnSpPr>
          <p:nvPr/>
        </p:nvCxnSpPr>
        <p:spPr bwMode="auto">
          <a:xfrm>
            <a:off x="965943" y="3068996"/>
            <a:ext cx="10800120"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spTree>
    <p:extLst>
      <p:ext uri="{BB962C8B-B14F-4D97-AF65-F5344CB8AC3E}">
        <p14:creationId xmlns:p14="http://schemas.microsoft.com/office/powerpoint/2010/main" val="6078178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775952" y="2168986"/>
            <a:ext cx="8640096" cy="900010"/>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4" name="直線コネクタ 3"/>
          <p:cNvCxnSpPr>
            <a:cxnSpLocks/>
          </p:cNvCxnSpPr>
          <p:nvPr/>
        </p:nvCxnSpPr>
        <p:spPr bwMode="auto">
          <a:xfrm>
            <a:off x="1775952" y="3068996"/>
            <a:ext cx="8640096"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cxnSp>
        <p:nvCxnSpPr>
          <p:cNvPr id="5" name="直線コネクタ 4">
            <a:extLst>
              <a:ext uri="{FF2B5EF4-FFF2-40B4-BE49-F238E27FC236}">
                <a16:creationId xmlns:a16="http://schemas.microsoft.com/office/drawing/2014/main" id="{28994BA3-EE89-8729-F511-359CF93D1F0C}"/>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A5DAF3A5-B8E8-9871-850E-D296C48A2927}"/>
              </a:ext>
            </a:extLst>
          </p:cNvPr>
          <p:cNvCxnSpPr>
            <a:cxnSpLocks/>
          </p:cNvCxnSpPr>
          <p:nvPr userDrawn="1"/>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8349515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640096" cy="5490061"/>
          </a:xfrm>
        </p:spPr>
        <p:txBody>
          <a:bodyPr/>
          <a:lstStyle>
            <a:lvl2pPr>
              <a:buClr>
                <a:schemeClr val="accent4">
                  <a:lumMod val="60000"/>
                  <a:lumOff val="40000"/>
                </a:schemeClr>
              </a:buClr>
              <a:defRPr/>
            </a:lvl2pPr>
            <a:lvl4pPr marL="1440000" indent="-360000">
              <a:buFont typeface="メイリオ" panose="020B0604030504040204" pitchFamily="50" charset="-128"/>
              <a:buChar char="✳"/>
              <a:defRPr/>
            </a:lvl4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27476830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accent4"/>
                </a:solidFill>
              </a:defRPr>
            </a:lvl1pPr>
          </a:lstStyle>
          <a:p>
            <a:r>
              <a:rPr kumimoji="1" lang="ja-JP" altLang="en-US"/>
              <a:t>マスター タイトルの書式設定</a:t>
            </a:r>
            <a:endParaRPr kumimoji="1" lang="ja-JP" altLang="en-US" dirty="0"/>
          </a:p>
        </p:txBody>
      </p:sp>
      <p:sp>
        <p:nvSpPr>
          <p:cNvPr id="4" name="コンテンツ プレースホルダー 3">
            <a:extLst>
              <a:ext uri="{FF2B5EF4-FFF2-40B4-BE49-F238E27FC236}">
                <a16:creationId xmlns:a16="http://schemas.microsoft.com/office/drawing/2014/main" id="{3B411819-7407-177D-333B-1437DD14AF43}"/>
              </a:ext>
            </a:extLst>
          </p:cNvPr>
          <p:cNvSpPr>
            <a:spLocks noGrp="1"/>
          </p:cNvSpPr>
          <p:nvPr>
            <p:ph sz="quarter" idx="11"/>
          </p:nvPr>
        </p:nvSpPr>
        <p:spPr>
          <a:xfrm>
            <a:off x="815941" y="1088974"/>
            <a:ext cx="11040123"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140211478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cSld name="1_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05798004"/>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1_セクションタイトル">
    <p:bg>
      <p:bgPr>
        <a:solidFill>
          <a:schemeClr val="bg1"/>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tx1">
                    <a:lumMod val="75000"/>
                    <a:lumOff val="25000"/>
                  </a:schemeClr>
                </a:solidFill>
              </a:defRPr>
            </a:lvl1pPr>
          </a:lstStyle>
          <a:p>
            <a:fld id="{D2D8002D-B5B0-4BAC-B1F6-782DDCCE6D9C}" type="slidenum">
              <a:rPr kumimoji="1" lang="ja-JP" altLang="en-US" smtClean="0"/>
              <a:pPr/>
              <a:t>‹#›</a:t>
            </a:fld>
            <a:endParaRPr kumimoji="1" lang="ja-JP" altLang="en-US"/>
          </a:p>
        </p:txBody>
      </p:sp>
    </p:spTree>
    <p:extLst>
      <p:ext uri="{BB962C8B-B14F-4D97-AF65-F5344CB8AC3E}">
        <p14:creationId xmlns:p14="http://schemas.microsoft.com/office/powerpoint/2010/main" val="267944464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3" y="1178975"/>
            <a:ext cx="8640096"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2000">
              <a:solidFill>
                <a:schemeClr val="accent4"/>
              </a:solidFill>
            </a:endParaRPr>
          </a:p>
        </p:txBody>
      </p:sp>
      <p:sp>
        <p:nvSpPr>
          <p:cNvPr id="22"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3" name="正方形/長方形 2">
            <a:extLst>
              <a:ext uri="{FF2B5EF4-FFF2-40B4-BE49-F238E27FC236}">
                <a16:creationId xmlns:a16="http://schemas.microsoft.com/office/drawing/2014/main" id="{40EE7D87-7FE3-C55B-F9ED-04053E84B2A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02D76658-EC28-6DC7-5037-6521DFF08331}"/>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52FBF5EA-16EF-C5E9-5A0C-DF30C24F685B}"/>
              </a:ext>
            </a:extLst>
          </p:cNvPr>
          <p:cNvSpPr/>
          <p:nvPr userDrawn="1"/>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3187517110"/>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9" r:id="rId4"/>
    <p:sldLayoutId id="2147483680" r:id="rId5"/>
    <p:sldLayoutId id="2147483681" r:id="rId6"/>
  </p:sldLayoutIdLst>
  <p:hf hdr="0" ftr="0" dt="0"/>
  <p:txStyles>
    <p:titleStyle>
      <a:lvl1pPr algn="l" rtl="0" eaLnBrk="1" fontAlgn="base" hangingPunct="1">
        <a:spcBef>
          <a:spcPct val="0"/>
        </a:spcBef>
        <a:spcAft>
          <a:spcPct val="0"/>
        </a:spcAft>
        <a:defRPr kumimoji="1" sz="32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s://team.inria.fr/pacap/members/andre-seznec/" TargetMode="Externa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135956" y="3969007"/>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lang="ja-JP" altLang="en-US" sz="3200" b="0" dirty="0"/>
          </a:p>
        </p:txBody>
      </p:sp>
      <p:sp>
        <p:nvSpPr>
          <p:cNvPr id="5" name="スライド番号プレースホルダー 4"/>
          <p:cNvSpPr>
            <a:spLocks noGrp="1"/>
          </p:cNvSpPr>
          <p:nvPr>
            <p:ph type="sldNum" sz="quarter" idx="4294967295"/>
          </p:nvPr>
        </p:nvSpPr>
        <p:spPr>
          <a:xfrm>
            <a:off x="11220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2315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第６回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 </a:t>
            </a:r>
            <a:r>
              <a:rPr kumimoji="1" lang="en-US" altLang="ja-JP" dirty="0"/>
              <a:t>5</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type="body" sz="quarter" idx="10"/>
          </p:nvPr>
        </p:nvSpPr>
        <p:spPr>
          <a:xfrm>
            <a:off x="2135956" y="1088975"/>
            <a:ext cx="8280092" cy="1800020"/>
          </a:xfrm>
        </p:spPr>
        <p:txBody>
          <a:bodyPr/>
          <a:lstStyle/>
          <a:p>
            <a:r>
              <a:rPr kumimoji="1" lang="ja-JP" altLang="en-US" dirty="0"/>
              <a:t>第４回の講義資料を参考に，</a:t>
            </a:r>
            <a:r>
              <a:rPr kumimoji="1" lang="en-US" altLang="ja-JP" dirty="0"/>
              <a:t>P</a:t>
            </a:r>
            <a:r>
              <a:rPr kumimoji="1" lang="ja-JP" altLang="en-US" dirty="0"/>
              <a:t>型</a:t>
            </a:r>
            <a:r>
              <a:rPr kumimoji="1" lang="en-US" altLang="ja-JP" dirty="0"/>
              <a:t>/N</a:t>
            </a:r>
            <a:r>
              <a:rPr kumimoji="1" lang="ja-JP" altLang="en-US" dirty="0"/>
              <a:t>型リレーを使って以下を構成せよ</a:t>
            </a:r>
            <a:endParaRPr kumimoji="1" lang="en-US" altLang="ja-JP" dirty="0"/>
          </a:p>
          <a:p>
            <a:pPr lvl="1"/>
            <a:r>
              <a:rPr kumimoji="1" lang="en-US" altLang="ja-JP" dirty="0"/>
              <a:t>2</a:t>
            </a:r>
            <a:r>
              <a:rPr kumimoji="1" lang="ja-JP" altLang="en-US" dirty="0"/>
              <a:t>入力 </a:t>
            </a:r>
            <a:r>
              <a:rPr kumimoji="1" lang="en-US" altLang="ja-JP" dirty="0"/>
              <a:t>OR </a:t>
            </a:r>
            <a:r>
              <a:rPr kumimoji="1" lang="ja-JP" altLang="en-US" dirty="0"/>
              <a:t>ゲート</a:t>
            </a:r>
            <a:endParaRPr kumimoji="1" lang="en-US" altLang="ja-JP" dirty="0"/>
          </a:p>
          <a:p>
            <a:pPr lvl="1"/>
            <a:r>
              <a:rPr kumimoji="1" lang="en-US" altLang="ja-JP" dirty="0"/>
              <a:t>3</a:t>
            </a:r>
            <a:r>
              <a:rPr kumimoji="1" lang="ja-JP" altLang="en-US" dirty="0"/>
              <a:t>入力 </a:t>
            </a:r>
            <a:r>
              <a:rPr kumimoji="1" lang="en-US" altLang="ja-JP" dirty="0"/>
              <a:t>NOR </a:t>
            </a:r>
            <a:r>
              <a:rPr kumimoji="1" lang="ja-JP" altLang="en-US" dirty="0"/>
              <a:t>ゲート</a:t>
            </a:r>
            <a:endParaRPr kumimoji="1" lang="en-US" dirty="0"/>
          </a:p>
        </p:txBody>
      </p:sp>
      <p:graphicFrame>
        <p:nvGraphicFramePr>
          <p:cNvPr id="5" name="Group 383">
            <a:extLst>
              <a:ext uri="{FF2B5EF4-FFF2-40B4-BE49-F238E27FC236}">
                <a16:creationId xmlns:a16="http://schemas.microsoft.com/office/drawing/2014/main" id="{C6EE2DA2-0FA7-FF62-3614-1F67927AD834}"/>
              </a:ext>
            </a:extLst>
          </p:cNvPr>
          <p:cNvGraphicFramePr>
            <a:graphicFrameLocks/>
          </p:cNvGraphicFramePr>
          <p:nvPr/>
        </p:nvGraphicFramePr>
        <p:xfrm>
          <a:off x="3215968" y="4149008"/>
          <a:ext cx="1439862" cy="212630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o</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6" name="Group 383">
            <a:extLst>
              <a:ext uri="{FF2B5EF4-FFF2-40B4-BE49-F238E27FC236}">
                <a16:creationId xmlns:a16="http://schemas.microsoft.com/office/drawing/2014/main" id="{21747D23-985E-B08A-6B51-C5177AD71F02}"/>
              </a:ext>
            </a:extLst>
          </p:cNvPr>
          <p:cNvGraphicFramePr>
            <a:graphicFrameLocks/>
          </p:cNvGraphicFramePr>
          <p:nvPr/>
        </p:nvGraphicFramePr>
        <p:xfrm>
          <a:off x="6816008" y="2438989"/>
          <a:ext cx="1800020" cy="3827340"/>
        </p:xfrm>
        <a:graphic>
          <a:graphicData uri="http://schemas.openxmlformats.org/drawingml/2006/table">
            <a:tbl>
              <a:tblPr/>
              <a:tblGrid>
                <a:gridCol w="449633">
                  <a:extLst>
                    <a:ext uri="{9D8B030D-6E8A-4147-A177-3AD203B41FA5}">
                      <a16:colId xmlns:a16="http://schemas.microsoft.com/office/drawing/2014/main" val="20000"/>
                    </a:ext>
                  </a:extLst>
                </a:gridCol>
                <a:gridCol w="449633">
                  <a:extLst>
                    <a:ext uri="{9D8B030D-6E8A-4147-A177-3AD203B41FA5}">
                      <a16:colId xmlns:a16="http://schemas.microsoft.com/office/drawing/2014/main" val="3764275717"/>
                    </a:ext>
                  </a:extLst>
                </a:gridCol>
                <a:gridCol w="451121">
                  <a:extLst>
                    <a:ext uri="{9D8B030D-6E8A-4147-A177-3AD203B41FA5}">
                      <a16:colId xmlns:a16="http://schemas.microsoft.com/office/drawing/2014/main" val="20001"/>
                    </a:ext>
                  </a:extLst>
                </a:gridCol>
                <a:gridCol w="449633">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b</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c</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o</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5394704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6861046"/>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85953619"/>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33049196"/>
                  </a:ext>
                </a:extLst>
              </a:tr>
            </a:tbl>
          </a:graphicData>
        </a:graphic>
      </p:graphicFrame>
      <p:sp>
        <p:nvSpPr>
          <p:cNvPr id="7" name="Rectangle 93">
            <a:extLst>
              <a:ext uri="{FF2B5EF4-FFF2-40B4-BE49-F238E27FC236}">
                <a16:creationId xmlns:a16="http://schemas.microsoft.com/office/drawing/2014/main" id="{9D4AC7B8-F185-B842-708D-D6D181FC2F91}"/>
              </a:ext>
            </a:extLst>
          </p:cNvPr>
          <p:cNvSpPr>
            <a:spLocks noChangeArrowheads="1"/>
          </p:cNvSpPr>
          <p:nvPr/>
        </p:nvSpPr>
        <p:spPr bwMode="auto">
          <a:xfrm>
            <a:off x="3215968" y="3789004"/>
            <a:ext cx="1440016"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2</a:t>
            </a:r>
            <a:r>
              <a:rPr lang="ja-JP" altLang="en-US" dirty="0">
                <a:latin typeface="+mj-lt"/>
              </a:rPr>
              <a:t>入力 </a:t>
            </a:r>
            <a:r>
              <a:rPr lang="en-US" altLang="ja-JP" dirty="0">
                <a:latin typeface="+mj-lt"/>
              </a:rPr>
              <a:t>OR </a:t>
            </a:r>
            <a:r>
              <a:rPr lang="ja-JP" altLang="en-US" dirty="0">
                <a:latin typeface="+mj-lt"/>
              </a:rPr>
              <a:t>の真理値表</a:t>
            </a:r>
            <a:endParaRPr lang="en-US" altLang="ja-JP" dirty="0"/>
          </a:p>
        </p:txBody>
      </p:sp>
      <p:sp>
        <p:nvSpPr>
          <p:cNvPr id="8" name="Rectangle 93">
            <a:extLst>
              <a:ext uri="{FF2B5EF4-FFF2-40B4-BE49-F238E27FC236}">
                <a16:creationId xmlns:a16="http://schemas.microsoft.com/office/drawing/2014/main" id="{5CDE7D0B-84AB-7D41-1134-05AA7A12AA11}"/>
              </a:ext>
            </a:extLst>
          </p:cNvPr>
          <p:cNvSpPr>
            <a:spLocks noChangeArrowheads="1"/>
          </p:cNvSpPr>
          <p:nvPr/>
        </p:nvSpPr>
        <p:spPr bwMode="auto">
          <a:xfrm>
            <a:off x="6816008" y="2078985"/>
            <a:ext cx="1440016"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3</a:t>
            </a:r>
            <a:r>
              <a:rPr lang="ja-JP" altLang="en-US" dirty="0">
                <a:latin typeface="+mj-lt"/>
              </a:rPr>
              <a:t>入力 </a:t>
            </a:r>
            <a:r>
              <a:rPr lang="en-US" altLang="ja-JP" dirty="0">
                <a:latin typeface="+mj-lt"/>
              </a:rPr>
              <a:t>NOR </a:t>
            </a:r>
            <a:r>
              <a:rPr lang="ja-JP" altLang="en-US" dirty="0">
                <a:latin typeface="+mj-lt"/>
              </a:rPr>
              <a:t>の真理値表</a:t>
            </a:r>
            <a:endParaRPr lang="en-US" altLang="ja-JP" dirty="0"/>
          </a:p>
        </p:txBody>
      </p:sp>
    </p:spTree>
    <p:extLst>
      <p:ext uri="{BB962C8B-B14F-4D97-AF65-F5344CB8AC3E}">
        <p14:creationId xmlns:p14="http://schemas.microsoft.com/office/powerpoint/2010/main" val="12543233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9B63F4-296E-C976-103D-CD09F83B6EFB}"/>
              </a:ext>
            </a:extLst>
          </p:cNvPr>
          <p:cNvSpPr>
            <a:spLocks noGrp="1"/>
          </p:cNvSpPr>
          <p:nvPr>
            <p:ph type="title"/>
          </p:nvPr>
        </p:nvSpPr>
        <p:spPr/>
        <p:txBody>
          <a:bodyPr/>
          <a:lstStyle/>
          <a:p>
            <a:r>
              <a:rPr lang="ja-JP" altLang="en-US" dirty="0"/>
              <a:t>方針</a:t>
            </a:r>
            <a:endParaRPr kumimoji="1" lang="ja-JP" altLang="en-US" dirty="0"/>
          </a:p>
        </p:txBody>
      </p:sp>
      <p:sp>
        <p:nvSpPr>
          <p:cNvPr id="3" name="コンテンツ プレースホルダー 2">
            <a:extLst>
              <a:ext uri="{FF2B5EF4-FFF2-40B4-BE49-F238E27FC236}">
                <a16:creationId xmlns:a16="http://schemas.microsoft.com/office/drawing/2014/main" id="{36B3688E-31A0-ADC1-326B-F7753E1363B4}"/>
              </a:ext>
            </a:extLst>
          </p:cNvPr>
          <p:cNvSpPr>
            <a:spLocks noGrp="1"/>
          </p:cNvSpPr>
          <p:nvPr>
            <p:ph type="body" sz="quarter" idx="10"/>
          </p:nvPr>
        </p:nvSpPr>
        <p:spPr/>
        <p:txBody>
          <a:bodyPr/>
          <a:lstStyle/>
          <a:p>
            <a:r>
              <a:rPr lang="en-US" altLang="ja-JP" dirty="0"/>
              <a:t>OR </a:t>
            </a:r>
            <a:r>
              <a:rPr lang="ja-JP" altLang="en-US" dirty="0"/>
              <a:t>の作り方</a:t>
            </a:r>
            <a:endParaRPr lang="en-US" altLang="ja-JP" dirty="0"/>
          </a:p>
          <a:p>
            <a:pPr lvl="1"/>
            <a:r>
              <a:rPr kumimoji="1" lang="en-US" altLang="ja-JP" dirty="0"/>
              <a:t>NOR </a:t>
            </a:r>
            <a:r>
              <a:rPr kumimoji="1" lang="ja-JP" altLang="en-US" dirty="0"/>
              <a:t>を作って </a:t>
            </a:r>
            <a:r>
              <a:rPr kumimoji="1" lang="en-US" altLang="ja-JP" dirty="0"/>
              <a:t>NOT </a:t>
            </a:r>
            <a:r>
              <a:rPr kumimoji="1" lang="ja-JP" altLang="en-US" dirty="0"/>
              <a:t>で反転する</a:t>
            </a:r>
            <a:endParaRPr kumimoji="1" lang="en-US" altLang="ja-JP" dirty="0"/>
          </a:p>
          <a:p>
            <a:pPr lvl="1"/>
            <a:r>
              <a:rPr lang="en-US" altLang="ja-JP" dirty="0"/>
              <a:t>NAND </a:t>
            </a:r>
            <a:r>
              <a:rPr lang="ja-JP" altLang="en-US" dirty="0"/>
              <a:t>を作って </a:t>
            </a:r>
            <a:r>
              <a:rPr lang="en-US" altLang="ja-JP" dirty="0"/>
              <a:t>NOT </a:t>
            </a:r>
            <a:r>
              <a:rPr lang="ja-JP" altLang="en-US" dirty="0"/>
              <a:t>で反転して </a:t>
            </a:r>
            <a:r>
              <a:rPr lang="en-US" altLang="ja-JP" dirty="0"/>
              <a:t>AND </a:t>
            </a:r>
            <a:r>
              <a:rPr lang="ja-JP" altLang="en-US" dirty="0"/>
              <a:t>を作ってたのと同じ</a:t>
            </a:r>
            <a:endParaRPr lang="en-US" altLang="ja-JP" dirty="0"/>
          </a:p>
          <a:p>
            <a:r>
              <a:rPr lang="ja-JP" altLang="en-US" dirty="0"/>
              <a:t>考え方：</a:t>
            </a:r>
            <a:endParaRPr lang="en-US" altLang="ja-JP" dirty="0"/>
          </a:p>
          <a:p>
            <a:pPr lvl="1"/>
            <a:r>
              <a:rPr kumimoji="1" lang="ja-JP" altLang="en-US" dirty="0"/>
              <a:t>並列つなぎ：１つでも </a:t>
            </a:r>
            <a:r>
              <a:rPr kumimoji="1" lang="en-US" altLang="ja-JP" dirty="0"/>
              <a:t>ON </a:t>
            </a:r>
            <a:r>
              <a:rPr kumimoji="1" lang="ja-JP" altLang="en-US" dirty="0"/>
              <a:t>ならば全体が </a:t>
            </a:r>
            <a:r>
              <a:rPr kumimoji="1" lang="en-US" altLang="ja-JP" dirty="0"/>
              <a:t>ON </a:t>
            </a:r>
          </a:p>
          <a:p>
            <a:pPr lvl="1"/>
            <a:r>
              <a:rPr lang="ja-JP" altLang="en-US" dirty="0"/>
              <a:t>直列つなぎ：全員が </a:t>
            </a:r>
            <a:r>
              <a:rPr lang="en-US" altLang="ja-JP" dirty="0"/>
              <a:t>ON </a:t>
            </a:r>
            <a:r>
              <a:rPr lang="ja-JP" altLang="en-US" dirty="0"/>
              <a:t>ならば全体が </a:t>
            </a:r>
            <a:r>
              <a:rPr lang="en-US" altLang="ja-JP" dirty="0"/>
              <a:t>ON </a:t>
            </a:r>
            <a:endParaRPr kumimoji="1" lang="ja-JP" altLang="en-US" dirty="0"/>
          </a:p>
        </p:txBody>
      </p:sp>
    </p:spTree>
    <p:extLst>
      <p:ext uri="{BB962C8B-B14F-4D97-AF65-F5344CB8AC3E}">
        <p14:creationId xmlns:p14="http://schemas.microsoft.com/office/powerpoint/2010/main" val="30387681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p:txBody>
          <a:bodyPr/>
          <a:lstStyle/>
          <a:p>
            <a:r>
              <a:rPr lang="en-US" altLang="ja-JP" sz="2400" dirty="0"/>
              <a:t>NOR</a:t>
            </a:r>
            <a:br>
              <a:rPr lang="en-US" altLang="ja-JP" sz="2400" dirty="0"/>
            </a:br>
            <a:r>
              <a:rPr lang="ja-JP" altLang="en-US" sz="2400" dirty="0"/>
              <a:t>（上が直列，下が並列）</a:t>
            </a:r>
            <a:endParaRPr lang="en-US" sz="2400"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3485971" y="3789004"/>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5645995" y="3789004"/>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a:stCxn id="215" idx="1"/>
          </p:cNvCxnSpPr>
          <p:nvPr/>
        </p:nvCxnSpPr>
        <p:spPr>
          <a:xfrm flipH="1">
            <a:off x="5015988" y="3429179"/>
            <a:ext cx="252002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5015988" y="3429000"/>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5015988" y="4869016"/>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6096000"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6096000" y="3068996"/>
            <a:ext cx="0" cy="360004"/>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4205980" y="108897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4295981"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3215969" y="432901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5375993" y="432901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7536017" y="324899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o</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5735997"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5825998" y="98964"/>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6097075" y="1628980"/>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40" name="グループ化 239">
            <a:extLst>
              <a:ext uri="{FF2B5EF4-FFF2-40B4-BE49-F238E27FC236}">
                <a16:creationId xmlns:a16="http://schemas.microsoft.com/office/drawing/2014/main" id="{64DC05BE-F391-47A1-1C07-B7685C59B819}"/>
              </a:ext>
            </a:extLst>
          </p:cNvPr>
          <p:cNvGrpSpPr/>
          <p:nvPr/>
        </p:nvGrpSpPr>
        <p:grpSpPr>
          <a:xfrm>
            <a:off x="4565983" y="548968"/>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4565983" y="1988984"/>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9" name="直線コネクタ 8">
            <a:extLst>
              <a:ext uri="{FF2B5EF4-FFF2-40B4-BE49-F238E27FC236}">
                <a16:creationId xmlns:a16="http://schemas.microsoft.com/office/drawing/2014/main" id="{BE626DDC-E1E6-1491-C06E-3A2D48D944E1}"/>
              </a:ext>
            </a:extLst>
          </p:cNvPr>
          <p:cNvCxnSpPr>
            <a:cxnSpLocks/>
          </p:cNvCxnSpPr>
          <p:nvPr/>
        </p:nvCxnSpPr>
        <p:spPr>
          <a:xfrm flipV="1">
            <a:off x="7176012" y="4869016"/>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7250FBB7-7AE9-28D9-000E-39D8529F6537}"/>
              </a:ext>
            </a:extLst>
          </p:cNvPr>
          <p:cNvCxnSpPr>
            <a:cxnSpLocks/>
          </p:cNvCxnSpPr>
          <p:nvPr/>
        </p:nvCxnSpPr>
        <p:spPr>
          <a:xfrm flipH="1">
            <a:off x="5015988" y="5589024"/>
            <a:ext cx="216002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8A01C456-DA11-8D37-079A-1F3EF23CF96E}"/>
              </a:ext>
            </a:extLst>
          </p:cNvPr>
          <p:cNvCxnSpPr>
            <a:cxnSpLocks/>
          </p:cNvCxnSpPr>
          <p:nvPr/>
        </p:nvCxnSpPr>
        <p:spPr>
          <a:xfrm>
            <a:off x="7176012" y="3429000"/>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graphicFrame>
        <p:nvGraphicFramePr>
          <p:cNvPr id="19" name="Group 383">
            <a:extLst>
              <a:ext uri="{FF2B5EF4-FFF2-40B4-BE49-F238E27FC236}">
                <a16:creationId xmlns:a16="http://schemas.microsoft.com/office/drawing/2014/main" id="{62ECB2AE-E83D-EFD2-137A-C5A39C410F46}"/>
              </a:ext>
            </a:extLst>
          </p:cNvPr>
          <p:cNvGraphicFramePr>
            <a:graphicFrameLocks/>
          </p:cNvGraphicFramePr>
          <p:nvPr/>
        </p:nvGraphicFramePr>
        <p:xfrm>
          <a:off x="7536016" y="548968"/>
          <a:ext cx="1439862" cy="212630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o</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0" name="Rectangle 93">
            <a:extLst>
              <a:ext uri="{FF2B5EF4-FFF2-40B4-BE49-F238E27FC236}">
                <a16:creationId xmlns:a16="http://schemas.microsoft.com/office/drawing/2014/main" id="{3CDA0251-3A2F-176D-4640-459A02B2C3FC}"/>
              </a:ext>
            </a:extLst>
          </p:cNvPr>
          <p:cNvSpPr>
            <a:spLocks noChangeArrowheads="1"/>
          </p:cNvSpPr>
          <p:nvPr/>
        </p:nvSpPr>
        <p:spPr bwMode="auto">
          <a:xfrm>
            <a:off x="7536016" y="188964"/>
            <a:ext cx="1440016"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2</a:t>
            </a:r>
            <a:r>
              <a:rPr lang="ja-JP" altLang="en-US" dirty="0">
                <a:latin typeface="+mj-lt"/>
              </a:rPr>
              <a:t>入力 </a:t>
            </a:r>
            <a:r>
              <a:rPr lang="en-US" altLang="ja-JP" dirty="0">
                <a:latin typeface="+mj-lt"/>
              </a:rPr>
              <a:t>NOR </a:t>
            </a:r>
            <a:r>
              <a:rPr lang="ja-JP" altLang="en-US" dirty="0">
                <a:latin typeface="+mj-lt"/>
              </a:rPr>
              <a:t>の真理値表</a:t>
            </a:r>
            <a:endParaRPr lang="en-US" altLang="ja-JP" dirty="0"/>
          </a:p>
        </p:txBody>
      </p:sp>
    </p:spTree>
    <p:extLst>
      <p:ext uri="{BB962C8B-B14F-4D97-AF65-F5344CB8AC3E}">
        <p14:creationId xmlns:p14="http://schemas.microsoft.com/office/powerpoint/2010/main" val="42025924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a:xfrm>
            <a:off x="5285991" y="0"/>
            <a:ext cx="5382010" cy="908972"/>
          </a:xfrm>
        </p:spPr>
        <p:txBody>
          <a:bodyPr/>
          <a:lstStyle/>
          <a:p>
            <a:r>
              <a:rPr lang="en-US" sz="2400" dirty="0"/>
              <a:t>NOR </a:t>
            </a:r>
            <a:r>
              <a:rPr lang="ja-JP" altLang="en-US" sz="2400" dirty="0"/>
              <a:t>の後ろに </a:t>
            </a:r>
            <a:r>
              <a:rPr lang="en-US" altLang="ja-JP" sz="2400" dirty="0"/>
              <a:t>NOT </a:t>
            </a:r>
            <a:r>
              <a:rPr lang="ja-JP" altLang="en-US" sz="2400" dirty="0"/>
              <a:t>を接続</a:t>
            </a:r>
            <a:endParaRPr lang="en-US" sz="2400"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2045955" y="3789004"/>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4205979" y="3789004"/>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p:cNvCxnSpPr>
          <p:nvPr/>
        </p:nvCxnSpPr>
        <p:spPr>
          <a:xfrm flipH="1">
            <a:off x="3575972" y="3429000"/>
            <a:ext cx="2520028" cy="0"/>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3575972" y="3429000"/>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3575972" y="4869016"/>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4655984"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4655984" y="3068996"/>
            <a:ext cx="0" cy="360004"/>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2765964" y="108897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2855965"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1775953" y="432901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3935977" y="432901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8166024" y="324899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o</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4295981"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4385982" y="98964"/>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4657059" y="1628980"/>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40" name="グループ化 239">
            <a:extLst>
              <a:ext uri="{FF2B5EF4-FFF2-40B4-BE49-F238E27FC236}">
                <a16:creationId xmlns:a16="http://schemas.microsoft.com/office/drawing/2014/main" id="{64DC05BE-F391-47A1-1C07-B7685C59B819}"/>
              </a:ext>
            </a:extLst>
          </p:cNvPr>
          <p:cNvGrpSpPr/>
          <p:nvPr/>
        </p:nvGrpSpPr>
        <p:grpSpPr>
          <a:xfrm>
            <a:off x="3125967" y="548968"/>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3125967" y="1988984"/>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9" name="直線コネクタ 8">
            <a:extLst>
              <a:ext uri="{FF2B5EF4-FFF2-40B4-BE49-F238E27FC236}">
                <a16:creationId xmlns:a16="http://schemas.microsoft.com/office/drawing/2014/main" id="{BE626DDC-E1E6-1491-C06E-3A2D48D944E1}"/>
              </a:ext>
            </a:extLst>
          </p:cNvPr>
          <p:cNvCxnSpPr>
            <a:cxnSpLocks/>
          </p:cNvCxnSpPr>
          <p:nvPr/>
        </p:nvCxnSpPr>
        <p:spPr>
          <a:xfrm flipV="1">
            <a:off x="5735996" y="4869016"/>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7250FBB7-7AE9-28D9-000E-39D8529F6537}"/>
              </a:ext>
            </a:extLst>
          </p:cNvPr>
          <p:cNvCxnSpPr>
            <a:cxnSpLocks/>
          </p:cNvCxnSpPr>
          <p:nvPr/>
        </p:nvCxnSpPr>
        <p:spPr>
          <a:xfrm flipH="1">
            <a:off x="3575972" y="5589024"/>
            <a:ext cx="216002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8A01C456-DA11-8D37-079A-1F3EF23CF96E}"/>
              </a:ext>
            </a:extLst>
          </p:cNvPr>
          <p:cNvCxnSpPr>
            <a:cxnSpLocks/>
          </p:cNvCxnSpPr>
          <p:nvPr/>
        </p:nvCxnSpPr>
        <p:spPr>
          <a:xfrm>
            <a:off x="5735996" y="3429000"/>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graphicFrame>
        <p:nvGraphicFramePr>
          <p:cNvPr id="19" name="Group 383">
            <a:extLst>
              <a:ext uri="{FF2B5EF4-FFF2-40B4-BE49-F238E27FC236}">
                <a16:creationId xmlns:a16="http://schemas.microsoft.com/office/drawing/2014/main" id="{62ECB2AE-E83D-EFD2-137A-C5A39C410F46}"/>
              </a:ext>
            </a:extLst>
          </p:cNvPr>
          <p:cNvGraphicFramePr>
            <a:graphicFrameLocks/>
          </p:cNvGraphicFramePr>
          <p:nvPr>
            <p:extLst>
              <p:ext uri="{D42A27DB-BD31-4B8C-83A1-F6EECF244321}">
                <p14:modId xmlns:p14="http://schemas.microsoft.com/office/powerpoint/2010/main" val="728172136"/>
              </p:ext>
            </p:extLst>
          </p:nvPr>
        </p:nvGraphicFramePr>
        <p:xfrm>
          <a:off x="8256024" y="4509012"/>
          <a:ext cx="1439862" cy="212630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o</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0" name="Rectangle 93">
            <a:extLst>
              <a:ext uri="{FF2B5EF4-FFF2-40B4-BE49-F238E27FC236}">
                <a16:creationId xmlns:a16="http://schemas.microsoft.com/office/drawing/2014/main" id="{3CDA0251-3A2F-176D-4640-459A02B2C3FC}"/>
              </a:ext>
            </a:extLst>
          </p:cNvPr>
          <p:cNvSpPr>
            <a:spLocks noChangeArrowheads="1"/>
          </p:cNvSpPr>
          <p:nvPr/>
        </p:nvSpPr>
        <p:spPr bwMode="auto">
          <a:xfrm>
            <a:off x="8256024" y="4149008"/>
            <a:ext cx="1440016"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2</a:t>
            </a:r>
            <a:r>
              <a:rPr lang="ja-JP" altLang="en-US" dirty="0">
                <a:latin typeface="+mj-lt"/>
              </a:rPr>
              <a:t>入力 </a:t>
            </a:r>
            <a:r>
              <a:rPr lang="en-US" altLang="ja-JP" dirty="0">
                <a:latin typeface="+mj-lt"/>
              </a:rPr>
              <a:t>OR </a:t>
            </a:r>
            <a:r>
              <a:rPr lang="ja-JP" altLang="en-US" dirty="0">
                <a:latin typeface="+mj-lt"/>
              </a:rPr>
              <a:t>の真理値表</a:t>
            </a:r>
            <a:endParaRPr lang="en-US" altLang="ja-JP" dirty="0"/>
          </a:p>
        </p:txBody>
      </p:sp>
      <p:grpSp>
        <p:nvGrpSpPr>
          <p:cNvPr id="5" name="グループ化 4">
            <a:extLst>
              <a:ext uri="{FF2B5EF4-FFF2-40B4-BE49-F238E27FC236}">
                <a16:creationId xmlns:a16="http://schemas.microsoft.com/office/drawing/2014/main" id="{2E8847E4-79EF-FD88-3196-7410422A4F57}"/>
              </a:ext>
            </a:extLst>
          </p:cNvPr>
          <p:cNvGrpSpPr/>
          <p:nvPr/>
        </p:nvGrpSpPr>
        <p:grpSpPr>
          <a:xfrm>
            <a:off x="6005999" y="3789004"/>
            <a:ext cx="1531092" cy="1440374"/>
            <a:chOff x="5202007" y="3068996"/>
            <a:chExt cx="1531092" cy="1440374"/>
          </a:xfrm>
        </p:grpSpPr>
        <p:sp>
          <p:nvSpPr>
            <p:cNvPr id="6" name="正方形/長方形 5">
              <a:extLst>
                <a:ext uri="{FF2B5EF4-FFF2-40B4-BE49-F238E27FC236}">
                  <a16:creationId xmlns:a16="http://schemas.microsoft.com/office/drawing/2014/main" id="{568877B9-0BD5-312E-FFD5-D7B9FB86F6B2}"/>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7" name="円/楕円 69">
              <a:extLst>
                <a:ext uri="{FF2B5EF4-FFF2-40B4-BE49-F238E27FC236}">
                  <a16:creationId xmlns:a16="http://schemas.microsoft.com/office/drawing/2014/main" id="{9AC8BBF2-243F-58FE-0E89-F68F801A508F}"/>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8" name="直線コネクタ 7">
              <a:extLst>
                <a:ext uri="{FF2B5EF4-FFF2-40B4-BE49-F238E27FC236}">
                  <a16:creationId xmlns:a16="http://schemas.microsoft.com/office/drawing/2014/main" id="{ADAF55C4-0782-0184-7535-7099EE534EE6}"/>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AC578396-A651-EC2E-49C7-25E368404990}"/>
                </a:ext>
              </a:extLst>
            </p:cNvPr>
            <p:cNvCxnSpPr>
              <a:cxnSpLocks/>
              <a:endCxn id="12"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2" name="円/楕円 68">
              <a:extLst>
                <a:ext uri="{FF2B5EF4-FFF2-40B4-BE49-F238E27FC236}">
                  <a16:creationId xmlns:a16="http://schemas.microsoft.com/office/drawing/2014/main" id="{D6372B10-DACC-E36B-67FD-38EDF88AB07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4" name="直線コネクタ 13">
              <a:extLst>
                <a:ext uri="{FF2B5EF4-FFF2-40B4-BE49-F238E27FC236}">
                  <a16:creationId xmlns:a16="http://schemas.microsoft.com/office/drawing/2014/main" id="{0CD695D6-0F13-4A7D-8B2E-8036DC84E5BF}"/>
                </a:ext>
              </a:extLst>
            </p:cNvPr>
            <p:cNvCxnSpPr>
              <a:cxnSpLocks/>
              <a:endCxn id="7"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247A7B8-5A56-C0C8-ED63-0D938A478507}"/>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6" name="Rectangle 93">
              <a:extLst>
                <a:ext uri="{FF2B5EF4-FFF2-40B4-BE49-F238E27FC236}">
                  <a16:creationId xmlns:a16="http://schemas.microsoft.com/office/drawing/2014/main" id="{BCADEE99-84B7-B006-B902-8A66CB90CA12}"/>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7" name="Rectangle 93">
              <a:extLst>
                <a:ext uri="{FF2B5EF4-FFF2-40B4-BE49-F238E27FC236}">
                  <a16:creationId xmlns:a16="http://schemas.microsoft.com/office/drawing/2014/main" id="{479E7F62-7270-C922-736C-B99FA33DAB9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8" name="Rectangle 93">
              <a:extLst>
                <a:ext uri="{FF2B5EF4-FFF2-40B4-BE49-F238E27FC236}">
                  <a16:creationId xmlns:a16="http://schemas.microsoft.com/office/drawing/2014/main" id="{F8B5BB63-A13A-26CC-7334-DCD64899BB9C}"/>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1" name="直線コネクタ 20">
              <a:extLst>
                <a:ext uri="{FF2B5EF4-FFF2-40B4-BE49-F238E27FC236}">
                  <a16:creationId xmlns:a16="http://schemas.microsoft.com/office/drawing/2014/main" id="{50F4D593-8132-CCEC-B04C-8F28323268FD}"/>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72808E7C-630A-008F-B3BD-80B156B2C6F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24" name="グループ化 23">
            <a:extLst>
              <a:ext uri="{FF2B5EF4-FFF2-40B4-BE49-F238E27FC236}">
                <a16:creationId xmlns:a16="http://schemas.microsoft.com/office/drawing/2014/main" id="{BC0787B9-840F-2899-AA0B-1ED03ABEF98A}"/>
              </a:ext>
            </a:extLst>
          </p:cNvPr>
          <p:cNvGrpSpPr/>
          <p:nvPr/>
        </p:nvGrpSpPr>
        <p:grpSpPr>
          <a:xfrm>
            <a:off x="6005999" y="1628980"/>
            <a:ext cx="1531092" cy="1440374"/>
            <a:chOff x="5202007" y="2708992"/>
            <a:chExt cx="1531092" cy="1440374"/>
          </a:xfrm>
        </p:grpSpPr>
        <p:grpSp>
          <p:nvGrpSpPr>
            <p:cNvPr id="26" name="グループ化 25">
              <a:extLst>
                <a:ext uri="{FF2B5EF4-FFF2-40B4-BE49-F238E27FC236}">
                  <a16:creationId xmlns:a16="http://schemas.microsoft.com/office/drawing/2014/main" id="{1ACEC345-DD7F-CF48-9F3B-1C32E50B3158}"/>
                </a:ext>
              </a:extLst>
            </p:cNvPr>
            <p:cNvGrpSpPr/>
            <p:nvPr/>
          </p:nvGrpSpPr>
          <p:grpSpPr>
            <a:xfrm>
              <a:off x="5202007" y="2708992"/>
              <a:ext cx="1531092" cy="1440374"/>
              <a:chOff x="5202007" y="3068996"/>
              <a:chExt cx="1531092" cy="1440374"/>
            </a:xfrm>
          </p:grpSpPr>
          <p:sp>
            <p:nvSpPr>
              <p:cNvPr id="31" name="正方形/長方形 30">
                <a:extLst>
                  <a:ext uri="{FF2B5EF4-FFF2-40B4-BE49-F238E27FC236}">
                    <a16:creationId xmlns:a16="http://schemas.microsoft.com/office/drawing/2014/main" id="{123A6700-5217-5E1C-7507-9A5789C7EFB3}"/>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2" name="円/楕円 69">
                <a:extLst>
                  <a:ext uri="{FF2B5EF4-FFF2-40B4-BE49-F238E27FC236}">
                    <a16:creationId xmlns:a16="http://schemas.microsoft.com/office/drawing/2014/main" id="{6E638B25-0FD8-A40C-3D66-406C6F10706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3" name="直線コネクタ 32">
                <a:extLst>
                  <a:ext uri="{FF2B5EF4-FFF2-40B4-BE49-F238E27FC236}">
                    <a16:creationId xmlns:a16="http://schemas.microsoft.com/office/drawing/2014/main" id="{8B30FBFC-CB7C-F9F9-B40D-151FF7121327}"/>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82430F28-B909-095C-176B-BEE890699589}"/>
                  </a:ext>
                </a:extLst>
              </p:cNvPr>
              <p:cNvCxnSpPr>
                <a:cxnSpLocks/>
                <a:endCxn id="35"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5" name="円/楕円 68">
                <a:extLst>
                  <a:ext uri="{FF2B5EF4-FFF2-40B4-BE49-F238E27FC236}">
                    <a16:creationId xmlns:a16="http://schemas.microsoft.com/office/drawing/2014/main" id="{9EBCAF84-4F81-4EAD-C3DB-457E22373E06}"/>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6" name="直線コネクタ 35">
                <a:extLst>
                  <a:ext uri="{FF2B5EF4-FFF2-40B4-BE49-F238E27FC236}">
                    <a16:creationId xmlns:a16="http://schemas.microsoft.com/office/drawing/2014/main" id="{EB48BE00-845E-DB65-8B7A-889C0AE316E4}"/>
                  </a:ext>
                </a:extLst>
              </p:cNvPr>
              <p:cNvCxnSpPr>
                <a:cxnSpLocks/>
                <a:endCxn id="3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3C2B0795-7FF0-1E00-4FAB-DE108B0697B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8" name="Rectangle 93">
                <a:extLst>
                  <a:ext uri="{FF2B5EF4-FFF2-40B4-BE49-F238E27FC236}">
                    <a16:creationId xmlns:a16="http://schemas.microsoft.com/office/drawing/2014/main" id="{2519FA81-0CDB-72F9-0EDD-60E320DDAFFE}"/>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9" name="Rectangle 93">
                <a:extLst>
                  <a:ext uri="{FF2B5EF4-FFF2-40B4-BE49-F238E27FC236}">
                    <a16:creationId xmlns:a16="http://schemas.microsoft.com/office/drawing/2014/main" id="{95080C57-AE6A-9407-DB7A-13DDD15DB0A3}"/>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40" name="Rectangle 93">
                <a:extLst>
                  <a:ext uri="{FF2B5EF4-FFF2-40B4-BE49-F238E27FC236}">
                    <a16:creationId xmlns:a16="http://schemas.microsoft.com/office/drawing/2014/main" id="{8E4E4A41-F714-ED0B-5225-31C9C58608F5}"/>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41" name="直線コネクタ 40">
                <a:extLst>
                  <a:ext uri="{FF2B5EF4-FFF2-40B4-BE49-F238E27FC236}">
                    <a16:creationId xmlns:a16="http://schemas.microsoft.com/office/drawing/2014/main" id="{426031EC-8AB3-CBB1-A43C-F9161F51EFD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0648C677-080E-2E40-9117-3DF02767285D}"/>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30" name="円/楕円 69">
              <a:extLst>
                <a:ext uri="{FF2B5EF4-FFF2-40B4-BE49-F238E27FC236}">
                  <a16:creationId xmlns:a16="http://schemas.microsoft.com/office/drawing/2014/main" id="{C279BC8E-6E16-292D-371B-7972BEAADA8F}"/>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43" name="直線コネクタ 42">
            <a:extLst>
              <a:ext uri="{FF2B5EF4-FFF2-40B4-BE49-F238E27FC236}">
                <a16:creationId xmlns:a16="http://schemas.microsoft.com/office/drawing/2014/main" id="{653B72C1-0BAC-3A75-B255-06762DC1DC20}"/>
              </a:ext>
            </a:extLst>
          </p:cNvPr>
          <p:cNvCxnSpPr>
            <a:cxnSpLocks/>
          </p:cNvCxnSpPr>
          <p:nvPr/>
        </p:nvCxnSpPr>
        <p:spPr>
          <a:xfrm>
            <a:off x="6096000" y="2348988"/>
            <a:ext cx="0" cy="2160024"/>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67899A2F-344B-09E5-78A7-7153FF6D87BD}"/>
              </a:ext>
            </a:extLst>
          </p:cNvPr>
          <p:cNvCxnSpPr>
            <a:cxnSpLocks/>
          </p:cNvCxnSpPr>
          <p:nvPr/>
        </p:nvCxnSpPr>
        <p:spPr>
          <a:xfrm>
            <a:off x="7536016" y="2708992"/>
            <a:ext cx="0" cy="144001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178FAA0-80EE-AF21-E433-35628491A475}"/>
              </a:ext>
            </a:extLst>
          </p:cNvPr>
          <p:cNvCxnSpPr>
            <a:cxnSpLocks/>
          </p:cNvCxnSpPr>
          <p:nvPr/>
        </p:nvCxnSpPr>
        <p:spPr>
          <a:xfrm flipH="1">
            <a:off x="7536016" y="3429000"/>
            <a:ext cx="720008" cy="0"/>
          </a:xfrm>
          <a:prstGeom prst="line">
            <a:avLst/>
          </a:prstGeom>
          <a:ln w="6350" cap="rnd">
            <a:solidFill>
              <a:srgbClr val="000000"/>
            </a:solidFill>
            <a:headEnd type="none" w="sm" len="sm"/>
            <a:tailEnd type="oval"/>
          </a:ln>
        </p:spPr>
        <p:style>
          <a:lnRef idx="1">
            <a:schemeClr val="accent1"/>
          </a:lnRef>
          <a:fillRef idx="0">
            <a:schemeClr val="accent1"/>
          </a:fillRef>
          <a:effectRef idx="0">
            <a:schemeClr val="accent1"/>
          </a:effectRef>
          <a:fontRef idx="minor">
            <a:schemeClr val="tx1"/>
          </a:fontRef>
        </p:style>
      </p:cxnSp>
      <p:grpSp>
        <p:nvGrpSpPr>
          <p:cNvPr id="50" name="グループ化 49">
            <a:extLst>
              <a:ext uri="{FF2B5EF4-FFF2-40B4-BE49-F238E27FC236}">
                <a16:creationId xmlns:a16="http://schemas.microsoft.com/office/drawing/2014/main" id="{57D1CCA9-3659-5916-6D20-0D13EAB638F8}"/>
              </a:ext>
            </a:extLst>
          </p:cNvPr>
          <p:cNvGrpSpPr/>
          <p:nvPr/>
        </p:nvGrpSpPr>
        <p:grpSpPr>
          <a:xfrm>
            <a:off x="7266014" y="1178976"/>
            <a:ext cx="450049" cy="810009"/>
            <a:chOff x="7362031" y="2528632"/>
            <a:chExt cx="450049" cy="810009"/>
          </a:xfrm>
        </p:grpSpPr>
        <p:cxnSp>
          <p:nvCxnSpPr>
            <p:cNvPr id="51" name="直線コネクタ 50">
              <a:extLst>
                <a:ext uri="{FF2B5EF4-FFF2-40B4-BE49-F238E27FC236}">
                  <a16:creationId xmlns:a16="http://schemas.microsoft.com/office/drawing/2014/main" id="{7B0D0A2A-D309-4902-0BE5-D8838278EB7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BB65BF67-D005-1F2D-9DB0-8AC780A9669B}"/>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53" name="Rectangle 93">
              <a:extLst>
                <a:ext uri="{FF2B5EF4-FFF2-40B4-BE49-F238E27FC236}">
                  <a16:creationId xmlns:a16="http://schemas.microsoft.com/office/drawing/2014/main" id="{9B52DC1E-4C0C-2F3A-C951-A24DD69847C8}"/>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pSp>
        <p:nvGrpSpPr>
          <p:cNvPr id="54" name="グループ化 53">
            <a:extLst>
              <a:ext uri="{FF2B5EF4-FFF2-40B4-BE49-F238E27FC236}">
                <a16:creationId xmlns:a16="http://schemas.microsoft.com/office/drawing/2014/main" id="{5C88E42F-7328-C611-BBAD-2E5B1B7555B0}"/>
              </a:ext>
            </a:extLst>
          </p:cNvPr>
          <p:cNvGrpSpPr/>
          <p:nvPr/>
        </p:nvGrpSpPr>
        <p:grpSpPr>
          <a:xfrm>
            <a:off x="7176013" y="4869016"/>
            <a:ext cx="450005" cy="900368"/>
            <a:chOff x="7272030" y="5768668"/>
            <a:chExt cx="450005" cy="900368"/>
          </a:xfrm>
        </p:grpSpPr>
        <p:grpSp>
          <p:nvGrpSpPr>
            <p:cNvPr id="55" name="グループ化 152">
              <a:extLst>
                <a:ext uri="{FF2B5EF4-FFF2-40B4-BE49-F238E27FC236}">
                  <a16:creationId xmlns:a16="http://schemas.microsoft.com/office/drawing/2014/main" id="{12D53C54-DAAD-D812-852A-90812EAEA6D5}"/>
                </a:ext>
              </a:extLst>
            </p:cNvPr>
            <p:cNvGrpSpPr/>
            <p:nvPr/>
          </p:nvGrpSpPr>
          <p:grpSpPr>
            <a:xfrm>
              <a:off x="7542033" y="6218673"/>
              <a:ext cx="180002" cy="90001"/>
              <a:chOff x="3643306" y="4500570"/>
              <a:chExt cx="428628" cy="144464"/>
            </a:xfrm>
          </p:grpSpPr>
          <p:cxnSp>
            <p:nvCxnSpPr>
              <p:cNvPr id="58" name="直線コネクタ 57">
                <a:extLst>
                  <a:ext uri="{FF2B5EF4-FFF2-40B4-BE49-F238E27FC236}">
                    <a16:creationId xmlns:a16="http://schemas.microsoft.com/office/drawing/2014/main" id="{E8B97059-13F9-00BD-0046-DA222AC20607}"/>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59" name="直線コネクタ 58">
                <a:extLst>
                  <a:ext uri="{FF2B5EF4-FFF2-40B4-BE49-F238E27FC236}">
                    <a16:creationId xmlns:a16="http://schemas.microsoft.com/office/drawing/2014/main" id="{79C38C9D-0674-9C80-980F-21C70F82FB9C}"/>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60" name="直線コネクタ 59">
                <a:extLst>
                  <a:ext uri="{FF2B5EF4-FFF2-40B4-BE49-F238E27FC236}">
                    <a16:creationId xmlns:a16="http://schemas.microsoft.com/office/drawing/2014/main" id="{5C1C7909-A2B5-AEA8-A2FF-C087150D031E}"/>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56" name="直線コネクタ 55">
              <a:extLst>
                <a:ext uri="{FF2B5EF4-FFF2-40B4-BE49-F238E27FC236}">
                  <a16:creationId xmlns:a16="http://schemas.microsoft.com/office/drawing/2014/main" id="{889DD046-2861-5309-6A84-07E9F070296E}"/>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7" name="Rectangle 93">
              <a:extLst>
                <a:ext uri="{FF2B5EF4-FFF2-40B4-BE49-F238E27FC236}">
                  <a16:creationId xmlns:a16="http://schemas.microsoft.com/office/drawing/2014/main" id="{C775139E-0212-ED91-621A-71DE77A16354}"/>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spTree>
    <p:extLst>
      <p:ext uri="{BB962C8B-B14F-4D97-AF65-F5344CB8AC3E}">
        <p14:creationId xmlns:p14="http://schemas.microsoft.com/office/powerpoint/2010/main" val="5372519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p:txBody>
          <a:bodyPr/>
          <a:lstStyle/>
          <a:p>
            <a:r>
              <a:rPr lang="en-US" altLang="ja-JP" sz="2400" dirty="0"/>
              <a:t>3</a:t>
            </a:r>
            <a:r>
              <a:rPr lang="ja-JP" altLang="en-US" sz="2400" dirty="0"/>
              <a:t>入力</a:t>
            </a:r>
            <a:r>
              <a:rPr lang="en-US" altLang="ja-JP" sz="2400" dirty="0"/>
              <a:t>NOR</a:t>
            </a:r>
            <a:endParaRPr lang="en-US" sz="2400" dirty="0"/>
          </a:p>
        </p:txBody>
      </p: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7896020" y="4069289"/>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6186002" y="739253"/>
            <a:ext cx="281951" cy="276561"/>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6186002" y="2089268"/>
            <a:ext cx="281951" cy="276561"/>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4385982" y="4879299"/>
            <a:ext cx="281951" cy="276561"/>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6186002" y="4969300"/>
            <a:ext cx="281951" cy="276561"/>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5825997" y="5509305"/>
            <a:ext cx="351390" cy="690990"/>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7679624" y="19244"/>
            <a:ext cx="351424" cy="621644"/>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sp>
        <p:nvSpPr>
          <p:cNvPr id="21" name="Rectangle 93">
            <a:extLst>
              <a:ext uri="{FF2B5EF4-FFF2-40B4-BE49-F238E27FC236}">
                <a16:creationId xmlns:a16="http://schemas.microsoft.com/office/drawing/2014/main" id="{5E578341-A058-93B0-8D57-5319D5324222}"/>
              </a:ext>
            </a:extLst>
          </p:cNvPr>
          <p:cNvSpPr>
            <a:spLocks noChangeArrowheads="1"/>
          </p:cNvSpPr>
          <p:nvPr/>
        </p:nvSpPr>
        <p:spPr bwMode="auto">
          <a:xfrm>
            <a:off x="7986022" y="4969300"/>
            <a:ext cx="281951" cy="276561"/>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sp>
        <p:nvSpPr>
          <p:cNvPr id="24" name="Rectangle 93">
            <a:extLst>
              <a:ext uri="{FF2B5EF4-FFF2-40B4-BE49-F238E27FC236}">
                <a16:creationId xmlns:a16="http://schemas.microsoft.com/office/drawing/2014/main" id="{AADB9144-3066-515A-6A3D-E9426AD5E0A0}"/>
              </a:ext>
            </a:extLst>
          </p:cNvPr>
          <p:cNvSpPr>
            <a:spLocks noChangeArrowheads="1"/>
          </p:cNvSpPr>
          <p:nvPr/>
        </p:nvSpPr>
        <p:spPr bwMode="auto">
          <a:xfrm>
            <a:off x="6186002" y="3439283"/>
            <a:ext cx="281951" cy="276561"/>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sp>
        <p:nvSpPr>
          <p:cNvPr id="49" name="Rectangle 93">
            <a:extLst>
              <a:ext uri="{FF2B5EF4-FFF2-40B4-BE49-F238E27FC236}">
                <a16:creationId xmlns:a16="http://schemas.microsoft.com/office/drawing/2014/main" id="{08FF4433-8BB8-E55A-62D8-92F81173BB99}"/>
              </a:ext>
            </a:extLst>
          </p:cNvPr>
          <p:cNvSpPr>
            <a:spLocks noChangeArrowheads="1"/>
          </p:cNvSpPr>
          <p:nvPr/>
        </p:nvSpPr>
        <p:spPr bwMode="auto">
          <a:xfrm>
            <a:off x="10146046" y="4239010"/>
            <a:ext cx="281951" cy="276561"/>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o</a:t>
            </a:r>
          </a:p>
        </p:txBody>
      </p:sp>
      <p:sp>
        <p:nvSpPr>
          <p:cNvPr id="53" name="Rectangle 93">
            <a:extLst>
              <a:ext uri="{FF2B5EF4-FFF2-40B4-BE49-F238E27FC236}">
                <a16:creationId xmlns:a16="http://schemas.microsoft.com/office/drawing/2014/main" id="{58C5CFBD-6016-F5F4-4E7A-93C461ACB0C2}"/>
              </a:ext>
            </a:extLst>
          </p:cNvPr>
          <p:cNvSpPr>
            <a:spLocks noChangeArrowheads="1"/>
          </p:cNvSpPr>
          <p:nvPr/>
        </p:nvSpPr>
        <p:spPr bwMode="auto">
          <a:xfrm>
            <a:off x="1955954" y="2348988"/>
            <a:ext cx="1440016"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3</a:t>
            </a:r>
            <a:r>
              <a:rPr lang="ja-JP" altLang="en-US" dirty="0">
                <a:latin typeface="+mj-lt"/>
              </a:rPr>
              <a:t>入力 </a:t>
            </a:r>
            <a:r>
              <a:rPr lang="en-US" altLang="ja-JP" dirty="0">
                <a:latin typeface="+mj-lt"/>
              </a:rPr>
              <a:t>NOR </a:t>
            </a:r>
            <a:r>
              <a:rPr lang="ja-JP" altLang="en-US" dirty="0">
                <a:latin typeface="+mj-lt"/>
              </a:rPr>
              <a:t>の真理値表</a:t>
            </a:r>
            <a:endParaRPr lang="en-US" altLang="ja-JP" dirty="0"/>
          </a:p>
        </p:txBody>
      </p:sp>
      <p:graphicFrame>
        <p:nvGraphicFramePr>
          <p:cNvPr id="5" name="Group 383">
            <a:extLst>
              <a:ext uri="{FF2B5EF4-FFF2-40B4-BE49-F238E27FC236}">
                <a16:creationId xmlns:a16="http://schemas.microsoft.com/office/drawing/2014/main" id="{8B1A9E73-B0D5-2793-87B3-F7DAAC482408}"/>
              </a:ext>
            </a:extLst>
          </p:cNvPr>
          <p:cNvGraphicFramePr>
            <a:graphicFrameLocks/>
          </p:cNvGraphicFramePr>
          <p:nvPr>
            <p:extLst>
              <p:ext uri="{D42A27DB-BD31-4B8C-83A1-F6EECF244321}">
                <p14:modId xmlns:p14="http://schemas.microsoft.com/office/powerpoint/2010/main" val="284626412"/>
              </p:ext>
            </p:extLst>
          </p:nvPr>
        </p:nvGraphicFramePr>
        <p:xfrm>
          <a:off x="2045955" y="2798993"/>
          <a:ext cx="1800020" cy="3827340"/>
        </p:xfrm>
        <a:graphic>
          <a:graphicData uri="http://schemas.openxmlformats.org/drawingml/2006/table">
            <a:tbl>
              <a:tblPr/>
              <a:tblGrid>
                <a:gridCol w="449633">
                  <a:extLst>
                    <a:ext uri="{9D8B030D-6E8A-4147-A177-3AD203B41FA5}">
                      <a16:colId xmlns:a16="http://schemas.microsoft.com/office/drawing/2014/main" val="20000"/>
                    </a:ext>
                  </a:extLst>
                </a:gridCol>
                <a:gridCol w="449633">
                  <a:extLst>
                    <a:ext uri="{9D8B030D-6E8A-4147-A177-3AD203B41FA5}">
                      <a16:colId xmlns:a16="http://schemas.microsoft.com/office/drawing/2014/main" val="3764275717"/>
                    </a:ext>
                  </a:extLst>
                </a:gridCol>
                <a:gridCol w="451121">
                  <a:extLst>
                    <a:ext uri="{9D8B030D-6E8A-4147-A177-3AD203B41FA5}">
                      <a16:colId xmlns:a16="http://schemas.microsoft.com/office/drawing/2014/main" val="20001"/>
                    </a:ext>
                  </a:extLst>
                </a:gridCol>
                <a:gridCol w="449633">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b</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c</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o</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5394704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6861046"/>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85953619"/>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33049196"/>
                  </a:ext>
                </a:extLst>
              </a:tr>
            </a:tbl>
          </a:graphicData>
        </a:graphic>
      </p:graphicFrame>
      <p:grpSp>
        <p:nvGrpSpPr>
          <p:cNvPr id="6" name="グループ化 5">
            <a:extLst>
              <a:ext uri="{FF2B5EF4-FFF2-40B4-BE49-F238E27FC236}">
                <a16:creationId xmlns:a16="http://schemas.microsoft.com/office/drawing/2014/main" id="{5BA27EC3-6491-4889-CF33-D736B36EFFB6}"/>
              </a:ext>
            </a:extLst>
          </p:cNvPr>
          <p:cNvGrpSpPr/>
          <p:nvPr/>
        </p:nvGrpSpPr>
        <p:grpSpPr>
          <a:xfrm>
            <a:off x="4565983" y="4429293"/>
            <a:ext cx="1531092" cy="1440374"/>
            <a:chOff x="5202007" y="3068996"/>
            <a:chExt cx="1531092" cy="1440374"/>
          </a:xfrm>
        </p:grpSpPr>
        <p:sp>
          <p:nvSpPr>
            <p:cNvPr id="48" name="正方形/長方形 47">
              <a:extLst>
                <a:ext uri="{FF2B5EF4-FFF2-40B4-BE49-F238E27FC236}">
                  <a16:creationId xmlns:a16="http://schemas.microsoft.com/office/drawing/2014/main" id="{3F94DC8F-18D7-C963-A5F7-95AC2862181D}"/>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50" name="円/楕円 69">
              <a:extLst>
                <a:ext uri="{FF2B5EF4-FFF2-40B4-BE49-F238E27FC236}">
                  <a16:creationId xmlns:a16="http://schemas.microsoft.com/office/drawing/2014/main" id="{3305ACE7-EF0B-C7B2-F17A-5675143A9675}"/>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1" name="直線コネクタ 50">
              <a:extLst>
                <a:ext uri="{FF2B5EF4-FFF2-40B4-BE49-F238E27FC236}">
                  <a16:creationId xmlns:a16="http://schemas.microsoft.com/office/drawing/2014/main" id="{9B4BF49C-2EBD-7475-0588-333BE879B499}"/>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FCF503E3-F3B6-681B-9EF8-36BC33BF4845}"/>
                </a:ext>
              </a:extLst>
            </p:cNvPr>
            <p:cNvCxnSpPr>
              <a:cxnSpLocks/>
              <a:endCxn id="55"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5" name="円/楕円 68">
              <a:extLst>
                <a:ext uri="{FF2B5EF4-FFF2-40B4-BE49-F238E27FC236}">
                  <a16:creationId xmlns:a16="http://schemas.microsoft.com/office/drawing/2014/main" id="{1B8183B8-E681-BE3A-C382-1BEBB0626973}"/>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6" name="直線コネクタ 55">
              <a:extLst>
                <a:ext uri="{FF2B5EF4-FFF2-40B4-BE49-F238E27FC236}">
                  <a16:creationId xmlns:a16="http://schemas.microsoft.com/office/drawing/2014/main" id="{63ED2686-1F40-9170-6A96-DFC686B89C2E}"/>
                </a:ext>
              </a:extLst>
            </p:cNvPr>
            <p:cNvCxnSpPr>
              <a:cxnSpLocks/>
              <a:endCxn id="50"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38DD9239-0294-B74A-4900-C8BD5EB7A90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8" name="Rectangle 93">
              <a:extLst>
                <a:ext uri="{FF2B5EF4-FFF2-40B4-BE49-F238E27FC236}">
                  <a16:creationId xmlns:a16="http://schemas.microsoft.com/office/drawing/2014/main" id="{46A7D33D-DD04-4C66-1CD1-6727E3362552}"/>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9" name="Rectangle 93">
              <a:extLst>
                <a:ext uri="{FF2B5EF4-FFF2-40B4-BE49-F238E27FC236}">
                  <a16:creationId xmlns:a16="http://schemas.microsoft.com/office/drawing/2014/main" id="{48E19650-DCEC-D8A4-E363-BA13A0AD7A7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60" name="Rectangle 93">
              <a:extLst>
                <a:ext uri="{FF2B5EF4-FFF2-40B4-BE49-F238E27FC236}">
                  <a16:creationId xmlns:a16="http://schemas.microsoft.com/office/drawing/2014/main" id="{1104A542-7748-06D9-2D46-7F5ACC64D5C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61" name="直線コネクタ 60">
              <a:extLst>
                <a:ext uri="{FF2B5EF4-FFF2-40B4-BE49-F238E27FC236}">
                  <a16:creationId xmlns:a16="http://schemas.microsoft.com/office/drawing/2014/main" id="{4FB5752B-BA29-8EC3-70ED-D3161C3C30E2}"/>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65097042-1801-6347-D197-5946AE8D6A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63" name="グループ化 62">
            <a:extLst>
              <a:ext uri="{FF2B5EF4-FFF2-40B4-BE49-F238E27FC236}">
                <a16:creationId xmlns:a16="http://schemas.microsoft.com/office/drawing/2014/main" id="{5FE9FCDE-CC46-716E-4A82-378DEBC44416}"/>
              </a:ext>
            </a:extLst>
          </p:cNvPr>
          <p:cNvGrpSpPr/>
          <p:nvPr/>
        </p:nvGrpSpPr>
        <p:grpSpPr>
          <a:xfrm>
            <a:off x="6366003" y="4429293"/>
            <a:ext cx="1531092" cy="1440374"/>
            <a:chOff x="5202007" y="3068996"/>
            <a:chExt cx="1531092" cy="1440374"/>
          </a:xfrm>
        </p:grpSpPr>
        <p:sp>
          <p:nvSpPr>
            <p:cNvPr id="128" name="正方形/長方形 127">
              <a:extLst>
                <a:ext uri="{FF2B5EF4-FFF2-40B4-BE49-F238E27FC236}">
                  <a16:creationId xmlns:a16="http://schemas.microsoft.com/office/drawing/2014/main" id="{5C2A73A8-1E30-292D-8D8E-0526C2700FAB}"/>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29" name="円/楕円 69">
              <a:extLst>
                <a:ext uri="{FF2B5EF4-FFF2-40B4-BE49-F238E27FC236}">
                  <a16:creationId xmlns:a16="http://schemas.microsoft.com/office/drawing/2014/main" id="{D8459585-8FDF-5CD6-02A8-5750933F258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30" name="直線コネクタ 129">
              <a:extLst>
                <a:ext uri="{FF2B5EF4-FFF2-40B4-BE49-F238E27FC236}">
                  <a16:creationId xmlns:a16="http://schemas.microsoft.com/office/drawing/2014/main" id="{F24036D7-0DA2-AA83-EDE6-92425971D89D}"/>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1" name="直線コネクタ 130">
              <a:extLst>
                <a:ext uri="{FF2B5EF4-FFF2-40B4-BE49-F238E27FC236}">
                  <a16:creationId xmlns:a16="http://schemas.microsoft.com/office/drawing/2014/main" id="{E5B051DF-9D64-1540-7F32-154CB825ED72}"/>
                </a:ext>
              </a:extLst>
            </p:cNvPr>
            <p:cNvCxnSpPr>
              <a:cxnSpLocks/>
              <a:endCxn id="132"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32" name="円/楕円 68">
              <a:extLst>
                <a:ext uri="{FF2B5EF4-FFF2-40B4-BE49-F238E27FC236}">
                  <a16:creationId xmlns:a16="http://schemas.microsoft.com/office/drawing/2014/main" id="{08DCE2AA-73B9-2BE7-B388-4BAEE5F03DAF}"/>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33" name="直線コネクタ 132">
              <a:extLst>
                <a:ext uri="{FF2B5EF4-FFF2-40B4-BE49-F238E27FC236}">
                  <a16:creationId xmlns:a16="http://schemas.microsoft.com/office/drawing/2014/main" id="{EA91BAF5-BA63-B6D6-D59E-CEEF06962AD3}"/>
                </a:ext>
              </a:extLst>
            </p:cNvPr>
            <p:cNvCxnSpPr>
              <a:cxnSpLocks/>
              <a:endCxn id="12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a16:creationId xmlns:a16="http://schemas.microsoft.com/office/drawing/2014/main" id="{330B5253-610B-4DFB-B648-8D1ED616BF5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35" name="Rectangle 93">
              <a:extLst>
                <a:ext uri="{FF2B5EF4-FFF2-40B4-BE49-F238E27FC236}">
                  <a16:creationId xmlns:a16="http://schemas.microsoft.com/office/drawing/2014/main" id="{5B558C62-A81D-16F5-3CCC-947D68E3A05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37" name="Rectangle 93">
              <a:extLst>
                <a:ext uri="{FF2B5EF4-FFF2-40B4-BE49-F238E27FC236}">
                  <a16:creationId xmlns:a16="http://schemas.microsoft.com/office/drawing/2014/main" id="{DA19D288-AC36-DB45-FD3F-DD2C507BFF1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38" name="Rectangle 93">
              <a:extLst>
                <a:ext uri="{FF2B5EF4-FFF2-40B4-BE49-F238E27FC236}">
                  <a16:creationId xmlns:a16="http://schemas.microsoft.com/office/drawing/2014/main" id="{32A25A84-B51E-F316-8B9E-F0CCE7556715}"/>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39" name="直線コネクタ 138">
              <a:extLst>
                <a:ext uri="{FF2B5EF4-FFF2-40B4-BE49-F238E27FC236}">
                  <a16:creationId xmlns:a16="http://schemas.microsoft.com/office/drawing/2014/main" id="{CB7BA884-7AE6-337B-585A-A5151FE4E78D}"/>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0" name="直線コネクタ 139">
              <a:extLst>
                <a:ext uri="{FF2B5EF4-FFF2-40B4-BE49-F238E27FC236}">
                  <a16:creationId xmlns:a16="http://schemas.microsoft.com/office/drawing/2014/main" id="{9C143030-57AC-DB4E-884A-98437E5A1D31}"/>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41" name="グループ化 140">
            <a:extLst>
              <a:ext uri="{FF2B5EF4-FFF2-40B4-BE49-F238E27FC236}">
                <a16:creationId xmlns:a16="http://schemas.microsoft.com/office/drawing/2014/main" id="{626E2901-9894-17E9-3951-32B97088E9D0}"/>
              </a:ext>
            </a:extLst>
          </p:cNvPr>
          <p:cNvGrpSpPr/>
          <p:nvPr/>
        </p:nvGrpSpPr>
        <p:grpSpPr>
          <a:xfrm>
            <a:off x="8166023" y="4429293"/>
            <a:ext cx="1531092" cy="1440374"/>
            <a:chOff x="5202007" y="3068996"/>
            <a:chExt cx="1531092" cy="1440374"/>
          </a:xfrm>
        </p:grpSpPr>
        <p:sp>
          <p:nvSpPr>
            <p:cNvPr id="143" name="正方形/長方形 142">
              <a:extLst>
                <a:ext uri="{FF2B5EF4-FFF2-40B4-BE49-F238E27FC236}">
                  <a16:creationId xmlns:a16="http://schemas.microsoft.com/office/drawing/2014/main" id="{3A77BB4D-2E83-670D-3F1F-880DAC38BD19}"/>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46" name="円/楕円 69">
              <a:extLst>
                <a:ext uri="{FF2B5EF4-FFF2-40B4-BE49-F238E27FC236}">
                  <a16:creationId xmlns:a16="http://schemas.microsoft.com/office/drawing/2014/main" id="{721E2DD7-0B78-57CA-8B2C-132305CBADB8}"/>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47" name="直線コネクタ 146">
              <a:extLst>
                <a:ext uri="{FF2B5EF4-FFF2-40B4-BE49-F238E27FC236}">
                  <a16:creationId xmlns:a16="http://schemas.microsoft.com/office/drawing/2014/main" id="{A542C812-E80D-8D64-BC82-E9976D19860D}"/>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07B843FD-6C0F-4D6F-914D-A8FC0113ABC6}"/>
                </a:ext>
              </a:extLst>
            </p:cNvPr>
            <p:cNvCxnSpPr>
              <a:cxnSpLocks/>
              <a:endCxn id="151"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1" name="円/楕円 68">
              <a:extLst>
                <a:ext uri="{FF2B5EF4-FFF2-40B4-BE49-F238E27FC236}">
                  <a16:creationId xmlns:a16="http://schemas.microsoft.com/office/drawing/2014/main" id="{3455E437-C277-A3DF-3E57-6AEC4B55BB05}"/>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52" name="直線コネクタ 151">
              <a:extLst>
                <a:ext uri="{FF2B5EF4-FFF2-40B4-BE49-F238E27FC236}">
                  <a16:creationId xmlns:a16="http://schemas.microsoft.com/office/drawing/2014/main" id="{3ABC7D17-266A-FABB-DD32-5C3FA8D6CBC8}"/>
                </a:ext>
              </a:extLst>
            </p:cNvPr>
            <p:cNvCxnSpPr>
              <a:cxnSpLocks/>
              <a:endCxn id="146"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a16:creationId xmlns:a16="http://schemas.microsoft.com/office/drawing/2014/main" id="{69B7929C-D549-CFC8-AE8C-D128BF3E511F}"/>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4" name="Rectangle 93">
              <a:extLst>
                <a:ext uri="{FF2B5EF4-FFF2-40B4-BE49-F238E27FC236}">
                  <a16:creationId xmlns:a16="http://schemas.microsoft.com/office/drawing/2014/main" id="{B7532ACE-B72A-63EA-F537-54D7ECD344F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5" name="Rectangle 93">
              <a:extLst>
                <a:ext uri="{FF2B5EF4-FFF2-40B4-BE49-F238E27FC236}">
                  <a16:creationId xmlns:a16="http://schemas.microsoft.com/office/drawing/2014/main" id="{3BB17B8E-506A-04E5-942D-A14FEEF18BF8}"/>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56" name="Rectangle 93">
              <a:extLst>
                <a:ext uri="{FF2B5EF4-FFF2-40B4-BE49-F238E27FC236}">
                  <a16:creationId xmlns:a16="http://schemas.microsoft.com/office/drawing/2014/main" id="{DAA5BB7C-5B84-F3E0-8D8C-7802E345DF62}"/>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57" name="直線コネクタ 156">
              <a:extLst>
                <a:ext uri="{FF2B5EF4-FFF2-40B4-BE49-F238E27FC236}">
                  <a16:creationId xmlns:a16="http://schemas.microsoft.com/office/drawing/2014/main" id="{5468E45F-C73E-BBD8-C592-FC339D6F7A72}"/>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a16:creationId xmlns:a16="http://schemas.microsoft.com/office/drawing/2014/main" id="{9D2E6A61-76C9-8AE9-EA5B-F98EC2CF93D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60" name="グループ化 159">
            <a:extLst>
              <a:ext uri="{FF2B5EF4-FFF2-40B4-BE49-F238E27FC236}">
                <a16:creationId xmlns:a16="http://schemas.microsoft.com/office/drawing/2014/main" id="{0EA59EF7-AC8A-E3B2-BCBC-FBB8E095A4F8}"/>
              </a:ext>
            </a:extLst>
          </p:cNvPr>
          <p:cNvGrpSpPr/>
          <p:nvPr/>
        </p:nvGrpSpPr>
        <p:grpSpPr>
          <a:xfrm>
            <a:off x="7626017" y="5509305"/>
            <a:ext cx="351390" cy="690990"/>
            <a:chOff x="7272030" y="5768668"/>
            <a:chExt cx="450005" cy="900368"/>
          </a:xfrm>
        </p:grpSpPr>
        <p:grpSp>
          <p:nvGrpSpPr>
            <p:cNvPr id="161" name="グループ化 152">
              <a:extLst>
                <a:ext uri="{FF2B5EF4-FFF2-40B4-BE49-F238E27FC236}">
                  <a16:creationId xmlns:a16="http://schemas.microsoft.com/office/drawing/2014/main" id="{32F0C46B-1445-5321-AF6C-FBB101DE48D3}"/>
                </a:ext>
              </a:extLst>
            </p:cNvPr>
            <p:cNvGrpSpPr/>
            <p:nvPr/>
          </p:nvGrpSpPr>
          <p:grpSpPr>
            <a:xfrm>
              <a:off x="7542033" y="6218673"/>
              <a:ext cx="180002" cy="90001"/>
              <a:chOff x="3643306" y="4500570"/>
              <a:chExt cx="428628" cy="144464"/>
            </a:xfrm>
          </p:grpSpPr>
          <p:cxnSp>
            <p:nvCxnSpPr>
              <p:cNvPr id="164" name="直線コネクタ 163">
                <a:extLst>
                  <a:ext uri="{FF2B5EF4-FFF2-40B4-BE49-F238E27FC236}">
                    <a16:creationId xmlns:a16="http://schemas.microsoft.com/office/drawing/2014/main" id="{BC77371F-E17D-237C-7087-AAE16E8515A2}"/>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65" name="直線コネクタ 164">
                <a:extLst>
                  <a:ext uri="{FF2B5EF4-FFF2-40B4-BE49-F238E27FC236}">
                    <a16:creationId xmlns:a16="http://schemas.microsoft.com/office/drawing/2014/main" id="{D870F833-FC5F-94B7-0441-92571B7635D8}"/>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66" name="直線コネクタ 165">
                <a:extLst>
                  <a:ext uri="{FF2B5EF4-FFF2-40B4-BE49-F238E27FC236}">
                    <a16:creationId xmlns:a16="http://schemas.microsoft.com/office/drawing/2014/main" id="{970B407D-1F0A-3455-4E55-65196BB8E3AB}"/>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62" name="直線コネクタ 161">
              <a:extLst>
                <a:ext uri="{FF2B5EF4-FFF2-40B4-BE49-F238E27FC236}">
                  <a16:creationId xmlns:a16="http://schemas.microsoft.com/office/drawing/2014/main" id="{F8875495-D27D-F7B8-9F9C-3C16001C52C0}"/>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63" name="Rectangle 93">
              <a:extLst>
                <a:ext uri="{FF2B5EF4-FFF2-40B4-BE49-F238E27FC236}">
                  <a16:creationId xmlns:a16="http://schemas.microsoft.com/office/drawing/2014/main" id="{AC93BD7D-49BF-3BDE-EF54-437C96628774}"/>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167" name="グループ化 166">
            <a:extLst>
              <a:ext uri="{FF2B5EF4-FFF2-40B4-BE49-F238E27FC236}">
                <a16:creationId xmlns:a16="http://schemas.microsoft.com/office/drawing/2014/main" id="{788811CE-D8B3-A554-9880-7CEAC6BC661D}"/>
              </a:ext>
            </a:extLst>
          </p:cNvPr>
          <p:cNvGrpSpPr/>
          <p:nvPr/>
        </p:nvGrpSpPr>
        <p:grpSpPr>
          <a:xfrm>
            <a:off x="9426037" y="5509305"/>
            <a:ext cx="351390" cy="690990"/>
            <a:chOff x="7272030" y="5768668"/>
            <a:chExt cx="450005" cy="900368"/>
          </a:xfrm>
        </p:grpSpPr>
        <p:grpSp>
          <p:nvGrpSpPr>
            <p:cNvPr id="168" name="グループ化 152">
              <a:extLst>
                <a:ext uri="{FF2B5EF4-FFF2-40B4-BE49-F238E27FC236}">
                  <a16:creationId xmlns:a16="http://schemas.microsoft.com/office/drawing/2014/main" id="{E3E64443-FB10-6B23-51AD-CF7C8E291134}"/>
                </a:ext>
              </a:extLst>
            </p:cNvPr>
            <p:cNvGrpSpPr/>
            <p:nvPr/>
          </p:nvGrpSpPr>
          <p:grpSpPr>
            <a:xfrm>
              <a:off x="7542033" y="6218673"/>
              <a:ext cx="180002" cy="90001"/>
              <a:chOff x="3643306" y="4500570"/>
              <a:chExt cx="428628" cy="144464"/>
            </a:xfrm>
          </p:grpSpPr>
          <p:cxnSp>
            <p:nvCxnSpPr>
              <p:cNvPr id="171" name="直線コネクタ 170">
                <a:extLst>
                  <a:ext uri="{FF2B5EF4-FFF2-40B4-BE49-F238E27FC236}">
                    <a16:creationId xmlns:a16="http://schemas.microsoft.com/office/drawing/2014/main" id="{15ADCF8E-20FA-4DD3-2C47-B28B411E5BBA}"/>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72" name="直線コネクタ 171">
                <a:extLst>
                  <a:ext uri="{FF2B5EF4-FFF2-40B4-BE49-F238E27FC236}">
                    <a16:creationId xmlns:a16="http://schemas.microsoft.com/office/drawing/2014/main" id="{E35E03E0-76B9-841E-8698-728C9537880B}"/>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73" name="直線コネクタ 172">
                <a:extLst>
                  <a:ext uri="{FF2B5EF4-FFF2-40B4-BE49-F238E27FC236}">
                    <a16:creationId xmlns:a16="http://schemas.microsoft.com/office/drawing/2014/main" id="{F3366F22-5715-DEE2-D391-891108F446CE}"/>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69" name="直線コネクタ 168">
              <a:extLst>
                <a:ext uri="{FF2B5EF4-FFF2-40B4-BE49-F238E27FC236}">
                  <a16:creationId xmlns:a16="http://schemas.microsoft.com/office/drawing/2014/main" id="{F5049526-119D-7D9C-681A-42B01293AE2E}"/>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70" name="Rectangle 93">
              <a:extLst>
                <a:ext uri="{FF2B5EF4-FFF2-40B4-BE49-F238E27FC236}">
                  <a16:creationId xmlns:a16="http://schemas.microsoft.com/office/drawing/2014/main" id="{287F95AE-87EA-47CB-F8D6-620C91F96DF4}"/>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07" name="グループ化 206">
            <a:extLst>
              <a:ext uri="{FF2B5EF4-FFF2-40B4-BE49-F238E27FC236}">
                <a16:creationId xmlns:a16="http://schemas.microsoft.com/office/drawing/2014/main" id="{505F4805-2AB5-7A56-FDA8-11B702DF6C03}"/>
              </a:ext>
            </a:extLst>
          </p:cNvPr>
          <p:cNvGrpSpPr/>
          <p:nvPr/>
        </p:nvGrpSpPr>
        <p:grpSpPr>
          <a:xfrm>
            <a:off x="6366003" y="1639262"/>
            <a:ext cx="1531092" cy="1440374"/>
            <a:chOff x="5202007" y="2708992"/>
            <a:chExt cx="1531092" cy="1440374"/>
          </a:xfrm>
        </p:grpSpPr>
        <p:grpSp>
          <p:nvGrpSpPr>
            <p:cNvPr id="209" name="グループ化 208">
              <a:extLst>
                <a:ext uri="{FF2B5EF4-FFF2-40B4-BE49-F238E27FC236}">
                  <a16:creationId xmlns:a16="http://schemas.microsoft.com/office/drawing/2014/main" id="{C5A9FF81-B80A-2DD7-53A9-D8848F7D822F}"/>
                </a:ext>
              </a:extLst>
            </p:cNvPr>
            <p:cNvGrpSpPr/>
            <p:nvPr/>
          </p:nvGrpSpPr>
          <p:grpSpPr>
            <a:xfrm>
              <a:off x="5202007" y="2708992"/>
              <a:ext cx="1531092" cy="1440374"/>
              <a:chOff x="5202007" y="3068996"/>
              <a:chExt cx="1531092" cy="1440374"/>
            </a:xfrm>
          </p:grpSpPr>
          <p:sp>
            <p:nvSpPr>
              <p:cNvPr id="215" name="正方形/長方形 214">
                <a:extLst>
                  <a:ext uri="{FF2B5EF4-FFF2-40B4-BE49-F238E27FC236}">
                    <a16:creationId xmlns:a16="http://schemas.microsoft.com/office/drawing/2014/main" id="{E04D98CF-FE50-EFF8-CA1D-838B26699D11}"/>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16" name="円/楕円 69">
                <a:extLst>
                  <a:ext uri="{FF2B5EF4-FFF2-40B4-BE49-F238E27FC236}">
                    <a16:creationId xmlns:a16="http://schemas.microsoft.com/office/drawing/2014/main" id="{025B75EF-6505-4A03-AD65-714CAF82E42A}"/>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32" name="直線コネクタ 231">
                <a:extLst>
                  <a:ext uri="{FF2B5EF4-FFF2-40B4-BE49-F238E27FC236}">
                    <a16:creationId xmlns:a16="http://schemas.microsoft.com/office/drawing/2014/main" id="{D4BA63E9-BC8E-B811-90D0-7B2D1CF896B4}"/>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a16:creationId xmlns:a16="http://schemas.microsoft.com/office/drawing/2014/main" id="{5AC16E11-6105-3075-1F90-BB69DBDB20D7}"/>
                  </a:ext>
                </a:extLst>
              </p:cNvPr>
              <p:cNvCxnSpPr>
                <a:cxnSpLocks/>
                <a:endCxn id="234"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34" name="円/楕円 68">
                <a:extLst>
                  <a:ext uri="{FF2B5EF4-FFF2-40B4-BE49-F238E27FC236}">
                    <a16:creationId xmlns:a16="http://schemas.microsoft.com/office/drawing/2014/main" id="{3FEFD9C0-8ECA-C513-6BED-7C807E17C7CA}"/>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35" name="直線コネクタ 234">
                <a:extLst>
                  <a:ext uri="{FF2B5EF4-FFF2-40B4-BE49-F238E27FC236}">
                    <a16:creationId xmlns:a16="http://schemas.microsoft.com/office/drawing/2014/main" id="{49CCF190-8148-8F50-4E97-76AD35A4163F}"/>
                  </a:ext>
                </a:extLst>
              </p:cNvPr>
              <p:cNvCxnSpPr>
                <a:cxnSpLocks/>
                <a:endCxn id="216"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6" name="直線コネクタ 235">
                <a:extLst>
                  <a:ext uri="{FF2B5EF4-FFF2-40B4-BE49-F238E27FC236}">
                    <a16:creationId xmlns:a16="http://schemas.microsoft.com/office/drawing/2014/main" id="{92B23298-A1AA-F8CF-CA39-687E5796327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37" name="Rectangle 93">
                <a:extLst>
                  <a:ext uri="{FF2B5EF4-FFF2-40B4-BE49-F238E27FC236}">
                    <a16:creationId xmlns:a16="http://schemas.microsoft.com/office/drawing/2014/main" id="{CE86A193-9B31-B9E1-135F-110A2F126136}"/>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38" name="Rectangle 93">
                <a:extLst>
                  <a:ext uri="{FF2B5EF4-FFF2-40B4-BE49-F238E27FC236}">
                    <a16:creationId xmlns:a16="http://schemas.microsoft.com/office/drawing/2014/main" id="{08177E7C-8270-3210-1C97-D6331E2B82E7}"/>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39" name="Rectangle 93">
                <a:extLst>
                  <a:ext uri="{FF2B5EF4-FFF2-40B4-BE49-F238E27FC236}">
                    <a16:creationId xmlns:a16="http://schemas.microsoft.com/office/drawing/2014/main" id="{6CEB65FF-2199-3B7A-049B-55E8853808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70" name="直線コネクタ 269">
                <a:extLst>
                  <a:ext uri="{FF2B5EF4-FFF2-40B4-BE49-F238E27FC236}">
                    <a16:creationId xmlns:a16="http://schemas.microsoft.com/office/drawing/2014/main" id="{36DAB691-2C1B-FA72-9FB1-C4AC671E5182}"/>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1" name="直線コネクタ 270">
                <a:extLst>
                  <a:ext uri="{FF2B5EF4-FFF2-40B4-BE49-F238E27FC236}">
                    <a16:creationId xmlns:a16="http://schemas.microsoft.com/office/drawing/2014/main" id="{130A0B64-251E-F6CC-F838-6D52289FA8C7}"/>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10" name="円/楕円 69">
              <a:extLst>
                <a:ext uri="{FF2B5EF4-FFF2-40B4-BE49-F238E27FC236}">
                  <a16:creationId xmlns:a16="http://schemas.microsoft.com/office/drawing/2014/main" id="{39AB9B75-7764-0E99-945D-3DD07A08F660}"/>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289" name="直線コネクタ 288">
            <a:extLst>
              <a:ext uri="{FF2B5EF4-FFF2-40B4-BE49-F238E27FC236}">
                <a16:creationId xmlns:a16="http://schemas.microsoft.com/office/drawing/2014/main" id="{7B3DBDAA-75A2-1E43-D353-116DCF0F6A5C}"/>
              </a:ext>
            </a:extLst>
          </p:cNvPr>
          <p:cNvCxnSpPr>
            <a:cxnSpLocks/>
          </p:cNvCxnSpPr>
          <p:nvPr/>
        </p:nvCxnSpPr>
        <p:spPr>
          <a:xfrm>
            <a:off x="6096000" y="4429293"/>
            <a:ext cx="3600040"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a16:creationId xmlns:a16="http://schemas.microsoft.com/office/drawing/2014/main" id="{9DF432A3-7AE2-795E-3411-9B2EE5D7E460}"/>
              </a:ext>
            </a:extLst>
          </p:cNvPr>
          <p:cNvCxnSpPr>
            <a:cxnSpLocks/>
          </p:cNvCxnSpPr>
          <p:nvPr/>
        </p:nvCxnSpPr>
        <p:spPr>
          <a:xfrm flipV="1">
            <a:off x="6096000" y="4429293"/>
            <a:ext cx="0" cy="360004"/>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94" name="直線コネクタ 293">
            <a:extLst>
              <a:ext uri="{FF2B5EF4-FFF2-40B4-BE49-F238E27FC236}">
                <a16:creationId xmlns:a16="http://schemas.microsoft.com/office/drawing/2014/main" id="{9B08B31E-A571-8B60-5DD2-B5C10A6DD255}"/>
              </a:ext>
            </a:extLst>
          </p:cNvPr>
          <p:cNvCxnSpPr>
            <a:cxnSpLocks/>
          </p:cNvCxnSpPr>
          <p:nvPr/>
        </p:nvCxnSpPr>
        <p:spPr>
          <a:xfrm flipV="1">
            <a:off x="9696040" y="4429293"/>
            <a:ext cx="0" cy="360004"/>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a16:creationId xmlns:a16="http://schemas.microsoft.com/office/drawing/2014/main" id="{5BC7BA58-36BA-8F90-AB2B-ED619014CE08}"/>
              </a:ext>
            </a:extLst>
          </p:cNvPr>
          <p:cNvCxnSpPr>
            <a:cxnSpLocks/>
          </p:cNvCxnSpPr>
          <p:nvPr/>
        </p:nvCxnSpPr>
        <p:spPr>
          <a:xfrm flipV="1">
            <a:off x="7896020" y="4429293"/>
            <a:ext cx="0" cy="360004"/>
          </a:xfrm>
          <a:prstGeom prst="line">
            <a:avLst/>
          </a:prstGeom>
          <a:ln w="6350"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a16:creationId xmlns:a16="http://schemas.microsoft.com/office/drawing/2014/main" id="{527D5C59-18C0-DC61-CB6F-CE7636CDB0B9}"/>
              </a:ext>
            </a:extLst>
          </p:cNvPr>
          <p:cNvCxnSpPr>
            <a:cxnSpLocks/>
          </p:cNvCxnSpPr>
          <p:nvPr/>
        </p:nvCxnSpPr>
        <p:spPr>
          <a:xfrm flipV="1">
            <a:off x="7896020" y="2719275"/>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a16:creationId xmlns:a16="http://schemas.microsoft.com/office/drawing/2014/main" id="{02CFF93C-D039-6392-23A0-F7C5A01A8080}"/>
              </a:ext>
            </a:extLst>
          </p:cNvPr>
          <p:cNvCxnSpPr>
            <a:cxnSpLocks/>
          </p:cNvCxnSpPr>
          <p:nvPr/>
        </p:nvCxnSpPr>
        <p:spPr>
          <a:xfrm flipV="1">
            <a:off x="7896020" y="1369260"/>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99" name="グループ化 298">
            <a:extLst>
              <a:ext uri="{FF2B5EF4-FFF2-40B4-BE49-F238E27FC236}">
                <a16:creationId xmlns:a16="http://schemas.microsoft.com/office/drawing/2014/main" id="{E78DE0C6-E8E9-D3C4-F38F-4049E736D8E2}"/>
              </a:ext>
            </a:extLst>
          </p:cNvPr>
          <p:cNvGrpSpPr/>
          <p:nvPr/>
        </p:nvGrpSpPr>
        <p:grpSpPr>
          <a:xfrm>
            <a:off x="6366003" y="278965"/>
            <a:ext cx="1531092" cy="1440374"/>
            <a:chOff x="5202007" y="2708992"/>
            <a:chExt cx="1531092" cy="1440374"/>
          </a:xfrm>
        </p:grpSpPr>
        <p:grpSp>
          <p:nvGrpSpPr>
            <p:cNvPr id="300" name="グループ化 299">
              <a:extLst>
                <a:ext uri="{FF2B5EF4-FFF2-40B4-BE49-F238E27FC236}">
                  <a16:creationId xmlns:a16="http://schemas.microsoft.com/office/drawing/2014/main" id="{62D30EEB-55E8-0F35-9716-2AE77F259D6E}"/>
                </a:ext>
              </a:extLst>
            </p:cNvPr>
            <p:cNvGrpSpPr/>
            <p:nvPr/>
          </p:nvGrpSpPr>
          <p:grpSpPr>
            <a:xfrm>
              <a:off x="5202007" y="2708992"/>
              <a:ext cx="1531092" cy="1440374"/>
              <a:chOff x="5202007" y="3068996"/>
              <a:chExt cx="1531092" cy="1440374"/>
            </a:xfrm>
          </p:grpSpPr>
          <p:sp>
            <p:nvSpPr>
              <p:cNvPr id="302" name="正方形/長方形 301">
                <a:extLst>
                  <a:ext uri="{FF2B5EF4-FFF2-40B4-BE49-F238E27FC236}">
                    <a16:creationId xmlns:a16="http://schemas.microsoft.com/office/drawing/2014/main" id="{273295CD-E5DD-5475-AC0E-84176BD8BAF3}"/>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03" name="円/楕円 69">
                <a:extLst>
                  <a:ext uri="{FF2B5EF4-FFF2-40B4-BE49-F238E27FC236}">
                    <a16:creationId xmlns:a16="http://schemas.microsoft.com/office/drawing/2014/main" id="{F1B184C4-EB1D-67E8-16E3-15DD0DAB9D22}"/>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04" name="直線コネクタ 303">
                <a:extLst>
                  <a:ext uri="{FF2B5EF4-FFF2-40B4-BE49-F238E27FC236}">
                    <a16:creationId xmlns:a16="http://schemas.microsoft.com/office/drawing/2014/main" id="{48DC2ED7-60DD-736C-6224-ACBA9AE0393F}"/>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a16:creationId xmlns:a16="http://schemas.microsoft.com/office/drawing/2014/main" id="{717E9779-4485-E4F5-C957-462CA1F41937}"/>
                  </a:ext>
                </a:extLst>
              </p:cNvPr>
              <p:cNvCxnSpPr>
                <a:cxnSpLocks/>
                <a:endCxn id="306"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06" name="円/楕円 68">
                <a:extLst>
                  <a:ext uri="{FF2B5EF4-FFF2-40B4-BE49-F238E27FC236}">
                    <a16:creationId xmlns:a16="http://schemas.microsoft.com/office/drawing/2014/main" id="{AF7B7B63-CFBD-23FB-C50D-34077F1E12AF}"/>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07" name="直線コネクタ 306">
                <a:extLst>
                  <a:ext uri="{FF2B5EF4-FFF2-40B4-BE49-F238E27FC236}">
                    <a16:creationId xmlns:a16="http://schemas.microsoft.com/office/drawing/2014/main" id="{CCBA90A5-2B4C-9747-6330-307EFCD63782}"/>
                  </a:ext>
                </a:extLst>
              </p:cNvPr>
              <p:cNvCxnSpPr>
                <a:cxnSpLocks/>
                <a:endCxn id="30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a16:creationId xmlns:a16="http://schemas.microsoft.com/office/drawing/2014/main" id="{90F947DB-0DBF-64C5-A03A-6D16D6AB8722}"/>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09" name="Rectangle 93">
                <a:extLst>
                  <a:ext uri="{FF2B5EF4-FFF2-40B4-BE49-F238E27FC236}">
                    <a16:creationId xmlns:a16="http://schemas.microsoft.com/office/drawing/2014/main" id="{990A2A8A-EDD3-4497-F1F9-B4C18E47F6EB}"/>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10" name="Rectangle 93">
                <a:extLst>
                  <a:ext uri="{FF2B5EF4-FFF2-40B4-BE49-F238E27FC236}">
                    <a16:creationId xmlns:a16="http://schemas.microsoft.com/office/drawing/2014/main" id="{FFCC2048-BCBA-CF70-B277-E06F419881E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11" name="Rectangle 93">
                <a:extLst>
                  <a:ext uri="{FF2B5EF4-FFF2-40B4-BE49-F238E27FC236}">
                    <a16:creationId xmlns:a16="http://schemas.microsoft.com/office/drawing/2014/main" id="{FCB5059F-9A7F-96E7-BE64-06949A2B2585}"/>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312" name="直線コネクタ 311">
                <a:extLst>
                  <a:ext uri="{FF2B5EF4-FFF2-40B4-BE49-F238E27FC236}">
                    <a16:creationId xmlns:a16="http://schemas.microsoft.com/office/drawing/2014/main" id="{52801E2E-D5DC-ADEC-C23E-32B74D7E3BB5}"/>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13" name="直線コネクタ 312">
                <a:extLst>
                  <a:ext uri="{FF2B5EF4-FFF2-40B4-BE49-F238E27FC236}">
                    <a16:creationId xmlns:a16="http://schemas.microsoft.com/office/drawing/2014/main" id="{7A19A78F-3B7F-D13C-A83F-5FF199B39BC2}"/>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301" name="円/楕円 69">
              <a:extLst>
                <a:ext uri="{FF2B5EF4-FFF2-40B4-BE49-F238E27FC236}">
                  <a16:creationId xmlns:a16="http://schemas.microsoft.com/office/drawing/2014/main" id="{36D319B2-F023-FF56-5670-A60C84F984D7}"/>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314" name="グループ化 313">
            <a:extLst>
              <a:ext uri="{FF2B5EF4-FFF2-40B4-BE49-F238E27FC236}">
                <a16:creationId xmlns:a16="http://schemas.microsoft.com/office/drawing/2014/main" id="{5A9E5969-4BCA-2DDB-931E-1BDCC82CA07E}"/>
              </a:ext>
            </a:extLst>
          </p:cNvPr>
          <p:cNvGrpSpPr/>
          <p:nvPr/>
        </p:nvGrpSpPr>
        <p:grpSpPr>
          <a:xfrm>
            <a:off x="6366003" y="2978995"/>
            <a:ext cx="1531092" cy="1440374"/>
            <a:chOff x="5202007" y="2708992"/>
            <a:chExt cx="1531092" cy="1440374"/>
          </a:xfrm>
        </p:grpSpPr>
        <p:grpSp>
          <p:nvGrpSpPr>
            <p:cNvPr id="315" name="グループ化 314">
              <a:extLst>
                <a:ext uri="{FF2B5EF4-FFF2-40B4-BE49-F238E27FC236}">
                  <a16:creationId xmlns:a16="http://schemas.microsoft.com/office/drawing/2014/main" id="{954EA3F0-40E9-26DC-AC41-D5248DAAD253}"/>
                </a:ext>
              </a:extLst>
            </p:cNvPr>
            <p:cNvGrpSpPr/>
            <p:nvPr/>
          </p:nvGrpSpPr>
          <p:grpSpPr>
            <a:xfrm>
              <a:off x="5202007" y="2708992"/>
              <a:ext cx="1531092" cy="1440374"/>
              <a:chOff x="5202007" y="3068996"/>
              <a:chExt cx="1531092" cy="1440374"/>
            </a:xfrm>
          </p:grpSpPr>
          <p:sp>
            <p:nvSpPr>
              <p:cNvPr id="317" name="正方形/長方形 316">
                <a:extLst>
                  <a:ext uri="{FF2B5EF4-FFF2-40B4-BE49-F238E27FC236}">
                    <a16:creationId xmlns:a16="http://schemas.microsoft.com/office/drawing/2014/main" id="{13A6DDCA-B71F-9261-FF48-838922A42442}"/>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18" name="円/楕円 69">
                <a:extLst>
                  <a:ext uri="{FF2B5EF4-FFF2-40B4-BE49-F238E27FC236}">
                    <a16:creationId xmlns:a16="http://schemas.microsoft.com/office/drawing/2014/main" id="{06D5C8CC-1A31-8838-CB2E-7D17000AB466}"/>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19" name="直線コネクタ 318">
                <a:extLst>
                  <a:ext uri="{FF2B5EF4-FFF2-40B4-BE49-F238E27FC236}">
                    <a16:creationId xmlns:a16="http://schemas.microsoft.com/office/drawing/2014/main" id="{FC10D3DB-21AF-232D-9970-42DC966D4ACB}"/>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20" name="直線コネクタ 319">
                <a:extLst>
                  <a:ext uri="{FF2B5EF4-FFF2-40B4-BE49-F238E27FC236}">
                    <a16:creationId xmlns:a16="http://schemas.microsoft.com/office/drawing/2014/main" id="{EEEFDE41-B80D-96F0-F3EE-A70BB40A2F2F}"/>
                  </a:ext>
                </a:extLst>
              </p:cNvPr>
              <p:cNvCxnSpPr>
                <a:cxnSpLocks/>
                <a:endCxn id="321"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21" name="円/楕円 68">
                <a:extLst>
                  <a:ext uri="{FF2B5EF4-FFF2-40B4-BE49-F238E27FC236}">
                    <a16:creationId xmlns:a16="http://schemas.microsoft.com/office/drawing/2014/main" id="{97239893-1023-6896-D73B-E210E4DDB701}"/>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22" name="直線コネクタ 321">
                <a:extLst>
                  <a:ext uri="{FF2B5EF4-FFF2-40B4-BE49-F238E27FC236}">
                    <a16:creationId xmlns:a16="http://schemas.microsoft.com/office/drawing/2014/main" id="{720337C2-89A4-3BEB-54B0-30450461FB48}"/>
                  </a:ext>
                </a:extLst>
              </p:cNvPr>
              <p:cNvCxnSpPr>
                <a:cxnSpLocks/>
                <a:endCxn id="318"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23" name="直線コネクタ 322">
                <a:extLst>
                  <a:ext uri="{FF2B5EF4-FFF2-40B4-BE49-F238E27FC236}">
                    <a16:creationId xmlns:a16="http://schemas.microsoft.com/office/drawing/2014/main" id="{C647AF43-58BE-B720-CA22-4E799613EC3F}"/>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24" name="Rectangle 93">
                <a:extLst>
                  <a:ext uri="{FF2B5EF4-FFF2-40B4-BE49-F238E27FC236}">
                    <a16:creationId xmlns:a16="http://schemas.microsoft.com/office/drawing/2014/main" id="{FEF6DA19-8D67-BD1F-0334-011B71E902FD}"/>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25" name="Rectangle 93">
                <a:extLst>
                  <a:ext uri="{FF2B5EF4-FFF2-40B4-BE49-F238E27FC236}">
                    <a16:creationId xmlns:a16="http://schemas.microsoft.com/office/drawing/2014/main" id="{7EA2CBB3-D2E3-A09C-ABA8-160424567030}"/>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26" name="Rectangle 93">
                <a:extLst>
                  <a:ext uri="{FF2B5EF4-FFF2-40B4-BE49-F238E27FC236}">
                    <a16:creationId xmlns:a16="http://schemas.microsoft.com/office/drawing/2014/main" id="{95396C87-E8F6-F953-B835-C695293037E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327" name="直線コネクタ 326">
                <a:extLst>
                  <a:ext uri="{FF2B5EF4-FFF2-40B4-BE49-F238E27FC236}">
                    <a16:creationId xmlns:a16="http://schemas.microsoft.com/office/drawing/2014/main" id="{2A4DC56C-DAA1-F0E7-110C-04CBE1D74EFD}"/>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28" name="直線コネクタ 327">
                <a:extLst>
                  <a:ext uri="{FF2B5EF4-FFF2-40B4-BE49-F238E27FC236}">
                    <a16:creationId xmlns:a16="http://schemas.microsoft.com/office/drawing/2014/main" id="{1766829E-6134-3F71-A2E4-F23A60DA8260}"/>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316" name="円/楕円 69">
              <a:extLst>
                <a:ext uri="{FF2B5EF4-FFF2-40B4-BE49-F238E27FC236}">
                  <a16:creationId xmlns:a16="http://schemas.microsoft.com/office/drawing/2014/main" id="{0395691D-DC49-B4C7-2873-4C3D9412B808}"/>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329" name="直線コネクタ 328">
            <a:extLst>
              <a:ext uri="{FF2B5EF4-FFF2-40B4-BE49-F238E27FC236}">
                <a16:creationId xmlns:a16="http://schemas.microsoft.com/office/drawing/2014/main" id="{129FED01-B616-A940-3B40-417760D79A17}"/>
              </a:ext>
            </a:extLst>
          </p:cNvPr>
          <p:cNvCxnSpPr>
            <a:cxnSpLocks/>
          </p:cNvCxnSpPr>
          <p:nvPr/>
        </p:nvCxnSpPr>
        <p:spPr>
          <a:xfrm flipH="1">
            <a:off x="9696041" y="4419011"/>
            <a:ext cx="450005" cy="0"/>
          </a:xfrm>
          <a:prstGeom prst="line">
            <a:avLst/>
          </a:prstGeom>
          <a:ln w="6350"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57665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b="1" dirty="0"/>
              <a:t>前回の振り返り</a:t>
            </a:r>
          </a:p>
        </p:txBody>
      </p:sp>
    </p:spTree>
    <p:extLst>
      <p:ext uri="{BB962C8B-B14F-4D97-AF65-F5344CB8AC3E}">
        <p14:creationId xmlns:p14="http://schemas.microsoft.com/office/powerpoint/2010/main" val="2317933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r>
              <a:rPr lang="ja-JP" altLang="en-US" sz="2400"/>
              <a:t>記憶素子の原理</a:t>
            </a:r>
            <a:endParaRPr lang="ja-JP" altLang="en-US" sz="2400" dirty="0"/>
          </a:p>
        </p:txBody>
      </p:sp>
      <p:sp>
        <p:nvSpPr>
          <p:cNvPr id="715779" name="Rectangle 3"/>
          <p:cNvSpPr>
            <a:spLocks noGrp="1" noChangeArrowheads="1"/>
          </p:cNvSpPr>
          <p:nvPr>
            <p:ph type="body" sz="quarter" idx="10"/>
          </p:nvPr>
        </p:nvSpPr>
        <p:spPr>
          <a:xfrm>
            <a:off x="1775952" y="1088974"/>
            <a:ext cx="8640096" cy="2430027"/>
          </a:xfrm>
        </p:spPr>
        <p:txBody>
          <a:bodyPr/>
          <a:lstStyle/>
          <a:p>
            <a:r>
              <a:rPr lang="ja-JP" altLang="en-US" dirty="0"/>
              <a:t>記憶の実現方法：</a:t>
            </a:r>
          </a:p>
          <a:p>
            <a:pPr lvl="1"/>
            <a:r>
              <a:rPr lang="ja-JP" altLang="en-US" dirty="0"/>
              <a:t>２つの </a:t>
            </a:r>
            <a:r>
              <a:rPr lang="en-US" altLang="ja-JP" dirty="0"/>
              <a:t>NOT </a:t>
            </a:r>
            <a:r>
              <a:rPr lang="ja-JP" altLang="en-US" dirty="0"/>
              <a:t>ゲート（インバータ）をループさせた回路により実現</a:t>
            </a:r>
            <a:endParaRPr lang="en-US" altLang="ja-JP" dirty="0"/>
          </a:p>
          <a:p>
            <a:pPr lvl="1"/>
            <a:r>
              <a:rPr lang="ja-JP" altLang="en-US" dirty="0"/>
              <a:t>以下の２通りの安定状態がある</a:t>
            </a:r>
            <a:endParaRPr lang="en-US" altLang="ja-JP" dirty="0"/>
          </a:p>
          <a:p>
            <a:pPr lvl="2"/>
            <a:r>
              <a:rPr lang="ja-JP" altLang="en-US" dirty="0"/>
              <a:t>これのどっちになっているによって，</a:t>
            </a:r>
            <a:r>
              <a:rPr lang="en-US" altLang="ja-JP" dirty="0"/>
              <a:t>1 bit </a:t>
            </a:r>
            <a:r>
              <a:rPr lang="ja-JP" altLang="en-US" dirty="0"/>
              <a:t>の情報を記憶</a:t>
            </a:r>
          </a:p>
        </p:txBody>
      </p:sp>
      <p:sp>
        <p:nvSpPr>
          <p:cNvPr id="715787" name="Freeform 11"/>
          <p:cNvSpPr>
            <a:spLocks/>
          </p:cNvSpPr>
          <p:nvPr/>
        </p:nvSpPr>
        <p:spPr bwMode="auto">
          <a:xfrm>
            <a:off x="3935387" y="4149009"/>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8" name="Freeform 12"/>
          <p:cNvSpPr>
            <a:spLocks/>
          </p:cNvSpPr>
          <p:nvPr/>
        </p:nvSpPr>
        <p:spPr bwMode="auto">
          <a:xfrm flipH="1">
            <a:off x="4925987" y="4149009"/>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9" name="Rectangle 13"/>
          <p:cNvSpPr>
            <a:spLocks noChangeArrowheads="1"/>
          </p:cNvSpPr>
          <p:nvPr/>
        </p:nvSpPr>
        <p:spPr bwMode="auto">
          <a:xfrm>
            <a:off x="3665974" y="4329011"/>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715790" name="Rectangle 14"/>
          <p:cNvSpPr>
            <a:spLocks noChangeArrowheads="1"/>
          </p:cNvSpPr>
          <p:nvPr/>
        </p:nvSpPr>
        <p:spPr bwMode="auto">
          <a:xfrm>
            <a:off x="5376837" y="4329984"/>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715791" name="Picture 15" descr="NOT"/>
          <p:cNvPicPr>
            <a:picLocks noChangeAspect="1" noChangeArrowheads="1"/>
          </p:cNvPicPr>
          <p:nvPr/>
        </p:nvPicPr>
        <p:blipFill>
          <a:blip r:embed="rId3" cstate="print"/>
          <a:srcRect/>
          <a:stretch>
            <a:fillRect/>
          </a:stretch>
        </p:blipFill>
        <p:spPr bwMode="auto">
          <a:xfrm>
            <a:off x="4295750" y="3790234"/>
            <a:ext cx="717550" cy="720725"/>
          </a:xfrm>
          <a:prstGeom prst="rect">
            <a:avLst/>
          </a:prstGeom>
          <a:noFill/>
        </p:spPr>
      </p:pic>
      <p:pic>
        <p:nvPicPr>
          <p:cNvPr id="715792" name="Picture 16" descr="NOT"/>
          <p:cNvPicPr>
            <a:picLocks noChangeAspect="1" noChangeArrowheads="1"/>
          </p:cNvPicPr>
          <p:nvPr/>
        </p:nvPicPr>
        <p:blipFill>
          <a:blip r:embed="rId3" cstate="print"/>
          <a:srcRect/>
          <a:stretch>
            <a:fillRect/>
          </a:stretch>
        </p:blipFill>
        <p:spPr bwMode="auto">
          <a:xfrm flipH="1">
            <a:off x="4295750" y="4509372"/>
            <a:ext cx="717550" cy="720725"/>
          </a:xfrm>
          <a:prstGeom prst="rect">
            <a:avLst/>
          </a:prstGeom>
          <a:noFill/>
        </p:spPr>
      </p:pic>
      <p:sp>
        <p:nvSpPr>
          <p:cNvPr id="52" name="Freeform 11"/>
          <p:cNvSpPr>
            <a:spLocks/>
          </p:cNvSpPr>
          <p:nvPr/>
        </p:nvSpPr>
        <p:spPr bwMode="auto">
          <a:xfrm>
            <a:off x="6815419" y="4149009"/>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53" name="Freeform 12"/>
          <p:cNvSpPr>
            <a:spLocks/>
          </p:cNvSpPr>
          <p:nvPr/>
        </p:nvSpPr>
        <p:spPr bwMode="auto">
          <a:xfrm flipH="1">
            <a:off x="7806019" y="4149009"/>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54" name="Rectangle 13"/>
          <p:cNvSpPr>
            <a:spLocks noChangeArrowheads="1"/>
          </p:cNvSpPr>
          <p:nvPr/>
        </p:nvSpPr>
        <p:spPr bwMode="auto">
          <a:xfrm>
            <a:off x="8345796" y="4330240"/>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55" name="Rectangle 14"/>
          <p:cNvSpPr>
            <a:spLocks noChangeArrowheads="1"/>
          </p:cNvSpPr>
          <p:nvPr/>
        </p:nvSpPr>
        <p:spPr bwMode="auto">
          <a:xfrm>
            <a:off x="6455774" y="4330240"/>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56" name="Picture 15" descr="NOT"/>
          <p:cNvPicPr>
            <a:picLocks noChangeAspect="1" noChangeArrowheads="1"/>
          </p:cNvPicPr>
          <p:nvPr/>
        </p:nvPicPr>
        <p:blipFill>
          <a:blip r:embed="rId3" cstate="print"/>
          <a:srcRect/>
          <a:stretch>
            <a:fillRect/>
          </a:stretch>
        </p:blipFill>
        <p:spPr bwMode="auto">
          <a:xfrm>
            <a:off x="7175782" y="3790234"/>
            <a:ext cx="717550" cy="720725"/>
          </a:xfrm>
          <a:prstGeom prst="rect">
            <a:avLst/>
          </a:prstGeom>
          <a:noFill/>
        </p:spPr>
      </p:pic>
      <p:pic>
        <p:nvPicPr>
          <p:cNvPr id="57" name="Picture 16" descr="NOT"/>
          <p:cNvPicPr>
            <a:picLocks noChangeAspect="1" noChangeArrowheads="1"/>
          </p:cNvPicPr>
          <p:nvPr/>
        </p:nvPicPr>
        <p:blipFill>
          <a:blip r:embed="rId3" cstate="print"/>
          <a:srcRect/>
          <a:stretch>
            <a:fillRect/>
          </a:stretch>
        </p:blipFill>
        <p:spPr bwMode="auto">
          <a:xfrm flipH="1">
            <a:off x="7175782" y="4509372"/>
            <a:ext cx="717550" cy="720725"/>
          </a:xfrm>
          <a:prstGeom prst="rect">
            <a:avLst/>
          </a:prstGeom>
          <a:noFill/>
        </p:spPr>
      </p:pic>
    </p:spTree>
    <p:extLst>
      <p:ext uri="{BB962C8B-B14F-4D97-AF65-F5344CB8AC3E}">
        <p14:creationId xmlns:p14="http://schemas.microsoft.com/office/powerpoint/2010/main" val="20832488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p:cNvSpPr>
            <a:spLocks noGrp="1"/>
          </p:cNvSpPr>
          <p:nvPr>
            <p:ph type="sldNum" sz="quarter" idx="10"/>
          </p:nvPr>
        </p:nvSpPr>
        <p:spPr>
          <a:xfrm>
            <a:off x="11136056" y="6309032"/>
            <a:ext cx="815941" cy="548969"/>
          </a:xfrm>
        </p:spPr>
        <p:txBody>
          <a:bodyPr/>
          <a:lstStyle/>
          <a:p>
            <a:fld id="{B99B8E25-FC55-4448-A609-32D724F2B374}" type="slidenum">
              <a:rPr lang="ja-JP" altLang="en-US" smtClean="0"/>
              <a:pPr/>
              <a:t>10</a:t>
            </a:fld>
            <a:endParaRPr lang="ja-JP" altLang="en-US"/>
          </a:p>
        </p:txBody>
      </p:sp>
      <p:sp>
        <p:nvSpPr>
          <p:cNvPr id="700418" name="Rectangle 2"/>
          <p:cNvSpPr>
            <a:spLocks noGrp="1" noChangeArrowheads="1"/>
          </p:cNvSpPr>
          <p:nvPr>
            <p:ph type="title"/>
          </p:nvPr>
        </p:nvSpPr>
        <p:spPr>
          <a:xfrm>
            <a:off x="1415948" y="0"/>
            <a:ext cx="10776052" cy="908972"/>
          </a:xfrm>
        </p:spPr>
        <p:txBody>
          <a:bodyPr/>
          <a:lstStyle/>
          <a:p>
            <a:r>
              <a:rPr lang="en-US" altLang="ja-JP"/>
              <a:t>D </a:t>
            </a:r>
            <a:r>
              <a:rPr lang="ja-JP" altLang="en-US"/>
              <a:t>ラッチの回路</a:t>
            </a:r>
            <a:endParaRPr lang="en-US" altLang="ja-JP" dirty="0"/>
          </a:p>
        </p:txBody>
      </p:sp>
      <p:sp>
        <p:nvSpPr>
          <p:cNvPr id="700460" name="Freeform 44"/>
          <p:cNvSpPr>
            <a:spLocks/>
          </p:cNvSpPr>
          <p:nvPr/>
        </p:nvSpPr>
        <p:spPr bwMode="auto">
          <a:xfrm>
            <a:off x="7535658" y="1268618"/>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46" name="Picture 30" descr="NOT"/>
          <p:cNvPicPr>
            <a:picLocks noChangeAspect="1" noChangeArrowheads="1"/>
          </p:cNvPicPr>
          <p:nvPr/>
        </p:nvPicPr>
        <p:blipFill>
          <a:blip r:embed="rId3" cstate="print"/>
          <a:srcRect/>
          <a:stretch>
            <a:fillRect/>
          </a:stretch>
        </p:blipFill>
        <p:spPr bwMode="auto">
          <a:xfrm flipH="1">
            <a:off x="7896020" y="908256"/>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7896020" y="1628981"/>
            <a:ext cx="717550" cy="720725"/>
          </a:xfrm>
          <a:prstGeom prst="rect">
            <a:avLst/>
          </a:prstGeom>
          <a:noFill/>
        </p:spPr>
      </p:pic>
      <p:sp>
        <p:nvSpPr>
          <p:cNvPr id="700462" name="Line 46"/>
          <p:cNvSpPr>
            <a:spLocks noChangeShapeType="1"/>
          </p:cNvSpPr>
          <p:nvPr/>
        </p:nvSpPr>
        <p:spPr bwMode="auto">
          <a:xfrm>
            <a:off x="6816521" y="1989342"/>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66" name="Group 50"/>
          <p:cNvGrpSpPr>
            <a:grpSpLocks/>
          </p:cNvGrpSpPr>
          <p:nvPr/>
        </p:nvGrpSpPr>
        <p:grpSpPr bwMode="auto">
          <a:xfrm>
            <a:off x="7446759" y="1538493"/>
            <a:ext cx="180975" cy="180975"/>
            <a:chOff x="2823" y="1990"/>
            <a:chExt cx="227" cy="227"/>
          </a:xfrm>
        </p:grpSpPr>
        <p:sp>
          <p:nvSpPr>
            <p:cNvPr id="700467" name="Rectangle 5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8" name="Oval 5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69" name="Group 53"/>
          <p:cNvGrpSpPr>
            <a:grpSpLocks/>
          </p:cNvGrpSpPr>
          <p:nvPr/>
        </p:nvGrpSpPr>
        <p:grpSpPr bwMode="auto">
          <a:xfrm>
            <a:off x="7086396" y="1898856"/>
            <a:ext cx="180975" cy="180975"/>
            <a:chOff x="2823" y="1990"/>
            <a:chExt cx="227" cy="227"/>
          </a:xfrm>
        </p:grpSpPr>
        <p:sp>
          <p:nvSpPr>
            <p:cNvPr id="700470" name="Rectangle 54"/>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71" name="Oval 55"/>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2" name="Line 56"/>
          <p:cNvSpPr>
            <a:spLocks noChangeShapeType="1"/>
          </p:cNvSpPr>
          <p:nvPr/>
        </p:nvSpPr>
        <p:spPr bwMode="auto">
          <a:xfrm>
            <a:off x="8975828" y="1988881"/>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6456158" y="1809955"/>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9336037" y="1808982"/>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476" name="Line 60"/>
          <p:cNvSpPr>
            <a:spLocks noChangeShapeType="1"/>
          </p:cNvSpPr>
          <p:nvPr/>
        </p:nvSpPr>
        <p:spPr bwMode="auto">
          <a:xfrm flipH="1" flipV="1">
            <a:off x="7086165" y="1911423"/>
            <a:ext cx="449493" cy="89847"/>
          </a:xfrm>
          <a:prstGeom prst="line">
            <a:avLst/>
          </a:prstGeom>
          <a:noFill/>
          <a:ln w="28575">
            <a:solidFill>
              <a:schemeClr val="accent5"/>
            </a:solidFill>
            <a:round/>
            <a:headEnd/>
            <a:tailEnd type="none" w="med" len="lg"/>
          </a:ln>
          <a:effectLst/>
        </p:spPr>
        <p:txBody>
          <a:bodyPr wrap="none" lIns="90000" tIns="46800" rIns="90000" bIns="46800" anchor="ctr"/>
          <a:lstStyle/>
          <a:p>
            <a:endParaRPr lang="ja-JP" altLang="en-US"/>
          </a:p>
        </p:txBody>
      </p:sp>
      <p:grpSp>
        <p:nvGrpSpPr>
          <p:cNvPr id="700463" name="Group 47"/>
          <p:cNvGrpSpPr>
            <a:grpSpLocks/>
          </p:cNvGrpSpPr>
          <p:nvPr/>
        </p:nvGrpSpPr>
        <p:grpSpPr bwMode="auto">
          <a:xfrm>
            <a:off x="7446759" y="1898856"/>
            <a:ext cx="180975" cy="180975"/>
            <a:chOff x="2823" y="1990"/>
            <a:chExt cx="227" cy="227"/>
          </a:xfrm>
        </p:grpSpPr>
        <p:sp>
          <p:nvSpPr>
            <p:cNvPr id="700464" name="Rectangle 4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5" name="Oval 4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8" name="Freeform 62"/>
          <p:cNvSpPr>
            <a:spLocks/>
          </p:cNvSpPr>
          <p:nvPr/>
        </p:nvSpPr>
        <p:spPr bwMode="auto">
          <a:xfrm>
            <a:off x="7536016" y="3068997"/>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7896378" y="2708634"/>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7896378" y="3429359"/>
            <a:ext cx="717550" cy="720725"/>
          </a:xfrm>
          <a:prstGeom prst="rect">
            <a:avLst/>
          </a:prstGeom>
          <a:noFill/>
        </p:spPr>
      </p:pic>
      <p:sp>
        <p:nvSpPr>
          <p:cNvPr id="700491" name="Line 75"/>
          <p:cNvSpPr>
            <a:spLocks noChangeShapeType="1"/>
          </p:cNvSpPr>
          <p:nvPr/>
        </p:nvSpPr>
        <p:spPr bwMode="auto">
          <a:xfrm>
            <a:off x="6816879" y="3789721"/>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7447117" y="3338872"/>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7086754" y="3699234"/>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8976186" y="3789260"/>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6456516" y="3610334"/>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9336037" y="3519002"/>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7445528" y="3340459"/>
            <a:ext cx="90488" cy="449263"/>
          </a:xfrm>
          <a:prstGeom prst="line">
            <a:avLst/>
          </a:prstGeom>
          <a:noFill/>
          <a:ln w="28575">
            <a:solidFill>
              <a:schemeClr val="accent5"/>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7447117" y="3699234"/>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5" name="Rectangle 5"/>
          <p:cNvSpPr txBox="1">
            <a:spLocks noChangeArrowheads="1"/>
          </p:cNvSpPr>
          <p:nvPr/>
        </p:nvSpPr>
        <p:spPr>
          <a:xfrm>
            <a:off x="1775952" y="1268976"/>
            <a:ext cx="4590051" cy="5040056"/>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構造：マルチプレクサが入ったインバータのループ</a:t>
            </a:r>
            <a:endParaRPr lang="en-US" altLang="ja-JP" kern="0" dirty="0"/>
          </a:p>
          <a:p>
            <a:pPr lvl="1"/>
            <a:r>
              <a:rPr lang="ja-JP" altLang="en-US" kern="0" dirty="0"/>
              <a:t>ここではマルチプレクサを切り替えスイッチとして説明</a:t>
            </a:r>
          </a:p>
          <a:p>
            <a:pPr lvl="1"/>
            <a:r>
              <a:rPr lang="ja-JP" altLang="en-US" kern="0" dirty="0"/>
              <a:t>クロックの立ち上がりのたびに，スイッチが切り替わる</a:t>
            </a:r>
            <a:br>
              <a:rPr lang="en-US" altLang="ja-JP" kern="0" dirty="0"/>
            </a:br>
            <a:endParaRPr lang="en-US" altLang="ja-JP" kern="0" dirty="0"/>
          </a:p>
          <a:p>
            <a:pPr lvl="1"/>
            <a:r>
              <a:rPr lang="en-US" altLang="ja-JP" i="1" kern="0" dirty="0"/>
              <a:t>d</a:t>
            </a:r>
            <a:r>
              <a:rPr lang="ja-JP" altLang="en-US" kern="0" dirty="0"/>
              <a:t> の値をループに取り入れ，取り入れた値が </a:t>
            </a:r>
            <a:r>
              <a:rPr lang="en-US" altLang="ja-JP" i="1" kern="0" dirty="0"/>
              <a:t>q</a:t>
            </a:r>
            <a:r>
              <a:rPr lang="ja-JP" altLang="en-US" kern="0" dirty="0"/>
              <a:t> から出力される</a:t>
            </a:r>
            <a:endParaRPr lang="en-US" altLang="ja-JP" kern="0" dirty="0"/>
          </a:p>
        </p:txBody>
      </p:sp>
      <p:sp>
        <p:nvSpPr>
          <p:cNvPr id="7" name="Rectangle 93">
            <a:extLst>
              <a:ext uri="{FF2B5EF4-FFF2-40B4-BE49-F238E27FC236}">
                <a16:creationId xmlns:a16="http://schemas.microsoft.com/office/drawing/2014/main" id="{BD8FB16A-14B3-67D5-45E4-C26E45586F63}"/>
              </a:ext>
            </a:extLst>
          </p:cNvPr>
          <p:cNvSpPr>
            <a:spLocks noChangeArrowheads="1"/>
          </p:cNvSpPr>
          <p:nvPr/>
        </p:nvSpPr>
        <p:spPr bwMode="auto">
          <a:xfrm>
            <a:off x="8706030" y="2258987"/>
            <a:ext cx="1081087" cy="360362"/>
          </a:xfrm>
          <a:prstGeom prst="rect">
            <a:avLst/>
          </a:prstGeom>
          <a:noFill/>
          <a:ln w="12700" algn="ctr">
            <a:noFill/>
            <a:miter lim="800000"/>
            <a:headEnd/>
            <a:tailEnd/>
          </a:ln>
          <a:effectLst/>
        </p:spPr>
        <p:txBody>
          <a:bodyPr wrap="none" lIns="90000" tIns="46800" rIns="90000" bIns="46800" anchor="ctr"/>
          <a:lstStyle/>
          <a:p>
            <a:r>
              <a:rPr lang="en-US" altLang="ja-JP" dirty="0"/>
              <a:t>d </a:t>
            </a:r>
            <a:r>
              <a:rPr lang="ja-JP" altLang="en-US" dirty="0"/>
              <a:t>に入った値</a:t>
            </a:r>
            <a:endParaRPr lang="en-US" altLang="ja-JP" dirty="0"/>
          </a:p>
          <a:p>
            <a:r>
              <a:rPr lang="ja-JP" altLang="en-US" dirty="0"/>
              <a:t>を反転して通す</a:t>
            </a:r>
            <a:endParaRPr lang="en-US" altLang="ja-JP" dirty="0"/>
          </a:p>
        </p:txBody>
      </p:sp>
      <p:sp>
        <p:nvSpPr>
          <p:cNvPr id="8" name="Rectangle 83">
            <a:extLst>
              <a:ext uri="{FF2B5EF4-FFF2-40B4-BE49-F238E27FC236}">
                <a16:creationId xmlns:a16="http://schemas.microsoft.com/office/drawing/2014/main" id="{7E456033-A345-04EC-D406-B85848F1348B}"/>
              </a:ext>
            </a:extLst>
          </p:cNvPr>
          <p:cNvSpPr>
            <a:spLocks noChangeArrowheads="1"/>
          </p:cNvSpPr>
          <p:nvPr/>
        </p:nvSpPr>
        <p:spPr bwMode="auto">
          <a:xfrm>
            <a:off x="6816366" y="3428642"/>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9" name="Rectangle 83">
            <a:extLst>
              <a:ext uri="{FF2B5EF4-FFF2-40B4-BE49-F238E27FC236}">
                <a16:creationId xmlns:a16="http://schemas.microsoft.com/office/drawing/2014/main" id="{034B9220-D132-AA8A-C1E8-F7000C101AA8}"/>
              </a:ext>
            </a:extLst>
          </p:cNvPr>
          <p:cNvSpPr>
            <a:spLocks noChangeArrowheads="1"/>
          </p:cNvSpPr>
          <p:nvPr/>
        </p:nvSpPr>
        <p:spPr bwMode="auto">
          <a:xfrm>
            <a:off x="7536016" y="1629493"/>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10" name="Rectangle 83">
            <a:extLst>
              <a:ext uri="{FF2B5EF4-FFF2-40B4-BE49-F238E27FC236}">
                <a16:creationId xmlns:a16="http://schemas.microsoft.com/office/drawing/2014/main" id="{8F724F54-9B54-B6AE-3901-23A49DADDC12}"/>
              </a:ext>
            </a:extLst>
          </p:cNvPr>
          <p:cNvSpPr>
            <a:spLocks noChangeArrowheads="1"/>
          </p:cNvSpPr>
          <p:nvPr/>
        </p:nvSpPr>
        <p:spPr bwMode="auto">
          <a:xfrm>
            <a:off x="8615670" y="144862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0</a:t>
            </a:r>
          </a:p>
        </p:txBody>
      </p:sp>
      <p:sp>
        <p:nvSpPr>
          <p:cNvPr id="12" name="Rectangle 83">
            <a:extLst>
              <a:ext uri="{FF2B5EF4-FFF2-40B4-BE49-F238E27FC236}">
                <a16:creationId xmlns:a16="http://schemas.microsoft.com/office/drawing/2014/main" id="{220F5671-F264-B456-5B83-0809E4F7E0E2}"/>
              </a:ext>
            </a:extLst>
          </p:cNvPr>
          <p:cNvSpPr>
            <a:spLocks noChangeArrowheads="1"/>
          </p:cNvSpPr>
          <p:nvPr/>
        </p:nvSpPr>
        <p:spPr bwMode="auto">
          <a:xfrm>
            <a:off x="7536016" y="909485"/>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13" name="Rectangle 83">
            <a:extLst>
              <a:ext uri="{FF2B5EF4-FFF2-40B4-BE49-F238E27FC236}">
                <a16:creationId xmlns:a16="http://schemas.microsoft.com/office/drawing/2014/main" id="{AA9D4267-E50D-AEF1-3F55-CD9C98492BAA}"/>
              </a:ext>
            </a:extLst>
          </p:cNvPr>
          <p:cNvSpPr>
            <a:spLocks noChangeArrowheads="1"/>
          </p:cNvSpPr>
          <p:nvPr/>
        </p:nvSpPr>
        <p:spPr bwMode="auto">
          <a:xfrm>
            <a:off x="7536374" y="3429872"/>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14" name="Rectangle 83">
            <a:extLst>
              <a:ext uri="{FF2B5EF4-FFF2-40B4-BE49-F238E27FC236}">
                <a16:creationId xmlns:a16="http://schemas.microsoft.com/office/drawing/2014/main" id="{96C2642B-843C-6E3A-EAA1-CFD0FAB15B4B}"/>
              </a:ext>
            </a:extLst>
          </p:cNvPr>
          <p:cNvSpPr>
            <a:spLocks noChangeArrowheads="1"/>
          </p:cNvSpPr>
          <p:nvPr/>
        </p:nvSpPr>
        <p:spPr bwMode="auto">
          <a:xfrm>
            <a:off x="8616028" y="3248999"/>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0</a:t>
            </a:r>
          </a:p>
        </p:txBody>
      </p:sp>
      <p:sp>
        <p:nvSpPr>
          <p:cNvPr id="15" name="Rectangle 83">
            <a:extLst>
              <a:ext uri="{FF2B5EF4-FFF2-40B4-BE49-F238E27FC236}">
                <a16:creationId xmlns:a16="http://schemas.microsoft.com/office/drawing/2014/main" id="{43052578-2A1C-2AED-EEEC-F5D5422A9D3E}"/>
              </a:ext>
            </a:extLst>
          </p:cNvPr>
          <p:cNvSpPr>
            <a:spLocks noChangeArrowheads="1"/>
          </p:cNvSpPr>
          <p:nvPr/>
        </p:nvSpPr>
        <p:spPr bwMode="auto">
          <a:xfrm>
            <a:off x="7536374" y="2709864"/>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17" name="矢印: 右 16">
            <a:extLst>
              <a:ext uri="{FF2B5EF4-FFF2-40B4-BE49-F238E27FC236}">
                <a16:creationId xmlns:a16="http://schemas.microsoft.com/office/drawing/2014/main" id="{2C58501D-735D-C229-13F3-2F4611E2F4DA}"/>
              </a:ext>
            </a:extLst>
          </p:cNvPr>
          <p:cNvSpPr/>
          <p:nvPr/>
        </p:nvSpPr>
        <p:spPr bwMode="auto">
          <a:xfrm rot="5400000">
            <a:off x="8076023" y="2348989"/>
            <a:ext cx="450005"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8" name="Freeform 62">
            <a:extLst>
              <a:ext uri="{FF2B5EF4-FFF2-40B4-BE49-F238E27FC236}">
                <a16:creationId xmlns:a16="http://schemas.microsoft.com/office/drawing/2014/main" id="{B46A048E-5009-0B4B-2B8E-ABDD51077666}"/>
              </a:ext>
            </a:extLst>
          </p:cNvPr>
          <p:cNvSpPr>
            <a:spLocks/>
          </p:cNvSpPr>
          <p:nvPr/>
        </p:nvSpPr>
        <p:spPr bwMode="auto">
          <a:xfrm>
            <a:off x="7535658" y="4869376"/>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19" name="Picture 64" descr="NOT">
            <a:extLst>
              <a:ext uri="{FF2B5EF4-FFF2-40B4-BE49-F238E27FC236}">
                <a16:creationId xmlns:a16="http://schemas.microsoft.com/office/drawing/2014/main" id="{69D76F12-6905-9B8F-E02B-62C9A83B6D6E}"/>
              </a:ext>
            </a:extLst>
          </p:cNvPr>
          <p:cNvPicPr>
            <a:picLocks noChangeAspect="1" noChangeArrowheads="1"/>
          </p:cNvPicPr>
          <p:nvPr/>
        </p:nvPicPr>
        <p:blipFill>
          <a:blip r:embed="rId3" cstate="print"/>
          <a:srcRect/>
          <a:stretch>
            <a:fillRect/>
          </a:stretch>
        </p:blipFill>
        <p:spPr bwMode="auto">
          <a:xfrm flipH="1">
            <a:off x="7896020" y="4509013"/>
            <a:ext cx="717550" cy="720725"/>
          </a:xfrm>
          <a:prstGeom prst="rect">
            <a:avLst/>
          </a:prstGeom>
          <a:noFill/>
        </p:spPr>
      </p:pic>
      <p:pic>
        <p:nvPicPr>
          <p:cNvPr id="20" name="Picture 65" descr="NOT">
            <a:extLst>
              <a:ext uri="{FF2B5EF4-FFF2-40B4-BE49-F238E27FC236}">
                <a16:creationId xmlns:a16="http://schemas.microsoft.com/office/drawing/2014/main" id="{0C1F4009-0AB0-DF66-B530-8B13A6AE4B80}"/>
              </a:ext>
            </a:extLst>
          </p:cNvPr>
          <p:cNvPicPr>
            <a:picLocks noChangeAspect="1" noChangeArrowheads="1"/>
          </p:cNvPicPr>
          <p:nvPr/>
        </p:nvPicPr>
        <p:blipFill>
          <a:blip r:embed="rId3" cstate="print"/>
          <a:srcRect/>
          <a:stretch>
            <a:fillRect/>
          </a:stretch>
        </p:blipFill>
        <p:spPr bwMode="auto">
          <a:xfrm>
            <a:off x="7896020" y="5229738"/>
            <a:ext cx="717550" cy="720725"/>
          </a:xfrm>
          <a:prstGeom prst="rect">
            <a:avLst/>
          </a:prstGeom>
          <a:noFill/>
        </p:spPr>
      </p:pic>
      <p:sp>
        <p:nvSpPr>
          <p:cNvPr id="21" name="Line 75">
            <a:extLst>
              <a:ext uri="{FF2B5EF4-FFF2-40B4-BE49-F238E27FC236}">
                <a16:creationId xmlns:a16="http://schemas.microsoft.com/office/drawing/2014/main" id="{0E6851F5-3F8A-8B88-A42C-77FE56E7261B}"/>
              </a:ext>
            </a:extLst>
          </p:cNvPr>
          <p:cNvSpPr>
            <a:spLocks noChangeShapeType="1"/>
          </p:cNvSpPr>
          <p:nvPr/>
        </p:nvSpPr>
        <p:spPr bwMode="auto">
          <a:xfrm>
            <a:off x="6816521" y="5590100"/>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22" name="Group 76">
            <a:extLst>
              <a:ext uri="{FF2B5EF4-FFF2-40B4-BE49-F238E27FC236}">
                <a16:creationId xmlns:a16="http://schemas.microsoft.com/office/drawing/2014/main" id="{60A9A132-7C22-D0CD-0091-B1671119854E}"/>
              </a:ext>
            </a:extLst>
          </p:cNvPr>
          <p:cNvGrpSpPr>
            <a:grpSpLocks/>
          </p:cNvGrpSpPr>
          <p:nvPr/>
        </p:nvGrpSpPr>
        <p:grpSpPr bwMode="auto">
          <a:xfrm>
            <a:off x="7446759" y="5139251"/>
            <a:ext cx="180975" cy="180975"/>
            <a:chOff x="2823" y="1990"/>
            <a:chExt cx="227" cy="227"/>
          </a:xfrm>
        </p:grpSpPr>
        <p:sp>
          <p:nvSpPr>
            <p:cNvPr id="23" name="Rectangle 77">
              <a:extLst>
                <a:ext uri="{FF2B5EF4-FFF2-40B4-BE49-F238E27FC236}">
                  <a16:creationId xmlns:a16="http://schemas.microsoft.com/office/drawing/2014/main" id="{CA50B49B-A7FF-D4EC-463C-740F9E05EFA6}"/>
                </a:ext>
              </a:extLst>
            </p:cNvPr>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24" name="Oval 78">
              <a:extLst>
                <a:ext uri="{FF2B5EF4-FFF2-40B4-BE49-F238E27FC236}">
                  <a16:creationId xmlns:a16="http://schemas.microsoft.com/office/drawing/2014/main" id="{19AC00AE-D5C5-76C5-C9D5-FC31BE2D15F9}"/>
                </a:ext>
              </a:extLst>
            </p:cNvPr>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25" name="Group 79">
            <a:extLst>
              <a:ext uri="{FF2B5EF4-FFF2-40B4-BE49-F238E27FC236}">
                <a16:creationId xmlns:a16="http://schemas.microsoft.com/office/drawing/2014/main" id="{A8C42CDF-7518-B02D-E72F-5DFA6BE887E4}"/>
              </a:ext>
            </a:extLst>
          </p:cNvPr>
          <p:cNvGrpSpPr>
            <a:grpSpLocks/>
          </p:cNvGrpSpPr>
          <p:nvPr/>
        </p:nvGrpSpPr>
        <p:grpSpPr bwMode="auto">
          <a:xfrm>
            <a:off x="7086396" y="5499613"/>
            <a:ext cx="180975" cy="180975"/>
            <a:chOff x="2823" y="1990"/>
            <a:chExt cx="227" cy="227"/>
          </a:xfrm>
        </p:grpSpPr>
        <p:sp>
          <p:nvSpPr>
            <p:cNvPr id="26" name="Rectangle 80">
              <a:extLst>
                <a:ext uri="{FF2B5EF4-FFF2-40B4-BE49-F238E27FC236}">
                  <a16:creationId xmlns:a16="http://schemas.microsoft.com/office/drawing/2014/main" id="{6BB3824C-03A9-CCBB-8E4F-D265FAC5D1B3}"/>
                </a:ext>
              </a:extLst>
            </p:cNvPr>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27" name="Oval 81">
              <a:extLst>
                <a:ext uri="{FF2B5EF4-FFF2-40B4-BE49-F238E27FC236}">
                  <a16:creationId xmlns:a16="http://schemas.microsoft.com/office/drawing/2014/main" id="{CD979090-4D3B-2467-FB88-7FAAF2B05FF2}"/>
                </a:ext>
              </a:extLst>
            </p:cNvPr>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28" name="Line 82">
            <a:extLst>
              <a:ext uri="{FF2B5EF4-FFF2-40B4-BE49-F238E27FC236}">
                <a16:creationId xmlns:a16="http://schemas.microsoft.com/office/drawing/2014/main" id="{CD81B6B1-5B53-6D73-63F4-60D53EE395C0}"/>
              </a:ext>
            </a:extLst>
          </p:cNvPr>
          <p:cNvSpPr>
            <a:spLocks noChangeShapeType="1"/>
          </p:cNvSpPr>
          <p:nvPr/>
        </p:nvSpPr>
        <p:spPr bwMode="auto">
          <a:xfrm>
            <a:off x="8975828" y="558963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29" name="Rectangle 83">
            <a:extLst>
              <a:ext uri="{FF2B5EF4-FFF2-40B4-BE49-F238E27FC236}">
                <a16:creationId xmlns:a16="http://schemas.microsoft.com/office/drawing/2014/main" id="{C7BD5B80-EF95-2E77-04CC-5E72CF0279F8}"/>
              </a:ext>
            </a:extLst>
          </p:cNvPr>
          <p:cNvSpPr>
            <a:spLocks noChangeArrowheads="1"/>
          </p:cNvSpPr>
          <p:nvPr/>
        </p:nvSpPr>
        <p:spPr bwMode="auto">
          <a:xfrm>
            <a:off x="6456158" y="5410713"/>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31" name="Line 85">
            <a:extLst>
              <a:ext uri="{FF2B5EF4-FFF2-40B4-BE49-F238E27FC236}">
                <a16:creationId xmlns:a16="http://schemas.microsoft.com/office/drawing/2014/main" id="{C20BF7C3-8CE4-A848-7A68-58C2439183E0}"/>
              </a:ext>
            </a:extLst>
          </p:cNvPr>
          <p:cNvSpPr>
            <a:spLocks noChangeShapeType="1"/>
          </p:cNvSpPr>
          <p:nvPr/>
        </p:nvSpPr>
        <p:spPr bwMode="auto">
          <a:xfrm flipH="1" flipV="1">
            <a:off x="7445170" y="5140838"/>
            <a:ext cx="90488" cy="449263"/>
          </a:xfrm>
          <a:prstGeom prst="line">
            <a:avLst/>
          </a:prstGeom>
          <a:noFill/>
          <a:ln w="28575">
            <a:solidFill>
              <a:schemeClr val="accent5"/>
            </a:solidFill>
            <a:round/>
            <a:headEnd/>
            <a:tailEnd type="none" w="med" len="lg"/>
          </a:ln>
          <a:effectLst/>
        </p:spPr>
        <p:txBody>
          <a:bodyPr wrap="none" lIns="90000" tIns="46800" rIns="90000" bIns="46800" anchor="ctr"/>
          <a:lstStyle/>
          <a:p>
            <a:endParaRPr lang="ja-JP" altLang="en-US"/>
          </a:p>
        </p:txBody>
      </p:sp>
      <p:grpSp>
        <p:nvGrpSpPr>
          <p:cNvPr id="32" name="Group 86">
            <a:extLst>
              <a:ext uri="{FF2B5EF4-FFF2-40B4-BE49-F238E27FC236}">
                <a16:creationId xmlns:a16="http://schemas.microsoft.com/office/drawing/2014/main" id="{E60234BC-26F6-E228-56E6-59ED1768370F}"/>
              </a:ext>
            </a:extLst>
          </p:cNvPr>
          <p:cNvGrpSpPr>
            <a:grpSpLocks/>
          </p:cNvGrpSpPr>
          <p:nvPr/>
        </p:nvGrpSpPr>
        <p:grpSpPr bwMode="auto">
          <a:xfrm>
            <a:off x="7446759" y="5499613"/>
            <a:ext cx="180975" cy="180975"/>
            <a:chOff x="2823" y="1990"/>
            <a:chExt cx="227" cy="227"/>
          </a:xfrm>
        </p:grpSpPr>
        <p:sp>
          <p:nvSpPr>
            <p:cNvPr id="33" name="Rectangle 87">
              <a:extLst>
                <a:ext uri="{FF2B5EF4-FFF2-40B4-BE49-F238E27FC236}">
                  <a16:creationId xmlns:a16="http://schemas.microsoft.com/office/drawing/2014/main" id="{AE9E37ED-B12B-CDBC-BD84-905E4E8EA726}"/>
                </a:ext>
              </a:extLst>
            </p:cNvPr>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34" name="Oval 88">
              <a:extLst>
                <a:ext uri="{FF2B5EF4-FFF2-40B4-BE49-F238E27FC236}">
                  <a16:creationId xmlns:a16="http://schemas.microsoft.com/office/drawing/2014/main" id="{EE64EFF9-CB36-8B3F-9B62-B1557ED5C5B5}"/>
                </a:ext>
              </a:extLst>
            </p:cNvPr>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35" name="Rectangle 83">
            <a:extLst>
              <a:ext uri="{FF2B5EF4-FFF2-40B4-BE49-F238E27FC236}">
                <a16:creationId xmlns:a16="http://schemas.microsoft.com/office/drawing/2014/main" id="{A281B441-D7F6-C5EC-7E9C-9462B548B36E}"/>
              </a:ext>
            </a:extLst>
          </p:cNvPr>
          <p:cNvSpPr>
            <a:spLocks noChangeArrowheads="1"/>
          </p:cNvSpPr>
          <p:nvPr/>
        </p:nvSpPr>
        <p:spPr bwMode="auto">
          <a:xfrm>
            <a:off x="6816008" y="5229021"/>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6"/>
                </a:solidFill>
              </a:rPr>
              <a:t>0</a:t>
            </a:r>
          </a:p>
        </p:txBody>
      </p:sp>
      <p:sp>
        <p:nvSpPr>
          <p:cNvPr id="36" name="Rectangle 83">
            <a:extLst>
              <a:ext uri="{FF2B5EF4-FFF2-40B4-BE49-F238E27FC236}">
                <a16:creationId xmlns:a16="http://schemas.microsoft.com/office/drawing/2014/main" id="{DECFD35D-E195-7516-AA13-FA4C385CBAA8}"/>
              </a:ext>
            </a:extLst>
          </p:cNvPr>
          <p:cNvSpPr>
            <a:spLocks noChangeArrowheads="1"/>
          </p:cNvSpPr>
          <p:nvPr/>
        </p:nvSpPr>
        <p:spPr bwMode="auto">
          <a:xfrm>
            <a:off x="7536016" y="5230251"/>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37" name="Rectangle 83">
            <a:extLst>
              <a:ext uri="{FF2B5EF4-FFF2-40B4-BE49-F238E27FC236}">
                <a16:creationId xmlns:a16="http://schemas.microsoft.com/office/drawing/2014/main" id="{5F63571E-FE31-2EB2-94B1-C9DB3C161CD7}"/>
              </a:ext>
            </a:extLst>
          </p:cNvPr>
          <p:cNvSpPr>
            <a:spLocks noChangeArrowheads="1"/>
          </p:cNvSpPr>
          <p:nvPr/>
        </p:nvSpPr>
        <p:spPr bwMode="auto">
          <a:xfrm>
            <a:off x="8615670" y="5049378"/>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0</a:t>
            </a:r>
          </a:p>
        </p:txBody>
      </p:sp>
      <p:sp>
        <p:nvSpPr>
          <p:cNvPr id="39" name="Rectangle 84">
            <a:extLst>
              <a:ext uri="{FF2B5EF4-FFF2-40B4-BE49-F238E27FC236}">
                <a16:creationId xmlns:a16="http://schemas.microsoft.com/office/drawing/2014/main" id="{002219A6-31EB-A69E-B3A1-23615765FCB4}"/>
              </a:ext>
            </a:extLst>
          </p:cNvPr>
          <p:cNvSpPr>
            <a:spLocks noChangeArrowheads="1"/>
          </p:cNvSpPr>
          <p:nvPr/>
        </p:nvSpPr>
        <p:spPr bwMode="auto">
          <a:xfrm>
            <a:off x="9246036" y="5319022"/>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40" name="矢印: 右 39">
            <a:extLst>
              <a:ext uri="{FF2B5EF4-FFF2-40B4-BE49-F238E27FC236}">
                <a16:creationId xmlns:a16="http://schemas.microsoft.com/office/drawing/2014/main" id="{91D31643-5B7F-0F88-5481-E250F7F0A8BC}"/>
              </a:ext>
            </a:extLst>
          </p:cNvPr>
          <p:cNvSpPr/>
          <p:nvPr/>
        </p:nvSpPr>
        <p:spPr bwMode="auto">
          <a:xfrm rot="5400000">
            <a:off x="8076023" y="4149009"/>
            <a:ext cx="450005"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41" name="Rectangle 93">
            <a:extLst>
              <a:ext uri="{FF2B5EF4-FFF2-40B4-BE49-F238E27FC236}">
                <a16:creationId xmlns:a16="http://schemas.microsoft.com/office/drawing/2014/main" id="{B47E1328-8697-E000-BEBA-10D10B658E51}"/>
              </a:ext>
            </a:extLst>
          </p:cNvPr>
          <p:cNvSpPr>
            <a:spLocks noChangeArrowheads="1"/>
          </p:cNvSpPr>
          <p:nvPr/>
        </p:nvSpPr>
        <p:spPr bwMode="auto">
          <a:xfrm>
            <a:off x="8616029" y="4239009"/>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直前に </a:t>
            </a:r>
            <a:r>
              <a:rPr lang="en-US" altLang="ja-JP" dirty="0"/>
              <a:t>d </a:t>
            </a:r>
            <a:r>
              <a:rPr lang="ja-JP" altLang="en-US" dirty="0"/>
              <a:t>に入って</a:t>
            </a:r>
            <a:br>
              <a:rPr lang="en-US" altLang="ja-JP" dirty="0"/>
            </a:br>
            <a:r>
              <a:rPr lang="ja-JP" altLang="en-US" dirty="0"/>
              <a:t>値でループ構成</a:t>
            </a:r>
            <a:endParaRPr lang="en-US" altLang="ja-JP" dirty="0"/>
          </a:p>
        </p:txBody>
      </p:sp>
      <p:sp>
        <p:nvSpPr>
          <p:cNvPr id="42" name="Rectangle 93">
            <a:extLst>
              <a:ext uri="{FF2B5EF4-FFF2-40B4-BE49-F238E27FC236}">
                <a16:creationId xmlns:a16="http://schemas.microsoft.com/office/drawing/2014/main" id="{432CA4B2-2786-2CD1-D469-F55B62B7D442}"/>
              </a:ext>
            </a:extLst>
          </p:cNvPr>
          <p:cNvSpPr>
            <a:spLocks noChangeArrowheads="1"/>
          </p:cNvSpPr>
          <p:nvPr/>
        </p:nvSpPr>
        <p:spPr bwMode="auto">
          <a:xfrm>
            <a:off x="8616029" y="6039029"/>
            <a:ext cx="1081087" cy="360362"/>
          </a:xfrm>
          <a:prstGeom prst="rect">
            <a:avLst/>
          </a:prstGeom>
          <a:noFill/>
          <a:ln w="12700" algn="ctr">
            <a:noFill/>
            <a:miter lim="800000"/>
            <a:headEnd/>
            <a:tailEnd/>
          </a:ln>
          <a:effectLst/>
        </p:spPr>
        <p:txBody>
          <a:bodyPr wrap="none" lIns="90000" tIns="46800" rIns="90000" bIns="46800" anchor="ctr"/>
          <a:lstStyle/>
          <a:p>
            <a:r>
              <a:rPr lang="en-US" altLang="ja-JP" dirty="0"/>
              <a:t>d </a:t>
            </a:r>
            <a:r>
              <a:rPr lang="ja-JP" altLang="en-US" dirty="0"/>
              <a:t>の値が変わって</a:t>
            </a:r>
            <a:br>
              <a:rPr lang="en-US" altLang="ja-JP" dirty="0"/>
            </a:br>
            <a:r>
              <a:rPr lang="ja-JP" altLang="en-US" dirty="0"/>
              <a:t>も </a:t>
            </a:r>
            <a:r>
              <a:rPr lang="en-US" altLang="ja-JP" dirty="0"/>
              <a:t>q </a:t>
            </a:r>
            <a:r>
              <a:rPr lang="ja-JP" altLang="en-US" dirty="0"/>
              <a:t>の出力は </a:t>
            </a:r>
            <a:r>
              <a:rPr lang="en-US" altLang="ja-JP" dirty="0"/>
              <a:t>0 </a:t>
            </a:r>
            <a:r>
              <a:rPr lang="ja-JP" altLang="en-US" dirty="0"/>
              <a:t>の</a:t>
            </a:r>
            <a:br>
              <a:rPr lang="en-US" altLang="ja-JP" dirty="0"/>
            </a:br>
            <a:r>
              <a:rPr lang="ja-JP" altLang="en-US" dirty="0"/>
              <a:t>まま</a:t>
            </a:r>
            <a:endParaRPr lang="en-US" altLang="ja-JP" dirty="0"/>
          </a:p>
        </p:txBody>
      </p:sp>
    </p:spTree>
    <p:extLst>
      <p:ext uri="{BB962C8B-B14F-4D97-AF65-F5344CB8AC3E}">
        <p14:creationId xmlns:p14="http://schemas.microsoft.com/office/powerpoint/2010/main" val="4026768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p:cNvSpPr>
            <a:spLocks noGrp="1"/>
          </p:cNvSpPr>
          <p:nvPr>
            <p:ph type="sldNum" sz="quarter" idx="10"/>
          </p:nvPr>
        </p:nvSpPr>
        <p:spPr>
          <a:xfrm>
            <a:off x="10236552" y="6399396"/>
            <a:ext cx="360048" cy="360048"/>
          </a:xfrm>
          <a:prstGeom prst="rect">
            <a:avLst/>
          </a:prstGeom>
        </p:spPr>
        <p:txBody>
          <a:bodyPr/>
          <a:lstStyle/>
          <a:p>
            <a:fld id="{B99B8E25-FC55-4448-A609-32D724F2B374}" type="slidenum">
              <a:rPr lang="ja-JP" altLang="en-US" smtClean="0"/>
              <a:pPr/>
              <a:t>11</a:t>
            </a:fld>
            <a:endParaRPr lang="ja-JP" altLang="en-US"/>
          </a:p>
        </p:txBody>
      </p:sp>
      <p:sp>
        <p:nvSpPr>
          <p:cNvPr id="700418" name="Rectangle 2"/>
          <p:cNvSpPr>
            <a:spLocks noGrp="1" noChangeArrowheads="1"/>
          </p:cNvSpPr>
          <p:nvPr>
            <p:ph type="title"/>
          </p:nvPr>
        </p:nvSpPr>
        <p:spPr/>
        <p:txBody>
          <a:bodyPr/>
          <a:lstStyle/>
          <a:p>
            <a:r>
              <a:rPr lang="en-US" altLang="ja-JP" sz="2400" dirty="0"/>
              <a:t>D-FF</a:t>
            </a:r>
            <a:r>
              <a:rPr lang="ja-JP" altLang="en-US" sz="2400" dirty="0"/>
              <a:t> の回路</a:t>
            </a:r>
            <a:endParaRPr lang="en-US" altLang="ja-JP" sz="2400" dirty="0"/>
          </a:p>
        </p:txBody>
      </p:sp>
      <p:grpSp>
        <p:nvGrpSpPr>
          <p:cNvPr id="3" name="グループ化 2"/>
          <p:cNvGrpSpPr/>
          <p:nvPr/>
        </p:nvGrpSpPr>
        <p:grpSpPr>
          <a:xfrm>
            <a:off x="3395971" y="4779016"/>
            <a:ext cx="5400675" cy="1620223"/>
            <a:chOff x="1673205" y="1448415"/>
            <a:chExt cx="5400675" cy="1620223"/>
          </a:xfrm>
        </p:grpSpPr>
        <p:sp>
          <p:nvSpPr>
            <p:cNvPr id="700460" name="Freeform 44"/>
            <p:cNvSpPr>
              <a:spLocks/>
            </p:cNvSpPr>
            <p:nvPr/>
          </p:nvSpPr>
          <p:spPr bwMode="auto">
            <a:xfrm>
              <a:off x="2752705" y="1987550"/>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4913292" y="1987550"/>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46" name="Picture 30" descr="NOT"/>
            <p:cNvPicPr>
              <a:picLocks noChangeAspect="1" noChangeArrowheads="1"/>
            </p:cNvPicPr>
            <p:nvPr/>
          </p:nvPicPr>
          <p:blipFill>
            <a:blip r:embed="rId3" cstate="print"/>
            <a:srcRect/>
            <a:stretch>
              <a:fillRect/>
            </a:stretch>
          </p:blipFill>
          <p:spPr bwMode="auto">
            <a:xfrm flipH="1">
              <a:off x="3113067" y="1627188"/>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3113067" y="2347913"/>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5273655" y="1627188"/>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5273655" y="2347913"/>
              <a:ext cx="717550" cy="720725"/>
            </a:xfrm>
            <a:prstGeom prst="rect">
              <a:avLst/>
            </a:prstGeom>
            <a:noFill/>
          </p:spPr>
        </p:pic>
        <p:sp>
          <p:nvSpPr>
            <p:cNvPr id="700461" name="Line 45"/>
            <p:cNvSpPr>
              <a:spLocks noChangeShapeType="1"/>
            </p:cNvSpPr>
            <p:nvPr/>
          </p:nvSpPr>
          <p:spPr bwMode="auto">
            <a:xfrm>
              <a:off x="4192567" y="2708275"/>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53" name="Group 37"/>
            <p:cNvGrpSpPr>
              <a:grpSpLocks/>
            </p:cNvGrpSpPr>
            <p:nvPr/>
          </p:nvGrpSpPr>
          <p:grpSpPr bwMode="auto">
            <a:xfrm>
              <a:off x="4822805" y="2257425"/>
              <a:ext cx="180975" cy="180975"/>
              <a:chOff x="2823" y="1990"/>
              <a:chExt cx="227" cy="227"/>
            </a:xfrm>
          </p:grpSpPr>
          <p:sp>
            <p:nvSpPr>
              <p:cNvPr id="700454" name="Rectangle 3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5" name="Oval 3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56" name="Group 40"/>
            <p:cNvGrpSpPr>
              <a:grpSpLocks/>
            </p:cNvGrpSpPr>
            <p:nvPr/>
          </p:nvGrpSpPr>
          <p:grpSpPr bwMode="auto">
            <a:xfrm>
              <a:off x="4462442" y="2617788"/>
              <a:ext cx="180975" cy="180975"/>
              <a:chOff x="2823" y="1990"/>
              <a:chExt cx="227" cy="227"/>
            </a:xfrm>
          </p:grpSpPr>
          <p:sp>
            <p:nvSpPr>
              <p:cNvPr id="700457" name="Rectangle 4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8" name="Oval 4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62" name="Line 46"/>
            <p:cNvSpPr>
              <a:spLocks noChangeShapeType="1"/>
            </p:cNvSpPr>
            <p:nvPr/>
          </p:nvSpPr>
          <p:spPr bwMode="auto">
            <a:xfrm>
              <a:off x="2033567" y="2708275"/>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66" name="Group 50"/>
            <p:cNvGrpSpPr>
              <a:grpSpLocks/>
            </p:cNvGrpSpPr>
            <p:nvPr/>
          </p:nvGrpSpPr>
          <p:grpSpPr bwMode="auto">
            <a:xfrm>
              <a:off x="2663805" y="2257425"/>
              <a:ext cx="180975" cy="180975"/>
              <a:chOff x="2823" y="1990"/>
              <a:chExt cx="227" cy="227"/>
            </a:xfrm>
          </p:grpSpPr>
          <p:sp>
            <p:nvSpPr>
              <p:cNvPr id="700467" name="Rectangle 5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8" name="Oval 5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69" name="Group 53"/>
            <p:cNvGrpSpPr>
              <a:grpSpLocks/>
            </p:cNvGrpSpPr>
            <p:nvPr/>
          </p:nvGrpSpPr>
          <p:grpSpPr bwMode="auto">
            <a:xfrm>
              <a:off x="2303442" y="2617788"/>
              <a:ext cx="180975" cy="180975"/>
              <a:chOff x="2823" y="1990"/>
              <a:chExt cx="227" cy="227"/>
            </a:xfrm>
          </p:grpSpPr>
          <p:sp>
            <p:nvSpPr>
              <p:cNvPr id="700470" name="Rectangle 54"/>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71" name="Oval 55"/>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2" name="Line 56"/>
            <p:cNvSpPr>
              <a:spLocks noChangeShapeType="1"/>
            </p:cNvSpPr>
            <p:nvPr/>
          </p:nvSpPr>
          <p:spPr bwMode="auto">
            <a:xfrm>
              <a:off x="6353155" y="2708275"/>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1673205" y="2528888"/>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6713517" y="2528888"/>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476" name="Line 60"/>
            <p:cNvSpPr>
              <a:spLocks noChangeShapeType="1"/>
            </p:cNvSpPr>
            <p:nvPr/>
          </p:nvSpPr>
          <p:spPr bwMode="auto">
            <a:xfrm flipH="1" flipV="1">
              <a:off x="2303442" y="2617788"/>
              <a:ext cx="449263" cy="90487"/>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63" name="Group 47"/>
            <p:cNvGrpSpPr>
              <a:grpSpLocks/>
            </p:cNvGrpSpPr>
            <p:nvPr/>
          </p:nvGrpSpPr>
          <p:grpSpPr bwMode="auto">
            <a:xfrm>
              <a:off x="2663805" y="2617788"/>
              <a:ext cx="180975" cy="180975"/>
              <a:chOff x="2823" y="1990"/>
              <a:chExt cx="227" cy="227"/>
            </a:xfrm>
          </p:grpSpPr>
          <p:sp>
            <p:nvSpPr>
              <p:cNvPr id="700464" name="Rectangle 4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5" name="Oval 4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7" name="Line 61"/>
            <p:cNvSpPr>
              <a:spLocks noChangeShapeType="1"/>
            </p:cNvSpPr>
            <p:nvPr/>
          </p:nvSpPr>
          <p:spPr bwMode="auto">
            <a:xfrm flipH="1" flipV="1">
              <a:off x="4822805" y="2257425"/>
              <a:ext cx="88900" cy="45085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52" name="Group 36"/>
            <p:cNvGrpSpPr>
              <a:grpSpLocks/>
            </p:cNvGrpSpPr>
            <p:nvPr/>
          </p:nvGrpSpPr>
          <p:grpSpPr bwMode="auto">
            <a:xfrm>
              <a:off x="4822805" y="2617788"/>
              <a:ext cx="180975" cy="180975"/>
              <a:chOff x="2823" y="1990"/>
              <a:chExt cx="227" cy="227"/>
            </a:xfrm>
          </p:grpSpPr>
          <p:sp>
            <p:nvSpPr>
              <p:cNvPr id="700451" name="Rectangle 35"/>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0" name="Oval 3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9" name="Rectangle 93"/>
            <p:cNvSpPr>
              <a:spLocks noChangeArrowheads="1"/>
            </p:cNvSpPr>
            <p:nvPr/>
          </p:nvSpPr>
          <p:spPr bwMode="auto">
            <a:xfrm>
              <a:off x="4013231" y="1448415"/>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0</a:t>
              </a:r>
            </a:p>
          </p:txBody>
        </p:sp>
      </p:grpSp>
      <p:grpSp>
        <p:nvGrpSpPr>
          <p:cNvPr id="5" name="グループ化 4"/>
          <p:cNvGrpSpPr/>
          <p:nvPr/>
        </p:nvGrpSpPr>
        <p:grpSpPr>
          <a:xfrm>
            <a:off x="3395971" y="2798993"/>
            <a:ext cx="5400675" cy="1621452"/>
            <a:chOff x="1673205" y="4328498"/>
            <a:chExt cx="5400675" cy="1621452"/>
          </a:xfrm>
        </p:grpSpPr>
        <p:sp>
          <p:nvSpPr>
            <p:cNvPr id="700478" name="Freeform 62"/>
            <p:cNvSpPr>
              <a:spLocks/>
            </p:cNvSpPr>
            <p:nvPr/>
          </p:nvSpPr>
          <p:spPr bwMode="auto">
            <a:xfrm>
              <a:off x="2752705" y="4868863"/>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13292" y="4868863"/>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13067" y="4508500"/>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13067" y="5229225"/>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73655" y="4508500"/>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73655" y="5229225"/>
              <a:ext cx="717550" cy="720725"/>
            </a:xfrm>
            <a:prstGeom prst="rect">
              <a:avLst/>
            </a:prstGeom>
            <a:noFill/>
          </p:spPr>
        </p:pic>
        <p:sp>
          <p:nvSpPr>
            <p:cNvPr id="700484" name="Line 68"/>
            <p:cNvSpPr>
              <a:spLocks noChangeShapeType="1"/>
            </p:cNvSpPr>
            <p:nvPr/>
          </p:nvSpPr>
          <p:spPr bwMode="auto">
            <a:xfrm>
              <a:off x="4192567" y="5589588"/>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22805" y="5138738"/>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62442" y="5499100"/>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33567" y="5589588"/>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63805" y="5138738"/>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03442" y="5499100"/>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53155" y="5589588"/>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73205" y="541020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13517" y="5410200"/>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662217" y="5140325"/>
              <a:ext cx="90488" cy="449263"/>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63805" y="5499100"/>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462442" y="5499100"/>
              <a:ext cx="449263" cy="90488"/>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22805" y="5499100"/>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10" name="Rectangle 94"/>
            <p:cNvSpPr>
              <a:spLocks noChangeArrowheads="1"/>
            </p:cNvSpPr>
            <p:nvPr/>
          </p:nvSpPr>
          <p:spPr bwMode="auto">
            <a:xfrm>
              <a:off x="4013231" y="4328498"/>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1</a:t>
              </a:r>
            </a:p>
          </p:txBody>
        </p:sp>
      </p:grpSp>
      <p:grpSp>
        <p:nvGrpSpPr>
          <p:cNvPr id="700516" name="Group 100"/>
          <p:cNvGrpSpPr>
            <a:grpSpLocks/>
          </p:cNvGrpSpPr>
          <p:nvPr/>
        </p:nvGrpSpPr>
        <p:grpSpPr bwMode="auto">
          <a:xfrm>
            <a:off x="9786042" y="4689014"/>
            <a:ext cx="358775" cy="360362"/>
            <a:chOff x="159" y="2500"/>
            <a:chExt cx="226" cy="227"/>
          </a:xfrm>
        </p:grpSpPr>
        <p:sp>
          <p:nvSpPr>
            <p:cNvPr id="700511" name="Freeform 95"/>
            <p:cNvSpPr>
              <a:spLocks/>
            </p:cNvSpPr>
            <p:nvPr/>
          </p:nvSpPr>
          <p:spPr bwMode="auto">
            <a:xfrm>
              <a:off x="159" y="2500"/>
              <a:ext cx="113" cy="227"/>
            </a:xfrm>
            <a:custGeom>
              <a:avLst/>
              <a:gdLst/>
              <a:ahLst/>
              <a:cxnLst>
                <a:cxn ang="0">
                  <a:pos x="0" y="227"/>
                </a:cxn>
                <a:cxn ang="0">
                  <a:pos x="113" y="227"/>
                </a:cxn>
                <a:cxn ang="0">
                  <a:pos x="113" y="0"/>
                </a:cxn>
              </a:cxnLst>
              <a:rect l="0" t="0" r="r" b="b"/>
              <a:pathLst>
                <a:path w="113" h="227">
                  <a:moveTo>
                    <a:pt x="0" y="227"/>
                  </a:moveTo>
                  <a:lnTo>
                    <a:pt x="113" y="227"/>
                  </a:lnTo>
                  <a:lnTo>
                    <a:pt x="113"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700512" name="Line 96"/>
            <p:cNvSpPr>
              <a:spLocks noChangeShapeType="1"/>
            </p:cNvSpPr>
            <p:nvPr/>
          </p:nvSpPr>
          <p:spPr bwMode="auto">
            <a:xfrm>
              <a:off x="272" y="2500"/>
              <a:ext cx="113"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grpSp>
      <p:sp>
        <p:nvSpPr>
          <p:cNvPr id="700513" name="Freeform 97"/>
          <p:cNvSpPr>
            <a:spLocks/>
          </p:cNvSpPr>
          <p:nvPr/>
        </p:nvSpPr>
        <p:spPr bwMode="auto">
          <a:xfrm flipV="1">
            <a:off x="2225957" y="4869017"/>
            <a:ext cx="360362" cy="360363"/>
          </a:xfrm>
          <a:custGeom>
            <a:avLst/>
            <a:gdLst/>
            <a:ahLst/>
            <a:cxnLst>
              <a:cxn ang="0">
                <a:pos x="0" y="227"/>
              </a:cxn>
              <a:cxn ang="0">
                <a:pos x="114" y="227"/>
              </a:cxn>
              <a:cxn ang="0">
                <a:pos x="114" y="0"/>
              </a:cxn>
              <a:cxn ang="0">
                <a:pos x="227" y="0"/>
              </a:cxn>
            </a:cxnLst>
            <a:rect l="0" t="0" r="r" b="b"/>
            <a:pathLst>
              <a:path w="227" h="227">
                <a:moveTo>
                  <a:pt x="0" y="227"/>
                </a:moveTo>
                <a:lnTo>
                  <a:pt x="114" y="227"/>
                </a:lnTo>
                <a:lnTo>
                  <a:pt x="114" y="0"/>
                </a:lnTo>
                <a:lnTo>
                  <a:pt x="227" y="0"/>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514" name="AutoShape 98"/>
          <p:cNvSpPr>
            <a:spLocks noChangeArrowheads="1"/>
          </p:cNvSpPr>
          <p:nvPr/>
        </p:nvSpPr>
        <p:spPr bwMode="auto">
          <a:xfrm>
            <a:off x="2855964" y="4419011"/>
            <a:ext cx="539750" cy="1439734"/>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00515" name="AutoShape 99"/>
          <p:cNvSpPr>
            <a:spLocks noChangeArrowheads="1"/>
          </p:cNvSpPr>
          <p:nvPr/>
        </p:nvSpPr>
        <p:spPr bwMode="auto">
          <a:xfrm rot="-10800000">
            <a:off x="8976032" y="4329010"/>
            <a:ext cx="539750" cy="1439735"/>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5" name="Rectangle 5"/>
          <p:cNvSpPr txBox="1">
            <a:spLocks noChangeArrowheads="1"/>
          </p:cNvSpPr>
          <p:nvPr/>
        </p:nvSpPr>
        <p:spPr>
          <a:xfrm>
            <a:off x="2225958" y="1628980"/>
            <a:ext cx="8281219" cy="630844"/>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構造：</a:t>
            </a:r>
            <a:r>
              <a:rPr lang="en-US" altLang="ja-JP" kern="0" dirty="0"/>
              <a:t>D </a:t>
            </a:r>
            <a:r>
              <a:rPr lang="ja-JP" altLang="en-US" kern="0" dirty="0"/>
              <a:t>ラッチを</a:t>
            </a:r>
            <a:r>
              <a:rPr lang="en-US" altLang="ja-JP" kern="0" dirty="0"/>
              <a:t>2</a:t>
            </a:r>
            <a:r>
              <a:rPr lang="ja-JP" altLang="en-US" kern="0" dirty="0"/>
              <a:t>つ繋げたもの</a:t>
            </a:r>
            <a:endParaRPr lang="en-US" altLang="ja-JP" kern="0" dirty="0"/>
          </a:p>
          <a:p>
            <a:pPr lvl="1"/>
            <a:r>
              <a:rPr lang="en-US" altLang="ja-JP" kern="0" dirty="0"/>
              <a:t>D </a:t>
            </a:r>
            <a:r>
              <a:rPr lang="ja-JP" altLang="en-US" kern="0" dirty="0"/>
              <a:t>ラッチ１つだと，半周期は </a:t>
            </a:r>
            <a:r>
              <a:rPr lang="en-US" altLang="ja-JP" kern="0" dirty="0"/>
              <a:t>d </a:t>
            </a:r>
            <a:r>
              <a:rPr lang="ja-JP" altLang="en-US" kern="0" dirty="0"/>
              <a:t>に入った値が反転して素通しするので使いにくい</a:t>
            </a:r>
            <a:endParaRPr lang="en-US" altLang="ja-JP" kern="0" dirty="0"/>
          </a:p>
          <a:p>
            <a:pPr lvl="1"/>
            <a:r>
              <a:rPr lang="ja-JP" altLang="en-US" kern="0" dirty="0"/>
              <a:t>２つ直列に繋げて素通しの期間をなくす</a:t>
            </a:r>
            <a:endParaRPr lang="en-US" altLang="ja-JP" kern="0" dirty="0"/>
          </a:p>
        </p:txBody>
      </p:sp>
      <p:sp>
        <p:nvSpPr>
          <p:cNvPr id="77" name="Rectangle 93"/>
          <p:cNvSpPr>
            <a:spLocks noChangeArrowheads="1"/>
          </p:cNvSpPr>
          <p:nvPr/>
        </p:nvSpPr>
        <p:spPr bwMode="auto">
          <a:xfrm>
            <a:off x="8886032" y="3879005"/>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立ち上がり</a:t>
            </a:r>
            <a:endParaRPr lang="en-US" altLang="ja-JP" dirty="0"/>
          </a:p>
        </p:txBody>
      </p:sp>
      <p:sp>
        <p:nvSpPr>
          <p:cNvPr id="78" name="Rectangle 93"/>
          <p:cNvSpPr>
            <a:spLocks noChangeArrowheads="1"/>
          </p:cNvSpPr>
          <p:nvPr/>
        </p:nvSpPr>
        <p:spPr bwMode="auto">
          <a:xfrm>
            <a:off x="1865954" y="5859027"/>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立ち下がり</a:t>
            </a:r>
            <a:endParaRPr lang="en-US" altLang="ja-JP" dirty="0"/>
          </a:p>
        </p:txBody>
      </p:sp>
    </p:spTree>
    <p:extLst>
      <p:ext uri="{BB962C8B-B14F-4D97-AF65-F5344CB8AC3E}">
        <p14:creationId xmlns:p14="http://schemas.microsoft.com/office/powerpoint/2010/main" val="6347662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0755-4195-7BE8-88C2-3C59E51837CE}"/>
            </a:ext>
          </a:extLst>
        </p:cNvPr>
        <p:cNvGrpSpPr/>
        <p:nvPr/>
      </p:nvGrpSpPr>
      <p:grpSpPr>
        <a:xfrm>
          <a:off x="0" y="0"/>
          <a:ext cx="0" cy="0"/>
          <a:chOff x="0" y="0"/>
          <a:chExt cx="0" cy="0"/>
        </a:xfrm>
      </p:grpSpPr>
      <p:grpSp>
        <p:nvGrpSpPr>
          <p:cNvPr id="34" name="グループ化 33">
            <a:extLst>
              <a:ext uri="{FF2B5EF4-FFF2-40B4-BE49-F238E27FC236}">
                <a16:creationId xmlns:a16="http://schemas.microsoft.com/office/drawing/2014/main" id="{B0265C8C-FAF2-7365-CF90-9BBC6CFB629D}"/>
              </a:ext>
            </a:extLst>
          </p:cNvPr>
          <p:cNvGrpSpPr/>
          <p:nvPr/>
        </p:nvGrpSpPr>
        <p:grpSpPr>
          <a:xfrm>
            <a:off x="3125967" y="3158997"/>
            <a:ext cx="1562400" cy="576064"/>
            <a:chOff x="971600" y="5445224"/>
            <a:chExt cx="7200800" cy="576064"/>
          </a:xfrm>
        </p:grpSpPr>
        <p:sp>
          <p:nvSpPr>
            <p:cNvPr id="35" name="平行四辺形 34">
              <a:extLst>
                <a:ext uri="{FF2B5EF4-FFF2-40B4-BE49-F238E27FC236}">
                  <a16:creationId xmlns:a16="http://schemas.microsoft.com/office/drawing/2014/main" id="{3A0B9139-9B3D-3FBD-EC1C-1DB09970F54A}"/>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a:extLst>
                <a:ext uri="{FF2B5EF4-FFF2-40B4-BE49-F238E27FC236}">
                  <a16:creationId xmlns:a16="http://schemas.microsoft.com/office/drawing/2014/main" id="{42080EBB-BDB4-34F9-51D8-D932AA598773}"/>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a:extLst>
              <a:ext uri="{FF2B5EF4-FFF2-40B4-BE49-F238E27FC236}">
                <a16:creationId xmlns:a16="http://schemas.microsoft.com/office/drawing/2014/main" id="{78C09813-8575-4EAD-FF58-6EEC6BBAACAA}"/>
              </a:ext>
            </a:extLst>
          </p:cNvPr>
          <p:cNvGrpSpPr/>
          <p:nvPr/>
        </p:nvGrpSpPr>
        <p:grpSpPr>
          <a:xfrm>
            <a:off x="4566127" y="3158997"/>
            <a:ext cx="1562400" cy="576064"/>
            <a:chOff x="971600" y="5445224"/>
            <a:chExt cx="7200800" cy="576064"/>
          </a:xfrm>
        </p:grpSpPr>
        <p:sp>
          <p:nvSpPr>
            <p:cNvPr id="50" name="平行四辺形 49">
              <a:extLst>
                <a:ext uri="{FF2B5EF4-FFF2-40B4-BE49-F238E27FC236}">
                  <a16:creationId xmlns:a16="http://schemas.microsoft.com/office/drawing/2014/main" id="{A82CA60D-598B-1DBB-15D5-45DE76F084DD}"/>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a:extLst>
                <a:ext uri="{FF2B5EF4-FFF2-40B4-BE49-F238E27FC236}">
                  <a16:creationId xmlns:a16="http://schemas.microsoft.com/office/drawing/2014/main" id="{61E538B2-DFE6-9522-85E0-3D5DE48614B9}"/>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a:extLst>
              <a:ext uri="{FF2B5EF4-FFF2-40B4-BE49-F238E27FC236}">
                <a16:creationId xmlns:a16="http://schemas.microsoft.com/office/drawing/2014/main" id="{995B3B11-8B85-E22A-0ECD-C8C44623363F}"/>
              </a:ext>
            </a:extLst>
          </p:cNvPr>
          <p:cNvGrpSpPr/>
          <p:nvPr/>
        </p:nvGrpSpPr>
        <p:grpSpPr>
          <a:xfrm>
            <a:off x="6006287" y="3158997"/>
            <a:ext cx="1562400" cy="576064"/>
            <a:chOff x="971600" y="5445224"/>
            <a:chExt cx="7200800" cy="576064"/>
          </a:xfrm>
        </p:grpSpPr>
        <p:sp>
          <p:nvSpPr>
            <p:cNvPr id="53" name="平行四辺形 52">
              <a:extLst>
                <a:ext uri="{FF2B5EF4-FFF2-40B4-BE49-F238E27FC236}">
                  <a16:creationId xmlns:a16="http://schemas.microsoft.com/office/drawing/2014/main" id="{1BBE695C-8576-8F80-BDB7-B1C0214061EB}"/>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a:extLst>
                <a:ext uri="{FF2B5EF4-FFF2-40B4-BE49-F238E27FC236}">
                  <a16:creationId xmlns:a16="http://schemas.microsoft.com/office/drawing/2014/main" id="{113F3414-C949-0C57-9AEF-F37850319BDE}"/>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a:extLst>
              <a:ext uri="{FF2B5EF4-FFF2-40B4-BE49-F238E27FC236}">
                <a16:creationId xmlns:a16="http://schemas.microsoft.com/office/drawing/2014/main" id="{F6198D11-7CCF-E658-2740-B6FD3B3ABB57}"/>
              </a:ext>
            </a:extLst>
          </p:cNvPr>
          <p:cNvGrpSpPr/>
          <p:nvPr/>
        </p:nvGrpSpPr>
        <p:grpSpPr>
          <a:xfrm>
            <a:off x="7446447" y="3158997"/>
            <a:ext cx="1584176" cy="576064"/>
            <a:chOff x="971600" y="5445224"/>
            <a:chExt cx="7200800" cy="576064"/>
          </a:xfrm>
        </p:grpSpPr>
        <p:sp>
          <p:nvSpPr>
            <p:cNvPr id="62" name="平行四辺形 61">
              <a:extLst>
                <a:ext uri="{FF2B5EF4-FFF2-40B4-BE49-F238E27FC236}">
                  <a16:creationId xmlns:a16="http://schemas.microsoft.com/office/drawing/2014/main" id="{2624E4CB-0CFE-BC4F-31F1-94300F514DCD}"/>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a:extLst>
                <a:ext uri="{FF2B5EF4-FFF2-40B4-BE49-F238E27FC236}">
                  <a16:creationId xmlns:a16="http://schemas.microsoft.com/office/drawing/2014/main" id="{451D0F4F-BEDC-3606-4808-EA77BCD0E28E}"/>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a:extLst>
              <a:ext uri="{FF2B5EF4-FFF2-40B4-BE49-F238E27FC236}">
                <a16:creationId xmlns:a16="http://schemas.microsoft.com/office/drawing/2014/main" id="{64A8BB45-5021-C843-47DD-0F4B2E436F8F}"/>
              </a:ext>
            </a:extLst>
          </p:cNvPr>
          <p:cNvSpPr/>
          <p:nvPr/>
        </p:nvSpPr>
        <p:spPr>
          <a:xfrm>
            <a:off x="3087811"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a:extLst>
              <a:ext uri="{FF2B5EF4-FFF2-40B4-BE49-F238E27FC236}">
                <a16:creationId xmlns:a16="http://schemas.microsoft.com/office/drawing/2014/main" id="{A8E0E389-AD52-358B-8FE2-97A05CC4E172}"/>
              </a:ext>
            </a:extLst>
          </p:cNvPr>
          <p:cNvSpPr/>
          <p:nvPr/>
        </p:nvSpPr>
        <p:spPr>
          <a:xfrm>
            <a:off x="4527971"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a:extLst>
              <a:ext uri="{FF2B5EF4-FFF2-40B4-BE49-F238E27FC236}">
                <a16:creationId xmlns:a16="http://schemas.microsoft.com/office/drawing/2014/main" id="{27A3D456-DD2A-6A2E-F9A1-D4B7647FC1D8}"/>
              </a:ext>
            </a:extLst>
          </p:cNvPr>
          <p:cNvSpPr/>
          <p:nvPr/>
        </p:nvSpPr>
        <p:spPr>
          <a:xfrm>
            <a:off x="5970018"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a:extLst>
              <a:ext uri="{FF2B5EF4-FFF2-40B4-BE49-F238E27FC236}">
                <a16:creationId xmlns:a16="http://schemas.microsoft.com/office/drawing/2014/main" id="{ADE17310-2699-6122-2B06-2A4E54B1B783}"/>
              </a:ext>
            </a:extLst>
          </p:cNvPr>
          <p:cNvSpPr/>
          <p:nvPr/>
        </p:nvSpPr>
        <p:spPr>
          <a:xfrm>
            <a:off x="7410178"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a:extLst>
              <a:ext uri="{FF2B5EF4-FFF2-40B4-BE49-F238E27FC236}">
                <a16:creationId xmlns:a16="http://schemas.microsoft.com/office/drawing/2014/main" id="{CD931DB3-6B2E-AF51-AADB-12FD30FE1E01}"/>
              </a:ext>
            </a:extLst>
          </p:cNvPr>
          <p:cNvSpPr>
            <a:spLocks noGrp="1"/>
          </p:cNvSpPr>
          <p:nvPr>
            <p:ph type="title"/>
          </p:nvPr>
        </p:nvSpPr>
        <p:spPr/>
        <p:txBody>
          <a:bodyPr/>
          <a:lstStyle/>
          <a:p>
            <a:r>
              <a:rPr lang="ja-JP" altLang="en-US" dirty="0"/>
              <a:t>工場のラインを考える（再）</a:t>
            </a:r>
            <a:endParaRPr kumimoji="1" lang="ja-JP" altLang="en-US" dirty="0"/>
          </a:p>
        </p:txBody>
      </p:sp>
      <p:sp>
        <p:nvSpPr>
          <p:cNvPr id="58" name="コンテンツ プレースホルダー 57">
            <a:extLst>
              <a:ext uri="{FF2B5EF4-FFF2-40B4-BE49-F238E27FC236}">
                <a16:creationId xmlns:a16="http://schemas.microsoft.com/office/drawing/2014/main" id="{58B56F96-56CF-33F8-07EF-13ECA8F3288F}"/>
              </a:ext>
            </a:extLst>
          </p:cNvPr>
          <p:cNvSpPr>
            <a:spLocks noGrp="1"/>
          </p:cNvSpPr>
          <p:nvPr>
            <p:ph type="body" sz="quarter" idx="10"/>
          </p:nvPr>
        </p:nvSpPr>
        <p:spPr>
          <a:xfrm>
            <a:off x="2045955" y="4869021"/>
            <a:ext cx="8460094" cy="1369161"/>
          </a:xfrm>
          <a:prstGeom prst="rect">
            <a:avLst/>
          </a:prstGeom>
        </p:spPr>
        <p:txBody>
          <a:bodyPr/>
          <a:lstStyle/>
          <a:p>
            <a:r>
              <a:rPr lang="ja-JP" altLang="en-US" dirty="0"/>
              <a:t>実際の工場：複数の製品を同時に流す</a:t>
            </a:r>
            <a:endParaRPr lang="en-US" altLang="ja-JP" dirty="0"/>
          </a:p>
          <a:p>
            <a:pPr lvl="1"/>
            <a:r>
              <a:rPr lang="ja-JP" altLang="en-US" dirty="0"/>
              <a:t>各工程を並列して処理することによりスループットを向上</a:t>
            </a:r>
            <a:endParaRPr lang="en-US" altLang="ja-JP" dirty="0"/>
          </a:p>
          <a:p>
            <a:r>
              <a:rPr lang="ja-JP" altLang="en-US" dirty="0"/>
              <a:t>これが </a:t>
            </a:r>
            <a:r>
              <a:rPr lang="ja-JP" altLang="en-US" dirty="0">
                <a:solidFill>
                  <a:schemeClr val="accent5"/>
                </a:solidFill>
              </a:rPr>
              <a:t>命令パイプライン</a:t>
            </a:r>
            <a:endParaRPr lang="en-US" altLang="ja-JP" dirty="0">
              <a:solidFill>
                <a:schemeClr val="tx1">
                  <a:lumMod val="85000"/>
                  <a:lumOff val="15000"/>
                </a:schemeClr>
              </a:solidFill>
            </a:endParaRPr>
          </a:p>
        </p:txBody>
      </p:sp>
      <p:cxnSp>
        <p:nvCxnSpPr>
          <p:cNvPr id="67" name="直線矢印コネクタ 66">
            <a:extLst>
              <a:ext uri="{FF2B5EF4-FFF2-40B4-BE49-F238E27FC236}">
                <a16:creationId xmlns:a16="http://schemas.microsoft.com/office/drawing/2014/main" id="{E8E2FA4D-722B-FB57-B22B-3CAAB39D602C}"/>
              </a:ext>
            </a:extLst>
          </p:cNvPr>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6" name="グループ化 5">
            <a:extLst>
              <a:ext uri="{FF2B5EF4-FFF2-40B4-BE49-F238E27FC236}">
                <a16:creationId xmlns:a16="http://schemas.microsoft.com/office/drawing/2014/main" id="{257D05D0-1E82-CA9C-8A04-40F25973C804}"/>
              </a:ext>
            </a:extLst>
          </p:cNvPr>
          <p:cNvGrpSpPr/>
          <p:nvPr/>
        </p:nvGrpSpPr>
        <p:grpSpPr>
          <a:xfrm>
            <a:off x="-3624108" y="2978996"/>
            <a:ext cx="6480073" cy="360005"/>
            <a:chOff x="611956" y="3699003"/>
            <a:chExt cx="6480073" cy="360005"/>
          </a:xfrm>
        </p:grpSpPr>
        <p:sp>
          <p:nvSpPr>
            <p:cNvPr id="90" name="角丸四角形 89">
              <a:extLst>
                <a:ext uri="{FF2B5EF4-FFF2-40B4-BE49-F238E27FC236}">
                  <a16:creationId xmlns:a16="http://schemas.microsoft.com/office/drawing/2014/main" id="{AF8CBACB-3EE7-4954-2507-E21977E3AEBE}"/>
                </a:ext>
              </a:extLst>
            </p:cNvPr>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1" name="角丸四角形 90">
              <a:extLst>
                <a:ext uri="{FF2B5EF4-FFF2-40B4-BE49-F238E27FC236}">
                  <a16:creationId xmlns:a16="http://schemas.microsoft.com/office/drawing/2014/main" id="{934B466A-E7C4-62F0-E82A-2659F0B9FA78}"/>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2" name="角丸四角形 91">
              <a:extLst>
                <a:ext uri="{FF2B5EF4-FFF2-40B4-BE49-F238E27FC236}">
                  <a16:creationId xmlns:a16="http://schemas.microsoft.com/office/drawing/2014/main" id="{6726C058-145A-44B3-B9F7-525DC76BE78E}"/>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3" name="角丸四角形 92">
              <a:extLst>
                <a:ext uri="{FF2B5EF4-FFF2-40B4-BE49-F238E27FC236}">
                  <a16:creationId xmlns:a16="http://schemas.microsoft.com/office/drawing/2014/main" id="{E29E30DA-6A4F-DC78-AEBC-651C3DFC175B}"/>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4" name="角丸四角形 93">
              <a:extLst>
                <a:ext uri="{FF2B5EF4-FFF2-40B4-BE49-F238E27FC236}">
                  <a16:creationId xmlns:a16="http://schemas.microsoft.com/office/drawing/2014/main" id="{937326F2-FD9A-551D-27B5-8A271583DF16}"/>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7" name="正方形/長方形 6">
            <a:extLst>
              <a:ext uri="{FF2B5EF4-FFF2-40B4-BE49-F238E27FC236}">
                <a16:creationId xmlns:a16="http://schemas.microsoft.com/office/drawing/2014/main" id="{AA742068-E3F9-99E0-410E-DFDE89E30C7B}"/>
              </a:ext>
            </a:extLst>
          </p:cNvPr>
          <p:cNvSpPr/>
          <p:nvPr/>
        </p:nvSpPr>
        <p:spPr bwMode="auto">
          <a:xfrm>
            <a:off x="0" y="2817094"/>
            <a:ext cx="3017685"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Tree>
    <p:extLst>
      <p:ext uri="{BB962C8B-B14F-4D97-AF65-F5344CB8AC3E}">
        <p14:creationId xmlns:p14="http://schemas.microsoft.com/office/powerpoint/2010/main" val="22906401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4.16667E-7 1.85185E-6 L 0.1181 1.85185E-6 " pathEditMode="relative" rAng="0" ptsTypes="AA">
                                      <p:cBhvr>
                                        <p:cTn id="6" dur="1000" fill="hold"/>
                                        <p:tgtEl>
                                          <p:spTgt spid="6"/>
                                        </p:tgtEl>
                                        <p:attrNameLst>
                                          <p:attrName>ppt_x</p:attrName>
                                          <p:attrName>ppt_y</p:attrName>
                                        </p:attrNameLst>
                                      </p:cBhvr>
                                      <p:rCtr x="5898"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nodeType="clickEffect">
                                  <p:stCondLst>
                                    <p:cond delay="0"/>
                                  </p:stCondLst>
                                  <p:childTnLst>
                                    <p:animMotion origin="layout" path="M 0.1181 1.85185E-6 L 0.22891 1.85185E-6 " pathEditMode="relative" rAng="0" ptsTypes="AA">
                                      <p:cBhvr>
                                        <p:cTn id="10" dur="1000" fill="hold"/>
                                        <p:tgtEl>
                                          <p:spTgt spid="6"/>
                                        </p:tgtEl>
                                        <p:attrNameLst>
                                          <p:attrName>ppt_x</p:attrName>
                                          <p:attrName>ppt_y</p:attrName>
                                        </p:attrNameLst>
                                      </p:cBhvr>
                                      <p:rCtr x="5534"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22891 1.85185E-6 L 0.3543 1.85185E-6 " pathEditMode="relative" rAng="0" ptsTypes="AA">
                                      <p:cBhvr>
                                        <p:cTn id="14" dur="1000" fill="hold"/>
                                        <p:tgtEl>
                                          <p:spTgt spid="6"/>
                                        </p:tgtEl>
                                        <p:attrNameLst>
                                          <p:attrName>ppt_x</p:attrName>
                                          <p:attrName>ppt_y</p:attrName>
                                        </p:attrNameLst>
                                      </p:cBhvr>
                                      <p:rCtr x="5898"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3543 1.85185E-6 L 0.4724 1.85185E-6 " pathEditMode="relative" rAng="0" ptsTypes="AA">
                                      <p:cBhvr>
                                        <p:cTn id="18" dur="1000" fill="hold"/>
                                        <p:tgtEl>
                                          <p:spTgt spid="6"/>
                                        </p:tgtEl>
                                        <p:attrNameLst>
                                          <p:attrName>ppt_x</p:attrName>
                                          <p:attrName>ppt_y</p:attrName>
                                        </p:attrNameLst>
                                      </p:cBhvr>
                                      <p:rCtr x="5898"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6" name="正方形/長方形 35"/>
          <p:cNvSpPr/>
          <p:nvPr/>
        </p:nvSpPr>
        <p:spPr>
          <a:xfrm>
            <a:off x="497583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41788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85804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パイプライン・ラッチのイメージ</a:t>
            </a:r>
          </a:p>
        </p:txBody>
      </p:sp>
      <p:sp>
        <p:nvSpPr>
          <p:cNvPr id="58" name="コンテンツ プレースホルダー 57"/>
          <p:cNvSpPr>
            <a:spLocks noGrp="1"/>
          </p:cNvSpPr>
          <p:nvPr>
            <p:ph type="body" sz="quarter" idx="10"/>
          </p:nvPr>
        </p:nvSpPr>
        <p:spPr>
          <a:xfrm>
            <a:off x="1775957" y="4509017"/>
            <a:ext cx="8730097" cy="1369161"/>
          </a:xfrm>
          <a:prstGeom prst="rect">
            <a:avLst/>
          </a:prstGeom>
        </p:spPr>
        <p:txBody>
          <a:bodyPr/>
          <a:lstStyle/>
          <a:p>
            <a:r>
              <a:rPr lang="ja-JP" altLang="en-US" dirty="0"/>
              <a:t>各人の作業が終わっても，ラッチが開くまでは次の人に製品を送れない</a:t>
            </a:r>
            <a:endParaRPr lang="en-US" altLang="ja-JP" dirty="0"/>
          </a:p>
          <a:p>
            <a:pPr lvl="1"/>
            <a:r>
              <a:rPr lang="ja-JP" altLang="en-US" dirty="0"/>
              <a:t>複数ステージ間で信号が混じるのを防ぐ</a:t>
            </a:r>
            <a:endParaRPr lang="en-US" altLang="ja-JP" dirty="0"/>
          </a:p>
          <a:p>
            <a:pPr lvl="1"/>
            <a:r>
              <a:rPr lang="ja-JP" altLang="en-US" dirty="0"/>
              <a:t>指定された時間までラッチでドアを開かなくするイメージ？</a:t>
            </a:r>
            <a:endParaRPr lang="en-US" altLang="ja-JP" dirty="0"/>
          </a:p>
          <a:p>
            <a:pPr lvl="2"/>
            <a:r>
              <a:rPr lang="ja-JP" altLang="en-US" dirty="0"/>
              <a:t>上の絵では，赤い人がまだ仕事が終わってないので，</a:t>
            </a:r>
            <a:br>
              <a:rPr lang="en-US" altLang="ja-JP" dirty="0"/>
            </a:br>
            <a:r>
              <a:rPr lang="ja-JP" altLang="en-US" dirty="0"/>
              <a:t>全体が歩調を合わすために待っている</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6" name="グループ化 5"/>
          <p:cNvGrpSpPr/>
          <p:nvPr/>
        </p:nvGrpSpPr>
        <p:grpSpPr>
          <a:xfrm>
            <a:off x="3575977" y="3069001"/>
            <a:ext cx="5040057" cy="360005"/>
            <a:chOff x="611956" y="3699003"/>
            <a:chExt cx="5040057" cy="360005"/>
          </a:xfrm>
        </p:grpSpPr>
        <p:sp>
          <p:nvSpPr>
            <p:cNvPr id="91" name="角丸四角形 90"/>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2" name="角丸四角形 91"/>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3" name="角丸四角形 92"/>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4" name="角丸四角形 93"/>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7" name="正方形/長方形 6"/>
          <p:cNvSpPr/>
          <p:nvPr/>
        </p:nvSpPr>
        <p:spPr bwMode="auto">
          <a:xfrm>
            <a:off x="1505517"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grpSp>
        <p:nvGrpSpPr>
          <p:cNvPr id="4" name="グループ化 3">
            <a:extLst>
              <a:ext uri="{FF2B5EF4-FFF2-40B4-BE49-F238E27FC236}">
                <a16:creationId xmlns:a16="http://schemas.microsoft.com/office/drawing/2014/main" id="{4342C5DC-00B0-84B6-70B1-3D6C78F81A70}"/>
              </a:ext>
            </a:extLst>
          </p:cNvPr>
          <p:cNvGrpSpPr/>
          <p:nvPr/>
        </p:nvGrpSpPr>
        <p:grpSpPr>
          <a:xfrm>
            <a:off x="4475982" y="2708992"/>
            <a:ext cx="360004" cy="720008"/>
            <a:chOff x="2411977" y="3068996"/>
            <a:chExt cx="360004" cy="720008"/>
          </a:xfrm>
        </p:grpSpPr>
        <p:sp>
          <p:nvSpPr>
            <p:cNvPr id="5" name="正方形/長方形 4">
              <a:extLst>
                <a:ext uri="{FF2B5EF4-FFF2-40B4-BE49-F238E27FC236}">
                  <a16:creationId xmlns:a16="http://schemas.microsoft.com/office/drawing/2014/main" id="{2851CA75-4AA5-8C83-5FA8-9C5494576DE6}"/>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8" name="二等辺三角形 7">
              <a:extLst>
                <a:ext uri="{FF2B5EF4-FFF2-40B4-BE49-F238E27FC236}">
                  <a16:creationId xmlns:a16="http://schemas.microsoft.com/office/drawing/2014/main" id="{309C8E32-6494-8480-0115-DF8A7E362B6D}"/>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9" name="グループ化 8">
            <a:extLst>
              <a:ext uri="{FF2B5EF4-FFF2-40B4-BE49-F238E27FC236}">
                <a16:creationId xmlns:a16="http://schemas.microsoft.com/office/drawing/2014/main" id="{024DF253-E5A3-2F57-0964-E3A81D922F06}"/>
              </a:ext>
            </a:extLst>
          </p:cNvPr>
          <p:cNvGrpSpPr/>
          <p:nvPr/>
        </p:nvGrpSpPr>
        <p:grpSpPr>
          <a:xfrm>
            <a:off x="5915998" y="2708992"/>
            <a:ext cx="360004" cy="720008"/>
            <a:chOff x="2411977" y="3068996"/>
            <a:chExt cx="360004" cy="720008"/>
          </a:xfrm>
        </p:grpSpPr>
        <p:sp>
          <p:nvSpPr>
            <p:cNvPr id="10" name="正方形/長方形 9">
              <a:extLst>
                <a:ext uri="{FF2B5EF4-FFF2-40B4-BE49-F238E27FC236}">
                  <a16:creationId xmlns:a16="http://schemas.microsoft.com/office/drawing/2014/main" id="{845928B1-5059-E24E-1267-0E6F892224D5}"/>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1" name="二等辺三角形 10">
              <a:extLst>
                <a:ext uri="{FF2B5EF4-FFF2-40B4-BE49-F238E27FC236}">
                  <a16:creationId xmlns:a16="http://schemas.microsoft.com/office/drawing/2014/main" id="{C03C8377-1A30-11D4-8CFA-498B90D5C92F}"/>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12" name="グループ化 11">
            <a:extLst>
              <a:ext uri="{FF2B5EF4-FFF2-40B4-BE49-F238E27FC236}">
                <a16:creationId xmlns:a16="http://schemas.microsoft.com/office/drawing/2014/main" id="{5FC3C304-B115-493B-C9A2-8B122652A984}"/>
              </a:ext>
            </a:extLst>
          </p:cNvPr>
          <p:cNvGrpSpPr/>
          <p:nvPr/>
        </p:nvGrpSpPr>
        <p:grpSpPr>
          <a:xfrm>
            <a:off x="7356014" y="2708992"/>
            <a:ext cx="360004" cy="720008"/>
            <a:chOff x="2411977" y="3068996"/>
            <a:chExt cx="360004" cy="720008"/>
          </a:xfrm>
        </p:grpSpPr>
        <p:sp>
          <p:nvSpPr>
            <p:cNvPr id="13" name="正方形/長方形 12">
              <a:extLst>
                <a:ext uri="{FF2B5EF4-FFF2-40B4-BE49-F238E27FC236}">
                  <a16:creationId xmlns:a16="http://schemas.microsoft.com/office/drawing/2014/main" id="{64F88E16-9AA6-FCC9-F80A-DF14DDDA724C}"/>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4" name="二等辺三角形 13">
              <a:extLst>
                <a:ext uri="{FF2B5EF4-FFF2-40B4-BE49-F238E27FC236}">
                  <a16:creationId xmlns:a16="http://schemas.microsoft.com/office/drawing/2014/main" id="{7E84D35E-2478-500C-E77D-1D06EF09ABC5}"/>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15" name="グループ化 14">
            <a:extLst>
              <a:ext uri="{FF2B5EF4-FFF2-40B4-BE49-F238E27FC236}">
                <a16:creationId xmlns:a16="http://schemas.microsoft.com/office/drawing/2014/main" id="{C44A8EE6-C46C-C8A0-D75E-E2FD847F00B0}"/>
              </a:ext>
            </a:extLst>
          </p:cNvPr>
          <p:cNvGrpSpPr/>
          <p:nvPr/>
        </p:nvGrpSpPr>
        <p:grpSpPr>
          <a:xfrm>
            <a:off x="2945965" y="2708992"/>
            <a:ext cx="360004" cy="720008"/>
            <a:chOff x="2411977" y="3068996"/>
            <a:chExt cx="360004" cy="720008"/>
          </a:xfrm>
        </p:grpSpPr>
        <p:sp>
          <p:nvSpPr>
            <p:cNvPr id="16" name="正方形/長方形 15">
              <a:extLst>
                <a:ext uri="{FF2B5EF4-FFF2-40B4-BE49-F238E27FC236}">
                  <a16:creationId xmlns:a16="http://schemas.microsoft.com/office/drawing/2014/main" id="{1295C8C8-38F1-0491-C4A3-14145B7EAAA2}"/>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7" name="二等辺三角形 16">
              <a:extLst>
                <a:ext uri="{FF2B5EF4-FFF2-40B4-BE49-F238E27FC236}">
                  <a16:creationId xmlns:a16="http://schemas.microsoft.com/office/drawing/2014/main" id="{86091F01-12EA-BC74-22A8-23A63BD164FE}"/>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22" name="角丸四角形吹き出し 20">
            <a:extLst>
              <a:ext uri="{FF2B5EF4-FFF2-40B4-BE49-F238E27FC236}">
                <a16:creationId xmlns:a16="http://schemas.microsoft.com/office/drawing/2014/main" id="{A67840A6-3259-146C-F2B7-0C6CA5ED48C9}"/>
              </a:ext>
            </a:extLst>
          </p:cNvPr>
          <p:cNvSpPr/>
          <p:nvPr/>
        </p:nvSpPr>
        <p:spPr bwMode="auto">
          <a:xfrm>
            <a:off x="5645995" y="1538984"/>
            <a:ext cx="2160024" cy="522647"/>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もう終わったから次のに</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取りかかりたいんだけど</a:t>
            </a:r>
          </a:p>
        </p:txBody>
      </p:sp>
      <p:sp>
        <p:nvSpPr>
          <p:cNvPr id="23" name="角丸四角形吹き出し 21">
            <a:extLst>
              <a:ext uri="{FF2B5EF4-FFF2-40B4-BE49-F238E27FC236}">
                <a16:creationId xmlns:a16="http://schemas.microsoft.com/office/drawing/2014/main" id="{472A93C4-B7F3-DE0C-4258-84AF3B9CECB9}"/>
              </a:ext>
            </a:extLst>
          </p:cNvPr>
          <p:cNvSpPr/>
          <p:nvPr/>
        </p:nvSpPr>
        <p:spPr bwMode="auto">
          <a:xfrm>
            <a:off x="4025977" y="1538984"/>
            <a:ext cx="1440016" cy="522647"/>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そんなに</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仕事がしたいか</a:t>
            </a:r>
          </a:p>
        </p:txBody>
      </p:sp>
      <p:sp>
        <p:nvSpPr>
          <p:cNvPr id="24" name="角丸四角形吹き出し 26">
            <a:extLst>
              <a:ext uri="{FF2B5EF4-FFF2-40B4-BE49-F238E27FC236}">
                <a16:creationId xmlns:a16="http://schemas.microsoft.com/office/drawing/2014/main" id="{9F854064-B6FC-6313-96D2-181D2DA1EDFF}"/>
              </a:ext>
            </a:extLst>
          </p:cNvPr>
          <p:cNvSpPr/>
          <p:nvPr/>
        </p:nvSpPr>
        <p:spPr bwMode="auto">
          <a:xfrm>
            <a:off x="8616028" y="1538984"/>
            <a:ext cx="1800020" cy="522647"/>
          </a:xfrm>
          <a:prstGeom prst="wedgeRoundRectCallout">
            <a:avLst>
              <a:gd name="adj1" fmla="val -51493"/>
              <a:gd name="adj2" fmla="val 139793"/>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ラッチがあくまで</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待ちましょう</a:t>
            </a:r>
          </a:p>
        </p:txBody>
      </p:sp>
      <p:sp>
        <p:nvSpPr>
          <p:cNvPr id="25" name="正方形/長方形 24">
            <a:extLst>
              <a:ext uri="{FF2B5EF4-FFF2-40B4-BE49-F238E27FC236}">
                <a16:creationId xmlns:a16="http://schemas.microsoft.com/office/drawing/2014/main" id="{C1723FD6-5C82-1425-2F57-B092327D5E76}"/>
              </a:ext>
            </a:extLst>
          </p:cNvPr>
          <p:cNvSpPr/>
          <p:nvPr/>
        </p:nvSpPr>
        <p:spPr bwMode="auto">
          <a:xfrm>
            <a:off x="6996015" y="2168986"/>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ﾏｯﾃﾏｯﾃ</a:t>
            </a:r>
          </a:p>
        </p:txBody>
      </p:sp>
      <p:grpSp>
        <p:nvGrpSpPr>
          <p:cNvPr id="26" name="グループ化 25">
            <a:extLst>
              <a:ext uri="{FF2B5EF4-FFF2-40B4-BE49-F238E27FC236}">
                <a16:creationId xmlns:a16="http://schemas.microsoft.com/office/drawing/2014/main" id="{29AAA781-C1C8-498E-4550-B0D6E90D2E39}"/>
              </a:ext>
            </a:extLst>
          </p:cNvPr>
          <p:cNvGrpSpPr/>
          <p:nvPr/>
        </p:nvGrpSpPr>
        <p:grpSpPr>
          <a:xfrm>
            <a:off x="8886031" y="2708992"/>
            <a:ext cx="360004" cy="720008"/>
            <a:chOff x="2411977" y="3068996"/>
            <a:chExt cx="360004" cy="720008"/>
          </a:xfrm>
        </p:grpSpPr>
        <p:sp>
          <p:nvSpPr>
            <p:cNvPr id="27" name="正方形/長方形 26">
              <a:extLst>
                <a:ext uri="{FF2B5EF4-FFF2-40B4-BE49-F238E27FC236}">
                  <a16:creationId xmlns:a16="http://schemas.microsoft.com/office/drawing/2014/main" id="{DBECC520-9F66-0DDC-A3B9-CDCB47A1EA10}"/>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28" name="二等辺三角形 27">
              <a:extLst>
                <a:ext uri="{FF2B5EF4-FFF2-40B4-BE49-F238E27FC236}">
                  <a16:creationId xmlns:a16="http://schemas.microsoft.com/office/drawing/2014/main" id="{412377CC-55FD-D587-43BD-53057CB52D97}"/>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3" name="正方形/長方形 2"/>
          <p:cNvSpPr/>
          <p:nvPr/>
        </p:nvSpPr>
        <p:spPr>
          <a:xfrm>
            <a:off x="3535677" y="2294454"/>
            <a:ext cx="1390315"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33901342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パイプライン化（オーバーラップ）の実現方法</a:t>
            </a:r>
          </a:p>
        </p:txBody>
      </p:sp>
      <p:sp>
        <p:nvSpPr>
          <p:cNvPr id="3" name="テキスト プレースホルダー 2"/>
          <p:cNvSpPr>
            <a:spLocks noGrp="1"/>
          </p:cNvSpPr>
          <p:nvPr>
            <p:ph type="body" sz="quarter" idx="10"/>
          </p:nvPr>
        </p:nvSpPr>
        <p:spPr>
          <a:xfrm>
            <a:off x="1595951" y="5589024"/>
            <a:ext cx="8820098" cy="449698"/>
          </a:xfrm>
        </p:spPr>
        <p:txBody>
          <a:bodyPr/>
          <a:lstStyle/>
          <a:p>
            <a:pPr lvl="1"/>
            <a:r>
              <a:rPr kumimoji="1" lang="ja-JP" altLang="en-US" dirty="0"/>
              <a:t>各ステージの間に，</a:t>
            </a:r>
            <a:r>
              <a:rPr kumimoji="1" lang="en-US" altLang="ja-JP" dirty="0"/>
              <a:t>D-FF</a:t>
            </a:r>
            <a:r>
              <a:rPr kumimoji="1" lang="ja-JP" altLang="en-US" dirty="0"/>
              <a:t>（オレンジの四角）をいれる</a:t>
            </a:r>
            <a:endParaRPr kumimoji="1" lang="en-US" altLang="ja-JP" dirty="0"/>
          </a:p>
          <a:p>
            <a:pPr lvl="2"/>
            <a:r>
              <a:rPr kumimoji="1" lang="en-US" altLang="ja-JP" dirty="0"/>
              <a:t>WB </a:t>
            </a:r>
            <a:r>
              <a:rPr kumimoji="1" lang="ja-JP" altLang="en-US" dirty="0"/>
              <a:t>の書き込みについては，レジスタ・ファイル自体が</a:t>
            </a:r>
            <a:br>
              <a:rPr kumimoji="1" lang="en-US" altLang="ja-JP" dirty="0"/>
            </a:br>
            <a:r>
              <a:rPr kumimoji="1" lang="ja-JP" altLang="en-US" dirty="0"/>
              <a:t>クロックに同期して書き込みが行われるので </a:t>
            </a:r>
            <a:r>
              <a:rPr kumimoji="1" lang="en-US" altLang="ja-JP" dirty="0"/>
              <a:t>D-FF </a:t>
            </a:r>
            <a:r>
              <a:rPr kumimoji="1" lang="ja-JP" altLang="en-US" dirty="0"/>
              <a:t>は不要</a:t>
            </a:r>
            <a:endParaRPr kumimoji="1" lang="en-US" altLang="ja-JP" dirty="0"/>
          </a:p>
          <a:p>
            <a:pPr lvl="1"/>
            <a:r>
              <a:rPr kumimoji="1" lang="ja-JP" altLang="en-US" dirty="0">
                <a:solidFill>
                  <a:schemeClr val="accent5"/>
                </a:solidFill>
              </a:rPr>
              <a:t>各ステージの処理が早く終わっても，次のクロックまでは </a:t>
            </a:r>
            <a:r>
              <a:rPr kumimoji="1" lang="en-US" altLang="ja-JP" dirty="0">
                <a:solidFill>
                  <a:schemeClr val="accent5"/>
                </a:solidFill>
              </a:rPr>
              <a:t>D-FF </a:t>
            </a:r>
            <a:r>
              <a:rPr kumimoji="1" lang="ja-JP" altLang="en-US" dirty="0">
                <a:solidFill>
                  <a:schemeClr val="accent5"/>
                </a:solidFill>
              </a:rPr>
              <a:t>で</a:t>
            </a:r>
            <a:br>
              <a:rPr kumimoji="1" lang="en-US" altLang="ja-JP" dirty="0">
                <a:solidFill>
                  <a:schemeClr val="accent5"/>
                </a:solidFill>
              </a:rPr>
            </a:br>
            <a:r>
              <a:rPr kumimoji="1" lang="ja-JP" altLang="en-US" dirty="0">
                <a:solidFill>
                  <a:schemeClr val="accent5"/>
                </a:solidFill>
              </a:rPr>
              <a:t>信号の伝搬を止める</a:t>
            </a:r>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46011" y="3068999"/>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9"/>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2405963"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80"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249596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18" name="正方形/長方形 17"/>
          <p:cNvSpPr/>
          <p:nvPr/>
        </p:nvSpPr>
        <p:spPr bwMode="auto">
          <a:xfrm>
            <a:off x="3575972"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lang="ja-JP" altLang="en-US" sz="1200" dirty="0">
                <a:latin typeface="メイリオ" panose="020B0604030504040204" pitchFamily="50" charset="-128"/>
                <a:ea typeface="メイリオ" panose="020B0604030504040204" pitchFamily="50" charset="-128"/>
              </a:rPr>
              <a:t>命令</a:t>
            </a:r>
          </a:p>
        </p:txBody>
      </p:sp>
      <p:sp>
        <p:nvSpPr>
          <p:cNvPr id="19" name="Freeform 10"/>
          <p:cNvSpPr>
            <a:spLocks/>
          </p:cNvSpPr>
          <p:nvPr/>
        </p:nvSpPr>
        <p:spPr bwMode="auto">
          <a:xfrm flipV="1">
            <a:off x="4475982" y="3248999"/>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1" name="正方形/長方形 20"/>
          <p:cNvSpPr/>
          <p:nvPr/>
        </p:nvSpPr>
        <p:spPr bwMode="auto">
          <a:xfrm>
            <a:off x="4655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a:t>
            </a:r>
          </a:p>
        </p:txBody>
      </p:sp>
      <p:sp>
        <p:nvSpPr>
          <p:cNvPr id="22" name="正方形/長方形 21"/>
          <p:cNvSpPr/>
          <p:nvPr/>
        </p:nvSpPr>
        <p:spPr bwMode="auto">
          <a:xfrm>
            <a:off x="4655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3" name="正方形/長方形 22"/>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4655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4655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sp>
        <p:nvSpPr>
          <p:cNvPr id="26" name="正方形/長方形 25"/>
          <p:cNvSpPr/>
          <p:nvPr/>
        </p:nvSpPr>
        <p:spPr bwMode="auto">
          <a:xfrm>
            <a:off x="2495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命令メモリ</a:t>
            </a:r>
          </a:p>
        </p:txBody>
      </p:sp>
      <p:cxnSp>
        <p:nvCxnSpPr>
          <p:cNvPr id="27" name="直線矢印コネクタ 26"/>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4475982" y="2258992"/>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9876043" y="2708996"/>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7536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6096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6096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4" name="正方形/長方形 33"/>
          <p:cNvSpPr/>
          <p:nvPr/>
        </p:nvSpPr>
        <p:spPr bwMode="auto">
          <a:xfrm>
            <a:off x="8256024"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35" name="正方形/長方形 34"/>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6636009"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正方形/長方形 38"/>
          <p:cNvSpPr/>
          <p:nvPr/>
        </p:nvSpPr>
        <p:spPr bwMode="auto">
          <a:xfrm>
            <a:off x="8256024" y="369900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0" name="直線矢印コネクタ 3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4475987"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8076022" y="2528991"/>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10101044" y="2213990"/>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正方形/長方形 43"/>
          <p:cNvSpPr/>
          <p:nvPr/>
        </p:nvSpPr>
        <p:spPr bwMode="auto">
          <a:xfrm>
            <a:off x="879603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sp>
        <p:nvSpPr>
          <p:cNvPr id="45" name="正方形/長方形 44"/>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46" name="角丸四角形 45"/>
          <p:cNvSpPr/>
          <p:nvPr/>
        </p:nvSpPr>
        <p:spPr bwMode="auto">
          <a:xfrm>
            <a:off x="1524000" y="1178980"/>
            <a:ext cx="2520028"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4295980" y="1178980"/>
            <a:ext cx="1980022"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8" name="角丸四角形 47"/>
          <p:cNvSpPr/>
          <p:nvPr/>
        </p:nvSpPr>
        <p:spPr bwMode="auto">
          <a:xfrm>
            <a:off x="6456004" y="1178980"/>
            <a:ext cx="1530018"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角丸四角形 48"/>
          <p:cNvSpPr/>
          <p:nvPr/>
        </p:nvSpPr>
        <p:spPr bwMode="auto">
          <a:xfrm>
            <a:off x="8166023" y="1178980"/>
            <a:ext cx="2070022"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正方形/長方形 49"/>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5" name="角丸四角形 54"/>
          <p:cNvSpPr/>
          <p:nvPr/>
        </p:nvSpPr>
        <p:spPr bwMode="auto">
          <a:xfrm>
            <a:off x="2855964" y="279899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ADD</a:t>
            </a:r>
            <a:endParaRPr lang="ja-JP" altLang="en-US" dirty="0">
              <a:latin typeface="Arial Narrow" panose="020B0606020202030204" pitchFamily="34" charset="0"/>
            </a:endParaRPr>
          </a:p>
        </p:txBody>
      </p:sp>
      <p:grpSp>
        <p:nvGrpSpPr>
          <p:cNvPr id="58" name="グループ化 57"/>
          <p:cNvGrpSpPr/>
          <p:nvPr/>
        </p:nvGrpSpPr>
        <p:grpSpPr>
          <a:xfrm>
            <a:off x="4025977" y="3068996"/>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63" name="正方形/長方形 62"/>
          <p:cNvSpPr/>
          <p:nvPr/>
        </p:nvSpPr>
        <p:spPr bwMode="auto">
          <a:xfrm>
            <a:off x="6186001" y="2438989"/>
            <a:ext cx="360004"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6276001" y="4419011"/>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1" name="正方形/長方形 70"/>
          <p:cNvSpPr/>
          <p:nvPr/>
        </p:nvSpPr>
        <p:spPr bwMode="auto">
          <a:xfrm>
            <a:off x="7626017" y="2438989"/>
            <a:ext cx="360004"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7716017" y="4419011"/>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1493952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2.08333E-6 7.40741E-7 L 0.17709 0.00023 " pathEditMode="relative" rAng="0" ptsTypes="AA">
                                      <p:cBhvr>
                                        <p:cTn id="6" dur="1000" fill="hold"/>
                                        <p:tgtEl>
                                          <p:spTgt spid="55"/>
                                        </p:tgtEl>
                                        <p:attrNameLst>
                                          <p:attrName>ppt_x</p:attrName>
                                          <p:attrName>ppt_y</p:attrName>
                                        </p:attrNameLst>
                                      </p:cBhvr>
                                      <p:rCtr x="8854"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17709 0.00023 L 0.31745 0.00023 " pathEditMode="relative" rAng="0" ptsTypes="AA">
                                      <p:cBhvr>
                                        <p:cTn id="10" dur="1000" fill="hold"/>
                                        <p:tgtEl>
                                          <p:spTgt spid="55"/>
                                        </p:tgtEl>
                                        <p:attrNameLst>
                                          <p:attrName>ppt_x</p:attrName>
                                          <p:attrName>ppt_y</p:attrName>
                                        </p:attrNameLst>
                                      </p:cBhvr>
                                      <p:rCtr x="7018"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grpId="2" nodeType="clickEffect">
                                  <p:stCondLst>
                                    <p:cond delay="0"/>
                                  </p:stCondLst>
                                  <p:childTnLst>
                                    <p:animMotion origin="layout" path="M 0.31745 0.00023 L 0.49453 0.00023 " pathEditMode="relative" rAng="0" ptsTypes="AA">
                                      <p:cBhvr>
                                        <p:cTn id="14" dur="1000" fill="hold"/>
                                        <p:tgtEl>
                                          <p:spTgt spid="55"/>
                                        </p:tgtEl>
                                        <p:attrNameLst>
                                          <p:attrName>ppt_x</p:attrName>
                                          <p:attrName>ppt_y</p:attrName>
                                        </p:attrNameLst>
                                      </p:cBhvr>
                                      <p:rCtr x="885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P spid="55" grpId="2"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27" name="直線コネクタ 126"/>
          <p:cNvCxnSpPr/>
          <p:nvPr/>
        </p:nvCxnSpPr>
        <p:spPr bwMode="auto">
          <a:xfrm>
            <a:off x="2045955" y="2168986"/>
            <a:ext cx="720080"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dirty="0"/>
              <a:t>パイプライン化による性能（スループット）向上</a:t>
            </a:r>
            <a:endParaRPr kumimoji="1" lang="ja-JP" altLang="en-US" dirty="0"/>
          </a:p>
        </p:txBody>
      </p:sp>
      <p:cxnSp>
        <p:nvCxnSpPr>
          <p:cNvPr id="96" name="直線矢印コネクタ 95"/>
          <p:cNvCxnSpPr/>
          <p:nvPr/>
        </p:nvCxnSpPr>
        <p:spPr bwMode="auto">
          <a:xfrm>
            <a:off x="2225958" y="1628980"/>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2135957" y="4599013"/>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2135957" y="1178975"/>
            <a:ext cx="2954655"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2027963" y="4166749"/>
            <a:ext cx="2723823" cy="369332"/>
          </a:xfrm>
          <a:prstGeom prst="rect">
            <a:avLst/>
          </a:prstGeom>
        </p:spPr>
        <p:txBody>
          <a:bodyPr wrap="none">
            <a:spAutoFit/>
          </a:bodyPr>
          <a:lstStyle/>
          <a:p>
            <a:r>
              <a:rPr lang="ja-JP" altLang="en-US" dirty="0">
                <a:solidFill>
                  <a:schemeClr val="tx1">
                    <a:lumMod val="65000"/>
                    <a:lumOff val="35000"/>
                  </a:schemeClr>
                </a:solidFill>
              </a:rPr>
              <a:t>パイプライン化した場合</a:t>
            </a:r>
          </a:p>
        </p:txBody>
      </p:sp>
      <p:sp>
        <p:nvSpPr>
          <p:cNvPr id="128" name="角丸四角形 127"/>
          <p:cNvSpPr/>
          <p:nvPr/>
        </p:nvSpPr>
        <p:spPr bwMode="auto">
          <a:xfrm>
            <a:off x="1671471" y="2024826"/>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I0</a:t>
            </a:r>
            <a:endParaRPr lang="ja-JP" altLang="en-US" b="1" dirty="0">
              <a:latin typeface="Courier New" panose="02070309020205020404" pitchFamily="49" charset="0"/>
              <a:cs typeface="Courier New" panose="02070309020205020404" pitchFamily="49" charset="0"/>
            </a:endParaRPr>
          </a:p>
        </p:txBody>
      </p:sp>
      <p:cxnSp>
        <p:nvCxnSpPr>
          <p:cNvPr id="132" name="直線コネクタ 131"/>
          <p:cNvCxnSpPr>
            <a:endCxn id="169" idx="1"/>
          </p:cNvCxnSpPr>
          <p:nvPr/>
        </p:nvCxnSpPr>
        <p:spPr bwMode="auto">
          <a:xfrm flipV="1">
            <a:off x="2045956" y="2888992"/>
            <a:ext cx="2970033" cy="2"/>
          </a:xfrm>
          <a:prstGeom prst="line">
            <a:avLst/>
          </a:prstGeom>
          <a:noFill/>
          <a:ln w="9525" cap="flat" cmpd="sng" algn="ctr">
            <a:solidFill>
              <a:schemeClr val="tx1"/>
            </a:solidFill>
            <a:prstDash val="dash"/>
            <a:round/>
            <a:headEnd type="none" w="med" len="med"/>
            <a:tailEnd type="none" w="med" len="med"/>
          </a:ln>
          <a:effectLst/>
        </p:spPr>
      </p:cxnSp>
      <p:sp>
        <p:nvSpPr>
          <p:cNvPr id="133" name="角丸四角形 132"/>
          <p:cNvSpPr/>
          <p:nvPr/>
        </p:nvSpPr>
        <p:spPr bwMode="auto">
          <a:xfrm>
            <a:off x="1671471" y="2744834"/>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I1</a:t>
            </a:r>
            <a:endParaRPr lang="ja-JP" altLang="en-US" b="1" dirty="0">
              <a:latin typeface="Courier New" panose="02070309020205020404" pitchFamily="49" charset="0"/>
              <a:cs typeface="Courier New" panose="02070309020205020404" pitchFamily="49" charset="0"/>
            </a:endParaRPr>
          </a:p>
        </p:txBody>
      </p:sp>
      <p:cxnSp>
        <p:nvCxnSpPr>
          <p:cNvPr id="134" name="直線コネクタ 133"/>
          <p:cNvCxnSpPr/>
          <p:nvPr/>
        </p:nvCxnSpPr>
        <p:spPr bwMode="auto">
          <a:xfrm>
            <a:off x="2045956" y="3519001"/>
            <a:ext cx="5310059" cy="0"/>
          </a:xfrm>
          <a:prstGeom prst="line">
            <a:avLst/>
          </a:prstGeom>
          <a:noFill/>
          <a:ln w="9525" cap="flat" cmpd="sng" algn="ctr">
            <a:solidFill>
              <a:schemeClr val="tx1"/>
            </a:solidFill>
            <a:prstDash val="dash"/>
            <a:round/>
            <a:headEnd type="none" w="med" len="med"/>
            <a:tailEnd type="none" w="med" len="med"/>
          </a:ln>
          <a:effectLst/>
        </p:spPr>
      </p:cxnSp>
      <p:sp>
        <p:nvSpPr>
          <p:cNvPr id="135" name="角丸四角形 134"/>
          <p:cNvSpPr/>
          <p:nvPr/>
        </p:nvSpPr>
        <p:spPr bwMode="auto">
          <a:xfrm>
            <a:off x="1671471" y="3374841"/>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I2</a:t>
            </a:r>
            <a:endParaRPr lang="ja-JP" altLang="en-US" b="1" dirty="0">
              <a:latin typeface="Courier New" panose="02070309020205020404" pitchFamily="49" charset="0"/>
              <a:cs typeface="Courier New" panose="02070309020205020404" pitchFamily="49" charset="0"/>
            </a:endParaRPr>
          </a:p>
        </p:txBody>
      </p:sp>
      <p:cxnSp>
        <p:nvCxnSpPr>
          <p:cNvPr id="136" name="直線コネクタ 135"/>
          <p:cNvCxnSpPr/>
          <p:nvPr/>
        </p:nvCxnSpPr>
        <p:spPr bwMode="auto">
          <a:xfrm>
            <a:off x="2060435" y="4923175"/>
            <a:ext cx="720080" cy="0"/>
          </a:xfrm>
          <a:prstGeom prst="line">
            <a:avLst/>
          </a:prstGeom>
          <a:noFill/>
          <a:ln w="9525" cap="flat" cmpd="sng" algn="ctr">
            <a:solidFill>
              <a:schemeClr val="tx1"/>
            </a:solidFill>
            <a:prstDash val="dash"/>
            <a:round/>
            <a:headEnd type="none" w="med" len="med"/>
            <a:tailEnd type="none" w="med" len="med"/>
          </a:ln>
          <a:effectLst/>
        </p:spPr>
      </p:cxnSp>
      <p:sp>
        <p:nvSpPr>
          <p:cNvPr id="137" name="角丸四角形 136"/>
          <p:cNvSpPr/>
          <p:nvPr/>
        </p:nvSpPr>
        <p:spPr bwMode="auto">
          <a:xfrm>
            <a:off x="1685951" y="4779015"/>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I0</a:t>
            </a:r>
            <a:endParaRPr lang="ja-JP" altLang="en-US" b="1" dirty="0">
              <a:latin typeface="Courier New" panose="02070309020205020404" pitchFamily="49" charset="0"/>
              <a:cs typeface="Courier New" panose="02070309020205020404" pitchFamily="49" charset="0"/>
            </a:endParaRPr>
          </a:p>
        </p:txBody>
      </p:sp>
      <p:sp>
        <p:nvSpPr>
          <p:cNvPr id="138" name="角丸四角形 137"/>
          <p:cNvSpPr/>
          <p:nvPr/>
        </p:nvSpPr>
        <p:spPr bwMode="auto">
          <a:xfrm>
            <a:off x="1685951" y="5499023"/>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I1</a:t>
            </a:r>
            <a:endParaRPr lang="ja-JP" altLang="en-US" b="1" dirty="0">
              <a:latin typeface="Courier New" panose="02070309020205020404" pitchFamily="49" charset="0"/>
              <a:cs typeface="Courier New" panose="02070309020205020404" pitchFamily="49" charset="0"/>
            </a:endParaRPr>
          </a:p>
        </p:txBody>
      </p:sp>
      <p:sp>
        <p:nvSpPr>
          <p:cNvPr id="139" name="角丸四角形 138"/>
          <p:cNvSpPr/>
          <p:nvPr/>
        </p:nvSpPr>
        <p:spPr bwMode="auto">
          <a:xfrm>
            <a:off x="1685951" y="6129030"/>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I2</a:t>
            </a:r>
            <a:endParaRPr lang="ja-JP" altLang="en-US" b="1" dirty="0">
              <a:latin typeface="Courier New" panose="02070309020205020404" pitchFamily="49" charset="0"/>
              <a:cs typeface="Courier New" panose="02070309020205020404" pitchFamily="49" charset="0"/>
            </a:endParaRPr>
          </a:p>
        </p:txBody>
      </p:sp>
      <p:cxnSp>
        <p:nvCxnSpPr>
          <p:cNvPr id="140" name="直線コネクタ 139"/>
          <p:cNvCxnSpPr>
            <a:endCxn id="150" idx="1"/>
          </p:cNvCxnSpPr>
          <p:nvPr/>
        </p:nvCxnSpPr>
        <p:spPr bwMode="auto">
          <a:xfrm>
            <a:off x="2135956" y="5679025"/>
            <a:ext cx="1080012" cy="2"/>
          </a:xfrm>
          <a:prstGeom prst="line">
            <a:avLst/>
          </a:prstGeom>
          <a:noFill/>
          <a:ln w="9525" cap="flat" cmpd="sng" algn="ctr">
            <a:solidFill>
              <a:schemeClr val="tx1"/>
            </a:solidFill>
            <a:prstDash val="dash"/>
            <a:round/>
            <a:headEnd type="none" w="med" len="med"/>
            <a:tailEnd type="none" w="med" len="med"/>
          </a:ln>
          <a:effectLst/>
        </p:spPr>
      </p:cxnSp>
      <p:cxnSp>
        <p:nvCxnSpPr>
          <p:cNvPr id="141" name="直線コネクタ 140"/>
          <p:cNvCxnSpPr>
            <a:stCxn id="139" idx="3"/>
            <a:endCxn id="157" idx="1"/>
          </p:cNvCxnSpPr>
          <p:nvPr/>
        </p:nvCxnSpPr>
        <p:spPr bwMode="auto">
          <a:xfrm flipV="1">
            <a:off x="2118251" y="6309030"/>
            <a:ext cx="1547722" cy="2"/>
          </a:xfrm>
          <a:prstGeom prst="line">
            <a:avLst/>
          </a:prstGeom>
          <a:noFill/>
          <a:ln w="9525" cap="flat" cmpd="sng" algn="ctr">
            <a:solidFill>
              <a:schemeClr val="tx1"/>
            </a:solidFill>
            <a:prstDash val="dash"/>
            <a:round/>
            <a:headEnd type="none" w="med" len="med"/>
            <a:tailEnd type="none" w="med" len="med"/>
          </a:ln>
          <a:effectLst/>
        </p:spPr>
      </p:cxnSp>
      <p:grpSp>
        <p:nvGrpSpPr>
          <p:cNvPr id="13" name="グループ化 12"/>
          <p:cNvGrpSpPr/>
          <p:nvPr/>
        </p:nvGrpSpPr>
        <p:grpSpPr>
          <a:xfrm>
            <a:off x="2765963" y="4779015"/>
            <a:ext cx="2160020" cy="360000"/>
            <a:chOff x="4481999" y="4959017"/>
            <a:chExt cx="2160020" cy="360000"/>
          </a:xfrm>
        </p:grpSpPr>
        <p:sp>
          <p:nvSpPr>
            <p:cNvPr id="142"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4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4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7"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8"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49" name="グループ化 148"/>
          <p:cNvGrpSpPr/>
          <p:nvPr/>
        </p:nvGrpSpPr>
        <p:grpSpPr>
          <a:xfrm>
            <a:off x="3215968" y="5499027"/>
            <a:ext cx="2160020" cy="360000"/>
            <a:chOff x="4481999" y="4959017"/>
            <a:chExt cx="2160020" cy="360000"/>
          </a:xfrm>
        </p:grpSpPr>
        <p:sp>
          <p:nvSpPr>
            <p:cNvPr id="15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5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5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54"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56" name="グループ化 155"/>
          <p:cNvGrpSpPr/>
          <p:nvPr/>
        </p:nvGrpSpPr>
        <p:grpSpPr>
          <a:xfrm>
            <a:off x="3665973" y="6129030"/>
            <a:ext cx="2160020" cy="360000"/>
            <a:chOff x="4481999" y="4959017"/>
            <a:chExt cx="2160020" cy="360000"/>
          </a:xfrm>
        </p:grpSpPr>
        <p:sp>
          <p:nvSpPr>
            <p:cNvPr id="157"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58"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59"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60"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61"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62" name="グループ化 161"/>
          <p:cNvGrpSpPr/>
          <p:nvPr/>
        </p:nvGrpSpPr>
        <p:grpSpPr>
          <a:xfrm>
            <a:off x="2765963" y="1988984"/>
            <a:ext cx="2160020" cy="360000"/>
            <a:chOff x="4481999" y="4959017"/>
            <a:chExt cx="2160020" cy="360000"/>
          </a:xfrm>
        </p:grpSpPr>
        <p:sp>
          <p:nvSpPr>
            <p:cNvPr id="163"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6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66"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67"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68" name="グループ化 167"/>
          <p:cNvGrpSpPr/>
          <p:nvPr/>
        </p:nvGrpSpPr>
        <p:grpSpPr>
          <a:xfrm>
            <a:off x="5015988" y="2708992"/>
            <a:ext cx="2160020" cy="360000"/>
            <a:chOff x="4481999" y="4959017"/>
            <a:chExt cx="2160020" cy="360000"/>
          </a:xfrm>
        </p:grpSpPr>
        <p:sp>
          <p:nvSpPr>
            <p:cNvPr id="169"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0"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1"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11"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1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219" name="グループ化 218"/>
          <p:cNvGrpSpPr/>
          <p:nvPr/>
        </p:nvGrpSpPr>
        <p:grpSpPr>
          <a:xfrm>
            <a:off x="7266013" y="3338999"/>
            <a:ext cx="2160020" cy="360000"/>
            <a:chOff x="4481999" y="4959017"/>
            <a:chExt cx="2160020" cy="360000"/>
          </a:xfrm>
        </p:grpSpPr>
        <p:sp>
          <p:nvSpPr>
            <p:cNvPr id="22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2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23"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24"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spTree>
    <p:extLst>
      <p:ext uri="{BB962C8B-B14F-4D97-AF65-F5344CB8AC3E}">
        <p14:creationId xmlns:p14="http://schemas.microsoft.com/office/powerpoint/2010/main" val="1270322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パイプライン化の意味</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パイプライン化の効果：</a:t>
            </a:r>
            <a:endParaRPr lang="en-US" altLang="ja-JP" dirty="0"/>
          </a:p>
          <a:p>
            <a:pPr lvl="1"/>
            <a:r>
              <a:rPr kumimoji="1" lang="ja-JP" altLang="en-US" dirty="0"/>
              <a:t>スループットの向上</a:t>
            </a:r>
            <a:endParaRPr kumimoji="1" lang="en-US" altLang="ja-JP" dirty="0"/>
          </a:p>
          <a:p>
            <a:pPr lvl="1"/>
            <a:r>
              <a:rPr kumimoji="1" lang="en-US" altLang="ja-JP" dirty="0"/>
              <a:t>= </a:t>
            </a:r>
            <a:r>
              <a:rPr kumimoji="1" lang="ja-JP" altLang="en-US" dirty="0"/>
              <a:t>単位時間あたりに処理できる命令の数の増加</a:t>
            </a:r>
            <a:endParaRPr kumimoji="1" lang="en-US" altLang="ja-JP" dirty="0"/>
          </a:p>
          <a:p>
            <a:pPr lvl="1"/>
            <a:r>
              <a:rPr kumimoji="1" lang="en-US" altLang="ja-JP" dirty="0"/>
              <a:t>= </a:t>
            </a:r>
            <a:r>
              <a:rPr kumimoji="1" lang="ja-JP" altLang="en-US" dirty="0">
                <a:solidFill>
                  <a:schemeClr val="accent5"/>
                </a:solidFill>
              </a:rPr>
              <a:t>動作クロック周波数の向上</a:t>
            </a:r>
            <a:endParaRPr kumimoji="1" lang="en-US" altLang="ja-JP" dirty="0">
              <a:solidFill>
                <a:schemeClr val="accent5"/>
              </a:solidFill>
            </a:endParaRPr>
          </a:p>
          <a:p>
            <a:r>
              <a:rPr kumimoji="1" lang="ja-JP" altLang="en-US" dirty="0"/>
              <a:t>これらは同じ事を言い換えてるだけ</a:t>
            </a:r>
            <a:endParaRPr kumimoji="1" lang="en-US" altLang="ja-JP" dirty="0"/>
          </a:p>
          <a:p>
            <a:pPr lvl="1"/>
            <a:endParaRPr kumimoji="1" lang="en-US" altLang="ja-JP" dirty="0">
              <a:solidFill>
                <a:schemeClr val="accent5"/>
              </a:solidFill>
            </a:endParaRPr>
          </a:p>
        </p:txBody>
      </p:sp>
    </p:spTree>
    <p:extLst>
      <p:ext uri="{BB962C8B-B14F-4D97-AF65-F5344CB8AC3E}">
        <p14:creationId xmlns:p14="http://schemas.microsoft.com/office/powerpoint/2010/main" val="35724533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パイプライン化の限界</a:t>
            </a:r>
          </a:p>
        </p:txBody>
      </p:sp>
      <p:sp>
        <p:nvSpPr>
          <p:cNvPr id="3" name="テキスト プレースホルダー 2"/>
          <p:cNvSpPr>
            <a:spLocks noGrp="1"/>
          </p:cNvSpPr>
          <p:nvPr>
            <p:ph type="body" sz="quarter" idx="10"/>
          </p:nvPr>
        </p:nvSpPr>
        <p:spPr>
          <a:xfrm>
            <a:off x="2135956" y="3699003"/>
            <a:ext cx="8280092" cy="2789724"/>
          </a:xfrm>
        </p:spPr>
        <p:txBody>
          <a:bodyPr/>
          <a:lstStyle/>
          <a:p>
            <a:r>
              <a:rPr lang="ja-JP" altLang="en-US" dirty="0"/>
              <a:t>パイプライン段数を増やしていけば，どこまでも速くなるのか？</a:t>
            </a:r>
            <a:endParaRPr lang="en-US" altLang="ja-JP" dirty="0"/>
          </a:p>
          <a:p>
            <a:pPr lvl="1"/>
            <a:r>
              <a:rPr kumimoji="1" lang="ja-JP" altLang="en-US" dirty="0"/>
              <a:t>ならない</a:t>
            </a:r>
            <a:endParaRPr kumimoji="1" lang="en-US" altLang="ja-JP" dirty="0"/>
          </a:p>
          <a:p>
            <a:r>
              <a:rPr kumimoji="1" lang="ja-JP" altLang="en-US" dirty="0"/>
              <a:t>理由：</a:t>
            </a:r>
            <a:endParaRPr kumimoji="1" lang="en-US" altLang="ja-JP" dirty="0"/>
          </a:p>
          <a:p>
            <a:pPr marL="817200" lvl="1" indent="-457200">
              <a:buFont typeface="+mj-lt"/>
              <a:buAutoNum type="arabicPeriod"/>
            </a:pPr>
            <a:r>
              <a:rPr lang="ja-JP" altLang="en-US" dirty="0"/>
              <a:t>回路的な理由による周波数向上の限界（前回の講義で説明）</a:t>
            </a:r>
            <a:endParaRPr kumimoji="1" lang="en-US" altLang="ja-JP" dirty="0"/>
          </a:p>
          <a:p>
            <a:pPr marL="817200" lvl="1" indent="-457200">
              <a:buFont typeface="+mj-lt"/>
              <a:buAutoNum type="arabicPeriod"/>
            </a:pPr>
            <a:r>
              <a:rPr kumimoji="1" lang="ja-JP" altLang="en-US" b="1" dirty="0">
                <a:solidFill>
                  <a:schemeClr val="accent5"/>
                </a:solidFill>
              </a:rPr>
              <a:t>アーキテクチャ的な理由（ハザード）による実効性能の限界</a:t>
            </a:r>
            <a:endParaRPr kumimoji="1" lang="en-US" altLang="ja-JP" b="1" dirty="0">
              <a:solidFill>
                <a:schemeClr val="accent5"/>
              </a:solidFill>
            </a:endParaRPr>
          </a:p>
        </p:txBody>
      </p:sp>
      <p:sp>
        <p:nvSpPr>
          <p:cNvPr id="4" name="正方形/長方形 3"/>
          <p:cNvSpPr/>
          <p:nvPr/>
        </p:nvSpPr>
        <p:spPr>
          <a:xfrm>
            <a:off x="1865953" y="1772925"/>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grpSp>
        <p:nvGrpSpPr>
          <p:cNvPr id="6" name="グループ化 5"/>
          <p:cNvGrpSpPr/>
          <p:nvPr/>
        </p:nvGrpSpPr>
        <p:grpSpPr>
          <a:xfrm>
            <a:off x="4475982" y="2582933"/>
            <a:ext cx="1562400" cy="576064"/>
            <a:chOff x="971600" y="5445224"/>
            <a:chExt cx="7200800" cy="576064"/>
          </a:xfrm>
        </p:grpSpPr>
        <p:sp>
          <p:nvSpPr>
            <p:cNvPr id="7" name="平行四辺形 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 name="平行四辺形 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p:cNvGrpSpPr/>
          <p:nvPr/>
        </p:nvGrpSpPr>
        <p:grpSpPr>
          <a:xfrm>
            <a:off x="5915998" y="2582933"/>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2" name="グループ化 11"/>
          <p:cNvGrpSpPr/>
          <p:nvPr/>
        </p:nvGrpSpPr>
        <p:grpSpPr>
          <a:xfrm>
            <a:off x="7356014" y="2582933"/>
            <a:ext cx="1562400" cy="576064"/>
            <a:chOff x="971600" y="5445224"/>
            <a:chExt cx="7200800" cy="576064"/>
          </a:xfrm>
        </p:grpSpPr>
        <p:sp>
          <p:nvSpPr>
            <p:cNvPr id="13" name="平行四辺形 1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4" name="平行四辺形 1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5" name="グループ化 14"/>
          <p:cNvGrpSpPr/>
          <p:nvPr/>
        </p:nvGrpSpPr>
        <p:grpSpPr>
          <a:xfrm>
            <a:off x="8796030" y="2582933"/>
            <a:ext cx="1584176" cy="576064"/>
            <a:chOff x="971600" y="5445224"/>
            <a:chExt cx="7200800" cy="576064"/>
          </a:xfrm>
        </p:grpSpPr>
        <p:sp>
          <p:nvSpPr>
            <p:cNvPr id="16" name="平行四辺形 15"/>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 name="平行四辺形 16"/>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8" name="正方形/長方形 17"/>
          <p:cNvSpPr/>
          <p:nvPr/>
        </p:nvSpPr>
        <p:spPr>
          <a:xfrm>
            <a:off x="4925988" y="177292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6276003" y="177292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0" name="正方形/長方形 19"/>
          <p:cNvSpPr/>
          <p:nvPr/>
        </p:nvSpPr>
        <p:spPr>
          <a:xfrm>
            <a:off x="7806020" y="1772924"/>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1" name="正方形/長方形 20"/>
          <p:cNvSpPr/>
          <p:nvPr/>
        </p:nvSpPr>
        <p:spPr>
          <a:xfrm>
            <a:off x="9156035" y="1772924"/>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2" name="角丸四角形 21"/>
          <p:cNvSpPr/>
          <p:nvPr/>
        </p:nvSpPr>
        <p:spPr bwMode="auto">
          <a:xfrm>
            <a:off x="6366003"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4" name="角丸四角形 23"/>
          <p:cNvSpPr/>
          <p:nvPr/>
        </p:nvSpPr>
        <p:spPr bwMode="auto">
          <a:xfrm>
            <a:off x="7715730"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5" name="角丸四角形 24"/>
          <p:cNvSpPr/>
          <p:nvPr/>
        </p:nvSpPr>
        <p:spPr bwMode="auto">
          <a:xfrm>
            <a:off x="9065745"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3" name="角丸四角形 22"/>
          <p:cNvSpPr/>
          <p:nvPr/>
        </p:nvSpPr>
        <p:spPr bwMode="auto">
          <a:xfrm>
            <a:off x="4835986"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9" name="角丸四角形吹き出し 28"/>
          <p:cNvSpPr/>
          <p:nvPr/>
        </p:nvSpPr>
        <p:spPr bwMode="auto">
          <a:xfrm>
            <a:off x="2945965" y="1142918"/>
            <a:ext cx="2520028"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85000"/>
                    <a:lumOff val="15000"/>
                  </a:schemeClr>
                </a:solidFill>
                <a:latin typeface="Arial Narrow" panose="020B0606020202030204" pitchFamily="34" charset="0"/>
              </a:rPr>
              <a:t>ひょっとして･･･ 無限に</a:t>
            </a:r>
            <a:endParaRPr lang="en-US" altLang="ja-JP" sz="1400" dirty="0">
              <a:solidFill>
                <a:schemeClr val="tx1">
                  <a:lumMod val="85000"/>
                  <a:lumOff val="15000"/>
                </a:schemeClr>
              </a:solidFill>
              <a:latin typeface="Arial Narrow" panose="020B0606020202030204" pitchFamily="34" charset="0"/>
            </a:endParaRPr>
          </a:p>
          <a:p>
            <a:r>
              <a:rPr lang="ja-JP" altLang="en-US" sz="1400" dirty="0">
                <a:solidFill>
                  <a:schemeClr val="tx1">
                    <a:lumMod val="85000"/>
                    <a:lumOff val="15000"/>
                  </a:schemeClr>
                </a:solidFill>
                <a:latin typeface="Arial Narrow" panose="020B0606020202030204" pitchFamily="34" charset="0"/>
              </a:rPr>
              <a:t>速くできるんじゃ</a:t>
            </a:r>
            <a:r>
              <a:rPr lang="ja-JP" altLang="en-US" sz="1400" dirty="0" err="1">
                <a:solidFill>
                  <a:schemeClr val="tx1">
                    <a:lumMod val="85000"/>
                    <a:lumOff val="15000"/>
                  </a:schemeClr>
                </a:solidFill>
                <a:latin typeface="Arial Narrow" panose="020B0606020202030204" pitchFamily="34" charset="0"/>
              </a:rPr>
              <a:t>ね</a:t>
            </a:r>
            <a:r>
              <a:rPr lang="ja-JP" altLang="en-US" sz="1400" dirty="0">
                <a:solidFill>
                  <a:schemeClr val="tx1">
                    <a:lumMod val="85000"/>
                    <a:lumOff val="15000"/>
                  </a:schemeClr>
                </a:solidFill>
                <a:latin typeface="Arial Narrow" panose="020B0606020202030204" pitchFamily="34" charset="0"/>
              </a:rPr>
              <a:t>！？</a:t>
            </a:r>
          </a:p>
        </p:txBody>
      </p:sp>
      <p:sp>
        <p:nvSpPr>
          <p:cNvPr id="31" name="正方形/長方形 30"/>
          <p:cNvSpPr/>
          <p:nvPr/>
        </p:nvSpPr>
        <p:spPr bwMode="auto">
          <a:xfrm>
            <a:off x="5555995" y="168292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solidFill>
              </a:rPr>
              <a:t>ｵｲﾔﾒﾛ</a:t>
            </a:r>
          </a:p>
        </p:txBody>
      </p:sp>
      <p:sp>
        <p:nvSpPr>
          <p:cNvPr id="32" name="正方形/長方形 31"/>
          <p:cNvSpPr/>
          <p:nvPr/>
        </p:nvSpPr>
        <p:spPr bwMode="auto">
          <a:xfrm>
            <a:off x="8346026" y="168292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ﾑﾘﾑﾘ</a:t>
            </a:r>
          </a:p>
        </p:txBody>
      </p:sp>
      <p:sp>
        <p:nvSpPr>
          <p:cNvPr id="33" name="正方形/長方形 32"/>
          <p:cNvSpPr/>
          <p:nvPr/>
        </p:nvSpPr>
        <p:spPr bwMode="auto">
          <a:xfrm>
            <a:off x="6906010" y="1718981"/>
            <a:ext cx="540006" cy="450005"/>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ﾔﾒﾃ</a:t>
            </a:r>
          </a:p>
        </p:txBody>
      </p:sp>
      <p:sp>
        <p:nvSpPr>
          <p:cNvPr id="34" name="正方形/長方形 33"/>
          <p:cNvSpPr/>
          <p:nvPr/>
        </p:nvSpPr>
        <p:spPr bwMode="auto">
          <a:xfrm>
            <a:off x="1865954" y="135897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lang="ja-JP" altLang="en-US" sz="1600" dirty="0">
              <a:solidFill>
                <a:schemeClr val="tx1">
                  <a:lumMod val="85000"/>
                  <a:lumOff val="15000"/>
                </a:schemeClr>
              </a:solidFill>
            </a:endParaRPr>
          </a:p>
        </p:txBody>
      </p:sp>
      <p:sp>
        <p:nvSpPr>
          <p:cNvPr id="35" name="正方形/長方形 34"/>
          <p:cNvSpPr/>
          <p:nvPr/>
        </p:nvSpPr>
        <p:spPr>
          <a:xfrm>
            <a:off x="2585962" y="1538979"/>
            <a:ext cx="502061" cy="369332"/>
          </a:xfrm>
          <a:prstGeom prst="rect">
            <a:avLst/>
          </a:prstGeom>
        </p:spPr>
        <p:txBody>
          <a:bodyPr wrap="none">
            <a:spAutoFit/>
          </a:bodyPr>
          <a:lstStyle/>
          <a:p>
            <a:r>
              <a:rPr lang="ja-JP" altLang="en-US" dirty="0">
                <a:solidFill>
                  <a:schemeClr val="tx1">
                    <a:lumMod val="85000"/>
                    <a:lumOff val="15000"/>
                  </a:schemeClr>
                </a:solidFill>
              </a:rPr>
              <a:t>💡</a:t>
            </a:r>
          </a:p>
        </p:txBody>
      </p:sp>
      <p:sp>
        <p:nvSpPr>
          <p:cNvPr id="36" name="正方形/長方形 35">
            <a:extLst>
              <a:ext uri="{FF2B5EF4-FFF2-40B4-BE49-F238E27FC236}">
                <a16:creationId xmlns:a16="http://schemas.microsoft.com/office/drawing/2014/main" id="{693CAF5A-4D0E-9371-5EB3-8B5A3678E18F}"/>
              </a:ext>
            </a:extLst>
          </p:cNvPr>
          <p:cNvSpPr/>
          <p:nvPr/>
        </p:nvSpPr>
        <p:spPr>
          <a:xfrm>
            <a:off x="1955954" y="1538980"/>
            <a:ext cx="1620018" cy="307777"/>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ﾋﾗﾒｲﾀ！</a:t>
            </a:r>
          </a:p>
        </p:txBody>
      </p:sp>
      <p:sp>
        <p:nvSpPr>
          <p:cNvPr id="5" name="正方形/長方形 4">
            <a:extLst>
              <a:ext uri="{FF2B5EF4-FFF2-40B4-BE49-F238E27FC236}">
                <a16:creationId xmlns:a16="http://schemas.microsoft.com/office/drawing/2014/main" id="{E1165DBA-792A-6C63-F0ED-E8330580E0E0}"/>
              </a:ext>
            </a:extLst>
          </p:cNvPr>
          <p:cNvSpPr/>
          <p:nvPr/>
        </p:nvSpPr>
        <p:spPr bwMode="auto">
          <a:xfrm>
            <a:off x="9966044" y="1718981"/>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4"/>
                </a:solidFill>
              </a:rPr>
              <a:t>ﾃﾝｼｮｸﾀﾞ</a:t>
            </a:r>
          </a:p>
        </p:txBody>
      </p:sp>
    </p:spTree>
    <p:extLst>
      <p:ext uri="{BB962C8B-B14F-4D97-AF65-F5344CB8AC3E}">
        <p14:creationId xmlns:p14="http://schemas.microsoft.com/office/powerpoint/2010/main" val="30663570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2961AEFA-E157-0C29-796B-4579D0BB8AC8}"/>
              </a:ext>
            </a:extLst>
          </p:cNvPr>
          <p:cNvSpPr>
            <a:spLocks noGrp="1"/>
          </p:cNvSpPr>
          <p:nvPr>
            <p:ph type="title"/>
          </p:nvPr>
        </p:nvSpPr>
        <p:spPr/>
        <p:txBody>
          <a:bodyPr/>
          <a:lstStyle/>
          <a:p>
            <a:r>
              <a:rPr lang="ja-JP" altLang="en-US" dirty="0"/>
              <a:t>ハザード</a:t>
            </a:r>
            <a:endParaRPr lang="en-US" altLang="ja-JP" dirty="0"/>
          </a:p>
        </p:txBody>
      </p:sp>
    </p:spTree>
    <p:extLst>
      <p:ext uri="{BB962C8B-B14F-4D97-AF65-F5344CB8AC3E}">
        <p14:creationId xmlns:p14="http://schemas.microsoft.com/office/powerpoint/2010/main" val="22728386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1E17915D-ED95-990B-618D-289A3E656299}"/>
              </a:ext>
            </a:extLst>
          </p:cNvPr>
          <p:cNvSpPr>
            <a:spLocks noGrp="1"/>
          </p:cNvSpPr>
          <p:nvPr>
            <p:ph type="title"/>
          </p:nvPr>
        </p:nvSpPr>
        <p:spPr>
          <a:xfrm>
            <a:off x="1415948" y="0"/>
            <a:ext cx="10776052" cy="908972"/>
          </a:xfrm>
        </p:spPr>
        <p:txBody>
          <a:bodyPr/>
          <a:lstStyle/>
          <a:p>
            <a:r>
              <a:rPr lang="ja-JP" altLang="en-US" dirty="0"/>
              <a:t>ハザード（</a:t>
            </a:r>
            <a:r>
              <a:rPr lang="en-US" altLang="ja-JP" dirty="0"/>
              <a:t>hazard</a:t>
            </a:r>
            <a:r>
              <a:rPr lang="ja-JP" altLang="en-US" dirty="0"/>
              <a:t>）</a:t>
            </a:r>
            <a:endParaRPr lang="en-US" dirty="0"/>
          </a:p>
        </p:txBody>
      </p:sp>
      <p:sp>
        <p:nvSpPr>
          <p:cNvPr id="5" name="コンテンツ プレースホルダー 4">
            <a:extLst>
              <a:ext uri="{FF2B5EF4-FFF2-40B4-BE49-F238E27FC236}">
                <a16:creationId xmlns:a16="http://schemas.microsoft.com/office/drawing/2014/main" id="{55BC22C3-1199-82A5-5E29-0F5100CE9908}"/>
              </a:ext>
            </a:extLst>
          </p:cNvPr>
          <p:cNvSpPr>
            <a:spLocks noGrp="1"/>
          </p:cNvSpPr>
          <p:nvPr>
            <p:ph type="body" sz="quarter" idx="10"/>
          </p:nvPr>
        </p:nvSpPr>
        <p:spPr>
          <a:xfrm>
            <a:off x="1775952" y="1088974"/>
            <a:ext cx="8640096" cy="5490061"/>
          </a:xfrm>
        </p:spPr>
        <p:txBody>
          <a:bodyPr/>
          <a:lstStyle/>
          <a:p>
            <a:r>
              <a:rPr lang="ja-JP" altLang="en-US" dirty="0"/>
              <a:t>パイプラインがうまく動作しないこと</a:t>
            </a:r>
            <a:endParaRPr lang="en-US" altLang="ja-JP" dirty="0"/>
          </a:p>
          <a:p>
            <a:pPr lvl="1"/>
            <a:r>
              <a:rPr lang="ja-JP" altLang="en-US" dirty="0"/>
              <a:t>パタヘネ（教科書）の定義：</a:t>
            </a:r>
            <a:br>
              <a:rPr lang="en-US" altLang="ja-JP" dirty="0"/>
            </a:br>
            <a:r>
              <a:rPr lang="ja-JP" altLang="en-US" dirty="0"/>
              <a:t>「パイプラインにおいて　次のサイクルに次の命令を実行できないこと」</a:t>
            </a:r>
            <a:endParaRPr lang="en-US" altLang="ja-JP" dirty="0"/>
          </a:p>
          <a:p>
            <a:r>
              <a:rPr lang="ja-JP" altLang="en-US" dirty="0"/>
              <a:t>ハザードの種類：</a:t>
            </a:r>
            <a:endParaRPr lang="en-US" altLang="ja-JP" dirty="0"/>
          </a:p>
          <a:p>
            <a:pPr lvl="1"/>
            <a:r>
              <a:rPr lang="ja-JP" altLang="en-US" dirty="0"/>
              <a:t>構造ハザード</a:t>
            </a:r>
            <a:endParaRPr lang="en-US" altLang="ja-JP" dirty="0"/>
          </a:p>
          <a:p>
            <a:pPr lvl="1"/>
            <a:r>
              <a:rPr lang="ja-JP" altLang="en-US" dirty="0"/>
              <a:t>非構造ハザード</a:t>
            </a:r>
            <a:endParaRPr lang="en-US" altLang="ja-JP" dirty="0"/>
          </a:p>
          <a:p>
            <a:pPr lvl="2"/>
            <a:r>
              <a:rPr lang="ja-JP" altLang="en-US" dirty="0"/>
              <a:t>データ・ハザード</a:t>
            </a:r>
            <a:endParaRPr lang="en-US" altLang="ja-JP" dirty="0"/>
          </a:p>
          <a:p>
            <a:pPr lvl="2"/>
            <a:r>
              <a:rPr lang="ja-JP" altLang="en-US" dirty="0"/>
              <a:t>制御ハザード</a:t>
            </a:r>
            <a:endParaRPr lang="en-US" altLang="ja-JP" dirty="0"/>
          </a:p>
          <a:p>
            <a:endParaRPr lang="en-US" dirty="0"/>
          </a:p>
        </p:txBody>
      </p:sp>
    </p:spTree>
    <p:extLst>
      <p:ext uri="{BB962C8B-B14F-4D97-AF65-F5344CB8AC3E}">
        <p14:creationId xmlns:p14="http://schemas.microsoft.com/office/powerpoint/2010/main" val="20357934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もくじ</a:t>
            </a:r>
          </a:p>
        </p:txBody>
      </p:sp>
      <p:sp>
        <p:nvSpPr>
          <p:cNvPr id="3" name="テキスト プレースホルダー 2"/>
          <p:cNvSpPr>
            <a:spLocks noGrp="1"/>
          </p:cNvSpPr>
          <p:nvPr>
            <p:ph type="body" sz="quarter" idx="10"/>
          </p:nvPr>
        </p:nvSpPr>
        <p:spPr/>
        <p:txBody>
          <a:bodyPr/>
          <a:lstStyle/>
          <a:p>
            <a:pPr marL="385200" indent="-457200">
              <a:buFont typeface="+mj-lt"/>
              <a:buAutoNum type="arabicPeriod"/>
            </a:pPr>
            <a:r>
              <a:rPr lang="ja-JP" altLang="en-US" b="1" dirty="0"/>
              <a:t>構造ハザード：ハード資源の不足に起因</a:t>
            </a:r>
            <a:endParaRPr lang="en-US" altLang="ja-JP" b="1" dirty="0"/>
          </a:p>
          <a:p>
            <a:pPr marL="745200" lvl="1" indent="-457200">
              <a:buFont typeface="+mj-lt"/>
              <a:buAutoNum type="arabicPeriod"/>
            </a:pPr>
            <a:r>
              <a:rPr lang="ja-JP" altLang="en-US" dirty="0"/>
              <a:t>構造ハザードとはなにか？</a:t>
            </a:r>
            <a:endParaRPr lang="en-US" altLang="ja-JP" dirty="0"/>
          </a:p>
          <a:p>
            <a:pPr marL="745200" lvl="1" indent="-457200">
              <a:buFont typeface="+mj-lt"/>
              <a:buAutoNum type="arabicPeriod"/>
            </a:pPr>
            <a:r>
              <a:rPr lang="ja-JP" altLang="en-US" dirty="0"/>
              <a:t>その解決方法</a:t>
            </a:r>
          </a:p>
          <a:p>
            <a:pPr marL="385200" indent="-457200">
              <a:buFont typeface="+mj-lt"/>
              <a:buAutoNum type="arabicPeriod"/>
            </a:pPr>
            <a:r>
              <a:rPr lang="ja-JP" altLang="en-US" dirty="0"/>
              <a:t>非構造ハザード：バックエッジに由来</a:t>
            </a:r>
            <a:endParaRPr lang="en-US" altLang="ja-JP"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dirty="0"/>
              <a:t>制御ハザード</a:t>
            </a:r>
            <a:endParaRPr lang="en-US" altLang="ja-JP" dirty="0"/>
          </a:p>
        </p:txBody>
      </p:sp>
    </p:spTree>
    <p:extLst>
      <p:ext uri="{BB962C8B-B14F-4D97-AF65-F5344CB8AC3E}">
        <p14:creationId xmlns:p14="http://schemas.microsoft.com/office/powerpoint/2010/main" val="21538736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2961AEFA-E157-0C29-796B-4579D0BB8AC8}"/>
              </a:ext>
            </a:extLst>
          </p:cNvPr>
          <p:cNvSpPr>
            <a:spLocks noGrp="1"/>
          </p:cNvSpPr>
          <p:nvPr>
            <p:ph type="title"/>
          </p:nvPr>
        </p:nvSpPr>
        <p:spPr/>
        <p:txBody>
          <a:bodyPr/>
          <a:lstStyle/>
          <a:p>
            <a:r>
              <a:rPr lang="ja-JP" altLang="en-US" dirty="0"/>
              <a:t>構造ハザード</a:t>
            </a:r>
            <a:endParaRPr lang="en-US" altLang="ja-JP" dirty="0"/>
          </a:p>
        </p:txBody>
      </p:sp>
    </p:spTree>
    <p:extLst>
      <p:ext uri="{BB962C8B-B14F-4D97-AF65-F5344CB8AC3E}">
        <p14:creationId xmlns:p14="http://schemas.microsoft.com/office/powerpoint/2010/main" val="2977355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a:t>
            </a:r>
          </a:p>
        </p:txBody>
      </p:sp>
      <p:sp>
        <p:nvSpPr>
          <p:cNvPr id="3" name="テキスト プレースホルダー 2"/>
          <p:cNvSpPr>
            <a:spLocks noGrp="1"/>
          </p:cNvSpPr>
          <p:nvPr>
            <p:ph type="body" sz="quarter" idx="10"/>
          </p:nvPr>
        </p:nvSpPr>
        <p:spPr/>
        <p:txBody>
          <a:bodyPr/>
          <a:lstStyle/>
          <a:p>
            <a:r>
              <a:rPr lang="ja-JP" altLang="en-US" dirty="0"/>
              <a:t>ハード資源の不足により，パイプラインがうまく動作しないこと</a:t>
            </a:r>
            <a:endParaRPr lang="en-US" altLang="ja-JP" dirty="0"/>
          </a:p>
          <a:p>
            <a:r>
              <a:rPr lang="ja-JP" altLang="en-US" dirty="0"/>
              <a:t>工場のラインの例を使って説明</a:t>
            </a:r>
            <a:endParaRPr lang="en-US" altLang="ja-JP" dirty="0"/>
          </a:p>
        </p:txBody>
      </p:sp>
    </p:spTree>
    <p:extLst>
      <p:ext uri="{BB962C8B-B14F-4D97-AF65-F5344CB8AC3E}">
        <p14:creationId xmlns:p14="http://schemas.microsoft.com/office/powerpoint/2010/main" val="26290530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2135956" y="3068996"/>
            <a:ext cx="2083200" cy="768085"/>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38" name="グループ化 37"/>
          <p:cNvGrpSpPr/>
          <p:nvPr/>
        </p:nvGrpSpPr>
        <p:grpSpPr>
          <a:xfrm>
            <a:off x="4056169" y="3068996"/>
            <a:ext cx="2083200" cy="768085"/>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2" name="グループ化 51"/>
          <p:cNvGrpSpPr/>
          <p:nvPr/>
        </p:nvGrpSpPr>
        <p:grpSpPr>
          <a:xfrm>
            <a:off x="5976383" y="3068996"/>
            <a:ext cx="2083200" cy="768085"/>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6" name="グループ化 55"/>
          <p:cNvGrpSpPr/>
          <p:nvPr/>
        </p:nvGrpSpPr>
        <p:grpSpPr>
          <a:xfrm>
            <a:off x="7896596" y="3068996"/>
            <a:ext cx="2112235" cy="768085"/>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sp>
        <p:nvSpPr>
          <p:cNvPr id="3" name="正方形/長方形 2"/>
          <p:cNvSpPr/>
          <p:nvPr/>
        </p:nvSpPr>
        <p:spPr>
          <a:xfrm>
            <a:off x="2085078" y="1916274"/>
            <a:ext cx="1154644" cy="984885"/>
          </a:xfrm>
          <a:prstGeom prst="rect">
            <a:avLst/>
          </a:prstGeom>
        </p:spPr>
        <p:txBody>
          <a:bodyPr wrap="none">
            <a:noAutofit/>
          </a:bodyPr>
          <a:lstStyle/>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ﾊｻﾐ</a:t>
            </a:r>
          </a:p>
          <a:p>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005291" y="1916274"/>
            <a:ext cx="1250655" cy="984885"/>
          </a:xfrm>
          <a:prstGeom prst="rect">
            <a:avLst/>
          </a:prstGeom>
        </p:spPr>
        <p:txBody>
          <a:bodyPr wrap="none">
            <a:noAutofit/>
          </a:bodyPr>
          <a:lstStyle/>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ﾊﾝﾏｰ</a:t>
            </a:r>
          </a:p>
          <a:p>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28021" y="1941054"/>
            <a:ext cx="1154644" cy="1272143"/>
          </a:xfrm>
          <a:prstGeom prst="rect">
            <a:avLst/>
          </a:prstGeom>
        </p:spPr>
        <p:txBody>
          <a:bodyPr wrap="none">
            <a:noAutofit/>
          </a:bodyPr>
          <a:lstStyle/>
          <a:p>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ｽﾊﾟﾅ</a:t>
            </a:r>
            <a:endPar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848234" y="1941052"/>
            <a:ext cx="1250655" cy="984885"/>
          </a:xfrm>
          <a:prstGeom prst="rect">
            <a:avLst/>
          </a:prstGeom>
        </p:spPr>
        <p:txBody>
          <a:bodyPr wrap="none">
            <a:noAutofit/>
          </a:bodyPr>
          <a:lstStyle/>
          <a:p>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 ﾊｺﾂﾞﾒ</a:t>
            </a:r>
          </a:p>
          <a:p>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工場のラインをまた考える</a:t>
            </a:r>
            <a:endParaRPr kumimoji="1" lang="ja-JP" altLang="en-US" dirty="0"/>
          </a:p>
        </p:txBody>
      </p:sp>
      <p:sp>
        <p:nvSpPr>
          <p:cNvPr id="58" name="コンテンツ プレースホルダー 57"/>
          <p:cNvSpPr>
            <a:spLocks noGrp="1"/>
          </p:cNvSpPr>
          <p:nvPr>
            <p:ph idx="4294967295"/>
          </p:nvPr>
        </p:nvSpPr>
        <p:spPr>
          <a:xfrm>
            <a:off x="1685951" y="4509012"/>
            <a:ext cx="10080112" cy="1825548"/>
          </a:xfrm>
          <a:prstGeom prst="rect">
            <a:avLst/>
          </a:prstGeom>
        </p:spPr>
        <p:txBody>
          <a:bodyPr/>
          <a:lstStyle/>
          <a:p>
            <a:r>
              <a:rPr lang="ja-JP" altLang="en-US" dirty="0">
                <a:solidFill>
                  <a:schemeClr val="tx1">
                    <a:lumMod val="85000"/>
                    <a:lumOff val="15000"/>
                  </a:schemeClr>
                </a:solidFill>
              </a:rPr>
              <a:t>各ステージの担当者は製品が流れるまでの間に一定の仕事ができる</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はさみで紙を１枚切る</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ハンマーで釘を１本打つ</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スパナでねじを１個しめる</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箱に製品を１つ入れる</a:t>
            </a:r>
            <a:endParaRPr lang="en-US" altLang="ja-JP" dirty="0">
              <a:solidFill>
                <a:schemeClr val="tx1">
                  <a:lumMod val="85000"/>
                  <a:lumOff val="15000"/>
                </a:schemeClr>
              </a:solidFill>
            </a:endParaRPr>
          </a:p>
        </p:txBody>
      </p:sp>
      <p:cxnSp>
        <p:nvCxnSpPr>
          <p:cNvPr id="67" name="直線矢印コネクタ 66"/>
          <p:cNvCxnSpPr/>
          <p:nvPr/>
        </p:nvCxnSpPr>
        <p:spPr bwMode="auto">
          <a:xfrm>
            <a:off x="2135956" y="4149009"/>
            <a:ext cx="7872875"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4" name="グループ化 3">
            <a:extLst>
              <a:ext uri="{FF2B5EF4-FFF2-40B4-BE49-F238E27FC236}">
                <a16:creationId xmlns:a16="http://schemas.microsoft.com/office/drawing/2014/main" id="{FF77882F-537F-C839-8754-7387D5D0B75D}"/>
              </a:ext>
            </a:extLst>
          </p:cNvPr>
          <p:cNvGrpSpPr/>
          <p:nvPr/>
        </p:nvGrpSpPr>
        <p:grpSpPr>
          <a:xfrm>
            <a:off x="-6864143" y="2828995"/>
            <a:ext cx="8640097" cy="480007"/>
            <a:chOff x="611956" y="3699003"/>
            <a:chExt cx="6480073" cy="360005"/>
          </a:xfrm>
        </p:grpSpPr>
        <p:sp>
          <p:nvSpPr>
            <p:cNvPr id="5" name="角丸四角形 89">
              <a:extLst>
                <a:ext uri="{FF2B5EF4-FFF2-40B4-BE49-F238E27FC236}">
                  <a16:creationId xmlns:a16="http://schemas.microsoft.com/office/drawing/2014/main" id="{E91DA3D8-2DD3-2DC0-EEC0-D466EB78F03A}"/>
                </a:ext>
              </a:extLst>
            </p:cNvPr>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8" name="角丸四角形 90">
              <a:extLst>
                <a:ext uri="{FF2B5EF4-FFF2-40B4-BE49-F238E27FC236}">
                  <a16:creationId xmlns:a16="http://schemas.microsoft.com/office/drawing/2014/main" id="{399B2BB3-EAE4-40A5-F43B-253A9357C53C}"/>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9" name="角丸四角形 91">
              <a:extLst>
                <a:ext uri="{FF2B5EF4-FFF2-40B4-BE49-F238E27FC236}">
                  <a16:creationId xmlns:a16="http://schemas.microsoft.com/office/drawing/2014/main" id="{CD942333-34EC-2DB6-7F7A-DE826A5208CA}"/>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0" name="角丸四角形 92">
              <a:extLst>
                <a:ext uri="{FF2B5EF4-FFF2-40B4-BE49-F238E27FC236}">
                  <a16:creationId xmlns:a16="http://schemas.microsoft.com/office/drawing/2014/main" id="{0B35F586-307D-82F6-81FE-B08F4D62EA36}"/>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1" name="角丸四角形 93">
              <a:extLst>
                <a:ext uri="{FF2B5EF4-FFF2-40B4-BE49-F238E27FC236}">
                  <a16:creationId xmlns:a16="http://schemas.microsoft.com/office/drawing/2014/main" id="{84ECC887-B444-6215-AFBD-6A7B1957223B}"/>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grpSp>
      <p:sp>
        <p:nvSpPr>
          <p:cNvPr id="12" name="正方形/長方形 11">
            <a:extLst>
              <a:ext uri="{FF2B5EF4-FFF2-40B4-BE49-F238E27FC236}">
                <a16:creationId xmlns:a16="http://schemas.microsoft.com/office/drawing/2014/main" id="{8D28C26A-E7E6-C201-2A31-76016504EE2C}"/>
              </a:ext>
            </a:extLst>
          </p:cNvPr>
          <p:cNvSpPr/>
          <p:nvPr/>
        </p:nvSpPr>
        <p:spPr bwMode="auto">
          <a:xfrm>
            <a:off x="-24644" y="2613127"/>
            <a:ext cx="2016224" cy="960107"/>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Tree>
    <p:extLst>
      <p:ext uri="{BB962C8B-B14F-4D97-AF65-F5344CB8AC3E}">
        <p14:creationId xmlns:p14="http://schemas.microsoft.com/office/powerpoint/2010/main" val="158717689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5.55556E-7 1.85185E-6 L 0.15764 1.85185E-6 " pathEditMode="relative" rAng="0" ptsTypes="AA">
                                      <p:cBhvr>
                                        <p:cTn id="6" dur="1000" fill="hold"/>
                                        <p:tgtEl>
                                          <p:spTgt spid="4"/>
                                        </p:tgtEl>
                                        <p:attrNameLst>
                                          <p:attrName>ppt_x</p:attrName>
                                          <p:attrName>ppt_y</p:attrName>
                                        </p:attrNameLst>
                                      </p:cBhvr>
                                      <p:rCtr x="7882"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grpId="0" nodeType="clickEffect">
                                  <p:stCondLst>
                                    <p:cond delay="0"/>
                                  </p:stCondLst>
                                  <p:childTnLst>
                                    <p:animRot by="120000">
                                      <p:cBhvr>
                                        <p:cTn id="10" dur="100" fill="hold">
                                          <p:stCondLst>
                                            <p:cond delay="0"/>
                                          </p:stCondLst>
                                        </p:cTn>
                                        <p:tgtEl>
                                          <p:spTgt spid="3"/>
                                        </p:tgtEl>
                                        <p:attrNameLst>
                                          <p:attrName>r</p:attrName>
                                        </p:attrNameLst>
                                      </p:cBhvr>
                                    </p:animRot>
                                    <p:animRot by="-240000">
                                      <p:cBhvr>
                                        <p:cTn id="11" dur="200" fill="hold">
                                          <p:stCondLst>
                                            <p:cond delay="200"/>
                                          </p:stCondLst>
                                        </p:cTn>
                                        <p:tgtEl>
                                          <p:spTgt spid="3"/>
                                        </p:tgtEl>
                                        <p:attrNameLst>
                                          <p:attrName>r</p:attrName>
                                        </p:attrNameLst>
                                      </p:cBhvr>
                                    </p:animRot>
                                    <p:animRot by="240000">
                                      <p:cBhvr>
                                        <p:cTn id="12" dur="200" fill="hold">
                                          <p:stCondLst>
                                            <p:cond delay="400"/>
                                          </p:stCondLst>
                                        </p:cTn>
                                        <p:tgtEl>
                                          <p:spTgt spid="3"/>
                                        </p:tgtEl>
                                        <p:attrNameLst>
                                          <p:attrName>r</p:attrName>
                                        </p:attrNameLst>
                                      </p:cBhvr>
                                    </p:animRot>
                                    <p:animRot by="-240000">
                                      <p:cBhvr>
                                        <p:cTn id="13" dur="200" fill="hold">
                                          <p:stCondLst>
                                            <p:cond delay="600"/>
                                          </p:stCondLst>
                                        </p:cTn>
                                        <p:tgtEl>
                                          <p:spTgt spid="3"/>
                                        </p:tgtEl>
                                        <p:attrNameLst>
                                          <p:attrName>r</p:attrName>
                                        </p:attrNameLst>
                                      </p:cBhvr>
                                    </p:animRot>
                                    <p:animRot by="120000">
                                      <p:cBhvr>
                                        <p:cTn id="14" dur="200" fill="hold">
                                          <p:stCondLst>
                                            <p:cond delay="800"/>
                                          </p:stCondLst>
                                        </p:cTn>
                                        <p:tgtEl>
                                          <p:spTgt spid="3"/>
                                        </p:tgtEl>
                                        <p:attrNameLst>
                                          <p:attrName>r</p:attrName>
                                        </p:attrNameLst>
                                      </p:cBhvr>
                                    </p:animRot>
                                  </p:childTnLst>
                                </p:cTn>
                              </p:par>
                              <p:par>
                                <p:cTn id="15" presetID="32" presetClass="emph" presetSubtype="0" fill="hold" grpId="0" nodeType="withEffect">
                                  <p:stCondLst>
                                    <p:cond delay="0"/>
                                  </p:stCondLst>
                                  <p:childTnLst>
                                    <p:animRot by="120000">
                                      <p:cBhvr>
                                        <p:cTn id="16" dur="100" fill="hold">
                                          <p:stCondLst>
                                            <p:cond delay="0"/>
                                          </p:stCondLst>
                                        </p:cTn>
                                        <p:tgtEl>
                                          <p:spTgt spid="36"/>
                                        </p:tgtEl>
                                        <p:attrNameLst>
                                          <p:attrName>r</p:attrName>
                                        </p:attrNameLst>
                                      </p:cBhvr>
                                    </p:animRot>
                                    <p:animRot by="-240000">
                                      <p:cBhvr>
                                        <p:cTn id="17" dur="200" fill="hold">
                                          <p:stCondLst>
                                            <p:cond delay="200"/>
                                          </p:stCondLst>
                                        </p:cTn>
                                        <p:tgtEl>
                                          <p:spTgt spid="36"/>
                                        </p:tgtEl>
                                        <p:attrNameLst>
                                          <p:attrName>r</p:attrName>
                                        </p:attrNameLst>
                                      </p:cBhvr>
                                    </p:animRot>
                                    <p:animRot by="240000">
                                      <p:cBhvr>
                                        <p:cTn id="18" dur="200" fill="hold">
                                          <p:stCondLst>
                                            <p:cond delay="400"/>
                                          </p:stCondLst>
                                        </p:cTn>
                                        <p:tgtEl>
                                          <p:spTgt spid="36"/>
                                        </p:tgtEl>
                                        <p:attrNameLst>
                                          <p:attrName>r</p:attrName>
                                        </p:attrNameLst>
                                      </p:cBhvr>
                                    </p:animRot>
                                    <p:animRot by="-240000">
                                      <p:cBhvr>
                                        <p:cTn id="19" dur="200" fill="hold">
                                          <p:stCondLst>
                                            <p:cond delay="600"/>
                                          </p:stCondLst>
                                        </p:cTn>
                                        <p:tgtEl>
                                          <p:spTgt spid="36"/>
                                        </p:tgtEl>
                                        <p:attrNameLst>
                                          <p:attrName>r</p:attrName>
                                        </p:attrNameLst>
                                      </p:cBhvr>
                                    </p:animRot>
                                    <p:animRot by="120000">
                                      <p:cBhvr>
                                        <p:cTn id="20" dur="200" fill="hold">
                                          <p:stCondLst>
                                            <p:cond delay="800"/>
                                          </p:stCondLst>
                                        </p:cTn>
                                        <p:tgtEl>
                                          <p:spTgt spid="36"/>
                                        </p:tgtEl>
                                        <p:attrNameLst>
                                          <p:attrName>r</p:attrName>
                                        </p:attrNameLst>
                                      </p:cBhvr>
                                    </p:animRot>
                                  </p:childTnLst>
                                </p:cTn>
                              </p:par>
                              <p:par>
                                <p:cTn id="21" presetID="32" presetClass="emph" presetSubtype="0" fill="hold" grpId="0" nodeType="withEffect">
                                  <p:stCondLst>
                                    <p:cond delay="0"/>
                                  </p:stCondLst>
                                  <p:childTnLst>
                                    <p:animRot by="120000">
                                      <p:cBhvr>
                                        <p:cTn id="22" dur="100" fill="hold">
                                          <p:stCondLst>
                                            <p:cond delay="0"/>
                                          </p:stCondLst>
                                        </p:cTn>
                                        <p:tgtEl>
                                          <p:spTgt spid="49"/>
                                        </p:tgtEl>
                                        <p:attrNameLst>
                                          <p:attrName>r</p:attrName>
                                        </p:attrNameLst>
                                      </p:cBhvr>
                                    </p:animRot>
                                    <p:animRot by="-240000">
                                      <p:cBhvr>
                                        <p:cTn id="23" dur="200" fill="hold">
                                          <p:stCondLst>
                                            <p:cond delay="200"/>
                                          </p:stCondLst>
                                        </p:cTn>
                                        <p:tgtEl>
                                          <p:spTgt spid="49"/>
                                        </p:tgtEl>
                                        <p:attrNameLst>
                                          <p:attrName>r</p:attrName>
                                        </p:attrNameLst>
                                      </p:cBhvr>
                                    </p:animRot>
                                    <p:animRot by="240000">
                                      <p:cBhvr>
                                        <p:cTn id="24" dur="200" fill="hold">
                                          <p:stCondLst>
                                            <p:cond delay="400"/>
                                          </p:stCondLst>
                                        </p:cTn>
                                        <p:tgtEl>
                                          <p:spTgt spid="49"/>
                                        </p:tgtEl>
                                        <p:attrNameLst>
                                          <p:attrName>r</p:attrName>
                                        </p:attrNameLst>
                                      </p:cBhvr>
                                    </p:animRot>
                                    <p:animRot by="-240000">
                                      <p:cBhvr>
                                        <p:cTn id="25" dur="200" fill="hold">
                                          <p:stCondLst>
                                            <p:cond delay="600"/>
                                          </p:stCondLst>
                                        </p:cTn>
                                        <p:tgtEl>
                                          <p:spTgt spid="49"/>
                                        </p:tgtEl>
                                        <p:attrNameLst>
                                          <p:attrName>r</p:attrName>
                                        </p:attrNameLst>
                                      </p:cBhvr>
                                    </p:animRot>
                                    <p:animRot by="120000">
                                      <p:cBhvr>
                                        <p:cTn id="26" dur="200" fill="hold">
                                          <p:stCondLst>
                                            <p:cond delay="800"/>
                                          </p:stCondLst>
                                        </p:cTn>
                                        <p:tgtEl>
                                          <p:spTgt spid="49"/>
                                        </p:tgtEl>
                                        <p:attrNameLst>
                                          <p:attrName>r</p:attrName>
                                        </p:attrNameLst>
                                      </p:cBhvr>
                                    </p:animRot>
                                  </p:childTnLst>
                                </p:cTn>
                              </p:par>
                              <p:par>
                                <p:cTn id="27" presetID="32" presetClass="emph" presetSubtype="0" fill="hold" grpId="0" nodeType="withEffect">
                                  <p:stCondLst>
                                    <p:cond delay="0"/>
                                  </p:stCondLst>
                                  <p:childTnLst>
                                    <p:animRot by="120000">
                                      <p:cBhvr>
                                        <p:cTn id="28" dur="100" fill="hold">
                                          <p:stCondLst>
                                            <p:cond delay="0"/>
                                          </p:stCondLst>
                                        </p:cTn>
                                        <p:tgtEl>
                                          <p:spTgt spid="55"/>
                                        </p:tgtEl>
                                        <p:attrNameLst>
                                          <p:attrName>r</p:attrName>
                                        </p:attrNameLst>
                                      </p:cBhvr>
                                    </p:animRot>
                                    <p:animRot by="-240000">
                                      <p:cBhvr>
                                        <p:cTn id="29" dur="200" fill="hold">
                                          <p:stCondLst>
                                            <p:cond delay="200"/>
                                          </p:stCondLst>
                                        </p:cTn>
                                        <p:tgtEl>
                                          <p:spTgt spid="55"/>
                                        </p:tgtEl>
                                        <p:attrNameLst>
                                          <p:attrName>r</p:attrName>
                                        </p:attrNameLst>
                                      </p:cBhvr>
                                    </p:animRot>
                                    <p:animRot by="240000">
                                      <p:cBhvr>
                                        <p:cTn id="30" dur="200" fill="hold">
                                          <p:stCondLst>
                                            <p:cond delay="400"/>
                                          </p:stCondLst>
                                        </p:cTn>
                                        <p:tgtEl>
                                          <p:spTgt spid="55"/>
                                        </p:tgtEl>
                                        <p:attrNameLst>
                                          <p:attrName>r</p:attrName>
                                        </p:attrNameLst>
                                      </p:cBhvr>
                                    </p:animRot>
                                    <p:animRot by="-240000">
                                      <p:cBhvr>
                                        <p:cTn id="31" dur="200" fill="hold">
                                          <p:stCondLst>
                                            <p:cond delay="600"/>
                                          </p:stCondLst>
                                        </p:cTn>
                                        <p:tgtEl>
                                          <p:spTgt spid="55"/>
                                        </p:tgtEl>
                                        <p:attrNameLst>
                                          <p:attrName>r</p:attrName>
                                        </p:attrNameLst>
                                      </p:cBhvr>
                                    </p:animRot>
                                    <p:animRot by="120000">
                                      <p:cBhvr>
                                        <p:cTn id="32" dur="200" fill="hold">
                                          <p:stCondLst>
                                            <p:cond delay="800"/>
                                          </p:stCondLst>
                                        </p:cTn>
                                        <p:tgtEl>
                                          <p:spTgt spid="55"/>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42" presetClass="path" presetSubtype="0" accel="50000" decel="50000" fill="hold" nodeType="clickEffect">
                                  <p:stCondLst>
                                    <p:cond delay="0"/>
                                  </p:stCondLst>
                                  <p:childTnLst>
                                    <p:animMotion origin="layout" path="M 0.15764 1.85185E-6 L 0.3151 1.85185E-6 " pathEditMode="relative" rAng="0" ptsTypes="AA">
                                      <p:cBhvr>
                                        <p:cTn id="36" dur="1000" fill="hold"/>
                                        <p:tgtEl>
                                          <p:spTgt spid="4"/>
                                        </p:tgtEl>
                                        <p:attrNameLst>
                                          <p:attrName>ppt_x</p:attrName>
                                          <p:attrName>ppt_y</p:attrName>
                                        </p:attrNameLst>
                                      </p:cBhvr>
                                      <p:rCtr x="7865" y="0"/>
                                    </p:animMotion>
                                  </p:childTnLst>
                                </p:cTn>
                              </p:par>
                            </p:childTnLst>
                          </p:cTn>
                        </p:par>
                      </p:childTnLst>
                    </p:cTn>
                  </p:par>
                  <p:par>
                    <p:cTn id="37" fill="hold">
                      <p:stCondLst>
                        <p:cond delay="indefinite"/>
                      </p:stCondLst>
                      <p:childTnLst>
                        <p:par>
                          <p:cTn id="38" fill="hold">
                            <p:stCondLst>
                              <p:cond delay="0"/>
                            </p:stCondLst>
                            <p:childTnLst>
                              <p:par>
                                <p:cTn id="39" presetID="32" presetClass="emph" presetSubtype="0" fill="hold" grpId="1" nodeType="clickEffect">
                                  <p:stCondLst>
                                    <p:cond delay="0"/>
                                  </p:stCondLst>
                                  <p:childTnLst>
                                    <p:animRot by="120000">
                                      <p:cBhvr>
                                        <p:cTn id="40" dur="100" fill="hold">
                                          <p:stCondLst>
                                            <p:cond delay="0"/>
                                          </p:stCondLst>
                                        </p:cTn>
                                        <p:tgtEl>
                                          <p:spTgt spid="3"/>
                                        </p:tgtEl>
                                        <p:attrNameLst>
                                          <p:attrName>r</p:attrName>
                                        </p:attrNameLst>
                                      </p:cBhvr>
                                    </p:animRot>
                                    <p:animRot by="-240000">
                                      <p:cBhvr>
                                        <p:cTn id="41" dur="200" fill="hold">
                                          <p:stCondLst>
                                            <p:cond delay="200"/>
                                          </p:stCondLst>
                                        </p:cTn>
                                        <p:tgtEl>
                                          <p:spTgt spid="3"/>
                                        </p:tgtEl>
                                        <p:attrNameLst>
                                          <p:attrName>r</p:attrName>
                                        </p:attrNameLst>
                                      </p:cBhvr>
                                    </p:animRot>
                                    <p:animRot by="240000">
                                      <p:cBhvr>
                                        <p:cTn id="42" dur="200" fill="hold">
                                          <p:stCondLst>
                                            <p:cond delay="400"/>
                                          </p:stCondLst>
                                        </p:cTn>
                                        <p:tgtEl>
                                          <p:spTgt spid="3"/>
                                        </p:tgtEl>
                                        <p:attrNameLst>
                                          <p:attrName>r</p:attrName>
                                        </p:attrNameLst>
                                      </p:cBhvr>
                                    </p:animRot>
                                    <p:animRot by="-240000">
                                      <p:cBhvr>
                                        <p:cTn id="43" dur="200" fill="hold">
                                          <p:stCondLst>
                                            <p:cond delay="600"/>
                                          </p:stCondLst>
                                        </p:cTn>
                                        <p:tgtEl>
                                          <p:spTgt spid="3"/>
                                        </p:tgtEl>
                                        <p:attrNameLst>
                                          <p:attrName>r</p:attrName>
                                        </p:attrNameLst>
                                      </p:cBhvr>
                                    </p:animRot>
                                    <p:animRot by="120000">
                                      <p:cBhvr>
                                        <p:cTn id="44" dur="200" fill="hold">
                                          <p:stCondLst>
                                            <p:cond delay="800"/>
                                          </p:stCondLst>
                                        </p:cTn>
                                        <p:tgtEl>
                                          <p:spTgt spid="3"/>
                                        </p:tgtEl>
                                        <p:attrNameLst>
                                          <p:attrName>r</p:attrName>
                                        </p:attrNameLst>
                                      </p:cBhvr>
                                    </p:animRot>
                                  </p:childTnLst>
                                </p:cTn>
                              </p:par>
                              <p:par>
                                <p:cTn id="45" presetID="32" presetClass="emph" presetSubtype="0" fill="hold" grpId="1" nodeType="withEffect">
                                  <p:stCondLst>
                                    <p:cond delay="0"/>
                                  </p:stCondLst>
                                  <p:childTnLst>
                                    <p:animRot by="120000">
                                      <p:cBhvr>
                                        <p:cTn id="46" dur="100" fill="hold">
                                          <p:stCondLst>
                                            <p:cond delay="0"/>
                                          </p:stCondLst>
                                        </p:cTn>
                                        <p:tgtEl>
                                          <p:spTgt spid="36"/>
                                        </p:tgtEl>
                                        <p:attrNameLst>
                                          <p:attrName>r</p:attrName>
                                        </p:attrNameLst>
                                      </p:cBhvr>
                                    </p:animRot>
                                    <p:animRot by="-240000">
                                      <p:cBhvr>
                                        <p:cTn id="47" dur="200" fill="hold">
                                          <p:stCondLst>
                                            <p:cond delay="200"/>
                                          </p:stCondLst>
                                        </p:cTn>
                                        <p:tgtEl>
                                          <p:spTgt spid="36"/>
                                        </p:tgtEl>
                                        <p:attrNameLst>
                                          <p:attrName>r</p:attrName>
                                        </p:attrNameLst>
                                      </p:cBhvr>
                                    </p:animRot>
                                    <p:animRot by="240000">
                                      <p:cBhvr>
                                        <p:cTn id="48" dur="200" fill="hold">
                                          <p:stCondLst>
                                            <p:cond delay="400"/>
                                          </p:stCondLst>
                                        </p:cTn>
                                        <p:tgtEl>
                                          <p:spTgt spid="36"/>
                                        </p:tgtEl>
                                        <p:attrNameLst>
                                          <p:attrName>r</p:attrName>
                                        </p:attrNameLst>
                                      </p:cBhvr>
                                    </p:animRot>
                                    <p:animRot by="-240000">
                                      <p:cBhvr>
                                        <p:cTn id="49" dur="200" fill="hold">
                                          <p:stCondLst>
                                            <p:cond delay="600"/>
                                          </p:stCondLst>
                                        </p:cTn>
                                        <p:tgtEl>
                                          <p:spTgt spid="36"/>
                                        </p:tgtEl>
                                        <p:attrNameLst>
                                          <p:attrName>r</p:attrName>
                                        </p:attrNameLst>
                                      </p:cBhvr>
                                    </p:animRot>
                                    <p:animRot by="120000">
                                      <p:cBhvr>
                                        <p:cTn id="50" dur="200" fill="hold">
                                          <p:stCondLst>
                                            <p:cond delay="800"/>
                                          </p:stCondLst>
                                        </p:cTn>
                                        <p:tgtEl>
                                          <p:spTgt spid="36"/>
                                        </p:tgtEl>
                                        <p:attrNameLst>
                                          <p:attrName>r</p:attrName>
                                        </p:attrNameLst>
                                      </p:cBhvr>
                                    </p:animRot>
                                  </p:childTnLst>
                                </p:cTn>
                              </p:par>
                              <p:par>
                                <p:cTn id="51" presetID="32" presetClass="emph" presetSubtype="0" fill="hold" grpId="1" nodeType="withEffect">
                                  <p:stCondLst>
                                    <p:cond delay="0"/>
                                  </p:stCondLst>
                                  <p:childTnLst>
                                    <p:animRot by="120000">
                                      <p:cBhvr>
                                        <p:cTn id="52" dur="100" fill="hold">
                                          <p:stCondLst>
                                            <p:cond delay="0"/>
                                          </p:stCondLst>
                                        </p:cTn>
                                        <p:tgtEl>
                                          <p:spTgt spid="49"/>
                                        </p:tgtEl>
                                        <p:attrNameLst>
                                          <p:attrName>r</p:attrName>
                                        </p:attrNameLst>
                                      </p:cBhvr>
                                    </p:animRot>
                                    <p:animRot by="-240000">
                                      <p:cBhvr>
                                        <p:cTn id="53" dur="200" fill="hold">
                                          <p:stCondLst>
                                            <p:cond delay="200"/>
                                          </p:stCondLst>
                                        </p:cTn>
                                        <p:tgtEl>
                                          <p:spTgt spid="49"/>
                                        </p:tgtEl>
                                        <p:attrNameLst>
                                          <p:attrName>r</p:attrName>
                                        </p:attrNameLst>
                                      </p:cBhvr>
                                    </p:animRot>
                                    <p:animRot by="240000">
                                      <p:cBhvr>
                                        <p:cTn id="54" dur="200" fill="hold">
                                          <p:stCondLst>
                                            <p:cond delay="400"/>
                                          </p:stCondLst>
                                        </p:cTn>
                                        <p:tgtEl>
                                          <p:spTgt spid="49"/>
                                        </p:tgtEl>
                                        <p:attrNameLst>
                                          <p:attrName>r</p:attrName>
                                        </p:attrNameLst>
                                      </p:cBhvr>
                                    </p:animRot>
                                    <p:animRot by="-240000">
                                      <p:cBhvr>
                                        <p:cTn id="55" dur="200" fill="hold">
                                          <p:stCondLst>
                                            <p:cond delay="600"/>
                                          </p:stCondLst>
                                        </p:cTn>
                                        <p:tgtEl>
                                          <p:spTgt spid="49"/>
                                        </p:tgtEl>
                                        <p:attrNameLst>
                                          <p:attrName>r</p:attrName>
                                        </p:attrNameLst>
                                      </p:cBhvr>
                                    </p:animRot>
                                    <p:animRot by="120000">
                                      <p:cBhvr>
                                        <p:cTn id="56" dur="200" fill="hold">
                                          <p:stCondLst>
                                            <p:cond delay="800"/>
                                          </p:stCondLst>
                                        </p:cTn>
                                        <p:tgtEl>
                                          <p:spTgt spid="49"/>
                                        </p:tgtEl>
                                        <p:attrNameLst>
                                          <p:attrName>r</p:attrName>
                                        </p:attrNameLst>
                                      </p:cBhvr>
                                    </p:animRot>
                                  </p:childTnLst>
                                </p:cTn>
                              </p:par>
                              <p:par>
                                <p:cTn id="57" presetID="32" presetClass="emph" presetSubtype="0" fill="hold" grpId="1" nodeType="withEffect">
                                  <p:stCondLst>
                                    <p:cond delay="0"/>
                                  </p:stCondLst>
                                  <p:childTnLst>
                                    <p:animRot by="120000">
                                      <p:cBhvr>
                                        <p:cTn id="58" dur="100" fill="hold">
                                          <p:stCondLst>
                                            <p:cond delay="0"/>
                                          </p:stCondLst>
                                        </p:cTn>
                                        <p:tgtEl>
                                          <p:spTgt spid="55"/>
                                        </p:tgtEl>
                                        <p:attrNameLst>
                                          <p:attrName>r</p:attrName>
                                        </p:attrNameLst>
                                      </p:cBhvr>
                                    </p:animRot>
                                    <p:animRot by="-240000">
                                      <p:cBhvr>
                                        <p:cTn id="59" dur="200" fill="hold">
                                          <p:stCondLst>
                                            <p:cond delay="200"/>
                                          </p:stCondLst>
                                        </p:cTn>
                                        <p:tgtEl>
                                          <p:spTgt spid="55"/>
                                        </p:tgtEl>
                                        <p:attrNameLst>
                                          <p:attrName>r</p:attrName>
                                        </p:attrNameLst>
                                      </p:cBhvr>
                                    </p:animRot>
                                    <p:animRot by="240000">
                                      <p:cBhvr>
                                        <p:cTn id="60" dur="200" fill="hold">
                                          <p:stCondLst>
                                            <p:cond delay="400"/>
                                          </p:stCondLst>
                                        </p:cTn>
                                        <p:tgtEl>
                                          <p:spTgt spid="55"/>
                                        </p:tgtEl>
                                        <p:attrNameLst>
                                          <p:attrName>r</p:attrName>
                                        </p:attrNameLst>
                                      </p:cBhvr>
                                    </p:animRot>
                                    <p:animRot by="-240000">
                                      <p:cBhvr>
                                        <p:cTn id="61" dur="200" fill="hold">
                                          <p:stCondLst>
                                            <p:cond delay="600"/>
                                          </p:stCondLst>
                                        </p:cTn>
                                        <p:tgtEl>
                                          <p:spTgt spid="55"/>
                                        </p:tgtEl>
                                        <p:attrNameLst>
                                          <p:attrName>r</p:attrName>
                                        </p:attrNameLst>
                                      </p:cBhvr>
                                    </p:animRot>
                                    <p:animRot by="120000">
                                      <p:cBhvr>
                                        <p:cTn id="62" dur="200" fill="hold">
                                          <p:stCondLst>
                                            <p:cond delay="800"/>
                                          </p:stCondLst>
                                        </p:cTn>
                                        <p:tgtEl>
                                          <p:spTgt spid="55"/>
                                        </p:tgtEl>
                                        <p:attrNameLst>
                                          <p:attrName>r</p:attrName>
                                        </p:attrNameLst>
                                      </p:cBhvr>
                                    </p:animRot>
                                  </p:childTnLst>
                                </p:cTn>
                              </p:par>
                            </p:childTnLst>
                          </p:cTn>
                        </p:par>
                      </p:childTnLst>
                    </p:cTn>
                  </p:par>
                  <p:par>
                    <p:cTn id="63" fill="hold">
                      <p:stCondLst>
                        <p:cond delay="indefinite"/>
                      </p:stCondLst>
                      <p:childTnLst>
                        <p:par>
                          <p:cTn id="64" fill="hold">
                            <p:stCondLst>
                              <p:cond delay="0"/>
                            </p:stCondLst>
                            <p:childTnLst>
                              <p:par>
                                <p:cTn id="65" presetID="42" presetClass="path" presetSubtype="0" accel="50000" decel="50000" fill="hold" nodeType="clickEffect">
                                  <p:stCondLst>
                                    <p:cond delay="0"/>
                                  </p:stCondLst>
                                  <p:childTnLst>
                                    <p:animMotion origin="layout" path="M 0.3151 1.85185E-6 L 0.4724 1.85185E-6 " pathEditMode="relative" rAng="0" ptsTypes="AA">
                                      <p:cBhvr>
                                        <p:cTn id="66" dur="1000" fill="hold"/>
                                        <p:tgtEl>
                                          <p:spTgt spid="4"/>
                                        </p:tgtEl>
                                        <p:attrNameLst>
                                          <p:attrName>ppt_x</p:attrName>
                                          <p:attrName>ppt_y</p:attrName>
                                        </p:attrNameLst>
                                      </p:cBhvr>
                                      <p:rCtr x="7865" y="0"/>
                                    </p:animMotion>
                                  </p:childTnLst>
                                </p:cTn>
                              </p:par>
                            </p:childTnLst>
                          </p:cTn>
                        </p:par>
                      </p:childTnLst>
                    </p:cTn>
                  </p:par>
                  <p:par>
                    <p:cTn id="67" fill="hold">
                      <p:stCondLst>
                        <p:cond delay="indefinite"/>
                      </p:stCondLst>
                      <p:childTnLst>
                        <p:par>
                          <p:cTn id="68" fill="hold">
                            <p:stCondLst>
                              <p:cond delay="0"/>
                            </p:stCondLst>
                            <p:childTnLst>
                              <p:par>
                                <p:cTn id="69" presetID="32" presetClass="emph" presetSubtype="0" fill="hold" grpId="2" nodeType="clickEffect">
                                  <p:stCondLst>
                                    <p:cond delay="0"/>
                                  </p:stCondLst>
                                  <p:childTnLst>
                                    <p:animRot by="120000">
                                      <p:cBhvr>
                                        <p:cTn id="70" dur="100" fill="hold">
                                          <p:stCondLst>
                                            <p:cond delay="0"/>
                                          </p:stCondLst>
                                        </p:cTn>
                                        <p:tgtEl>
                                          <p:spTgt spid="3"/>
                                        </p:tgtEl>
                                        <p:attrNameLst>
                                          <p:attrName>r</p:attrName>
                                        </p:attrNameLst>
                                      </p:cBhvr>
                                    </p:animRot>
                                    <p:animRot by="-240000">
                                      <p:cBhvr>
                                        <p:cTn id="71" dur="200" fill="hold">
                                          <p:stCondLst>
                                            <p:cond delay="200"/>
                                          </p:stCondLst>
                                        </p:cTn>
                                        <p:tgtEl>
                                          <p:spTgt spid="3"/>
                                        </p:tgtEl>
                                        <p:attrNameLst>
                                          <p:attrName>r</p:attrName>
                                        </p:attrNameLst>
                                      </p:cBhvr>
                                    </p:animRot>
                                    <p:animRot by="240000">
                                      <p:cBhvr>
                                        <p:cTn id="72" dur="200" fill="hold">
                                          <p:stCondLst>
                                            <p:cond delay="400"/>
                                          </p:stCondLst>
                                        </p:cTn>
                                        <p:tgtEl>
                                          <p:spTgt spid="3"/>
                                        </p:tgtEl>
                                        <p:attrNameLst>
                                          <p:attrName>r</p:attrName>
                                        </p:attrNameLst>
                                      </p:cBhvr>
                                    </p:animRot>
                                    <p:animRot by="-240000">
                                      <p:cBhvr>
                                        <p:cTn id="73" dur="200" fill="hold">
                                          <p:stCondLst>
                                            <p:cond delay="600"/>
                                          </p:stCondLst>
                                        </p:cTn>
                                        <p:tgtEl>
                                          <p:spTgt spid="3"/>
                                        </p:tgtEl>
                                        <p:attrNameLst>
                                          <p:attrName>r</p:attrName>
                                        </p:attrNameLst>
                                      </p:cBhvr>
                                    </p:animRot>
                                    <p:animRot by="120000">
                                      <p:cBhvr>
                                        <p:cTn id="74" dur="200" fill="hold">
                                          <p:stCondLst>
                                            <p:cond delay="800"/>
                                          </p:stCondLst>
                                        </p:cTn>
                                        <p:tgtEl>
                                          <p:spTgt spid="3"/>
                                        </p:tgtEl>
                                        <p:attrNameLst>
                                          <p:attrName>r</p:attrName>
                                        </p:attrNameLst>
                                      </p:cBhvr>
                                    </p:animRot>
                                  </p:childTnLst>
                                </p:cTn>
                              </p:par>
                              <p:par>
                                <p:cTn id="75" presetID="32" presetClass="emph" presetSubtype="0" fill="hold" grpId="2" nodeType="withEffect">
                                  <p:stCondLst>
                                    <p:cond delay="0"/>
                                  </p:stCondLst>
                                  <p:childTnLst>
                                    <p:animRot by="120000">
                                      <p:cBhvr>
                                        <p:cTn id="76" dur="100" fill="hold">
                                          <p:stCondLst>
                                            <p:cond delay="0"/>
                                          </p:stCondLst>
                                        </p:cTn>
                                        <p:tgtEl>
                                          <p:spTgt spid="36"/>
                                        </p:tgtEl>
                                        <p:attrNameLst>
                                          <p:attrName>r</p:attrName>
                                        </p:attrNameLst>
                                      </p:cBhvr>
                                    </p:animRot>
                                    <p:animRot by="-240000">
                                      <p:cBhvr>
                                        <p:cTn id="77" dur="200" fill="hold">
                                          <p:stCondLst>
                                            <p:cond delay="200"/>
                                          </p:stCondLst>
                                        </p:cTn>
                                        <p:tgtEl>
                                          <p:spTgt spid="36"/>
                                        </p:tgtEl>
                                        <p:attrNameLst>
                                          <p:attrName>r</p:attrName>
                                        </p:attrNameLst>
                                      </p:cBhvr>
                                    </p:animRot>
                                    <p:animRot by="240000">
                                      <p:cBhvr>
                                        <p:cTn id="78" dur="200" fill="hold">
                                          <p:stCondLst>
                                            <p:cond delay="400"/>
                                          </p:stCondLst>
                                        </p:cTn>
                                        <p:tgtEl>
                                          <p:spTgt spid="36"/>
                                        </p:tgtEl>
                                        <p:attrNameLst>
                                          <p:attrName>r</p:attrName>
                                        </p:attrNameLst>
                                      </p:cBhvr>
                                    </p:animRot>
                                    <p:animRot by="-240000">
                                      <p:cBhvr>
                                        <p:cTn id="79" dur="200" fill="hold">
                                          <p:stCondLst>
                                            <p:cond delay="600"/>
                                          </p:stCondLst>
                                        </p:cTn>
                                        <p:tgtEl>
                                          <p:spTgt spid="36"/>
                                        </p:tgtEl>
                                        <p:attrNameLst>
                                          <p:attrName>r</p:attrName>
                                        </p:attrNameLst>
                                      </p:cBhvr>
                                    </p:animRot>
                                    <p:animRot by="120000">
                                      <p:cBhvr>
                                        <p:cTn id="80" dur="200" fill="hold">
                                          <p:stCondLst>
                                            <p:cond delay="800"/>
                                          </p:stCondLst>
                                        </p:cTn>
                                        <p:tgtEl>
                                          <p:spTgt spid="36"/>
                                        </p:tgtEl>
                                        <p:attrNameLst>
                                          <p:attrName>r</p:attrName>
                                        </p:attrNameLst>
                                      </p:cBhvr>
                                    </p:animRot>
                                  </p:childTnLst>
                                </p:cTn>
                              </p:par>
                              <p:par>
                                <p:cTn id="81" presetID="32" presetClass="emph" presetSubtype="0" fill="hold" grpId="2" nodeType="withEffect">
                                  <p:stCondLst>
                                    <p:cond delay="0"/>
                                  </p:stCondLst>
                                  <p:childTnLst>
                                    <p:animRot by="120000">
                                      <p:cBhvr>
                                        <p:cTn id="82" dur="100" fill="hold">
                                          <p:stCondLst>
                                            <p:cond delay="0"/>
                                          </p:stCondLst>
                                        </p:cTn>
                                        <p:tgtEl>
                                          <p:spTgt spid="49"/>
                                        </p:tgtEl>
                                        <p:attrNameLst>
                                          <p:attrName>r</p:attrName>
                                        </p:attrNameLst>
                                      </p:cBhvr>
                                    </p:animRot>
                                    <p:animRot by="-240000">
                                      <p:cBhvr>
                                        <p:cTn id="83" dur="200" fill="hold">
                                          <p:stCondLst>
                                            <p:cond delay="200"/>
                                          </p:stCondLst>
                                        </p:cTn>
                                        <p:tgtEl>
                                          <p:spTgt spid="49"/>
                                        </p:tgtEl>
                                        <p:attrNameLst>
                                          <p:attrName>r</p:attrName>
                                        </p:attrNameLst>
                                      </p:cBhvr>
                                    </p:animRot>
                                    <p:animRot by="240000">
                                      <p:cBhvr>
                                        <p:cTn id="84" dur="200" fill="hold">
                                          <p:stCondLst>
                                            <p:cond delay="400"/>
                                          </p:stCondLst>
                                        </p:cTn>
                                        <p:tgtEl>
                                          <p:spTgt spid="49"/>
                                        </p:tgtEl>
                                        <p:attrNameLst>
                                          <p:attrName>r</p:attrName>
                                        </p:attrNameLst>
                                      </p:cBhvr>
                                    </p:animRot>
                                    <p:animRot by="-240000">
                                      <p:cBhvr>
                                        <p:cTn id="85" dur="200" fill="hold">
                                          <p:stCondLst>
                                            <p:cond delay="600"/>
                                          </p:stCondLst>
                                        </p:cTn>
                                        <p:tgtEl>
                                          <p:spTgt spid="49"/>
                                        </p:tgtEl>
                                        <p:attrNameLst>
                                          <p:attrName>r</p:attrName>
                                        </p:attrNameLst>
                                      </p:cBhvr>
                                    </p:animRot>
                                    <p:animRot by="120000">
                                      <p:cBhvr>
                                        <p:cTn id="86" dur="200" fill="hold">
                                          <p:stCondLst>
                                            <p:cond delay="800"/>
                                          </p:stCondLst>
                                        </p:cTn>
                                        <p:tgtEl>
                                          <p:spTgt spid="49"/>
                                        </p:tgtEl>
                                        <p:attrNameLst>
                                          <p:attrName>r</p:attrName>
                                        </p:attrNameLst>
                                      </p:cBhvr>
                                    </p:animRot>
                                  </p:childTnLst>
                                </p:cTn>
                              </p:par>
                              <p:par>
                                <p:cTn id="87" presetID="32" presetClass="emph" presetSubtype="0" fill="hold" grpId="2" nodeType="withEffect">
                                  <p:stCondLst>
                                    <p:cond delay="0"/>
                                  </p:stCondLst>
                                  <p:childTnLst>
                                    <p:animRot by="120000">
                                      <p:cBhvr>
                                        <p:cTn id="88" dur="100" fill="hold">
                                          <p:stCondLst>
                                            <p:cond delay="0"/>
                                          </p:stCondLst>
                                        </p:cTn>
                                        <p:tgtEl>
                                          <p:spTgt spid="55"/>
                                        </p:tgtEl>
                                        <p:attrNameLst>
                                          <p:attrName>r</p:attrName>
                                        </p:attrNameLst>
                                      </p:cBhvr>
                                    </p:animRot>
                                    <p:animRot by="-240000">
                                      <p:cBhvr>
                                        <p:cTn id="89" dur="200" fill="hold">
                                          <p:stCondLst>
                                            <p:cond delay="200"/>
                                          </p:stCondLst>
                                        </p:cTn>
                                        <p:tgtEl>
                                          <p:spTgt spid="55"/>
                                        </p:tgtEl>
                                        <p:attrNameLst>
                                          <p:attrName>r</p:attrName>
                                        </p:attrNameLst>
                                      </p:cBhvr>
                                    </p:animRot>
                                    <p:animRot by="240000">
                                      <p:cBhvr>
                                        <p:cTn id="90" dur="200" fill="hold">
                                          <p:stCondLst>
                                            <p:cond delay="400"/>
                                          </p:stCondLst>
                                        </p:cTn>
                                        <p:tgtEl>
                                          <p:spTgt spid="55"/>
                                        </p:tgtEl>
                                        <p:attrNameLst>
                                          <p:attrName>r</p:attrName>
                                        </p:attrNameLst>
                                      </p:cBhvr>
                                    </p:animRot>
                                    <p:animRot by="-240000">
                                      <p:cBhvr>
                                        <p:cTn id="91" dur="200" fill="hold">
                                          <p:stCondLst>
                                            <p:cond delay="600"/>
                                          </p:stCondLst>
                                        </p:cTn>
                                        <p:tgtEl>
                                          <p:spTgt spid="55"/>
                                        </p:tgtEl>
                                        <p:attrNameLst>
                                          <p:attrName>r</p:attrName>
                                        </p:attrNameLst>
                                      </p:cBhvr>
                                    </p:animRot>
                                    <p:animRot by="120000">
                                      <p:cBhvr>
                                        <p:cTn id="92" dur="200" fill="hold">
                                          <p:stCondLst>
                                            <p:cond delay="800"/>
                                          </p:stCondLst>
                                        </p:cTn>
                                        <p:tgtEl>
                                          <p:spTgt spid="55"/>
                                        </p:tgtEl>
                                        <p:attrNameLst>
                                          <p:attrName>r</p:attrName>
                                        </p:attrNameLst>
                                      </p:cBhvr>
                                    </p:animRot>
                                  </p:childTnLst>
                                </p:cTn>
                              </p:par>
                            </p:childTnLst>
                          </p:cTn>
                        </p:par>
                      </p:childTnLst>
                    </p:cTn>
                  </p:par>
                  <p:par>
                    <p:cTn id="93" fill="hold">
                      <p:stCondLst>
                        <p:cond delay="indefinite"/>
                      </p:stCondLst>
                      <p:childTnLst>
                        <p:par>
                          <p:cTn id="94" fill="hold">
                            <p:stCondLst>
                              <p:cond delay="0"/>
                            </p:stCondLst>
                            <p:childTnLst>
                              <p:par>
                                <p:cTn id="95" presetID="42" presetClass="path" presetSubtype="0" accel="50000" decel="50000" fill="hold" nodeType="clickEffect">
                                  <p:stCondLst>
                                    <p:cond delay="0"/>
                                  </p:stCondLst>
                                  <p:childTnLst>
                                    <p:animMotion origin="layout" path="M 0.4724 1.85185E-6 L 0.62986 1.85185E-6 " pathEditMode="relative" rAng="0" ptsTypes="AA">
                                      <p:cBhvr>
                                        <p:cTn id="96" dur="1000" fill="hold"/>
                                        <p:tgtEl>
                                          <p:spTgt spid="4"/>
                                        </p:tgtEl>
                                        <p:attrNameLst>
                                          <p:attrName>ppt_x</p:attrName>
                                          <p:attrName>ppt_y</p:attrName>
                                        </p:attrNameLst>
                                      </p:cBhvr>
                                      <p:rCtr x="7865" y="0"/>
                                    </p:animMotion>
                                  </p:childTnLst>
                                </p:cTn>
                              </p:par>
                            </p:childTnLst>
                          </p:cTn>
                        </p:par>
                      </p:childTnLst>
                    </p:cTn>
                  </p:par>
                  <p:par>
                    <p:cTn id="97" fill="hold">
                      <p:stCondLst>
                        <p:cond delay="indefinite"/>
                      </p:stCondLst>
                      <p:childTnLst>
                        <p:par>
                          <p:cTn id="98" fill="hold">
                            <p:stCondLst>
                              <p:cond delay="0"/>
                            </p:stCondLst>
                            <p:childTnLst>
                              <p:par>
                                <p:cTn id="99" presetID="32" presetClass="emph" presetSubtype="0" fill="hold" grpId="3" nodeType="clickEffect">
                                  <p:stCondLst>
                                    <p:cond delay="0"/>
                                  </p:stCondLst>
                                  <p:childTnLst>
                                    <p:animRot by="120000">
                                      <p:cBhvr>
                                        <p:cTn id="100" dur="100" fill="hold">
                                          <p:stCondLst>
                                            <p:cond delay="0"/>
                                          </p:stCondLst>
                                        </p:cTn>
                                        <p:tgtEl>
                                          <p:spTgt spid="3"/>
                                        </p:tgtEl>
                                        <p:attrNameLst>
                                          <p:attrName>r</p:attrName>
                                        </p:attrNameLst>
                                      </p:cBhvr>
                                    </p:animRot>
                                    <p:animRot by="-240000">
                                      <p:cBhvr>
                                        <p:cTn id="101" dur="200" fill="hold">
                                          <p:stCondLst>
                                            <p:cond delay="200"/>
                                          </p:stCondLst>
                                        </p:cTn>
                                        <p:tgtEl>
                                          <p:spTgt spid="3"/>
                                        </p:tgtEl>
                                        <p:attrNameLst>
                                          <p:attrName>r</p:attrName>
                                        </p:attrNameLst>
                                      </p:cBhvr>
                                    </p:animRot>
                                    <p:animRot by="240000">
                                      <p:cBhvr>
                                        <p:cTn id="102" dur="200" fill="hold">
                                          <p:stCondLst>
                                            <p:cond delay="400"/>
                                          </p:stCondLst>
                                        </p:cTn>
                                        <p:tgtEl>
                                          <p:spTgt spid="3"/>
                                        </p:tgtEl>
                                        <p:attrNameLst>
                                          <p:attrName>r</p:attrName>
                                        </p:attrNameLst>
                                      </p:cBhvr>
                                    </p:animRot>
                                    <p:animRot by="-240000">
                                      <p:cBhvr>
                                        <p:cTn id="103" dur="200" fill="hold">
                                          <p:stCondLst>
                                            <p:cond delay="600"/>
                                          </p:stCondLst>
                                        </p:cTn>
                                        <p:tgtEl>
                                          <p:spTgt spid="3"/>
                                        </p:tgtEl>
                                        <p:attrNameLst>
                                          <p:attrName>r</p:attrName>
                                        </p:attrNameLst>
                                      </p:cBhvr>
                                    </p:animRot>
                                    <p:animRot by="120000">
                                      <p:cBhvr>
                                        <p:cTn id="104" dur="200" fill="hold">
                                          <p:stCondLst>
                                            <p:cond delay="800"/>
                                          </p:stCondLst>
                                        </p:cTn>
                                        <p:tgtEl>
                                          <p:spTgt spid="3"/>
                                        </p:tgtEl>
                                        <p:attrNameLst>
                                          <p:attrName>r</p:attrName>
                                        </p:attrNameLst>
                                      </p:cBhvr>
                                    </p:animRot>
                                  </p:childTnLst>
                                </p:cTn>
                              </p:par>
                              <p:par>
                                <p:cTn id="105" presetID="32" presetClass="emph" presetSubtype="0" fill="hold" grpId="3" nodeType="withEffect">
                                  <p:stCondLst>
                                    <p:cond delay="0"/>
                                  </p:stCondLst>
                                  <p:childTnLst>
                                    <p:animRot by="120000">
                                      <p:cBhvr>
                                        <p:cTn id="106" dur="100" fill="hold">
                                          <p:stCondLst>
                                            <p:cond delay="0"/>
                                          </p:stCondLst>
                                        </p:cTn>
                                        <p:tgtEl>
                                          <p:spTgt spid="36"/>
                                        </p:tgtEl>
                                        <p:attrNameLst>
                                          <p:attrName>r</p:attrName>
                                        </p:attrNameLst>
                                      </p:cBhvr>
                                    </p:animRot>
                                    <p:animRot by="-240000">
                                      <p:cBhvr>
                                        <p:cTn id="107" dur="200" fill="hold">
                                          <p:stCondLst>
                                            <p:cond delay="200"/>
                                          </p:stCondLst>
                                        </p:cTn>
                                        <p:tgtEl>
                                          <p:spTgt spid="36"/>
                                        </p:tgtEl>
                                        <p:attrNameLst>
                                          <p:attrName>r</p:attrName>
                                        </p:attrNameLst>
                                      </p:cBhvr>
                                    </p:animRot>
                                    <p:animRot by="240000">
                                      <p:cBhvr>
                                        <p:cTn id="108" dur="200" fill="hold">
                                          <p:stCondLst>
                                            <p:cond delay="400"/>
                                          </p:stCondLst>
                                        </p:cTn>
                                        <p:tgtEl>
                                          <p:spTgt spid="36"/>
                                        </p:tgtEl>
                                        <p:attrNameLst>
                                          <p:attrName>r</p:attrName>
                                        </p:attrNameLst>
                                      </p:cBhvr>
                                    </p:animRot>
                                    <p:animRot by="-240000">
                                      <p:cBhvr>
                                        <p:cTn id="109" dur="200" fill="hold">
                                          <p:stCondLst>
                                            <p:cond delay="600"/>
                                          </p:stCondLst>
                                        </p:cTn>
                                        <p:tgtEl>
                                          <p:spTgt spid="36"/>
                                        </p:tgtEl>
                                        <p:attrNameLst>
                                          <p:attrName>r</p:attrName>
                                        </p:attrNameLst>
                                      </p:cBhvr>
                                    </p:animRot>
                                    <p:animRot by="120000">
                                      <p:cBhvr>
                                        <p:cTn id="110" dur="200" fill="hold">
                                          <p:stCondLst>
                                            <p:cond delay="800"/>
                                          </p:stCondLst>
                                        </p:cTn>
                                        <p:tgtEl>
                                          <p:spTgt spid="36"/>
                                        </p:tgtEl>
                                        <p:attrNameLst>
                                          <p:attrName>r</p:attrName>
                                        </p:attrNameLst>
                                      </p:cBhvr>
                                    </p:animRot>
                                  </p:childTnLst>
                                </p:cTn>
                              </p:par>
                              <p:par>
                                <p:cTn id="111" presetID="32" presetClass="emph" presetSubtype="0" fill="hold" grpId="3" nodeType="withEffect">
                                  <p:stCondLst>
                                    <p:cond delay="0"/>
                                  </p:stCondLst>
                                  <p:childTnLst>
                                    <p:animRot by="120000">
                                      <p:cBhvr>
                                        <p:cTn id="112" dur="100" fill="hold">
                                          <p:stCondLst>
                                            <p:cond delay="0"/>
                                          </p:stCondLst>
                                        </p:cTn>
                                        <p:tgtEl>
                                          <p:spTgt spid="49"/>
                                        </p:tgtEl>
                                        <p:attrNameLst>
                                          <p:attrName>r</p:attrName>
                                        </p:attrNameLst>
                                      </p:cBhvr>
                                    </p:animRot>
                                    <p:animRot by="-240000">
                                      <p:cBhvr>
                                        <p:cTn id="113" dur="200" fill="hold">
                                          <p:stCondLst>
                                            <p:cond delay="200"/>
                                          </p:stCondLst>
                                        </p:cTn>
                                        <p:tgtEl>
                                          <p:spTgt spid="49"/>
                                        </p:tgtEl>
                                        <p:attrNameLst>
                                          <p:attrName>r</p:attrName>
                                        </p:attrNameLst>
                                      </p:cBhvr>
                                    </p:animRot>
                                    <p:animRot by="240000">
                                      <p:cBhvr>
                                        <p:cTn id="114" dur="200" fill="hold">
                                          <p:stCondLst>
                                            <p:cond delay="400"/>
                                          </p:stCondLst>
                                        </p:cTn>
                                        <p:tgtEl>
                                          <p:spTgt spid="49"/>
                                        </p:tgtEl>
                                        <p:attrNameLst>
                                          <p:attrName>r</p:attrName>
                                        </p:attrNameLst>
                                      </p:cBhvr>
                                    </p:animRot>
                                    <p:animRot by="-240000">
                                      <p:cBhvr>
                                        <p:cTn id="115" dur="200" fill="hold">
                                          <p:stCondLst>
                                            <p:cond delay="600"/>
                                          </p:stCondLst>
                                        </p:cTn>
                                        <p:tgtEl>
                                          <p:spTgt spid="49"/>
                                        </p:tgtEl>
                                        <p:attrNameLst>
                                          <p:attrName>r</p:attrName>
                                        </p:attrNameLst>
                                      </p:cBhvr>
                                    </p:animRot>
                                    <p:animRot by="120000">
                                      <p:cBhvr>
                                        <p:cTn id="116" dur="200" fill="hold">
                                          <p:stCondLst>
                                            <p:cond delay="800"/>
                                          </p:stCondLst>
                                        </p:cTn>
                                        <p:tgtEl>
                                          <p:spTgt spid="49"/>
                                        </p:tgtEl>
                                        <p:attrNameLst>
                                          <p:attrName>r</p:attrName>
                                        </p:attrNameLst>
                                      </p:cBhvr>
                                    </p:animRot>
                                  </p:childTnLst>
                                </p:cTn>
                              </p:par>
                              <p:par>
                                <p:cTn id="117" presetID="32" presetClass="emph" presetSubtype="0" fill="hold" grpId="3" nodeType="withEffect">
                                  <p:stCondLst>
                                    <p:cond delay="0"/>
                                  </p:stCondLst>
                                  <p:childTnLst>
                                    <p:animRot by="120000">
                                      <p:cBhvr>
                                        <p:cTn id="118" dur="100" fill="hold">
                                          <p:stCondLst>
                                            <p:cond delay="0"/>
                                          </p:stCondLst>
                                        </p:cTn>
                                        <p:tgtEl>
                                          <p:spTgt spid="55"/>
                                        </p:tgtEl>
                                        <p:attrNameLst>
                                          <p:attrName>r</p:attrName>
                                        </p:attrNameLst>
                                      </p:cBhvr>
                                    </p:animRot>
                                    <p:animRot by="-240000">
                                      <p:cBhvr>
                                        <p:cTn id="119" dur="200" fill="hold">
                                          <p:stCondLst>
                                            <p:cond delay="200"/>
                                          </p:stCondLst>
                                        </p:cTn>
                                        <p:tgtEl>
                                          <p:spTgt spid="55"/>
                                        </p:tgtEl>
                                        <p:attrNameLst>
                                          <p:attrName>r</p:attrName>
                                        </p:attrNameLst>
                                      </p:cBhvr>
                                    </p:animRot>
                                    <p:animRot by="240000">
                                      <p:cBhvr>
                                        <p:cTn id="120" dur="200" fill="hold">
                                          <p:stCondLst>
                                            <p:cond delay="400"/>
                                          </p:stCondLst>
                                        </p:cTn>
                                        <p:tgtEl>
                                          <p:spTgt spid="55"/>
                                        </p:tgtEl>
                                        <p:attrNameLst>
                                          <p:attrName>r</p:attrName>
                                        </p:attrNameLst>
                                      </p:cBhvr>
                                    </p:animRot>
                                    <p:animRot by="-240000">
                                      <p:cBhvr>
                                        <p:cTn id="121" dur="200" fill="hold">
                                          <p:stCondLst>
                                            <p:cond delay="600"/>
                                          </p:stCondLst>
                                        </p:cTn>
                                        <p:tgtEl>
                                          <p:spTgt spid="55"/>
                                        </p:tgtEl>
                                        <p:attrNameLst>
                                          <p:attrName>r</p:attrName>
                                        </p:attrNameLst>
                                      </p:cBhvr>
                                    </p:animRot>
                                    <p:animRot by="120000">
                                      <p:cBhvr>
                                        <p:cTn id="122" dur="200" fill="hold">
                                          <p:stCondLst>
                                            <p:cond delay="800"/>
                                          </p:stCondLst>
                                        </p:cTn>
                                        <p:tgtEl>
                                          <p:spTgt spid="5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3" grpId="2"/>
      <p:bldP spid="3" grpId="3"/>
      <p:bldP spid="36" grpId="0"/>
      <p:bldP spid="36" grpId="1"/>
      <p:bldP spid="36" grpId="2"/>
      <p:bldP spid="36" grpId="3"/>
      <p:bldP spid="49" grpId="0"/>
      <p:bldP spid="49" grpId="1"/>
      <p:bldP spid="49" grpId="2"/>
      <p:bldP spid="49" grpId="3"/>
      <p:bldP spid="55" grpId="0"/>
      <p:bldP spid="55" grpId="1"/>
      <p:bldP spid="55" grpId="2"/>
      <p:bldP spid="55" grpId="3"/>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845975" y="2978995"/>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5286135" y="2978995"/>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726295" y="2978995"/>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8166455" y="2978995"/>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807815" y="2114452"/>
            <a:ext cx="865983" cy="738664"/>
          </a:xfrm>
          <a:prstGeom prst="rect">
            <a:avLst/>
          </a:prstGeom>
        </p:spPr>
        <p:txBody>
          <a:bodyPr wrap="none">
            <a:no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ﾎﾎｳ</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5247975" y="2114452"/>
            <a:ext cx="937991" cy="738664"/>
          </a:xfrm>
          <a:prstGeom prst="rect">
            <a:avLst/>
          </a:prstGeom>
        </p:spPr>
        <p:txBody>
          <a:bodyPr wrap="none">
            <a:no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ﾂﾗｲ</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690022" y="2133037"/>
            <a:ext cx="865983" cy="954107"/>
          </a:xfrm>
          <a:prstGeom prst="rect">
            <a:avLst/>
          </a:prstGeom>
        </p:spPr>
        <p:txBody>
          <a:bodyPr wrap="none">
            <a:no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ｱﾝｼﾝ</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8130182" y="2133036"/>
            <a:ext cx="937991" cy="738664"/>
          </a:xfrm>
          <a:prstGeom prst="rect">
            <a:avLst/>
          </a:prstGeom>
        </p:spPr>
        <p:txBody>
          <a:bodyPr wrap="none">
            <a:no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 ﾌｰﾝ</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釘の本数の変更</a:t>
            </a:r>
          </a:p>
        </p:txBody>
      </p:sp>
      <p:sp>
        <p:nvSpPr>
          <p:cNvPr id="58" name="コンテンツ プレースホルダー 57"/>
          <p:cNvSpPr>
            <a:spLocks noGrp="1"/>
          </p:cNvSpPr>
          <p:nvPr>
            <p:ph type="body" sz="quarter" idx="10"/>
          </p:nvPr>
        </p:nvSpPr>
        <p:spPr>
          <a:xfrm>
            <a:off x="2045955" y="4869017"/>
            <a:ext cx="8460094" cy="1369161"/>
          </a:xfrm>
          <a:prstGeom prst="rect">
            <a:avLst/>
          </a:prstGeom>
        </p:spPr>
        <p:txBody>
          <a:bodyPr/>
          <a:lstStyle/>
          <a:p>
            <a:r>
              <a:rPr lang="ja-JP" altLang="en-US" dirty="0">
                <a:solidFill>
                  <a:schemeClr val="tx1">
                    <a:lumMod val="85000"/>
                    <a:lumOff val="15000"/>
                  </a:schemeClr>
                </a:solidFill>
              </a:rPr>
              <a:t>製品の安全対策のために釘の本数が１本から２本に</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しかし，ハンマーを持っている釘打ち担当は単位時間に１本しか打てない</a:t>
            </a:r>
            <a:endParaRPr lang="en-US" altLang="ja-JP" dirty="0">
              <a:solidFill>
                <a:schemeClr val="tx1">
                  <a:lumMod val="85000"/>
                  <a:lumOff val="15000"/>
                </a:schemeClr>
              </a:solidFill>
            </a:endParaRPr>
          </a:p>
        </p:txBody>
      </p:sp>
      <p:cxnSp>
        <p:nvCxnSpPr>
          <p:cNvPr id="67" name="直線矢印コネクタ 66"/>
          <p:cNvCxnSpPr/>
          <p:nvPr/>
        </p:nvCxnSpPr>
        <p:spPr bwMode="auto">
          <a:xfrm>
            <a:off x="3845975" y="3789004"/>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4" name="グループ化 3">
            <a:extLst>
              <a:ext uri="{FF2B5EF4-FFF2-40B4-BE49-F238E27FC236}">
                <a16:creationId xmlns:a16="http://schemas.microsoft.com/office/drawing/2014/main" id="{FF77882F-537F-C839-8754-7387D5D0B75D}"/>
              </a:ext>
            </a:extLst>
          </p:cNvPr>
          <p:cNvGrpSpPr/>
          <p:nvPr/>
        </p:nvGrpSpPr>
        <p:grpSpPr>
          <a:xfrm>
            <a:off x="4295981" y="2798994"/>
            <a:ext cx="5040057" cy="360005"/>
            <a:chOff x="611956" y="3699003"/>
            <a:chExt cx="5040057" cy="360005"/>
          </a:xfrm>
        </p:grpSpPr>
        <p:sp>
          <p:nvSpPr>
            <p:cNvPr id="8" name="角丸四角形 90">
              <a:extLst>
                <a:ext uri="{FF2B5EF4-FFF2-40B4-BE49-F238E27FC236}">
                  <a16:creationId xmlns:a16="http://schemas.microsoft.com/office/drawing/2014/main" id="{399B2BB3-EAE4-40A5-F43B-253A9357C53C}"/>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 name="角丸四角形 91">
              <a:extLst>
                <a:ext uri="{FF2B5EF4-FFF2-40B4-BE49-F238E27FC236}">
                  <a16:creationId xmlns:a16="http://schemas.microsoft.com/office/drawing/2014/main" id="{CD942333-34EC-2DB6-7F7A-DE826A5208CA}"/>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10" name="角丸四角形 92">
              <a:extLst>
                <a:ext uri="{FF2B5EF4-FFF2-40B4-BE49-F238E27FC236}">
                  <a16:creationId xmlns:a16="http://schemas.microsoft.com/office/drawing/2014/main" id="{0B35F586-307D-82F6-81FE-B08F4D62EA36}"/>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11" name="角丸四角形 93">
              <a:extLst>
                <a:ext uri="{FF2B5EF4-FFF2-40B4-BE49-F238E27FC236}">
                  <a16:creationId xmlns:a16="http://schemas.microsoft.com/office/drawing/2014/main" id="{84ECC887-B444-6215-AFBD-6A7B1957223B}"/>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12" name="正方形/長方形 11">
            <a:extLst>
              <a:ext uri="{FF2B5EF4-FFF2-40B4-BE49-F238E27FC236}">
                <a16:creationId xmlns:a16="http://schemas.microsoft.com/office/drawing/2014/main" id="{8D28C26A-E7E6-C201-2A31-76016504EE2C}"/>
              </a:ext>
            </a:extLst>
          </p:cNvPr>
          <p:cNvSpPr/>
          <p:nvPr/>
        </p:nvSpPr>
        <p:spPr bwMode="auto">
          <a:xfrm>
            <a:off x="1505517"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正方形/長方形 5">
            <a:extLst>
              <a:ext uri="{FF2B5EF4-FFF2-40B4-BE49-F238E27FC236}">
                <a16:creationId xmlns:a16="http://schemas.microsoft.com/office/drawing/2014/main" id="{92E7E5ED-B024-16FB-FD34-CD164816D276}"/>
              </a:ext>
            </a:extLst>
          </p:cNvPr>
          <p:cNvSpPr/>
          <p:nvPr/>
        </p:nvSpPr>
        <p:spPr>
          <a:xfrm>
            <a:off x="1865953" y="1772925"/>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 name="角丸四角形吹き出し 28">
            <a:extLst>
              <a:ext uri="{FF2B5EF4-FFF2-40B4-BE49-F238E27FC236}">
                <a16:creationId xmlns:a16="http://schemas.microsoft.com/office/drawing/2014/main" id="{592A597C-9D91-BE9D-A3EB-F0D6B363943A}"/>
              </a:ext>
            </a:extLst>
          </p:cNvPr>
          <p:cNvSpPr/>
          <p:nvPr/>
        </p:nvSpPr>
        <p:spPr bwMode="auto">
          <a:xfrm>
            <a:off x="2945966" y="1142918"/>
            <a:ext cx="1890021"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85000"/>
                    <a:lumOff val="15000"/>
                  </a:schemeClr>
                </a:solidFill>
                <a:latin typeface="Arial Narrow" panose="020B0606020202030204" pitchFamily="34" charset="0"/>
              </a:rPr>
              <a:t>今日から釘打ちは</a:t>
            </a:r>
            <a:br>
              <a:rPr lang="en-US" altLang="ja-JP" sz="1400" dirty="0">
                <a:solidFill>
                  <a:schemeClr val="tx1">
                    <a:lumMod val="85000"/>
                    <a:lumOff val="15000"/>
                  </a:schemeClr>
                </a:solidFill>
                <a:latin typeface="Arial Narrow" panose="020B0606020202030204" pitchFamily="34" charset="0"/>
              </a:rPr>
            </a:br>
            <a:r>
              <a:rPr lang="ja-JP" altLang="en-US" sz="1400" dirty="0">
                <a:solidFill>
                  <a:schemeClr val="tx1">
                    <a:lumMod val="85000"/>
                    <a:lumOff val="15000"/>
                  </a:schemeClr>
                </a:solidFill>
                <a:latin typeface="Arial Narrow" panose="020B0606020202030204" pitchFamily="34" charset="0"/>
              </a:rPr>
              <a:t>１本じゃなく２本！</a:t>
            </a:r>
          </a:p>
        </p:txBody>
      </p:sp>
      <p:sp>
        <p:nvSpPr>
          <p:cNvPr id="13" name="正方形/長方形 12">
            <a:extLst>
              <a:ext uri="{FF2B5EF4-FFF2-40B4-BE49-F238E27FC236}">
                <a16:creationId xmlns:a16="http://schemas.microsoft.com/office/drawing/2014/main" id="{0A138D09-0568-09A8-2740-2A0D0C409F55}"/>
              </a:ext>
            </a:extLst>
          </p:cNvPr>
          <p:cNvSpPr/>
          <p:nvPr/>
        </p:nvSpPr>
        <p:spPr>
          <a:xfrm>
            <a:off x="1685951" y="1538980"/>
            <a:ext cx="1620018" cy="307777"/>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ｱﾝｾﾞﾝﾀｲｻｸ！</a:t>
            </a:r>
          </a:p>
        </p:txBody>
      </p:sp>
      <p:sp>
        <p:nvSpPr>
          <p:cNvPr id="14" name="角丸四角形吹き出し 20">
            <a:extLst>
              <a:ext uri="{FF2B5EF4-FFF2-40B4-BE49-F238E27FC236}">
                <a16:creationId xmlns:a16="http://schemas.microsoft.com/office/drawing/2014/main" id="{CCFD24E1-5322-D83F-080D-D992CF52A971}"/>
              </a:ext>
            </a:extLst>
          </p:cNvPr>
          <p:cNvSpPr/>
          <p:nvPr/>
        </p:nvSpPr>
        <p:spPr bwMode="auto">
          <a:xfrm>
            <a:off x="5915998" y="1358977"/>
            <a:ext cx="1980022"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１本で限界なんですが</a:t>
            </a:r>
          </a:p>
        </p:txBody>
      </p:sp>
    </p:spTree>
    <p:extLst>
      <p:ext uri="{BB962C8B-B14F-4D97-AF65-F5344CB8AC3E}">
        <p14:creationId xmlns:p14="http://schemas.microsoft.com/office/powerpoint/2010/main" val="1582986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845975" y="2978995"/>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5286135" y="2978995"/>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726295" y="2978995"/>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8166455" y="2978995"/>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807815" y="2114452"/>
            <a:ext cx="865983" cy="738664"/>
          </a:xfrm>
          <a:prstGeom prst="rect">
            <a:avLst/>
          </a:prstGeom>
        </p:spPr>
        <p:txBody>
          <a:bodyPr wrap="none">
            <a:no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5247975" y="2114452"/>
            <a:ext cx="937991" cy="738664"/>
          </a:xfrm>
          <a:prstGeom prst="rect">
            <a:avLst/>
          </a:prstGeom>
        </p:spPr>
        <p:txBody>
          <a:bodyPr wrap="none">
            <a:no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690022" y="2133037"/>
            <a:ext cx="865983" cy="954107"/>
          </a:xfrm>
          <a:prstGeom prst="rect">
            <a:avLst/>
          </a:prstGeom>
        </p:spPr>
        <p:txBody>
          <a:bodyPr wrap="none">
            <a:no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ﾋﾏﾀﾞﾜ</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8130182" y="2133036"/>
            <a:ext cx="937991" cy="738664"/>
          </a:xfrm>
          <a:prstGeom prst="rect">
            <a:avLst/>
          </a:prstGeom>
        </p:spPr>
        <p:txBody>
          <a:bodyPr wrap="none">
            <a:no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ﾃﾝｼｮｸﾀﾞ</a:t>
            </a:r>
            <a:endPar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釘打ちの人のところで構造ハザード</a:t>
            </a:r>
            <a:endParaRPr kumimoji="1" lang="ja-JP" altLang="en-US" dirty="0"/>
          </a:p>
        </p:txBody>
      </p:sp>
      <p:sp>
        <p:nvSpPr>
          <p:cNvPr id="58" name="コンテンツ プレースホルダー 57"/>
          <p:cNvSpPr>
            <a:spLocks noGrp="1"/>
          </p:cNvSpPr>
          <p:nvPr>
            <p:ph type="body" sz="quarter" idx="10"/>
          </p:nvPr>
        </p:nvSpPr>
        <p:spPr>
          <a:xfrm>
            <a:off x="2045955" y="4869017"/>
            <a:ext cx="8460094" cy="1369161"/>
          </a:xfrm>
          <a:prstGeom prst="rect">
            <a:avLst/>
          </a:prstGeom>
        </p:spPr>
        <p:txBody>
          <a:bodyPr/>
          <a:lstStyle/>
          <a:p>
            <a:r>
              <a:rPr lang="ja-JP" altLang="en-US" dirty="0">
                <a:solidFill>
                  <a:schemeClr val="tx1">
                    <a:lumMod val="85000"/>
                    <a:lumOff val="15000"/>
                  </a:schemeClr>
                </a:solidFill>
              </a:rPr>
              <a:t>２人目 </a:t>
            </a:r>
            <a:r>
              <a:rPr lang="en-US" altLang="ja-JP" b="1" dirty="0">
                <a:solidFill>
                  <a:schemeClr val="accent3">
                    <a:lumMod val="50000"/>
                  </a:schemeClr>
                </a:solidFill>
                <a:latin typeface="ＭＳ Ｐゴシック" pitchFamily="50" charset="-128"/>
                <a:ea typeface="ＭＳ Ｐゴシック" pitchFamily="50" charset="-128"/>
              </a:rPr>
              <a:t>( </a:t>
            </a:r>
            <a:r>
              <a:rPr lang="ja-JP" altLang="en-US" dirty="0">
                <a:solidFill>
                  <a:schemeClr val="accent3">
                    <a:lumMod val="50000"/>
                  </a:schemeClr>
                </a:solidFill>
                <a:latin typeface="ＭＳ Ｐゴシック" pitchFamily="50" charset="-128"/>
                <a:ea typeface="ＭＳ Ｐゴシック" pitchFamily="50" charset="-128"/>
              </a:rPr>
              <a:t>；</a:t>
            </a:r>
            <a:r>
              <a:rPr lang="en-US" altLang="ja-JP" dirty="0">
                <a:solidFill>
                  <a:schemeClr val="accent3">
                    <a:lumMod val="50000"/>
                  </a:schemeClr>
                </a:solidFill>
                <a:latin typeface="ＭＳ Ｐゴシック" pitchFamily="50" charset="-128"/>
                <a:ea typeface="ＭＳ Ｐゴシック" pitchFamily="50" charset="-128"/>
              </a:rPr>
              <a:t>´∀</a:t>
            </a:r>
            <a:r>
              <a:rPr lang="ja-JP" altLang="en-US" dirty="0">
                <a:solidFill>
                  <a:schemeClr val="accent3">
                    <a:lumMod val="50000"/>
                  </a:schemeClr>
                </a:solidFill>
                <a:latin typeface="ＭＳ Ｐゴシック" pitchFamily="50" charset="-128"/>
                <a:ea typeface="ＭＳ Ｐゴシック" pitchFamily="50" charset="-128"/>
              </a:rPr>
              <a:t>｀</a:t>
            </a:r>
            <a:r>
              <a:rPr lang="en-US" altLang="ja-JP" b="1" dirty="0">
                <a:solidFill>
                  <a:schemeClr val="accent3">
                    <a:lumMod val="50000"/>
                  </a:schemeClr>
                </a:solidFill>
                <a:latin typeface="ＭＳ Ｐゴシック" pitchFamily="50" charset="-128"/>
                <a:ea typeface="ＭＳ Ｐゴシック" pitchFamily="50" charset="-128"/>
              </a:rPr>
              <a:t>) </a:t>
            </a:r>
            <a:r>
              <a:rPr lang="ja-JP" altLang="en-US" dirty="0">
                <a:solidFill>
                  <a:schemeClr val="tx1">
                    <a:lumMod val="85000"/>
                    <a:lumOff val="15000"/>
                  </a:schemeClr>
                </a:solidFill>
              </a:rPr>
              <a:t>の人は単位時間に１本しか打てない</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ラインは一番遅い人に合わせて動く（前回の講義より）</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そこで２本打つまでライン全体が止まる</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全体の速度がそこで決まってしまう</a:t>
            </a:r>
            <a:endParaRPr lang="en-US" altLang="ja-JP" dirty="0">
              <a:solidFill>
                <a:schemeClr val="tx1">
                  <a:lumMod val="85000"/>
                  <a:lumOff val="15000"/>
                </a:schemeClr>
              </a:solidFill>
            </a:endParaRPr>
          </a:p>
        </p:txBody>
      </p:sp>
      <p:cxnSp>
        <p:nvCxnSpPr>
          <p:cNvPr id="67" name="直線矢印コネクタ 66"/>
          <p:cNvCxnSpPr/>
          <p:nvPr/>
        </p:nvCxnSpPr>
        <p:spPr bwMode="auto">
          <a:xfrm>
            <a:off x="3845975" y="3789004"/>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2" name="正方形/長方形 11">
            <a:extLst>
              <a:ext uri="{FF2B5EF4-FFF2-40B4-BE49-F238E27FC236}">
                <a16:creationId xmlns:a16="http://schemas.microsoft.com/office/drawing/2014/main" id="{8D28C26A-E7E6-C201-2A31-76016504EE2C}"/>
              </a:ext>
            </a:extLst>
          </p:cNvPr>
          <p:cNvSpPr/>
          <p:nvPr/>
        </p:nvSpPr>
        <p:spPr bwMode="auto">
          <a:xfrm>
            <a:off x="1505517"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正方形/長方形 5">
            <a:extLst>
              <a:ext uri="{FF2B5EF4-FFF2-40B4-BE49-F238E27FC236}">
                <a16:creationId xmlns:a16="http://schemas.microsoft.com/office/drawing/2014/main" id="{92E7E5ED-B024-16FB-FD34-CD164816D276}"/>
              </a:ext>
            </a:extLst>
          </p:cNvPr>
          <p:cNvSpPr/>
          <p:nvPr/>
        </p:nvSpPr>
        <p:spPr>
          <a:xfrm>
            <a:off x="1865953" y="1772925"/>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 name="角丸四角形吹き出し 28">
            <a:extLst>
              <a:ext uri="{FF2B5EF4-FFF2-40B4-BE49-F238E27FC236}">
                <a16:creationId xmlns:a16="http://schemas.microsoft.com/office/drawing/2014/main" id="{592A597C-9D91-BE9D-A3EB-F0D6B363943A}"/>
              </a:ext>
            </a:extLst>
          </p:cNvPr>
          <p:cNvSpPr/>
          <p:nvPr/>
        </p:nvSpPr>
        <p:spPr bwMode="auto">
          <a:xfrm>
            <a:off x="3035966" y="1142918"/>
            <a:ext cx="1530017"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85000"/>
                    <a:lumOff val="15000"/>
                  </a:schemeClr>
                </a:solidFill>
                <a:latin typeface="Arial Narrow" panose="020B0606020202030204" pitchFamily="34" charset="0"/>
              </a:rPr>
              <a:t>なんか製造数が</a:t>
            </a:r>
            <a:endParaRPr lang="en-US" altLang="ja-JP" sz="1400" dirty="0">
              <a:solidFill>
                <a:schemeClr val="tx1">
                  <a:lumMod val="85000"/>
                  <a:lumOff val="15000"/>
                </a:schemeClr>
              </a:solidFill>
              <a:latin typeface="Arial Narrow" panose="020B0606020202030204" pitchFamily="34" charset="0"/>
            </a:endParaRPr>
          </a:p>
          <a:p>
            <a:r>
              <a:rPr lang="ja-JP" altLang="en-US" sz="1400" dirty="0">
                <a:solidFill>
                  <a:schemeClr val="tx1">
                    <a:lumMod val="85000"/>
                    <a:lumOff val="15000"/>
                  </a:schemeClr>
                </a:solidFill>
                <a:latin typeface="Arial Narrow" panose="020B0606020202030204" pitchFamily="34" charset="0"/>
              </a:rPr>
              <a:t>がた落ちしたな</a:t>
            </a:r>
          </a:p>
        </p:txBody>
      </p:sp>
      <p:sp>
        <p:nvSpPr>
          <p:cNvPr id="13" name="正方形/長方形 12">
            <a:extLst>
              <a:ext uri="{FF2B5EF4-FFF2-40B4-BE49-F238E27FC236}">
                <a16:creationId xmlns:a16="http://schemas.microsoft.com/office/drawing/2014/main" id="{0A138D09-0568-09A8-2740-2A0D0C409F55}"/>
              </a:ext>
            </a:extLst>
          </p:cNvPr>
          <p:cNvSpPr/>
          <p:nvPr/>
        </p:nvSpPr>
        <p:spPr>
          <a:xfrm>
            <a:off x="1685951" y="1718982"/>
            <a:ext cx="1620018" cy="307777"/>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ﾅﾝﾃﾞｶﾅ</a:t>
            </a:r>
          </a:p>
        </p:txBody>
      </p:sp>
      <p:sp>
        <p:nvSpPr>
          <p:cNvPr id="14" name="角丸四角形吹き出し 20">
            <a:extLst>
              <a:ext uri="{FF2B5EF4-FFF2-40B4-BE49-F238E27FC236}">
                <a16:creationId xmlns:a16="http://schemas.microsoft.com/office/drawing/2014/main" id="{CCFD24E1-5322-D83F-080D-D992CF52A971}"/>
              </a:ext>
            </a:extLst>
          </p:cNvPr>
          <p:cNvSpPr/>
          <p:nvPr/>
        </p:nvSpPr>
        <p:spPr bwMode="auto">
          <a:xfrm>
            <a:off x="5915998" y="1628980"/>
            <a:ext cx="2160024"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あと１本うつから待って</a:t>
            </a:r>
          </a:p>
        </p:txBody>
      </p:sp>
      <p:sp>
        <p:nvSpPr>
          <p:cNvPr id="5" name="角丸四角形吹き出し 20">
            <a:extLst>
              <a:ext uri="{FF2B5EF4-FFF2-40B4-BE49-F238E27FC236}">
                <a16:creationId xmlns:a16="http://schemas.microsoft.com/office/drawing/2014/main" id="{B39C0899-AD83-BF3B-5EAF-72ACE0A36A90}"/>
              </a:ext>
            </a:extLst>
          </p:cNvPr>
          <p:cNvSpPr/>
          <p:nvPr/>
        </p:nvSpPr>
        <p:spPr bwMode="auto">
          <a:xfrm>
            <a:off x="4565984" y="1628980"/>
            <a:ext cx="1170013" cy="432646"/>
          </a:xfrm>
          <a:prstGeom prst="wedgeRoundRectCallout">
            <a:avLst>
              <a:gd name="adj1" fmla="val -58019"/>
              <a:gd name="adj2" fmla="val 136188"/>
              <a:gd name="adj3" fmla="val 16667"/>
            </a:avLst>
          </a:prstGeom>
          <a:ln>
            <a:solidFill>
              <a:schemeClr val="accent1"/>
            </a:solid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はよせんか</a:t>
            </a:r>
          </a:p>
        </p:txBody>
      </p:sp>
      <p:grpSp>
        <p:nvGrpSpPr>
          <p:cNvPr id="16" name="グループ化 15">
            <a:extLst>
              <a:ext uri="{FF2B5EF4-FFF2-40B4-BE49-F238E27FC236}">
                <a16:creationId xmlns:a16="http://schemas.microsoft.com/office/drawing/2014/main" id="{486F32D2-14FE-5F46-16F6-D16E404732A7}"/>
              </a:ext>
            </a:extLst>
          </p:cNvPr>
          <p:cNvGrpSpPr/>
          <p:nvPr/>
        </p:nvGrpSpPr>
        <p:grpSpPr>
          <a:xfrm>
            <a:off x="4295981" y="2798994"/>
            <a:ext cx="5040057" cy="360005"/>
            <a:chOff x="611956" y="3699003"/>
            <a:chExt cx="5040057" cy="360005"/>
          </a:xfrm>
        </p:grpSpPr>
        <p:sp>
          <p:nvSpPr>
            <p:cNvPr id="17" name="角丸四角形 90">
              <a:extLst>
                <a:ext uri="{FF2B5EF4-FFF2-40B4-BE49-F238E27FC236}">
                  <a16:creationId xmlns:a16="http://schemas.microsoft.com/office/drawing/2014/main" id="{8C72740C-7058-438B-A5F2-B1ADE68B5E0A}"/>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18" name="角丸四角形 91">
              <a:extLst>
                <a:ext uri="{FF2B5EF4-FFF2-40B4-BE49-F238E27FC236}">
                  <a16:creationId xmlns:a16="http://schemas.microsoft.com/office/drawing/2014/main" id="{D518E50E-092E-ACF0-FFB4-4E6FDBF05295}"/>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19" name="角丸四角形 92">
              <a:extLst>
                <a:ext uri="{FF2B5EF4-FFF2-40B4-BE49-F238E27FC236}">
                  <a16:creationId xmlns:a16="http://schemas.microsoft.com/office/drawing/2014/main" id="{254EC0C5-A684-45E3-D23F-57249CD0AF51}"/>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0" name="角丸四角形 93">
              <a:extLst>
                <a:ext uri="{FF2B5EF4-FFF2-40B4-BE49-F238E27FC236}">
                  <a16:creationId xmlns:a16="http://schemas.microsoft.com/office/drawing/2014/main" id="{45FD4F58-516E-1AF6-34C5-16A31052BFD8}"/>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Tree>
    <p:extLst>
      <p:ext uri="{BB962C8B-B14F-4D97-AF65-F5344CB8AC3E}">
        <p14:creationId xmlns:p14="http://schemas.microsoft.com/office/powerpoint/2010/main" val="92737072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845975" y="2978995"/>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5286135" y="2978995"/>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726295" y="2978995"/>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8166455" y="2978995"/>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807815" y="2114452"/>
            <a:ext cx="865983" cy="738664"/>
          </a:xfrm>
          <a:prstGeom prst="rect">
            <a:avLst/>
          </a:prstGeom>
        </p:spPr>
        <p:txBody>
          <a:bodyPr wrap="none">
            <a:no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ﾖｹｲﾅｺﾄｦ</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5247975" y="2114452"/>
            <a:ext cx="937991" cy="738664"/>
          </a:xfrm>
          <a:prstGeom prst="rect">
            <a:avLst/>
          </a:prstGeom>
        </p:spPr>
        <p:txBody>
          <a:bodyPr wrap="none">
            <a:no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ﾜｰｲ</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690022" y="2133037"/>
            <a:ext cx="865983" cy="954107"/>
          </a:xfrm>
          <a:prstGeom prst="rect">
            <a:avLst/>
          </a:prstGeom>
        </p:spPr>
        <p:txBody>
          <a:bodyPr wrap="none">
            <a:no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ｲｿｶﾞｼｲ</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8130182" y="2133036"/>
            <a:ext cx="937991" cy="738664"/>
          </a:xfrm>
          <a:prstGeom prst="rect">
            <a:avLst/>
          </a:prstGeom>
        </p:spPr>
        <p:txBody>
          <a:bodyPr wrap="none">
            <a:no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 ｼﾝﾄﾞｲ</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増員による構造ハザードの解消</a:t>
            </a:r>
            <a:endParaRPr kumimoji="1" lang="ja-JP" altLang="en-US" dirty="0"/>
          </a:p>
        </p:txBody>
      </p:sp>
      <p:sp>
        <p:nvSpPr>
          <p:cNvPr id="58" name="コンテンツ プレースホルダー 57"/>
          <p:cNvSpPr>
            <a:spLocks noGrp="1"/>
          </p:cNvSpPr>
          <p:nvPr>
            <p:ph type="body" sz="quarter" idx="10"/>
          </p:nvPr>
        </p:nvSpPr>
        <p:spPr>
          <a:xfrm>
            <a:off x="2045955" y="5049019"/>
            <a:ext cx="8460094" cy="1369161"/>
          </a:xfrm>
          <a:prstGeom prst="rect">
            <a:avLst/>
          </a:prstGeom>
        </p:spPr>
        <p:txBody>
          <a:bodyPr/>
          <a:lstStyle/>
          <a:p>
            <a:r>
              <a:rPr lang="ja-JP" altLang="en-US" dirty="0"/>
              <a:t>１人増やして緑のステージで単位時間に２本の釘が打てるように</a:t>
            </a:r>
            <a:endParaRPr lang="en-US" altLang="ja-JP" dirty="0"/>
          </a:p>
          <a:p>
            <a:pPr lvl="1"/>
            <a:r>
              <a:rPr lang="ja-JP" altLang="en-US" dirty="0"/>
              <a:t>これがハード資源の追加による構造ハザードの解消</a:t>
            </a:r>
            <a:endParaRPr lang="en-US" altLang="ja-JP" dirty="0"/>
          </a:p>
          <a:p>
            <a:pPr lvl="1"/>
            <a:r>
              <a:rPr lang="ja-JP" altLang="en-US" dirty="0"/>
              <a:t>ただし，追加しただけ経費がかかる</a:t>
            </a:r>
            <a:endParaRPr lang="en-US" altLang="ja-JP" dirty="0"/>
          </a:p>
          <a:p>
            <a:pPr lvl="2"/>
            <a:r>
              <a:rPr lang="ja-JP" altLang="en-US" dirty="0"/>
              <a:t>（ハードだとその分複雑になって電力を食う</a:t>
            </a:r>
            <a:endParaRPr lang="en-US" altLang="ja-JP" dirty="0"/>
          </a:p>
        </p:txBody>
      </p:sp>
      <p:sp>
        <p:nvSpPr>
          <p:cNvPr id="12" name="正方形/長方形 11">
            <a:extLst>
              <a:ext uri="{FF2B5EF4-FFF2-40B4-BE49-F238E27FC236}">
                <a16:creationId xmlns:a16="http://schemas.microsoft.com/office/drawing/2014/main" id="{8D28C26A-E7E6-C201-2A31-76016504EE2C}"/>
              </a:ext>
            </a:extLst>
          </p:cNvPr>
          <p:cNvSpPr/>
          <p:nvPr/>
        </p:nvSpPr>
        <p:spPr bwMode="auto">
          <a:xfrm>
            <a:off x="1505517"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正方形/長方形 5">
            <a:extLst>
              <a:ext uri="{FF2B5EF4-FFF2-40B4-BE49-F238E27FC236}">
                <a16:creationId xmlns:a16="http://schemas.microsoft.com/office/drawing/2014/main" id="{92E7E5ED-B024-16FB-FD34-CD164816D276}"/>
              </a:ext>
            </a:extLst>
          </p:cNvPr>
          <p:cNvSpPr/>
          <p:nvPr/>
        </p:nvSpPr>
        <p:spPr>
          <a:xfrm>
            <a:off x="1865953" y="1772925"/>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 name="角丸四角形吹き出し 28">
            <a:extLst>
              <a:ext uri="{FF2B5EF4-FFF2-40B4-BE49-F238E27FC236}">
                <a16:creationId xmlns:a16="http://schemas.microsoft.com/office/drawing/2014/main" id="{592A597C-9D91-BE9D-A3EB-F0D6B363943A}"/>
              </a:ext>
            </a:extLst>
          </p:cNvPr>
          <p:cNvSpPr/>
          <p:nvPr/>
        </p:nvSpPr>
        <p:spPr bwMode="auto">
          <a:xfrm>
            <a:off x="2945967" y="1142918"/>
            <a:ext cx="1260013"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85000"/>
                    <a:lumOff val="15000"/>
                  </a:schemeClr>
                </a:solidFill>
                <a:latin typeface="Arial Narrow" panose="020B0606020202030204" pitchFamily="34" charset="0"/>
              </a:rPr>
              <a:t>増員しました</a:t>
            </a:r>
          </a:p>
        </p:txBody>
      </p:sp>
      <p:sp>
        <p:nvSpPr>
          <p:cNvPr id="13" name="正方形/長方形 12">
            <a:extLst>
              <a:ext uri="{FF2B5EF4-FFF2-40B4-BE49-F238E27FC236}">
                <a16:creationId xmlns:a16="http://schemas.microsoft.com/office/drawing/2014/main" id="{0A138D09-0568-09A8-2740-2A0D0C409F55}"/>
              </a:ext>
            </a:extLst>
          </p:cNvPr>
          <p:cNvSpPr/>
          <p:nvPr/>
        </p:nvSpPr>
        <p:spPr>
          <a:xfrm>
            <a:off x="1685951" y="1718982"/>
            <a:ext cx="1620018" cy="307777"/>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ｹｲﾋｶﾞ･･･</a:t>
            </a:r>
          </a:p>
        </p:txBody>
      </p:sp>
      <p:sp>
        <p:nvSpPr>
          <p:cNvPr id="14" name="角丸四角形吹き出し 20">
            <a:extLst>
              <a:ext uri="{FF2B5EF4-FFF2-40B4-BE49-F238E27FC236}">
                <a16:creationId xmlns:a16="http://schemas.microsoft.com/office/drawing/2014/main" id="{CCFD24E1-5322-D83F-080D-D992CF52A971}"/>
              </a:ext>
            </a:extLst>
          </p:cNvPr>
          <p:cNvSpPr/>
          <p:nvPr/>
        </p:nvSpPr>
        <p:spPr bwMode="auto">
          <a:xfrm>
            <a:off x="6186001" y="1358977"/>
            <a:ext cx="1800020" cy="432646"/>
          </a:xfrm>
          <a:prstGeom prst="wedgeRoundRectCallout">
            <a:avLst>
              <a:gd name="adj1" fmla="val -63243"/>
              <a:gd name="adj2" fmla="val 147585"/>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２人で２本打とう！</a:t>
            </a:r>
          </a:p>
        </p:txBody>
      </p:sp>
      <p:grpSp>
        <p:nvGrpSpPr>
          <p:cNvPr id="16" name="グループ化 15">
            <a:extLst>
              <a:ext uri="{FF2B5EF4-FFF2-40B4-BE49-F238E27FC236}">
                <a16:creationId xmlns:a16="http://schemas.microsoft.com/office/drawing/2014/main" id="{486F32D2-14FE-5F46-16F6-D16E404732A7}"/>
              </a:ext>
            </a:extLst>
          </p:cNvPr>
          <p:cNvGrpSpPr/>
          <p:nvPr/>
        </p:nvGrpSpPr>
        <p:grpSpPr>
          <a:xfrm>
            <a:off x="4295981" y="2888995"/>
            <a:ext cx="5040057" cy="360005"/>
            <a:chOff x="611956" y="3699003"/>
            <a:chExt cx="5040057" cy="360005"/>
          </a:xfrm>
        </p:grpSpPr>
        <p:sp>
          <p:nvSpPr>
            <p:cNvPr id="17" name="角丸四角形 90">
              <a:extLst>
                <a:ext uri="{FF2B5EF4-FFF2-40B4-BE49-F238E27FC236}">
                  <a16:creationId xmlns:a16="http://schemas.microsoft.com/office/drawing/2014/main" id="{8C72740C-7058-438B-A5F2-B1ADE68B5E0A}"/>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18" name="角丸四角形 91">
              <a:extLst>
                <a:ext uri="{FF2B5EF4-FFF2-40B4-BE49-F238E27FC236}">
                  <a16:creationId xmlns:a16="http://schemas.microsoft.com/office/drawing/2014/main" id="{D518E50E-092E-ACF0-FFB4-4E6FDBF05295}"/>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19" name="角丸四角形 92">
              <a:extLst>
                <a:ext uri="{FF2B5EF4-FFF2-40B4-BE49-F238E27FC236}">
                  <a16:creationId xmlns:a16="http://schemas.microsoft.com/office/drawing/2014/main" id="{254EC0C5-A684-45E3-D23F-57249CD0AF51}"/>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0" name="角丸四角形 93">
              <a:extLst>
                <a:ext uri="{FF2B5EF4-FFF2-40B4-BE49-F238E27FC236}">
                  <a16:creationId xmlns:a16="http://schemas.microsoft.com/office/drawing/2014/main" id="{45FD4F58-516E-1AF6-34C5-16A31052BFD8}"/>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4" name="正方形/長方形 3">
            <a:extLst>
              <a:ext uri="{FF2B5EF4-FFF2-40B4-BE49-F238E27FC236}">
                <a16:creationId xmlns:a16="http://schemas.microsoft.com/office/drawing/2014/main" id="{23FEE6A1-4FDE-55DA-A3E9-EEC65229123F}"/>
              </a:ext>
            </a:extLst>
          </p:cNvPr>
          <p:cNvSpPr/>
          <p:nvPr/>
        </p:nvSpPr>
        <p:spPr>
          <a:xfrm>
            <a:off x="5285991" y="3519002"/>
            <a:ext cx="1260014" cy="954107"/>
          </a:xfrm>
          <a:prstGeom prst="rect">
            <a:avLst/>
          </a:prstGeom>
        </p:spPr>
        <p:txBody>
          <a:bodyPr wrap="none">
            <a:no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ｺﾝｺﾞﾄﾓﾖﾛｼｸ</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a:t>
            </a:r>
          </a:p>
        </p:txBody>
      </p:sp>
      <p:grpSp>
        <p:nvGrpSpPr>
          <p:cNvPr id="88" name="グループ化 87">
            <a:extLst>
              <a:ext uri="{FF2B5EF4-FFF2-40B4-BE49-F238E27FC236}">
                <a16:creationId xmlns:a16="http://schemas.microsoft.com/office/drawing/2014/main" id="{CED68DE9-43D6-BA18-8B65-A29EBB6751A8}"/>
              </a:ext>
            </a:extLst>
          </p:cNvPr>
          <p:cNvGrpSpPr/>
          <p:nvPr/>
        </p:nvGrpSpPr>
        <p:grpSpPr>
          <a:xfrm>
            <a:off x="4745985" y="3158996"/>
            <a:ext cx="1890020" cy="1530018"/>
            <a:chOff x="3221985" y="3158996"/>
            <a:chExt cx="1890020" cy="1530018"/>
          </a:xfrm>
        </p:grpSpPr>
        <p:grpSp>
          <p:nvGrpSpPr>
            <p:cNvPr id="44" name="グループ化 43">
              <a:extLst>
                <a:ext uri="{FF2B5EF4-FFF2-40B4-BE49-F238E27FC236}">
                  <a16:creationId xmlns:a16="http://schemas.microsoft.com/office/drawing/2014/main" id="{C8F79504-3398-C09B-5526-7CA1CCAE6C7D}"/>
                </a:ext>
              </a:extLst>
            </p:cNvPr>
            <p:cNvGrpSpPr/>
            <p:nvPr/>
          </p:nvGrpSpPr>
          <p:grpSpPr>
            <a:xfrm>
              <a:off x="3221985" y="3969006"/>
              <a:ext cx="900010" cy="720008"/>
              <a:chOff x="251952" y="3429000"/>
              <a:chExt cx="720008" cy="720008"/>
            </a:xfrm>
          </p:grpSpPr>
          <p:cxnSp>
            <p:nvCxnSpPr>
              <p:cNvPr id="8" name="直線コネクタ 7">
                <a:extLst>
                  <a:ext uri="{FF2B5EF4-FFF2-40B4-BE49-F238E27FC236}">
                    <a16:creationId xmlns:a16="http://schemas.microsoft.com/office/drawing/2014/main" id="{056902C5-1179-42FF-2313-33061C7F6539}"/>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9" name="直線コネクタ 8">
                <a:extLst>
                  <a:ext uri="{FF2B5EF4-FFF2-40B4-BE49-F238E27FC236}">
                    <a16:creationId xmlns:a16="http://schemas.microsoft.com/office/drawing/2014/main" id="{8913CA64-9364-A19E-5B55-5A493958BE8A}"/>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20CC5D28-203E-154F-BD8D-EDACAC2D929B}"/>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3" name="直線コネクタ 22">
                <a:extLst>
                  <a:ext uri="{FF2B5EF4-FFF2-40B4-BE49-F238E27FC236}">
                    <a16:creationId xmlns:a16="http://schemas.microsoft.com/office/drawing/2014/main" id="{1374F199-39E6-7CD1-1F0C-761788482217}"/>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5" name="直線コネクタ 24">
                <a:extLst>
                  <a:ext uri="{FF2B5EF4-FFF2-40B4-BE49-F238E27FC236}">
                    <a16:creationId xmlns:a16="http://schemas.microsoft.com/office/drawing/2014/main" id="{F5F044C1-D208-A1F1-B6C5-9C72754C00BF}"/>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8" name="直線コネクタ 27">
                <a:extLst>
                  <a:ext uri="{FF2B5EF4-FFF2-40B4-BE49-F238E27FC236}">
                    <a16:creationId xmlns:a16="http://schemas.microsoft.com/office/drawing/2014/main" id="{67B0DBD6-6E30-B91E-92C2-B9E0876E869A}"/>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5FEAA2A2-A1A0-FBE0-20AD-CFC1E18892B4}"/>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63" name="グループ化 62">
              <a:extLst>
                <a:ext uri="{FF2B5EF4-FFF2-40B4-BE49-F238E27FC236}">
                  <a16:creationId xmlns:a16="http://schemas.microsoft.com/office/drawing/2014/main" id="{48BB9F4A-3D03-1F39-194B-10AD2A7346F8}"/>
                </a:ext>
              </a:extLst>
            </p:cNvPr>
            <p:cNvGrpSpPr/>
            <p:nvPr/>
          </p:nvGrpSpPr>
          <p:grpSpPr>
            <a:xfrm flipH="1">
              <a:off x="4121994" y="3969006"/>
              <a:ext cx="990011" cy="720008"/>
              <a:chOff x="251952" y="3429000"/>
              <a:chExt cx="720008" cy="720008"/>
            </a:xfrm>
          </p:grpSpPr>
          <p:cxnSp>
            <p:nvCxnSpPr>
              <p:cNvPr id="65" name="直線コネクタ 64">
                <a:extLst>
                  <a:ext uri="{FF2B5EF4-FFF2-40B4-BE49-F238E27FC236}">
                    <a16:creationId xmlns:a16="http://schemas.microsoft.com/office/drawing/2014/main" id="{3A2EFEFE-8B12-5897-915C-E097CEA30807}"/>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A5D661D1-8356-5922-67DC-214046D68394}"/>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937AC6DB-FA14-632B-32F3-7958E1D9EE97}"/>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4DA70B17-188C-7AA3-AEDE-B541F2686E78}"/>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D964847B-4A38-38A7-57A4-0E7910AC76C7}"/>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0" name="直線コネクタ 69">
                <a:extLst>
                  <a:ext uri="{FF2B5EF4-FFF2-40B4-BE49-F238E27FC236}">
                    <a16:creationId xmlns:a16="http://schemas.microsoft.com/office/drawing/2014/main" id="{9A1C2C7A-B947-B791-EAC6-4142AEFE7A35}"/>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1" name="直線コネクタ 70">
                <a:extLst>
                  <a:ext uri="{FF2B5EF4-FFF2-40B4-BE49-F238E27FC236}">
                    <a16:creationId xmlns:a16="http://schemas.microsoft.com/office/drawing/2014/main" id="{1F22D83E-8E35-DCC7-936F-D9962BA41EAB}"/>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72" name="グループ化 71">
              <a:extLst>
                <a:ext uri="{FF2B5EF4-FFF2-40B4-BE49-F238E27FC236}">
                  <a16:creationId xmlns:a16="http://schemas.microsoft.com/office/drawing/2014/main" id="{DA0A5E57-4CD4-2613-15E2-AA0A3CB0E7C3}"/>
                </a:ext>
              </a:extLst>
            </p:cNvPr>
            <p:cNvGrpSpPr/>
            <p:nvPr/>
          </p:nvGrpSpPr>
          <p:grpSpPr>
            <a:xfrm flipV="1">
              <a:off x="3221985" y="3158997"/>
              <a:ext cx="900010" cy="810009"/>
              <a:chOff x="251952" y="3429000"/>
              <a:chExt cx="720008" cy="720008"/>
            </a:xfrm>
          </p:grpSpPr>
          <p:cxnSp>
            <p:nvCxnSpPr>
              <p:cNvPr id="73" name="直線コネクタ 72">
                <a:extLst>
                  <a:ext uri="{FF2B5EF4-FFF2-40B4-BE49-F238E27FC236}">
                    <a16:creationId xmlns:a16="http://schemas.microsoft.com/office/drawing/2014/main" id="{5B8A254F-F4B8-8A6D-FE93-A31DA2169F76}"/>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4" name="直線コネクタ 73">
                <a:extLst>
                  <a:ext uri="{FF2B5EF4-FFF2-40B4-BE49-F238E27FC236}">
                    <a16:creationId xmlns:a16="http://schemas.microsoft.com/office/drawing/2014/main" id="{4D830FE3-CA09-3E8F-9DAB-883DF982AB04}"/>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723444B3-AEE4-2A18-DA43-1327B89A129F}"/>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81FC493C-5219-78BB-3AEC-8E0025B897A5}"/>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615ABB74-84FF-6FB5-814E-255185397FE9}"/>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403A3929-C5E2-6CD6-B4F9-8C7B9EAD675F}"/>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E4079E60-C02E-F935-B855-9E7965671846}"/>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80" name="グループ化 79">
              <a:extLst>
                <a:ext uri="{FF2B5EF4-FFF2-40B4-BE49-F238E27FC236}">
                  <a16:creationId xmlns:a16="http://schemas.microsoft.com/office/drawing/2014/main" id="{ED9C66C9-303D-1F89-7ECD-9325BB1D3BE1}"/>
                </a:ext>
              </a:extLst>
            </p:cNvPr>
            <p:cNvGrpSpPr/>
            <p:nvPr/>
          </p:nvGrpSpPr>
          <p:grpSpPr>
            <a:xfrm flipH="1" flipV="1">
              <a:off x="4121995" y="3158996"/>
              <a:ext cx="900010" cy="810009"/>
              <a:chOff x="251952" y="3429000"/>
              <a:chExt cx="720008" cy="720008"/>
            </a:xfrm>
          </p:grpSpPr>
          <p:cxnSp>
            <p:nvCxnSpPr>
              <p:cNvPr id="81" name="直線コネクタ 80">
                <a:extLst>
                  <a:ext uri="{FF2B5EF4-FFF2-40B4-BE49-F238E27FC236}">
                    <a16:creationId xmlns:a16="http://schemas.microsoft.com/office/drawing/2014/main" id="{C5ADBFAD-611F-7867-4C40-C2C2D72FC9E8}"/>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2" name="直線コネクタ 81">
                <a:extLst>
                  <a:ext uri="{FF2B5EF4-FFF2-40B4-BE49-F238E27FC236}">
                    <a16:creationId xmlns:a16="http://schemas.microsoft.com/office/drawing/2014/main" id="{59895B97-7A0D-D6D7-C5F0-D76B8DF1A467}"/>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D0F19B65-745C-76EA-E524-96F6FC7BF969}"/>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B26B1463-49BC-B1BC-B95D-9984458718AE}"/>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5" name="直線コネクタ 84">
                <a:extLst>
                  <a:ext uri="{FF2B5EF4-FFF2-40B4-BE49-F238E27FC236}">
                    <a16:creationId xmlns:a16="http://schemas.microsoft.com/office/drawing/2014/main" id="{A4E4472F-013C-610E-59C5-BAAB953F5751}"/>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6" name="直線コネクタ 85">
                <a:extLst>
                  <a:ext uri="{FF2B5EF4-FFF2-40B4-BE49-F238E27FC236}">
                    <a16:creationId xmlns:a16="http://schemas.microsoft.com/office/drawing/2014/main" id="{247318D5-0FB2-5E0F-0A97-D3B0641BC848}"/>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7" name="直線コネクタ 86">
                <a:extLst>
                  <a:ext uri="{FF2B5EF4-FFF2-40B4-BE49-F238E27FC236}">
                    <a16:creationId xmlns:a16="http://schemas.microsoft.com/office/drawing/2014/main" id="{9E3A0168-3242-3A96-13BC-2E60683AA55F}"/>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sp>
        <p:nvSpPr>
          <p:cNvPr id="11" name="角丸四角形吹き出し 20">
            <a:extLst>
              <a:ext uri="{FF2B5EF4-FFF2-40B4-BE49-F238E27FC236}">
                <a16:creationId xmlns:a16="http://schemas.microsoft.com/office/drawing/2014/main" id="{BC106EA9-7941-84A8-A29E-2C293DF556EF}"/>
              </a:ext>
            </a:extLst>
          </p:cNvPr>
          <p:cNvSpPr/>
          <p:nvPr/>
        </p:nvSpPr>
        <p:spPr bwMode="auto">
          <a:xfrm>
            <a:off x="6276003" y="4419011"/>
            <a:ext cx="1710019" cy="432646"/>
          </a:xfrm>
          <a:prstGeom prst="wedgeRoundRectCallout">
            <a:avLst>
              <a:gd name="adj1" fmla="val -41013"/>
              <a:gd name="adj2" fmla="val -105985"/>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１本受け持ちます</a:t>
            </a:r>
          </a:p>
        </p:txBody>
      </p:sp>
    </p:spTree>
    <p:extLst>
      <p:ext uri="{BB962C8B-B14F-4D97-AF65-F5344CB8AC3E}">
        <p14:creationId xmlns:p14="http://schemas.microsoft.com/office/powerpoint/2010/main" val="42594199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コンピュータにおける構造ハザード</a:t>
            </a:r>
          </a:p>
        </p:txBody>
      </p:sp>
      <p:sp>
        <p:nvSpPr>
          <p:cNvPr id="3" name="テキスト プレースホルダー 2"/>
          <p:cNvSpPr>
            <a:spLocks noGrp="1"/>
          </p:cNvSpPr>
          <p:nvPr>
            <p:ph type="body" sz="quarter" idx="10"/>
          </p:nvPr>
        </p:nvSpPr>
        <p:spPr/>
        <p:txBody>
          <a:bodyPr/>
          <a:lstStyle/>
          <a:p>
            <a:r>
              <a:rPr lang="ja-JP" altLang="en-US" dirty="0"/>
              <a:t>ハード資源：</a:t>
            </a:r>
            <a:endParaRPr lang="en-US" altLang="ja-JP" dirty="0"/>
          </a:p>
          <a:p>
            <a:pPr lvl="1"/>
            <a:r>
              <a:rPr lang="ja-JP" altLang="en-US" dirty="0"/>
              <a:t>演算器（</a:t>
            </a:r>
            <a:r>
              <a:rPr lang="en-US" altLang="ja-JP" dirty="0"/>
              <a:t>FU</a:t>
            </a:r>
            <a:r>
              <a:rPr lang="ja-JP" altLang="en-US" dirty="0"/>
              <a:t>），レジスタ・ファイル，メモリ など</a:t>
            </a:r>
            <a:endParaRPr lang="en-US" altLang="ja-JP" dirty="0"/>
          </a:p>
          <a:p>
            <a:r>
              <a:rPr lang="ja-JP" altLang="en-US" dirty="0"/>
              <a:t>構造ハザード：</a:t>
            </a:r>
            <a:endParaRPr lang="en-US" altLang="ja-JP" dirty="0"/>
          </a:p>
          <a:p>
            <a:pPr lvl="1"/>
            <a:r>
              <a:rPr lang="ja-JP" altLang="en-US" dirty="0"/>
              <a:t>ハード資源の不足により，パイプラインがうまく動作しないこと</a:t>
            </a:r>
            <a:endParaRPr lang="en-US" altLang="ja-JP" dirty="0"/>
          </a:p>
          <a:p>
            <a:pPr lvl="1"/>
            <a:r>
              <a:rPr kumimoji="1" lang="ja-JP" altLang="en-US" dirty="0"/>
              <a:t>いくつかの例を使った説明，解消方法について解説</a:t>
            </a:r>
          </a:p>
        </p:txBody>
      </p:sp>
    </p:spTree>
    <p:extLst>
      <p:ext uri="{BB962C8B-B14F-4D97-AF65-F5344CB8AC3E}">
        <p14:creationId xmlns:p14="http://schemas.microsoft.com/office/powerpoint/2010/main" val="9413290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a:t>
            </a:r>
            <a:r>
              <a:rPr lang="ja-JP" altLang="en-US" dirty="0"/>
              <a:t>例１：メモリ間 </a:t>
            </a:r>
            <a:r>
              <a:rPr lang="en-US" altLang="ja-JP" dirty="0" err="1"/>
              <a:t>mov</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例１：仮に </a:t>
            </a:r>
            <a:r>
              <a:rPr kumimoji="1" lang="en-US" altLang="ja-JP" dirty="0" err="1"/>
              <a:t>mov</a:t>
            </a:r>
            <a:r>
              <a:rPr kumimoji="1" lang="en-US" altLang="ja-JP" dirty="0"/>
              <a:t> [rs1]</a:t>
            </a:r>
            <a:r>
              <a:rPr kumimoji="1" lang="ja-JP" altLang="en-US" dirty="0"/>
              <a:t>→</a:t>
            </a:r>
            <a:r>
              <a:rPr kumimoji="1" lang="en-US" altLang="ja-JP" dirty="0"/>
              <a:t>[rs2] </a:t>
            </a:r>
            <a:r>
              <a:rPr kumimoji="1" lang="ja-JP" altLang="en-US" dirty="0"/>
              <a:t>のような命令があったとする</a:t>
            </a:r>
            <a:endParaRPr kumimoji="1" lang="en-US" altLang="ja-JP" dirty="0"/>
          </a:p>
          <a:p>
            <a:pPr lvl="1"/>
            <a:r>
              <a:rPr kumimoji="1" lang="ja-JP" altLang="en-US" dirty="0"/>
              <a:t>メモリを読んで，その結果をメモリに書く（</a:t>
            </a:r>
            <a:r>
              <a:rPr kumimoji="1" lang="en-US" altLang="ja-JP" dirty="0"/>
              <a:t>=</a:t>
            </a:r>
            <a:r>
              <a:rPr kumimoji="1" lang="ja-JP" altLang="en-US" dirty="0"/>
              <a:t>コピー）</a:t>
            </a:r>
            <a:endParaRPr kumimoji="1" lang="en-US" altLang="ja-JP" dirty="0"/>
          </a:p>
          <a:p>
            <a:r>
              <a:rPr kumimoji="1" lang="ja-JP" altLang="en-US" dirty="0"/>
              <a:t>具体的な動作：</a:t>
            </a:r>
            <a:endParaRPr kumimoji="1" lang="en-US" altLang="ja-JP" dirty="0"/>
          </a:p>
          <a:p>
            <a:pPr lvl="1"/>
            <a:r>
              <a:rPr lang="en-US" altLang="ja-JP" dirty="0"/>
              <a:t>rs1 </a:t>
            </a:r>
            <a:r>
              <a:rPr lang="ja-JP" altLang="en-US" dirty="0"/>
              <a:t>で指定されるアドレスのメモリの値を読んで，</a:t>
            </a:r>
            <a:endParaRPr lang="en-US" altLang="ja-JP" dirty="0"/>
          </a:p>
          <a:p>
            <a:pPr lvl="1"/>
            <a:r>
              <a:rPr lang="en-US" altLang="ja-JP" dirty="0"/>
              <a:t>rs2 </a:t>
            </a:r>
            <a:r>
              <a:rPr lang="ja-JP" altLang="en-US" dirty="0"/>
              <a:t>で指定されるアドレスのメモリに書き込む</a:t>
            </a:r>
            <a:endParaRPr lang="en-US" altLang="ja-JP" dirty="0"/>
          </a:p>
          <a:p>
            <a:r>
              <a:rPr lang="ja-JP" altLang="en-US" dirty="0"/>
              <a:t>実際に，</a:t>
            </a:r>
            <a:r>
              <a:rPr lang="en-US" altLang="ja-JP" dirty="0"/>
              <a:t>x86 </a:t>
            </a:r>
            <a:r>
              <a:rPr lang="ja-JP" altLang="en-US" dirty="0" err="1"/>
              <a:t>には</a:t>
            </a:r>
            <a:r>
              <a:rPr lang="ja-JP" altLang="en-US" dirty="0"/>
              <a:t>このような命令がある</a:t>
            </a:r>
            <a:endParaRPr kumimoji="1" lang="ja-JP" altLang="en-US" dirty="0"/>
          </a:p>
        </p:txBody>
      </p:sp>
    </p:spTree>
    <p:extLst>
      <p:ext uri="{BB962C8B-B14F-4D97-AF65-F5344CB8AC3E}">
        <p14:creationId xmlns:p14="http://schemas.microsoft.com/office/powerpoint/2010/main" val="16850236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err="1"/>
              <a:t>mov</a:t>
            </a:r>
            <a:r>
              <a:rPr lang="en-US" altLang="ja-JP" dirty="0"/>
              <a:t> [rs1]</a:t>
            </a:r>
            <a:r>
              <a:rPr lang="ja-JP" altLang="en-US" dirty="0"/>
              <a:t>→</a:t>
            </a:r>
            <a:r>
              <a:rPr lang="en-US" altLang="ja-JP" dirty="0"/>
              <a:t>[rs2] // [rs1]</a:t>
            </a:r>
            <a:r>
              <a:rPr lang="ja-JP" altLang="en-US" dirty="0"/>
              <a:t>→</a:t>
            </a:r>
            <a:r>
              <a:rPr lang="en-US" altLang="ja-JP" dirty="0"/>
              <a:t>[rs2] </a:t>
            </a:r>
            <a:r>
              <a:rPr lang="ja-JP" altLang="en-US" dirty="0" err="1"/>
              <a:t>への</a:t>
            </a:r>
            <a:r>
              <a:rPr lang="ja-JP" altLang="en-US" dirty="0"/>
              <a:t>コピー</a:t>
            </a:r>
            <a:endParaRPr kumimoji="1" lang="ja-JP" altLang="en-US" dirty="0"/>
          </a:p>
        </p:txBody>
      </p:sp>
      <p:sp>
        <p:nvSpPr>
          <p:cNvPr id="3" name="テキスト プレースホルダー 2"/>
          <p:cNvSpPr>
            <a:spLocks noGrp="1"/>
          </p:cNvSpPr>
          <p:nvPr>
            <p:ph type="body" sz="quarter" idx="10"/>
          </p:nvPr>
        </p:nvSpPr>
        <p:spPr>
          <a:xfrm>
            <a:off x="1865954" y="5589024"/>
            <a:ext cx="8550095" cy="449698"/>
          </a:xfrm>
        </p:spPr>
        <p:txBody>
          <a:bodyPr/>
          <a:lstStyle/>
          <a:p>
            <a:r>
              <a:rPr kumimoji="1" lang="ja-JP" altLang="en-US" dirty="0"/>
              <a:t>ある１つのサイクルにメモリを「読んで」「 書く」必要がある</a:t>
            </a:r>
            <a:endParaRPr kumimoji="1" lang="en-US" altLang="ja-JP" dirty="0"/>
          </a:p>
          <a:p>
            <a:pPr lvl="1"/>
            <a:r>
              <a:rPr lang="ja-JP" altLang="en-US" dirty="0"/>
              <a:t>しかし，</a:t>
            </a:r>
            <a:r>
              <a:rPr lang="ja-JP" altLang="en-US" dirty="0">
                <a:solidFill>
                  <a:schemeClr val="accent5"/>
                </a:solidFill>
              </a:rPr>
              <a:t>データ・メモリのアドレス</a:t>
            </a:r>
            <a:r>
              <a:rPr kumimoji="1" lang="ja-JP" altLang="en-US" dirty="0">
                <a:solidFill>
                  <a:schemeClr val="accent5"/>
                </a:solidFill>
              </a:rPr>
              <a:t>の口は</a:t>
            </a:r>
            <a:r>
              <a:rPr kumimoji="1" lang="en-US" altLang="ja-JP" dirty="0">
                <a:solidFill>
                  <a:schemeClr val="accent5"/>
                </a:solidFill>
              </a:rPr>
              <a:t>1</a:t>
            </a:r>
            <a:r>
              <a:rPr kumimoji="1" lang="ja-JP" altLang="en-US" dirty="0">
                <a:solidFill>
                  <a:schemeClr val="accent5"/>
                </a:solidFill>
              </a:rPr>
              <a:t>つしかない</a:t>
            </a:r>
            <a:endParaRPr kumimoji="1" lang="en-US" altLang="ja-JP" dirty="0">
              <a:solidFill>
                <a:schemeClr val="accent5"/>
              </a:solidFill>
            </a:endParaRPr>
          </a:p>
          <a:p>
            <a:pPr lvl="1"/>
            <a:r>
              <a:rPr lang="en-US" altLang="ja-JP" dirty="0"/>
              <a:t>MEM </a:t>
            </a:r>
            <a:r>
              <a:rPr lang="ja-JP" altLang="en-US" dirty="0"/>
              <a:t>ステージでデータ・メモリの読みと書きが同時にできない</a:t>
            </a:r>
            <a:endParaRPr lang="en-US" altLang="ja-JP" dirty="0"/>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46007" y="3068995"/>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9"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cxnSp>
        <p:nvCxnSpPr>
          <p:cNvPr id="27" name="直線矢印コネクタ 26"/>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4475982" y="2258988"/>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7536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6096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6096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4" name="正方形/長方形 33"/>
          <p:cNvSpPr/>
          <p:nvPr/>
        </p:nvSpPr>
        <p:spPr bwMode="auto">
          <a:xfrm>
            <a:off x="8256024"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b="1" dirty="0">
                <a:solidFill>
                  <a:schemeClr val="accent5"/>
                </a:solidFill>
                <a:latin typeface="メイリオ" panose="020B0604030504040204" pitchFamily="50" charset="-128"/>
                <a:ea typeface="メイリオ" panose="020B0604030504040204" pitchFamily="50" charset="-128"/>
              </a:rPr>
              <a:t>アドレス</a:t>
            </a:r>
          </a:p>
        </p:txBody>
      </p:sp>
      <p:sp>
        <p:nvSpPr>
          <p:cNvPr id="35" name="正方形/長方形 34"/>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正方形/長方形 38"/>
          <p:cNvSpPr/>
          <p:nvPr/>
        </p:nvSpPr>
        <p:spPr bwMode="auto">
          <a:xfrm>
            <a:off x="8256024" y="369900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0" name="直線矢印コネクタ 3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4475983"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10101044" y="2213986"/>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正方形/長方形 43"/>
          <p:cNvSpPr/>
          <p:nvPr/>
        </p:nvSpPr>
        <p:spPr bwMode="auto">
          <a:xfrm>
            <a:off x="879603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sp>
        <p:nvSpPr>
          <p:cNvPr id="45" name="正方形/長方形 44"/>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58" name="グループ化 57"/>
          <p:cNvGrpSpPr/>
          <p:nvPr/>
        </p:nvGrpSpPr>
        <p:grpSpPr>
          <a:xfrm>
            <a:off x="4025977" y="3068996"/>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63" name="正方形/長方形 62"/>
          <p:cNvSpPr/>
          <p:nvPr/>
        </p:nvSpPr>
        <p:spPr bwMode="auto">
          <a:xfrm>
            <a:off x="6186001"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627600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1" name="正方形/長方形 70"/>
          <p:cNvSpPr/>
          <p:nvPr/>
        </p:nvSpPr>
        <p:spPr bwMode="auto">
          <a:xfrm>
            <a:off x="7626017"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7716017"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5" name="角丸四角形 54"/>
          <p:cNvSpPr/>
          <p:nvPr/>
        </p:nvSpPr>
        <p:spPr bwMode="auto">
          <a:xfrm>
            <a:off x="7896021" y="2348988"/>
            <a:ext cx="2070023"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err="1"/>
              <a:t>mov</a:t>
            </a:r>
            <a:r>
              <a:rPr lang="en-US" altLang="ja-JP" b="1" dirty="0"/>
              <a:t> [rs1]</a:t>
            </a:r>
            <a:r>
              <a:rPr lang="ja-JP" altLang="en-US" b="1" dirty="0"/>
              <a:t>→</a:t>
            </a:r>
            <a:r>
              <a:rPr lang="en-US" altLang="ja-JP" b="1" dirty="0"/>
              <a:t>[rs2] </a:t>
            </a:r>
            <a:endParaRPr lang="ja-JP" altLang="en-US" b="1" dirty="0">
              <a:latin typeface="Arial Narrow" panose="020B0606020202030204" pitchFamily="34" charset="0"/>
            </a:endParaRPr>
          </a:p>
        </p:txBody>
      </p:sp>
    </p:spTree>
    <p:extLst>
      <p:ext uri="{BB962C8B-B14F-4D97-AF65-F5344CB8AC3E}">
        <p14:creationId xmlns:p14="http://schemas.microsoft.com/office/powerpoint/2010/main" val="20257071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構造ハザードの例２：</a:t>
            </a:r>
            <a:r>
              <a:rPr kumimoji="1" lang="en-US" altLang="ja-JP" dirty="0"/>
              <a:t>push/pop</a:t>
            </a:r>
            <a:endParaRPr kumimoji="1" lang="ja-JP" altLang="en-US" dirty="0"/>
          </a:p>
        </p:txBody>
      </p:sp>
      <p:sp>
        <p:nvSpPr>
          <p:cNvPr id="3" name="テキスト プレースホルダー 2"/>
          <p:cNvSpPr>
            <a:spLocks noGrp="1"/>
          </p:cNvSpPr>
          <p:nvPr>
            <p:ph type="body" sz="quarter" idx="10"/>
          </p:nvPr>
        </p:nvSpPr>
        <p:spPr>
          <a:xfrm>
            <a:off x="1865954" y="908972"/>
            <a:ext cx="8550095" cy="3240036"/>
          </a:xfrm>
        </p:spPr>
        <p:txBody>
          <a:bodyPr/>
          <a:lstStyle/>
          <a:p>
            <a:r>
              <a:rPr kumimoji="1" lang="en-US" altLang="ja-JP" dirty="0"/>
              <a:t>x86 </a:t>
            </a:r>
            <a:r>
              <a:rPr kumimoji="1" lang="ja-JP" altLang="en-US" dirty="0"/>
              <a:t>や </a:t>
            </a:r>
            <a:r>
              <a:rPr kumimoji="1" lang="en-US" altLang="ja-JP" dirty="0"/>
              <a:t>ARM </a:t>
            </a:r>
            <a:r>
              <a:rPr kumimoji="1" lang="ja-JP" altLang="en-US" dirty="0"/>
              <a:t>では</a:t>
            </a:r>
            <a:r>
              <a:rPr lang="ja-JP" altLang="en-US" dirty="0"/>
              <a:t>スタック操作のための </a:t>
            </a:r>
            <a:r>
              <a:rPr lang="en-US" altLang="ja-JP" dirty="0"/>
              <a:t>push/pop </a:t>
            </a:r>
            <a:r>
              <a:rPr lang="ja-JP" altLang="en-US" dirty="0"/>
              <a:t>命令がある</a:t>
            </a:r>
            <a:endParaRPr lang="en-US" altLang="ja-JP" dirty="0"/>
          </a:p>
          <a:p>
            <a:pPr lvl="1"/>
            <a:r>
              <a:rPr lang="en-US" altLang="ja-JP" dirty="0"/>
              <a:t>push</a:t>
            </a:r>
            <a:r>
              <a:rPr lang="ja-JP" altLang="en-US" dirty="0"/>
              <a:t>：</a:t>
            </a:r>
            <a:r>
              <a:rPr lang="en-US" altLang="ja-JP" dirty="0"/>
              <a:t>rs1-1</a:t>
            </a:r>
            <a:r>
              <a:rPr lang="ja-JP" altLang="en-US" dirty="0"/>
              <a:t>→</a:t>
            </a:r>
            <a:r>
              <a:rPr lang="en-US" altLang="ja-JP" dirty="0" err="1">
                <a:solidFill>
                  <a:schemeClr val="accent5"/>
                </a:solidFill>
              </a:rPr>
              <a:t>rd</a:t>
            </a:r>
            <a:r>
              <a:rPr lang="en-US" altLang="ja-JP" dirty="0"/>
              <a:t>,    r2</a:t>
            </a:r>
            <a:r>
              <a:rPr lang="ja-JP" altLang="en-US" dirty="0"/>
              <a:t>→</a:t>
            </a:r>
            <a:r>
              <a:rPr lang="en-US" altLang="ja-JP" dirty="0"/>
              <a:t>[</a:t>
            </a:r>
            <a:r>
              <a:rPr lang="en-US" altLang="ja-JP" dirty="0" err="1">
                <a:solidFill>
                  <a:schemeClr val="accent5"/>
                </a:solidFill>
              </a:rPr>
              <a:t>rd</a:t>
            </a:r>
            <a:r>
              <a:rPr lang="en-US" altLang="ja-JP" dirty="0"/>
              <a:t>]</a:t>
            </a:r>
          </a:p>
          <a:p>
            <a:pPr marL="1177200" lvl="2" indent="-457200">
              <a:buFont typeface="+mj-lt"/>
              <a:buAutoNum type="arabicPeriod"/>
            </a:pPr>
            <a:r>
              <a:rPr lang="ja-JP" altLang="en-US" dirty="0"/>
              <a:t>スタック・ポインタ（が入ってるレジスタ）をデクリメントし，</a:t>
            </a:r>
            <a:endParaRPr lang="en-US" altLang="ja-JP" dirty="0"/>
          </a:p>
          <a:p>
            <a:pPr marL="1177200" lvl="2" indent="-457200">
              <a:buFont typeface="+mj-lt"/>
              <a:buAutoNum type="arabicPeriod"/>
            </a:pPr>
            <a:r>
              <a:rPr lang="ja-JP" altLang="en-US" dirty="0"/>
              <a:t>それをアドレスにしてメモリに値を書き込む</a:t>
            </a:r>
            <a:endParaRPr lang="en-US" altLang="ja-JP" dirty="0"/>
          </a:p>
          <a:p>
            <a:pPr lvl="1"/>
            <a:r>
              <a:rPr kumimoji="1" lang="en-US" altLang="ja-JP" dirty="0"/>
              <a:t>pop</a:t>
            </a:r>
            <a:r>
              <a:rPr kumimoji="1" lang="ja-JP" altLang="en-US" dirty="0"/>
              <a:t>：</a:t>
            </a:r>
            <a:r>
              <a:rPr lang="en-US" altLang="ja-JP" dirty="0"/>
              <a:t>[rs1]</a:t>
            </a:r>
            <a:r>
              <a:rPr lang="ja-JP" altLang="en-US" dirty="0"/>
              <a:t>→</a:t>
            </a:r>
            <a:r>
              <a:rPr lang="en-US" altLang="ja-JP" dirty="0" err="1">
                <a:solidFill>
                  <a:schemeClr val="accent5"/>
                </a:solidFill>
              </a:rPr>
              <a:t>rd</a:t>
            </a:r>
            <a:r>
              <a:rPr lang="en-US" altLang="ja-JP" dirty="0"/>
              <a:t>, rs1+1</a:t>
            </a:r>
            <a:r>
              <a:rPr lang="ja-JP" altLang="en-US" dirty="0"/>
              <a:t>→</a:t>
            </a:r>
            <a:r>
              <a:rPr lang="en-US" altLang="ja-JP" dirty="0">
                <a:solidFill>
                  <a:schemeClr val="accent6"/>
                </a:solidFill>
              </a:rPr>
              <a:t>rs1</a:t>
            </a:r>
            <a:endParaRPr kumimoji="1" lang="en-US" altLang="ja-JP" dirty="0">
              <a:solidFill>
                <a:schemeClr val="accent6"/>
              </a:solidFill>
            </a:endParaRPr>
          </a:p>
          <a:p>
            <a:pPr marL="1177200" lvl="2" indent="-457200">
              <a:buFont typeface="+mj-lt"/>
              <a:buAutoNum type="arabicPeriod"/>
            </a:pPr>
            <a:r>
              <a:rPr kumimoji="1" lang="ja-JP" altLang="en-US" dirty="0"/>
              <a:t>スタック・ポインタをアドレスにして値を読む</a:t>
            </a:r>
            <a:endParaRPr kumimoji="1" lang="en-US" altLang="ja-JP" dirty="0"/>
          </a:p>
          <a:p>
            <a:pPr marL="1177200" lvl="2" indent="-457200">
              <a:buFont typeface="+mj-lt"/>
              <a:buAutoNum type="arabicPeriod"/>
            </a:pPr>
            <a:r>
              <a:rPr kumimoji="1" lang="ja-JP" altLang="en-US" dirty="0"/>
              <a:t>スタック・ポインタをインクリメント</a:t>
            </a:r>
          </a:p>
        </p:txBody>
      </p:sp>
      <p:sp>
        <p:nvSpPr>
          <p:cNvPr id="4" name="正方形/長方形 3"/>
          <p:cNvSpPr/>
          <p:nvPr/>
        </p:nvSpPr>
        <p:spPr bwMode="auto">
          <a:xfrm>
            <a:off x="4655984" y="4869016"/>
            <a:ext cx="720008" cy="180002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4655984" y="4869016"/>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p:cNvSpPr/>
          <p:nvPr/>
        </p:nvSpPr>
        <p:spPr bwMode="auto">
          <a:xfrm>
            <a:off x="4655984" y="5229019"/>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p:cNvSpPr/>
          <p:nvPr/>
        </p:nvSpPr>
        <p:spPr bwMode="auto">
          <a:xfrm>
            <a:off x="4655984" y="5589023"/>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p:cNvSpPr/>
          <p:nvPr/>
        </p:nvSpPr>
        <p:spPr bwMode="auto">
          <a:xfrm>
            <a:off x="4655984" y="5949027"/>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p:cNvSpPr/>
          <p:nvPr/>
        </p:nvSpPr>
        <p:spPr bwMode="auto">
          <a:xfrm>
            <a:off x="4655984" y="6309031"/>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 name="正方形/長方形 9"/>
          <p:cNvSpPr/>
          <p:nvPr/>
        </p:nvSpPr>
        <p:spPr bwMode="auto">
          <a:xfrm>
            <a:off x="3935976" y="522902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rs1-1 </a:t>
            </a:r>
            <a:r>
              <a:rPr lang="ja-JP" altLang="en-US" sz="1200" dirty="0">
                <a:latin typeface="メイリオ" panose="020B0604030504040204" pitchFamily="50" charset="-128"/>
                <a:ea typeface="メイリオ" panose="020B0604030504040204" pitchFamily="50" charset="-128"/>
              </a:rPr>
              <a:t>→</a:t>
            </a:r>
          </a:p>
        </p:txBody>
      </p:sp>
      <p:cxnSp>
        <p:nvCxnSpPr>
          <p:cNvPr id="12" name="直線矢印コネクタ 11"/>
          <p:cNvCxnSpPr/>
          <p:nvPr/>
        </p:nvCxnSpPr>
        <p:spPr bwMode="auto">
          <a:xfrm>
            <a:off x="5015988" y="4779015"/>
            <a:ext cx="0" cy="540006"/>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13" name="正方形/長方形 12"/>
          <p:cNvSpPr/>
          <p:nvPr/>
        </p:nvSpPr>
        <p:spPr bwMode="auto">
          <a:xfrm>
            <a:off x="6816008" y="4869016"/>
            <a:ext cx="720008" cy="180002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 name="正方形/長方形 13"/>
          <p:cNvSpPr/>
          <p:nvPr/>
        </p:nvSpPr>
        <p:spPr bwMode="auto">
          <a:xfrm>
            <a:off x="6816008" y="4869016"/>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正方形/長方形 14"/>
          <p:cNvSpPr/>
          <p:nvPr/>
        </p:nvSpPr>
        <p:spPr bwMode="auto">
          <a:xfrm>
            <a:off x="6816008" y="5229019"/>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 name="正方形/長方形 15"/>
          <p:cNvSpPr/>
          <p:nvPr/>
        </p:nvSpPr>
        <p:spPr bwMode="auto">
          <a:xfrm>
            <a:off x="6816008" y="5589023"/>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正方形/長方形 16"/>
          <p:cNvSpPr/>
          <p:nvPr/>
        </p:nvSpPr>
        <p:spPr bwMode="auto">
          <a:xfrm>
            <a:off x="6816008" y="5949027"/>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 name="正方形/長方形 17"/>
          <p:cNvSpPr/>
          <p:nvPr/>
        </p:nvSpPr>
        <p:spPr bwMode="auto">
          <a:xfrm>
            <a:off x="6816008" y="6309031"/>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 name="正方形/長方形 18"/>
          <p:cNvSpPr/>
          <p:nvPr/>
        </p:nvSpPr>
        <p:spPr bwMode="auto">
          <a:xfrm>
            <a:off x="6276002" y="522902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rs1 </a:t>
            </a:r>
            <a:r>
              <a:rPr lang="ja-JP" altLang="en-US" sz="1200" dirty="0">
                <a:latin typeface="メイリオ" panose="020B0604030504040204" pitchFamily="50" charset="-128"/>
                <a:ea typeface="メイリオ" panose="020B0604030504040204" pitchFamily="50" charset="-128"/>
              </a:rPr>
              <a:t>→</a:t>
            </a:r>
          </a:p>
        </p:txBody>
      </p:sp>
      <p:cxnSp>
        <p:nvCxnSpPr>
          <p:cNvPr id="20" name="直線矢印コネクタ 19"/>
          <p:cNvCxnSpPr/>
          <p:nvPr/>
        </p:nvCxnSpPr>
        <p:spPr bwMode="auto">
          <a:xfrm flipV="1">
            <a:off x="7176012" y="4779017"/>
            <a:ext cx="0" cy="540005"/>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22" name="円/楕円 21"/>
          <p:cNvSpPr/>
          <p:nvPr/>
        </p:nvSpPr>
        <p:spPr bwMode="auto">
          <a:xfrm>
            <a:off x="4745985" y="4239009"/>
            <a:ext cx="540006" cy="360004"/>
          </a:xfrm>
          <a:prstGeom prst="ellipse">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bg1"/>
                </a:solidFill>
                <a:latin typeface="+mn-ea"/>
              </a:rPr>
              <a:t>値</a:t>
            </a:r>
          </a:p>
        </p:txBody>
      </p:sp>
      <p:sp>
        <p:nvSpPr>
          <p:cNvPr id="24" name="円/楕円 23"/>
          <p:cNvSpPr/>
          <p:nvPr/>
        </p:nvSpPr>
        <p:spPr bwMode="auto">
          <a:xfrm>
            <a:off x="6906009" y="4239009"/>
            <a:ext cx="540006" cy="360004"/>
          </a:xfrm>
          <a:prstGeom prst="ellipse">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bg1"/>
                </a:solidFill>
                <a:latin typeface="+mn-ea"/>
              </a:rPr>
              <a:t>値</a:t>
            </a:r>
          </a:p>
        </p:txBody>
      </p:sp>
      <p:sp>
        <p:nvSpPr>
          <p:cNvPr id="29" name="正方形/長方形 28"/>
          <p:cNvSpPr/>
          <p:nvPr/>
        </p:nvSpPr>
        <p:spPr bwMode="auto">
          <a:xfrm>
            <a:off x="4205979"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600" dirty="0">
                <a:latin typeface="メイリオ" panose="020B0604030504040204" pitchFamily="50" charset="-128"/>
                <a:ea typeface="メイリオ" panose="020B0604030504040204" pitchFamily="50" charset="-128"/>
              </a:rPr>
              <a:t>Push</a:t>
            </a:r>
            <a:endParaRPr lang="ja-JP" altLang="en-US" sz="1600"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366003"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600" dirty="0">
                <a:latin typeface="メイリオ" panose="020B0604030504040204" pitchFamily="50" charset="-128"/>
                <a:ea typeface="メイリオ" panose="020B0604030504040204" pitchFamily="50" charset="-128"/>
              </a:rPr>
              <a:t>Pop</a:t>
            </a:r>
            <a:endParaRPr lang="ja-JP" altLang="en-US" sz="1600" dirty="0">
              <a:latin typeface="メイリオ" panose="020B0604030504040204" pitchFamily="50" charset="-128"/>
              <a:ea typeface="メイリオ" panose="020B0604030504040204" pitchFamily="50" charset="-128"/>
            </a:endParaRPr>
          </a:p>
        </p:txBody>
      </p:sp>
      <p:cxnSp>
        <p:nvCxnSpPr>
          <p:cNvPr id="35" name="直線矢印コネクタ 34"/>
          <p:cNvCxnSpPr/>
          <p:nvPr/>
        </p:nvCxnSpPr>
        <p:spPr bwMode="auto">
          <a:xfrm flipV="1">
            <a:off x="4295980" y="5499024"/>
            <a:ext cx="0" cy="360005"/>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38" name="直線矢印コネクタ 37"/>
          <p:cNvCxnSpPr>
            <a:cxnSpLocks/>
          </p:cNvCxnSpPr>
          <p:nvPr/>
        </p:nvCxnSpPr>
        <p:spPr bwMode="auto">
          <a:xfrm>
            <a:off x="6456004" y="5499023"/>
            <a:ext cx="0" cy="360004"/>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11" name="正方形/長方形 10">
            <a:extLst>
              <a:ext uri="{FF2B5EF4-FFF2-40B4-BE49-F238E27FC236}">
                <a16:creationId xmlns:a16="http://schemas.microsoft.com/office/drawing/2014/main" id="{45220213-6F12-858F-6F39-0C43E0222913}"/>
              </a:ext>
            </a:extLst>
          </p:cNvPr>
          <p:cNvSpPr/>
          <p:nvPr/>
        </p:nvSpPr>
        <p:spPr bwMode="auto">
          <a:xfrm>
            <a:off x="6068169" y="5589024"/>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rs1+1 </a:t>
            </a:r>
            <a:endParaRPr lang="ja-JP" altLang="en-US" sz="1200" dirty="0">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667CBABE-1FF1-5845-FB93-7810FE4458B3}"/>
              </a:ext>
            </a:extLst>
          </p:cNvPr>
          <p:cNvSpPr/>
          <p:nvPr/>
        </p:nvSpPr>
        <p:spPr bwMode="auto">
          <a:xfrm>
            <a:off x="3935976" y="558902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rs1 </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180624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pop</a:t>
            </a:r>
            <a:r>
              <a:rPr lang="ja-JP" altLang="en-US" dirty="0"/>
              <a:t>：</a:t>
            </a:r>
            <a:r>
              <a:rPr lang="en-US" altLang="ja-JP" dirty="0"/>
              <a:t>[rs1]→</a:t>
            </a:r>
            <a:r>
              <a:rPr lang="en-US" altLang="ja-JP" dirty="0" err="1"/>
              <a:t>rd</a:t>
            </a:r>
            <a:r>
              <a:rPr lang="en-US" altLang="ja-JP" dirty="0"/>
              <a:t>, rs1+1→rs1</a:t>
            </a:r>
          </a:p>
        </p:txBody>
      </p:sp>
      <p:sp>
        <p:nvSpPr>
          <p:cNvPr id="3" name="テキスト プレースホルダー 2"/>
          <p:cNvSpPr>
            <a:spLocks noGrp="1"/>
          </p:cNvSpPr>
          <p:nvPr>
            <p:ph type="body" sz="quarter" idx="10"/>
          </p:nvPr>
        </p:nvSpPr>
        <p:spPr>
          <a:xfrm>
            <a:off x="1865954" y="5589024"/>
            <a:ext cx="8550095" cy="449698"/>
          </a:xfrm>
        </p:spPr>
        <p:txBody>
          <a:bodyPr/>
          <a:lstStyle/>
          <a:p>
            <a:r>
              <a:rPr kumimoji="1" lang="en-US" altLang="ja-JP" dirty="0"/>
              <a:t>WB </a:t>
            </a:r>
            <a:r>
              <a:rPr kumimoji="1" lang="ja-JP" altLang="en-US" dirty="0"/>
              <a:t>ステージでレジスタに </a:t>
            </a:r>
            <a:r>
              <a:rPr kumimoji="1" lang="en-US" altLang="ja-JP" dirty="0" err="1"/>
              <a:t>rd</a:t>
            </a:r>
            <a:r>
              <a:rPr kumimoji="1" lang="en-US" altLang="ja-JP" dirty="0"/>
              <a:t> </a:t>
            </a:r>
            <a:r>
              <a:rPr kumimoji="1" lang="ja-JP" altLang="en-US" dirty="0"/>
              <a:t>と </a:t>
            </a:r>
            <a:r>
              <a:rPr kumimoji="1" lang="en-US" altLang="ja-JP" dirty="0"/>
              <a:t>rs1 </a:t>
            </a:r>
            <a:r>
              <a:rPr kumimoji="1" lang="ja-JP" altLang="en-US" dirty="0"/>
              <a:t>の</a:t>
            </a:r>
            <a:r>
              <a:rPr kumimoji="1" lang="en-US" altLang="ja-JP" dirty="0"/>
              <a:t>2</a:t>
            </a:r>
            <a:r>
              <a:rPr kumimoji="1" lang="ja-JP" altLang="en-US" dirty="0"/>
              <a:t>つを書き込む必要がある</a:t>
            </a:r>
            <a:endParaRPr kumimoji="1" lang="en-US" altLang="ja-JP" dirty="0"/>
          </a:p>
          <a:p>
            <a:pPr lvl="1"/>
            <a:r>
              <a:rPr kumimoji="1" lang="ja-JP" altLang="en-US" dirty="0"/>
              <a:t>２つのレジスタが１つの命令により更新されている</a:t>
            </a:r>
            <a:endParaRPr kumimoji="1" lang="en-US" altLang="ja-JP" dirty="0"/>
          </a:p>
          <a:p>
            <a:pPr lvl="1"/>
            <a:r>
              <a:rPr kumimoji="1" lang="ja-JP" altLang="en-US" dirty="0"/>
              <a:t>レジスタ・ファイルへの書き込みは，同時に２つはできない</a:t>
            </a:r>
            <a:endParaRPr kumimoji="1" lang="en-US" altLang="ja-JP" dirty="0"/>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46007" y="3068995"/>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9"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cxnSp>
        <p:nvCxnSpPr>
          <p:cNvPr id="27" name="直線矢印コネクタ 26"/>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4475982" y="2258988"/>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7536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6096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6096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5" name="正方形/長方形 34"/>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40" name="直線矢印コネクタ 3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4475983"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10101044" y="2213986"/>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正方形/長方形 44"/>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58" name="グループ化 57"/>
          <p:cNvGrpSpPr/>
          <p:nvPr/>
        </p:nvGrpSpPr>
        <p:grpSpPr>
          <a:xfrm>
            <a:off x="4025977" y="3068996"/>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63" name="正方形/長方形 62"/>
          <p:cNvSpPr/>
          <p:nvPr/>
        </p:nvSpPr>
        <p:spPr bwMode="auto">
          <a:xfrm>
            <a:off x="6186001"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627600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1" name="正方形/長方形 70"/>
          <p:cNvSpPr/>
          <p:nvPr/>
        </p:nvSpPr>
        <p:spPr bwMode="auto">
          <a:xfrm>
            <a:off x="7626017"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7716017"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5" name="角丸四角形 54"/>
          <p:cNvSpPr/>
          <p:nvPr/>
        </p:nvSpPr>
        <p:spPr bwMode="auto">
          <a:xfrm>
            <a:off x="3755975" y="2168986"/>
            <a:ext cx="3031751"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t>pop</a:t>
            </a:r>
            <a:r>
              <a:rPr lang="ja-JP" altLang="en-US" b="1" dirty="0"/>
              <a:t>：</a:t>
            </a:r>
            <a:r>
              <a:rPr lang="en-US" altLang="ja-JP" b="1" dirty="0"/>
              <a:t>[rs1]→</a:t>
            </a:r>
            <a:r>
              <a:rPr lang="en-US" altLang="ja-JP" b="1" dirty="0" err="1">
                <a:solidFill>
                  <a:schemeClr val="tx2"/>
                </a:solidFill>
              </a:rPr>
              <a:t>rd</a:t>
            </a:r>
            <a:r>
              <a:rPr lang="en-US" altLang="ja-JP" b="1" dirty="0"/>
              <a:t>, rs1+1→</a:t>
            </a:r>
            <a:r>
              <a:rPr lang="en-US" altLang="ja-JP" b="1" dirty="0">
                <a:solidFill>
                  <a:schemeClr val="tx2"/>
                </a:solidFill>
              </a:rPr>
              <a:t>rs1</a:t>
            </a:r>
            <a:endParaRPr lang="ja-JP" altLang="en-US" b="1" dirty="0">
              <a:solidFill>
                <a:schemeClr val="tx2"/>
              </a:solidFill>
              <a:latin typeface="Arial Narrow" panose="020B0606020202030204" pitchFamily="34" charset="0"/>
            </a:endParaRPr>
          </a:p>
        </p:txBody>
      </p:sp>
      <p:sp>
        <p:nvSpPr>
          <p:cNvPr id="65" name="正方形/長方形 64"/>
          <p:cNvSpPr/>
          <p:nvPr/>
        </p:nvSpPr>
        <p:spPr bwMode="auto">
          <a:xfrm>
            <a:off x="4655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a:t>
            </a:r>
          </a:p>
        </p:txBody>
      </p:sp>
      <p:sp>
        <p:nvSpPr>
          <p:cNvPr id="66" name="正方形/長方形 65"/>
          <p:cNvSpPr/>
          <p:nvPr/>
        </p:nvSpPr>
        <p:spPr bwMode="auto">
          <a:xfrm>
            <a:off x="4655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67" name="正方形/長方形 66"/>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68" name="正方形/長方形 67"/>
          <p:cNvSpPr/>
          <p:nvPr/>
        </p:nvSpPr>
        <p:spPr bwMode="auto">
          <a:xfrm>
            <a:off x="4655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69" name="正方形/長方形 68"/>
          <p:cNvSpPr/>
          <p:nvPr/>
        </p:nvSpPr>
        <p:spPr bwMode="auto">
          <a:xfrm>
            <a:off x="4655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spTree>
    <p:extLst>
      <p:ext uri="{BB962C8B-B14F-4D97-AF65-F5344CB8AC3E}">
        <p14:creationId xmlns:p14="http://schemas.microsoft.com/office/powerpoint/2010/main" val="10320341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構造ハザードの例３</a:t>
            </a:r>
            <a:endParaRPr lang="ja-JP" altLang="en-US" dirty="0"/>
          </a:p>
        </p:txBody>
      </p:sp>
      <p:sp>
        <p:nvSpPr>
          <p:cNvPr id="3" name="テキスト プレースホルダー 2"/>
          <p:cNvSpPr>
            <a:spLocks noGrp="1"/>
          </p:cNvSpPr>
          <p:nvPr>
            <p:ph type="body" sz="quarter" idx="10"/>
          </p:nvPr>
        </p:nvSpPr>
        <p:spPr/>
        <p:txBody>
          <a:bodyPr/>
          <a:lstStyle/>
          <a:p>
            <a:r>
              <a:rPr lang="ja-JP" altLang="en-US" dirty="0"/>
              <a:t>使用資源の異なるステージ間のぶつかりでも起きる</a:t>
            </a:r>
            <a:endParaRPr lang="en-US" altLang="ja-JP" dirty="0"/>
          </a:p>
          <a:p>
            <a:pPr lvl="1"/>
            <a:r>
              <a:rPr lang="ja-JP" altLang="en-US" dirty="0"/>
              <a:t>これまでの例は，同じステージ内で資源が足りない例</a:t>
            </a:r>
            <a:endParaRPr lang="en-US" altLang="ja-JP" dirty="0"/>
          </a:p>
          <a:p>
            <a:r>
              <a:rPr lang="en-US" altLang="ja-JP" b="1" dirty="0" err="1">
                <a:latin typeface="Consolas" panose="020B0609020204030204" pitchFamily="49" charset="0"/>
              </a:rPr>
              <a:t>ld_inc</a:t>
            </a:r>
            <a:r>
              <a:rPr lang="en-US" altLang="ja-JP" b="1" dirty="0">
                <a:latin typeface="Consolas" panose="020B0609020204030204" pitchFamily="49" charset="0"/>
              </a:rPr>
              <a:t> [rs1]+1</a:t>
            </a:r>
            <a:r>
              <a:rPr lang="ja-JP" altLang="en-US" b="1" dirty="0">
                <a:latin typeface="Consolas" panose="020B0609020204030204" pitchFamily="49" charset="0"/>
              </a:rPr>
              <a:t>→</a:t>
            </a:r>
            <a:r>
              <a:rPr lang="en-US" altLang="ja-JP" b="1" dirty="0" err="1">
                <a:latin typeface="Consolas" panose="020B0609020204030204" pitchFamily="49" charset="0"/>
              </a:rPr>
              <a:t>rd</a:t>
            </a:r>
            <a:r>
              <a:rPr lang="en-US" altLang="ja-JP" dirty="0"/>
              <a:t> </a:t>
            </a:r>
            <a:r>
              <a:rPr lang="ja-JP" altLang="en-US" dirty="0" err="1"/>
              <a:t>のような</a:t>
            </a:r>
            <a:r>
              <a:rPr lang="ja-JP" altLang="en-US" dirty="0"/>
              <a:t>命令があったとする</a:t>
            </a:r>
            <a:endParaRPr lang="en-US" altLang="ja-JP" dirty="0"/>
          </a:p>
          <a:p>
            <a:pPr marL="817200" lvl="1" indent="-457200">
              <a:buFont typeface="+mj-lt"/>
              <a:buAutoNum type="arabicPeriod"/>
            </a:pPr>
            <a:r>
              <a:rPr lang="en-US" altLang="ja-JP" dirty="0"/>
              <a:t>rs1 </a:t>
            </a:r>
            <a:r>
              <a:rPr lang="ja-JP" altLang="en-US" dirty="0"/>
              <a:t>の指すアドレスからメモリを読む</a:t>
            </a:r>
            <a:endParaRPr lang="en-US" altLang="ja-JP" dirty="0"/>
          </a:p>
          <a:p>
            <a:pPr marL="817200" lvl="1" indent="-457200">
              <a:buFont typeface="+mj-lt"/>
              <a:buAutoNum type="arabicPeriod"/>
            </a:pPr>
            <a:r>
              <a:rPr lang="ja-JP" altLang="en-US" dirty="0"/>
              <a:t>読んだ値にさらに</a:t>
            </a:r>
            <a:r>
              <a:rPr lang="en-US" altLang="ja-JP" dirty="0"/>
              <a:t>+</a:t>
            </a:r>
            <a:r>
              <a:rPr lang="ja-JP" altLang="en-US" dirty="0"/>
              <a:t>１してから </a:t>
            </a:r>
            <a:r>
              <a:rPr lang="en-US" altLang="ja-JP" dirty="0" err="1"/>
              <a:t>rd</a:t>
            </a:r>
            <a:r>
              <a:rPr lang="en-US" altLang="ja-JP" dirty="0"/>
              <a:t> </a:t>
            </a:r>
            <a:r>
              <a:rPr lang="ja-JP" altLang="en-US" dirty="0"/>
              <a:t>に書く</a:t>
            </a:r>
            <a:endParaRPr lang="en-US" altLang="ja-JP" dirty="0"/>
          </a:p>
          <a:p>
            <a:r>
              <a:rPr lang="ja-JP" altLang="en-US" dirty="0"/>
              <a:t>一見，資源は足りているようだが･･･</a:t>
            </a:r>
            <a:endParaRPr lang="en-US" altLang="ja-JP" dirty="0"/>
          </a:p>
          <a:p>
            <a:pPr lvl="1"/>
            <a:r>
              <a:rPr lang="ja-JP" altLang="en-US" dirty="0"/>
              <a:t>レジスタの読み書きは１つずつしかない</a:t>
            </a:r>
            <a:endParaRPr lang="en-US" altLang="ja-JP" dirty="0"/>
          </a:p>
          <a:p>
            <a:pPr lvl="1"/>
            <a:r>
              <a:rPr lang="ja-JP" altLang="en-US" dirty="0"/>
              <a:t>メモリも１カ所を読むだけ</a:t>
            </a:r>
            <a:endParaRPr lang="en-US" altLang="ja-JP" dirty="0"/>
          </a:p>
          <a:p>
            <a:pPr lvl="1"/>
            <a:r>
              <a:rPr lang="ja-JP" altLang="en-US" dirty="0"/>
              <a:t>加算も１回行うだけ</a:t>
            </a:r>
            <a:endParaRPr lang="en-US" altLang="ja-JP" dirty="0"/>
          </a:p>
        </p:txBody>
      </p:sp>
    </p:spTree>
    <p:extLst>
      <p:ext uri="{BB962C8B-B14F-4D97-AF65-F5344CB8AC3E}">
        <p14:creationId xmlns:p14="http://schemas.microsoft.com/office/powerpoint/2010/main" val="36778896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構造ハザードの例３</a:t>
            </a:r>
            <a:endParaRPr lang="ja-JP" altLang="en-US" dirty="0"/>
          </a:p>
        </p:txBody>
      </p:sp>
      <p:sp>
        <p:nvSpPr>
          <p:cNvPr id="3" name="テキスト プレースホルダー 2"/>
          <p:cNvSpPr>
            <a:spLocks noGrp="1"/>
          </p:cNvSpPr>
          <p:nvPr>
            <p:ph type="body" sz="quarter" idx="10"/>
          </p:nvPr>
        </p:nvSpPr>
        <p:spPr>
          <a:xfrm>
            <a:off x="2135956" y="1088975"/>
            <a:ext cx="8280092" cy="2250025"/>
          </a:xfrm>
        </p:spPr>
        <p:txBody>
          <a:bodyPr/>
          <a:lstStyle/>
          <a:p>
            <a:r>
              <a:rPr lang="en-US" altLang="ja-JP" dirty="0" err="1"/>
              <a:t>ld_inc</a:t>
            </a:r>
            <a:r>
              <a:rPr lang="en-US" altLang="ja-JP" dirty="0"/>
              <a:t> [rs1]+1</a:t>
            </a:r>
            <a:r>
              <a:rPr lang="ja-JP" altLang="en-US" dirty="0"/>
              <a:t>→</a:t>
            </a:r>
            <a:r>
              <a:rPr lang="en-US" altLang="ja-JP" dirty="0" err="1"/>
              <a:t>rd</a:t>
            </a:r>
            <a:r>
              <a:rPr lang="en-US" altLang="ja-JP" dirty="0"/>
              <a:t>  </a:t>
            </a:r>
            <a:r>
              <a:rPr lang="ja-JP" altLang="en-US" dirty="0"/>
              <a:t>と </a:t>
            </a:r>
            <a:r>
              <a:rPr lang="en-US" altLang="ja-JP" dirty="0"/>
              <a:t>add </a:t>
            </a:r>
            <a:r>
              <a:rPr lang="ja-JP" altLang="en-US" dirty="0"/>
              <a:t>が連続した場合：</a:t>
            </a:r>
            <a:endParaRPr lang="en-US" altLang="ja-JP" dirty="0"/>
          </a:p>
          <a:p>
            <a:pPr lvl="1"/>
            <a:r>
              <a:rPr lang="en-US" altLang="ja-JP" dirty="0" err="1"/>
              <a:t>ld_inc</a:t>
            </a:r>
            <a:r>
              <a:rPr lang="en-US" altLang="ja-JP" dirty="0"/>
              <a:t> </a:t>
            </a:r>
            <a:r>
              <a:rPr lang="ja-JP" altLang="en-US" dirty="0"/>
              <a:t>で，</a:t>
            </a:r>
            <a:r>
              <a:rPr lang="en-US" altLang="ja-JP" dirty="0"/>
              <a:t>MEM </a:t>
            </a:r>
            <a:r>
              <a:rPr lang="ja-JP" altLang="en-US" dirty="0"/>
              <a:t>ステージから読んだ値を加算しようとしても，</a:t>
            </a:r>
            <a:endParaRPr lang="en-US" altLang="ja-JP" dirty="0"/>
          </a:p>
          <a:p>
            <a:pPr lvl="1"/>
            <a:r>
              <a:rPr lang="ja-JP" altLang="en-US" dirty="0"/>
              <a:t>そのサイクルは後続の </a:t>
            </a:r>
            <a:r>
              <a:rPr lang="en-US" altLang="ja-JP" dirty="0"/>
              <a:t>add </a:t>
            </a:r>
            <a:r>
              <a:rPr lang="ja-JP" altLang="en-US" dirty="0"/>
              <a:t>が演算器を使っているので使用できない</a:t>
            </a:r>
            <a:endParaRPr lang="en-US" altLang="ja-JP" dirty="0"/>
          </a:p>
        </p:txBody>
      </p:sp>
      <p:cxnSp>
        <p:nvCxnSpPr>
          <p:cNvPr id="4" name="直線コネクタ 3"/>
          <p:cNvCxnSpPr/>
          <p:nvPr/>
        </p:nvCxnSpPr>
        <p:spPr bwMode="auto">
          <a:xfrm>
            <a:off x="4475982" y="4329010"/>
            <a:ext cx="720080" cy="0"/>
          </a:xfrm>
          <a:prstGeom prst="line">
            <a:avLst/>
          </a:prstGeom>
          <a:noFill/>
          <a:ln w="9525" cap="flat" cmpd="sng" algn="ctr">
            <a:solidFill>
              <a:schemeClr val="tx1"/>
            </a:solidFill>
            <a:prstDash val="dash"/>
            <a:round/>
            <a:headEnd type="none" w="med" len="med"/>
            <a:tailEnd type="none" w="med" len="med"/>
          </a:ln>
          <a:effectLst/>
        </p:spPr>
      </p:cxnSp>
      <p:sp>
        <p:nvSpPr>
          <p:cNvPr id="5" name="角丸四角形 4"/>
          <p:cNvSpPr/>
          <p:nvPr/>
        </p:nvSpPr>
        <p:spPr bwMode="auto">
          <a:xfrm>
            <a:off x="3381490" y="4184850"/>
            <a:ext cx="11523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err="1">
                <a:latin typeface="Courier New" panose="02070309020205020404" pitchFamily="49" charset="0"/>
                <a:cs typeface="Courier New" panose="02070309020205020404" pitchFamily="49" charset="0"/>
              </a:rPr>
              <a:t>ld_inc</a:t>
            </a:r>
            <a:endParaRPr lang="ja-JP" altLang="en-US" b="1" dirty="0">
              <a:latin typeface="Courier New" panose="02070309020205020404" pitchFamily="49" charset="0"/>
              <a:cs typeface="Courier New" panose="02070309020205020404" pitchFamily="49" charset="0"/>
            </a:endParaRPr>
          </a:p>
        </p:txBody>
      </p:sp>
      <p:sp>
        <p:nvSpPr>
          <p:cNvPr id="6" name="角丸四角形 5"/>
          <p:cNvSpPr/>
          <p:nvPr/>
        </p:nvSpPr>
        <p:spPr bwMode="auto">
          <a:xfrm>
            <a:off x="3381490" y="4904858"/>
            <a:ext cx="11523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add</a:t>
            </a:r>
            <a:endParaRPr lang="ja-JP" altLang="en-US" b="1" dirty="0">
              <a:latin typeface="Courier New" panose="02070309020205020404" pitchFamily="49" charset="0"/>
              <a:cs typeface="Courier New" panose="02070309020205020404" pitchFamily="49" charset="0"/>
            </a:endParaRPr>
          </a:p>
        </p:txBody>
      </p:sp>
      <p:cxnSp>
        <p:nvCxnSpPr>
          <p:cNvPr id="7" name="直線コネクタ 6"/>
          <p:cNvCxnSpPr>
            <a:endCxn id="15" idx="1"/>
          </p:cNvCxnSpPr>
          <p:nvPr/>
        </p:nvCxnSpPr>
        <p:spPr bwMode="auto">
          <a:xfrm>
            <a:off x="4551503" y="5084860"/>
            <a:ext cx="1080012" cy="2"/>
          </a:xfrm>
          <a:prstGeom prst="line">
            <a:avLst/>
          </a:prstGeom>
          <a:noFill/>
          <a:ln w="9525" cap="flat" cmpd="sng" algn="ctr">
            <a:solidFill>
              <a:schemeClr val="tx1"/>
            </a:solidFill>
            <a:prstDash val="dash"/>
            <a:round/>
            <a:headEnd type="none" w="med" len="med"/>
            <a:tailEnd type="none" w="med" len="med"/>
          </a:ln>
          <a:effectLst/>
        </p:spPr>
      </p:cxnSp>
      <p:grpSp>
        <p:nvGrpSpPr>
          <p:cNvPr id="8" name="グループ化 7"/>
          <p:cNvGrpSpPr/>
          <p:nvPr/>
        </p:nvGrpSpPr>
        <p:grpSpPr>
          <a:xfrm>
            <a:off x="5181510" y="4184850"/>
            <a:ext cx="2160020" cy="360000"/>
            <a:chOff x="4481999" y="4959017"/>
            <a:chExt cx="2160020" cy="360000"/>
          </a:xfrm>
        </p:grpSpPr>
        <p:sp>
          <p:nvSpPr>
            <p:cNvPr id="9"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0"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1"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2"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3"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4" name="グループ化 13"/>
          <p:cNvGrpSpPr/>
          <p:nvPr/>
        </p:nvGrpSpPr>
        <p:grpSpPr>
          <a:xfrm>
            <a:off x="5631515" y="4904862"/>
            <a:ext cx="2160020" cy="360000"/>
            <a:chOff x="4481999" y="4959017"/>
            <a:chExt cx="2160020" cy="360000"/>
          </a:xfrm>
        </p:grpSpPr>
        <p:sp>
          <p:nvSpPr>
            <p:cNvPr id="15"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sp>
        <p:nvSpPr>
          <p:cNvPr id="20" name="角丸四角形 19"/>
          <p:cNvSpPr/>
          <p:nvPr/>
        </p:nvSpPr>
        <p:spPr bwMode="auto">
          <a:xfrm>
            <a:off x="6486129" y="4004848"/>
            <a:ext cx="450005" cy="1440016"/>
          </a:xfrm>
          <a:prstGeom prst="roundRect">
            <a:avLst/>
          </a:prstGeom>
          <a:no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7255457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err="1"/>
              <a:t>ld_inc</a:t>
            </a:r>
            <a:r>
              <a:rPr lang="en-US" altLang="ja-JP" dirty="0"/>
              <a:t> [rs1]+1</a:t>
            </a:r>
            <a:r>
              <a:rPr lang="ja-JP" altLang="en-US" dirty="0"/>
              <a:t>→</a:t>
            </a:r>
            <a:r>
              <a:rPr lang="en-US" altLang="ja-JP" dirty="0" err="1"/>
              <a:t>rd</a:t>
            </a:r>
            <a:r>
              <a:rPr lang="en-US" altLang="ja-JP" dirty="0"/>
              <a:t>  </a:t>
            </a:r>
            <a:r>
              <a:rPr lang="ja-JP" altLang="en-US" dirty="0"/>
              <a:t>と </a:t>
            </a:r>
            <a:r>
              <a:rPr lang="en-US" altLang="ja-JP" dirty="0"/>
              <a:t>add </a:t>
            </a:r>
            <a:r>
              <a:rPr lang="ja-JP" altLang="en-US" dirty="0"/>
              <a:t>が連続した場合</a:t>
            </a:r>
            <a:endParaRPr kumimoji="1" lang="ja-JP" altLang="en-US" dirty="0"/>
          </a:p>
        </p:txBody>
      </p:sp>
      <p:sp>
        <p:nvSpPr>
          <p:cNvPr id="3" name="テキスト プレースホルダー 2"/>
          <p:cNvSpPr>
            <a:spLocks noGrp="1"/>
          </p:cNvSpPr>
          <p:nvPr>
            <p:ph type="body" sz="quarter" idx="10"/>
          </p:nvPr>
        </p:nvSpPr>
        <p:spPr>
          <a:xfrm>
            <a:off x="2135956" y="5589025"/>
            <a:ext cx="8280092" cy="719701"/>
          </a:xfrm>
        </p:spPr>
        <p:txBody>
          <a:bodyPr/>
          <a:lstStyle/>
          <a:p>
            <a:r>
              <a:rPr lang="ja-JP" altLang="en-US" dirty="0"/>
              <a:t>命令は </a:t>
            </a:r>
            <a:r>
              <a:rPr lang="en-US" altLang="ja-JP" dirty="0"/>
              <a:t>EX </a:t>
            </a:r>
            <a:r>
              <a:rPr lang="ja-JP" altLang="en-US" dirty="0"/>
              <a:t>ステージ以外では，演算器にはアクセスできない</a:t>
            </a:r>
            <a:endParaRPr lang="en-US" altLang="ja-JP" dirty="0"/>
          </a:p>
          <a:p>
            <a:pPr lvl="1"/>
            <a:r>
              <a:rPr kumimoji="1" lang="ja-JP" altLang="en-US" dirty="0"/>
              <a:t>そうしないと，他の命令の </a:t>
            </a:r>
            <a:r>
              <a:rPr kumimoji="1" lang="en-US" altLang="ja-JP" dirty="0"/>
              <a:t>EX </a:t>
            </a:r>
            <a:r>
              <a:rPr kumimoji="1" lang="ja-JP" altLang="en-US" dirty="0"/>
              <a:t>ステージとかち合ってしまう</a:t>
            </a:r>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46007" y="3068995"/>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8" name="直線矢印コネクタ 17"/>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cxnSp>
        <p:nvCxnSpPr>
          <p:cNvPr id="19" name="直線矢印コネクタ 18"/>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0" name="Freeform 10"/>
          <p:cNvSpPr>
            <a:spLocks/>
          </p:cNvSpPr>
          <p:nvPr/>
        </p:nvSpPr>
        <p:spPr bwMode="auto">
          <a:xfrm>
            <a:off x="4475982" y="2258988"/>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1"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2" name="直線矢印コネクタ 21"/>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23" name="直線矢印コネクタ 22"/>
          <p:cNvCxnSpPr/>
          <p:nvPr/>
        </p:nvCxnSpPr>
        <p:spPr bwMode="auto">
          <a:xfrm>
            <a:off x="7536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24" name="直線矢印コネクタ 23"/>
          <p:cNvCxnSpPr/>
          <p:nvPr/>
        </p:nvCxnSpPr>
        <p:spPr bwMode="auto">
          <a:xfrm>
            <a:off x="6096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25" name="直線矢印コネクタ 24"/>
          <p:cNvCxnSpPr/>
          <p:nvPr/>
        </p:nvCxnSpPr>
        <p:spPr bwMode="auto">
          <a:xfrm>
            <a:off x="6096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26" name="正方形/長方形 25"/>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27"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8"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31" name="直線矢印コネクタ 30"/>
          <p:cNvCxnSpPr>
            <a:endCxn id="20" idx="0"/>
          </p:cNvCxnSpPr>
          <p:nvPr/>
        </p:nvCxnSpPr>
        <p:spPr bwMode="auto">
          <a:xfrm flipH="1">
            <a:off x="4475983"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3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3" name="Freeform 10"/>
          <p:cNvSpPr>
            <a:spLocks/>
          </p:cNvSpPr>
          <p:nvPr/>
        </p:nvSpPr>
        <p:spPr bwMode="auto">
          <a:xfrm rot="5400000" flipH="1" flipV="1">
            <a:off x="10101044" y="2213986"/>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4" name="正方形/長方形 33"/>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40" name="グループ化 39"/>
          <p:cNvGrpSpPr/>
          <p:nvPr/>
        </p:nvGrpSpPr>
        <p:grpSpPr>
          <a:xfrm>
            <a:off x="4025977" y="3068996"/>
            <a:ext cx="360004" cy="720008"/>
            <a:chOff x="2411977" y="3068996"/>
            <a:chExt cx="360004" cy="720008"/>
          </a:xfrm>
        </p:grpSpPr>
        <p:sp>
          <p:nvSpPr>
            <p:cNvPr id="41" name="正方形/長方形 40"/>
            <p:cNvSpPr/>
            <p:nvPr/>
          </p:nvSpPr>
          <p:spPr bwMode="auto">
            <a:xfrm>
              <a:off x="2411977"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2" name="二等辺三角形 41"/>
            <p:cNvSpPr/>
            <p:nvPr/>
          </p:nvSpPr>
          <p:spPr bwMode="auto">
            <a:xfrm>
              <a:off x="2501977" y="3609002"/>
              <a:ext cx="180002" cy="180002"/>
            </a:xfrm>
            <a:prstGeom prst="triangl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43" name="正方形/長方形 42"/>
          <p:cNvSpPr/>
          <p:nvPr/>
        </p:nvSpPr>
        <p:spPr bwMode="auto">
          <a:xfrm>
            <a:off x="6186001"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4" name="二等辺三角形 43"/>
          <p:cNvSpPr/>
          <p:nvPr/>
        </p:nvSpPr>
        <p:spPr bwMode="auto">
          <a:xfrm>
            <a:off x="627600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正方形/長方形 44"/>
          <p:cNvSpPr/>
          <p:nvPr/>
        </p:nvSpPr>
        <p:spPr bwMode="auto">
          <a:xfrm>
            <a:off x="7626017"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6" name="二等辺三角形 45"/>
          <p:cNvSpPr/>
          <p:nvPr/>
        </p:nvSpPr>
        <p:spPr bwMode="auto">
          <a:xfrm>
            <a:off x="7716017"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7986021" y="2258987"/>
            <a:ext cx="204174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err="1"/>
              <a:t>ld_inc</a:t>
            </a:r>
            <a:r>
              <a:rPr lang="en-US" altLang="ja-JP" dirty="0"/>
              <a:t> [rs1]+1</a:t>
            </a:r>
            <a:r>
              <a:rPr lang="ja-JP" altLang="en-US" dirty="0"/>
              <a:t>→</a:t>
            </a:r>
            <a:r>
              <a:rPr lang="en-US" altLang="ja-JP" dirty="0" err="1"/>
              <a:t>rd</a:t>
            </a:r>
            <a:r>
              <a:rPr lang="en-US" altLang="ja-JP" dirty="0"/>
              <a:t>  </a:t>
            </a:r>
            <a:endParaRPr lang="ja-JP" altLang="en-US" dirty="0">
              <a:latin typeface="Arial Narrow" panose="020B0606020202030204" pitchFamily="34" charset="0"/>
            </a:endParaRPr>
          </a:p>
        </p:txBody>
      </p:sp>
      <p:sp>
        <p:nvSpPr>
          <p:cNvPr id="53" name="角丸四角形 52"/>
          <p:cNvSpPr/>
          <p:nvPr/>
        </p:nvSpPr>
        <p:spPr bwMode="auto">
          <a:xfrm>
            <a:off x="6636006" y="2258987"/>
            <a:ext cx="90001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t>add</a:t>
            </a:r>
            <a:endParaRPr lang="ja-JP" altLang="en-US" dirty="0">
              <a:latin typeface="Arial Narrow" panose="020B0606020202030204" pitchFamily="34" charset="0"/>
            </a:endParaRPr>
          </a:p>
        </p:txBody>
      </p:sp>
    </p:spTree>
    <p:extLst>
      <p:ext uri="{BB962C8B-B14F-4D97-AF65-F5344CB8AC3E}">
        <p14:creationId xmlns:p14="http://schemas.microsoft.com/office/powerpoint/2010/main" val="5759013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構造ハザードの解決方法</a:t>
            </a:r>
          </a:p>
        </p:txBody>
      </p:sp>
      <p:sp>
        <p:nvSpPr>
          <p:cNvPr id="3" name="テキスト プレースホルダー 2"/>
          <p:cNvSpPr>
            <a:spLocks noGrp="1"/>
          </p:cNvSpPr>
          <p:nvPr>
            <p:ph type="body" sz="quarter" idx="10"/>
          </p:nvPr>
        </p:nvSpPr>
        <p:spPr/>
        <p:txBody>
          <a:bodyPr/>
          <a:lstStyle/>
          <a:p>
            <a:r>
              <a:rPr kumimoji="1" lang="ja-JP" altLang="en-US" dirty="0"/>
              <a:t>解決方法</a:t>
            </a:r>
            <a:endParaRPr kumimoji="1" lang="en-US" altLang="ja-JP" dirty="0"/>
          </a:p>
          <a:p>
            <a:pPr marL="817200" lvl="1" indent="-457200">
              <a:buFont typeface="+mj-lt"/>
              <a:buAutoNum type="arabicPeriod"/>
            </a:pPr>
            <a:r>
              <a:rPr kumimoji="1" lang="ja-JP" altLang="en-US" dirty="0"/>
              <a:t>ハードウェアの増強</a:t>
            </a:r>
          </a:p>
          <a:p>
            <a:pPr marL="817200" lvl="1" indent="-457200">
              <a:buFont typeface="+mj-lt"/>
              <a:buAutoNum type="arabicPeriod"/>
            </a:pPr>
            <a:r>
              <a:rPr kumimoji="1" lang="ja-JP" altLang="en-US" dirty="0"/>
              <a:t>時分割処理</a:t>
            </a:r>
            <a:endParaRPr kumimoji="1" lang="en-US" altLang="ja-JP" dirty="0"/>
          </a:p>
        </p:txBody>
      </p:sp>
    </p:spTree>
    <p:extLst>
      <p:ext uri="{BB962C8B-B14F-4D97-AF65-F5344CB8AC3E}">
        <p14:creationId xmlns:p14="http://schemas.microsoft.com/office/powerpoint/2010/main" val="3009723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解決方法１：ハードウェアの増強</a:t>
            </a:r>
          </a:p>
        </p:txBody>
      </p:sp>
      <p:sp>
        <p:nvSpPr>
          <p:cNvPr id="3" name="テキスト プレースホルダー 2"/>
          <p:cNvSpPr>
            <a:spLocks noGrp="1"/>
          </p:cNvSpPr>
          <p:nvPr>
            <p:ph type="body" sz="quarter" idx="10"/>
          </p:nvPr>
        </p:nvSpPr>
        <p:spPr/>
        <p:txBody>
          <a:bodyPr/>
          <a:lstStyle/>
          <a:p>
            <a:r>
              <a:rPr kumimoji="1" lang="ja-JP" altLang="en-US" dirty="0"/>
              <a:t>ハードウェアを増強する</a:t>
            </a:r>
            <a:br>
              <a:rPr kumimoji="1" lang="en-US" altLang="ja-JP" dirty="0"/>
            </a:br>
            <a:endParaRPr kumimoji="1" lang="en-US" altLang="ja-JP" dirty="0"/>
          </a:p>
          <a:p>
            <a:pPr lvl="1"/>
            <a:r>
              <a:rPr lang="en-US" altLang="ja-JP" dirty="0" err="1"/>
              <a:t>mov</a:t>
            </a:r>
            <a:r>
              <a:rPr lang="en-US" altLang="ja-JP" dirty="0"/>
              <a:t> [rs1]</a:t>
            </a:r>
            <a:r>
              <a:rPr lang="ja-JP" altLang="en-US" dirty="0"/>
              <a:t>→</a:t>
            </a:r>
            <a:r>
              <a:rPr lang="en-US" altLang="ja-JP" dirty="0"/>
              <a:t>[rs2]</a:t>
            </a:r>
          </a:p>
          <a:p>
            <a:pPr lvl="2"/>
            <a:r>
              <a:rPr lang="ja-JP" altLang="en-US" dirty="0"/>
              <a:t>複数箇所のメモリを同時に読み書きできるように</a:t>
            </a:r>
            <a:endParaRPr lang="en-US" altLang="ja-JP" dirty="0"/>
          </a:p>
          <a:p>
            <a:pPr lvl="2"/>
            <a:endParaRPr lang="en-US" altLang="ja-JP" dirty="0"/>
          </a:p>
          <a:p>
            <a:pPr lvl="1"/>
            <a:r>
              <a:rPr kumimoji="1" lang="en-US" altLang="ja-JP" dirty="0"/>
              <a:t>pop</a:t>
            </a:r>
          </a:p>
          <a:p>
            <a:pPr lvl="2"/>
            <a:r>
              <a:rPr kumimoji="1" lang="ja-JP" altLang="en-US" dirty="0"/>
              <a:t>レジスタに２つ同時に書き込めるように</a:t>
            </a:r>
            <a:endParaRPr kumimoji="1" lang="en-US" altLang="ja-JP" dirty="0"/>
          </a:p>
          <a:p>
            <a:pPr lvl="2"/>
            <a:endParaRPr kumimoji="1" lang="en-US" altLang="ja-JP" dirty="0"/>
          </a:p>
          <a:p>
            <a:pPr lvl="1"/>
            <a:r>
              <a:rPr lang="en-US" altLang="ja-JP" dirty="0" err="1"/>
              <a:t>ld_inc</a:t>
            </a:r>
            <a:r>
              <a:rPr lang="en-US" altLang="ja-JP" dirty="0"/>
              <a:t> [rs1]+1</a:t>
            </a:r>
            <a:r>
              <a:rPr lang="ja-JP" altLang="en-US" dirty="0"/>
              <a:t>→</a:t>
            </a:r>
            <a:r>
              <a:rPr lang="en-US" altLang="ja-JP" dirty="0" err="1"/>
              <a:t>rd</a:t>
            </a:r>
            <a:r>
              <a:rPr lang="en-US" altLang="ja-JP" dirty="0"/>
              <a:t>  </a:t>
            </a:r>
          </a:p>
          <a:p>
            <a:pPr lvl="2"/>
            <a:r>
              <a:rPr lang="en-US" altLang="ja-JP" dirty="0">
                <a:latin typeface="Arial Narrow" panose="020B0606020202030204" pitchFamily="34" charset="0"/>
              </a:rPr>
              <a:t>MEM </a:t>
            </a:r>
            <a:r>
              <a:rPr lang="ja-JP" altLang="en-US" dirty="0">
                <a:latin typeface="Arial Narrow" panose="020B0606020202030204" pitchFamily="34" charset="0"/>
              </a:rPr>
              <a:t>ステージに専用の加算器を追加</a:t>
            </a:r>
            <a:endParaRPr kumimoji="1" lang="ja-JP" altLang="en-US" dirty="0"/>
          </a:p>
        </p:txBody>
      </p:sp>
    </p:spTree>
    <p:extLst>
      <p:ext uri="{BB962C8B-B14F-4D97-AF65-F5344CB8AC3E}">
        <p14:creationId xmlns:p14="http://schemas.microsoft.com/office/powerpoint/2010/main" val="37137808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解決方法１：ハードウェアの増強</a:t>
            </a:r>
          </a:p>
        </p:txBody>
      </p:sp>
      <p:sp>
        <p:nvSpPr>
          <p:cNvPr id="3" name="テキスト プレースホルダー 2"/>
          <p:cNvSpPr>
            <a:spLocks noGrp="1"/>
          </p:cNvSpPr>
          <p:nvPr>
            <p:ph type="body" sz="quarter" idx="10"/>
          </p:nvPr>
        </p:nvSpPr>
        <p:spPr>
          <a:xfrm>
            <a:off x="1775952" y="1088975"/>
            <a:ext cx="8640096" cy="5219751"/>
          </a:xfrm>
        </p:spPr>
        <p:txBody>
          <a:bodyPr/>
          <a:lstStyle/>
          <a:p>
            <a:r>
              <a:rPr kumimoji="1" lang="ja-JP" altLang="en-US" dirty="0"/>
              <a:t>利点：オーバーヘッドをいとわなければ，基本これで解決</a:t>
            </a:r>
            <a:endParaRPr kumimoji="1" lang="en-US" altLang="ja-JP" dirty="0"/>
          </a:p>
          <a:p>
            <a:r>
              <a:rPr kumimoji="1" lang="ja-JP" altLang="en-US" dirty="0"/>
              <a:t>欠点：回路規模が増える</a:t>
            </a:r>
            <a:br>
              <a:rPr kumimoji="1" lang="en-US" altLang="ja-JP" dirty="0"/>
            </a:br>
            <a:endParaRPr kumimoji="1" lang="en-US" altLang="ja-JP" dirty="0"/>
          </a:p>
          <a:p>
            <a:pPr marL="817200" lvl="1" indent="-457200">
              <a:buFont typeface="+mj-lt"/>
              <a:buAutoNum type="arabicPeriod"/>
            </a:pPr>
            <a:r>
              <a:rPr kumimoji="1" lang="ja-JP" altLang="en-US" dirty="0"/>
              <a:t>機能の増強量に比例した回路が必要</a:t>
            </a:r>
            <a:endParaRPr kumimoji="1" lang="en-US" altLang="ja-JP" dirty="0"/>
          </a:p>
          <a:p>
            <a:pPr lvl="2"/>
            <a:r>
              <a:rPr lang="ja-JP" altLang="en-US" dirty="0"/>
              <a:t>なにも考えないで対応していくと，ものすごい数の回路になる</a:t>
            </a:r>
            <a:endParaRPr kumimoji="1" lang="en-US" altLang="ja-JP" dirty="0"/>
          </a:p>
          <a:p>
            <a:pPr lvl="2"/>
            <a:r>
              <a:rPr kumimoji="1" lang="ja-JP" altLang="en-US" dirty="0"/>
              <a:t>例：</a:t>
            </a:r>
            <a:r>
              <a:rPr kumimoji="1" lang="en-US" altLang="ja-JP" dirty="0"/>
              <a:t>ARM </a:t>
            </a:r>
            <a:r>
              <a:rPr kumimoji="1" lang="ja-JP" altLang="en-US" dirty="0"/>
              <a:t>は全１６レジスタを一気にメモリに書ける命令がある</a:t>
            </a:r>
            <a:endParaRPr kumimoji="1" lang="en-US" altLang="ja-JP" dirty="0"/>
          </a:p>
          <a:p>
            <a:pPr lvl="2"/>
            <a:endParaRPr kumimoji="1" lang="en-US" altLang="ja-JP" dirty="0"/>
          </a:p>
          <a:p>
            <a:pPr marL="817200" lvl="1" indent="-457200">
              <a:buFont typeface="+mj-lt"/>
              <a:buAutoNum type="arabicPeriod"/>
            </a:pPr>
            <a:r>
              <a:rPr kumimoji="1" lang="ja-JP" altLang="en-US" dirty="0"/>
              <a:t>機能の増強量に対して，線形より大きなオーダーで回路規模が</a:t>
            </a:r>
            <a:br>
              <a:rPr kumimoji="1" lang="en-US" altLang="ja-JP" dirty="0"/>
            </a:br>
            <a:r>
              <a:rPr kumimoji="1" lang="ja-JP" altLang="en-US" dirty="0"/>
              <a:t>増える場合もある</a:t>
            </a:r>
            <a:endParaRPr kumimoji="1" lang="en-US" altLang="ja-JP" dirty="0"/>
          </a:p>
          <a:p>
            <a:pPr lvl="2"/>
            <a:r>
              <a:rPr lang="ja-JP" altLang="en-US" dirty="0"/>
              <a:t>加算器などなら，増やした数の分だけ線形に回路が増える</a:t>
            </a:r>
          </a:p>
          <a:p>
            <a:pPr lvl="2"/>
            <a:r>
              <a:rPr kumimoji="1" lang="ja-JP" altLang="en-US" dirty="0">
                <a:solidFill>
                  <a:schemeClr val="accent5"/>
                </a:solidFill>
              </a:rPr>
              <a:t>メモリやレジスタは，同時に読み書きできる数の２乗で回路が大きくなる性質がある</a:t>
            </a:r>
            <a:endParaRPr kumimoji="1" lang="en-US" altLang="ja-JP" dirty="0">
              <a:solidFill>
                <a:schemeClr val="accent5"/>
              </a:solidFill>
            </a:endParaRPr>
          </a:p>
        </p:txBody>
      </p:sp>
    </p:spTree>
    <p:extLst>
      <p:ext uri="{BB962C8B-B14F-4D97-AF65-F5344CB8AC3E}">
        <p14:creationId xmlns:p14="http://schemas.microsoft.com/office/powerpoint/2010/main" val="27098977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構造ハザードの解決方法</a:t>
            </a:r>
          </a:p>
        </p:txBody>
      </p:sp>
      <p:sp>
        <p:nvSpPr>
          <p:cNvPr id="3" name="テキスト プレースホルダー 2"/>
          <p:cNvSpPr>
            <a:spLocks noGrp="1"/>
          </p:cNvSpPr>
          <p:nvPr>
            <p:ph type="body" sz="quarter" idx="10"/>
          </p:nvPr>
        </p:nvSpPr>
        <p:spPr/>
        <p:txBody>
          <a:bodyPr/>
          <a:lstStyle/>
          <a:p>
            <a:r>
              <a:rPr kumimoji="1" lang="ja-JP" altLang="en-US" dirty="0"/>
              <a:t>解決方法</a:t>
            </a:r>
            <a:endParaRPr kumimoji="1" lang="en-US" altLang="ja-JP" dirty="0"/>
          </a:p>
          <a:p>
            <a:pPr marL="817200" lvl="1" indent="-457200">
              <a:buFont typeface="+mj-lt"/>
              <a:buAutoNum type="arabicPeriod"/>
            </a:pPr>
            <a:r>
              <a:rPr kumimoji="1" lang="ja-JP" altLang="en-US" dirty="0"/>
              <a:t>ハードウェアの増強</a:t>
            </a:r>
            <a:endParaRPr kumimoji="1" lang="en-US" altLang="ja-JP" dirty="0"/>
          </a:p>
          <a:p>
            <a:pPr marL="817200" lvl="1" indent="-457200">
              <a:buFont typeface="+mj-lt"/>
              <a:buAutoNum type="arabicPeriod"/>
            </a:pPr>
            <a:r>
              <a:rPr kumimoji="1" lang="ja-JP" altLang="en-US" b="1" dirty="0"/>
              <a:t>時分割処理</a:t>
            </a:r>
            <a:endParaRPr kumimoji="1" lang="ja-JP" altLang="en-US" dirty="0"/>
          </a:p>
        </p:txBody>
      </p:sp>
    </p:spTree>
    <p:extLst>
      <p:ext uri="{BB962C8B-B14F-4D97-AF65-F5344CB8AC3E}">
        <p14:creationId xmlns:p14="http://schemas.microsoft.com/office/powerpoint/2010/main" val="37903537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解決方法２：時分割で処理</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構造ハザードの原因：</a:t>
            </a:r>
            <a:endParaRPr kumimoji="1" lang="en-US" altLang="ja-JP" dirty="0"/>
          </a:p>
          <a:p>
            <a:pPr lvl="1"/>
            <a:r>
              <a:rPr kumimoji="1" lang="ja-JP" altLang="en-US" dirty="0"/>
              <a:t>ハードウェア（の機能）が足りない</a:t>
            </a:r>
            <a:endParaRPr kumimoji="1" lang="en-US" altLang="ja-JP" dirty="0"/>
          </a:p>
          <a:p>
            <a:r>
              <a:rPr kumimoji="1" lang="ja-JP" altLang="en-US" dirty="0">
                <a:solidFill>
                  <a:schemeClr val="accent5"/>
                </a:solidFill>
              </a:rPr>
              <a:t>パイプラインを止めて</a:t>
            </a:r>
            <a:r>
              <a:rPr kumimoji="1" lang="ja-JP" altLang="en-US" dirty="0"/>
              <a:t>，複数のサイクルをかけて処理する</a:t>
            </a:r>
            <a:endParaRPr kumimoji="1" lang="en-US" altLang="ja-JP" dirty="0"/>
          </a:p>
          <a:p>
            <a:pPr lvl="1"/>
            <a:r>
              <a:rPr lang="en-US" altLang="ja-JP" dirty="0" err="1"/>
              <a:t>mov</a:t>
            </a:r>
            <a:r>
              <a:rPr lang="en-US" altLang="ja-JP" dirty="0"/>
              <a:t> [rs1]</a:t>
            </a:r>
            <a:r>
              <a:rPr lang="ja-JP" altLang="en-US" dirty="0"/>
              <a:t>→</a:t>
            </a:r>
            <a:r>
              <a:rPr lang="en-US" altLang="ja-JP" dirty="0"/>
              <a:t>[rs2]</a:t>
            </a:r>
          </a:p>
          <a:p>
            <a:pPr lvl="2"/>
            <a:r>
              <a:rPr lang="ja-JP" altLang="en-US" dirty="0"/>
              <a:t>メモリを読んだあと，次のサイクルで書きこむ</a:t>
            </a:r>
            <a:endParaRPr lang="en-US" altLang="ja-JP" dirty="0"/>
          </a:p>
          <a:p>
            <a:pPr lvl="2"/>
            <a:endParaRPr lang="en-US" altLang="ja-JP" dirty="0"/>
          </a:p>
          <a:p>
            <a:pPr lvl="1"/>
            <a:r>
              <a:rPr lang="en-US" altLang="ja-JP" dirty="0"/>
              <a:t>pop</a:t>
            </a:r>
          </a:p>
          <a:p>
            <a:pPr lvl="2"/>
            <a:r>
              <a:rPr lang="ja-JP" altLang="en-US" dirty="0"/>
              <a:t>１つレジスタに書いたあと，次のサイクルで書き込む</a:t>
            </a:r>
            <a:endParaRPr lang="en-US" altLang="ja-JP" dirty="0"/>
          </a:p>
          <a:p>
            <a:pPr lvl="2"/>
            <a:endParaRPr lang="en-US" altLang="ja-JP" dirty="0"/>
          </a:p>
          <a:p>
            <a:pPr lvl="1"/>
            <a:r>
              <a:rPr lang="en-US" altLang="ja-JP" dirty="0" err="1"/>
              <a:t>ld_inc</a:t>
            </a:r>
            <a:r>
              <a:rPr lang="en-US" altLang="ja-JP" dirty="0"/>
              <a:t> [rs1]+1</a:t>
            </a:r>
            <a:r>
              <a:rPr lang="ja-JP" altLang="en-US" dirty="0"/>
              <a:t>→</a:t>
            </a:r>
            <a:r>
              <a:rPr lang="en-US" altLang="ja-JP" dirty="0" err="1"/>
              <a:t>rd</a:t>
            </a:r>
            <a:r>
              <a:rPr lang="en-US" altLang="ja-JP" dirty="0"/>
              <a:t>  </a:t>
            </a:r>
          </a:p>
          <a:p>
            <a:pPr lvl="2"/>
            <a:r>
              <a:rPr kumimoji="1" lang="en-US" altLang="ja-JP" dirty="0" err="1"/>
              <a:t>ld_inc</a:t>
            </a:r>
            <a:r>
              <a:rPr kumimoji="1" lang="en-US" altLang="ja-JP" dirty="0"/>
              <a:t> </a:t>
            </a:r>
            <a:r>
              <a:rPr kumimoji="1" lang="ja-JP" altLang="en-US" dirty="0"/>
              <a:t>が </a:t>
            </a:r>
            <a:r>
              <a:rPr kumimoji="1" lang="en-US" altLang="ja-JP" dirty="0"/>
              <a:t>MEM </a:t>
            </a:r>
            <a:r>
              <a:rPr kumimoji="1" lang="ja-JP" altLang="en-US" dirty="0"/>
              <a:t>で値を読んだら，次のサイクルで </a:t>
            </a:r>
            <a:r>
              <a:rPr kumimoji="1" lang="en-US" altLang="ja-JP" dirty="0"/>
              <a:t>+1</a:t>
            </a:r>
            <a:endParaRPr kumimoji="1" lang="ja-JP" altLang="en-US" dirty="0"/>
          </a:p>
        </p:txBody>
      </p:sp>
    </p:spTree>
    <p:extLst>
      <p:ext uri="{BB962C8B-B14F-4D97-AF65-F5344CB8AC3E}">
        <p14:creationId xmlns:p14="http://schemas.microsoft.com/office/powerpoint/2010/main" val="3683607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なぜパイプラインを止めるのか</a:t>
            </a:r>
          </a:p>
        </p:txBody>
      </p:sp>
      <p:sp>
        <p:nvSpPr>
          <p:cNvPr id="3" name="テキスト プレースホルダー 2"/>
          <p:cNvSpPr>
            <a:spLocks noGrp="1"/>
          </p:cNvSpPr>
          <p:nvPr>
            <p:ph type="body" sz="quarter" idx="10"/>
          </p:nvPr>
        </p:nvSpPr>
        <p:spPr>
          <a:xfrm>
            <a:off x="2135956" y="4869017"/>
            <a:ext cx="8280092" cy="719701"/>
          </a:xfrm>
        </p:spPr>
        <p:txBody>
          <a:bodyPr/>
          <a:lstStyle/>
          <a:p>
            <a:r>
              <a:rPr lang="ja-JP" altLang="en-US" dirty="0"/>
              <a:t>上流を止めないと破綻する</a:t>
            </a:r>
            <a:endParaRPr lang="en-US" altLang="ja-JP" dirty="0"/>
          </a:p>
          <a:p>
            <a:pPr lvl="1"/>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が複数サイクルをかけて仕事をしている場合，</a:t>
            </a:r>
            <a:br>
              <a:rPr lang="en-US" altLang="ja-JP" dirty="0"/>
            </a:br>
            <a:r>
              <a:rPr lang="ja-JP" altLang="en-US" dirty="0"/>
              <a:t>命令はそこにとどまり続ける</a:t>
            </a:r>
            <a:endParaRPr lang="en-US" altLang="ja-JP" dirty="0"/>
          </a:p>
          <a:p>
            <a:pPr lvl="1"/>
            <a:r>
              <a:rPr lang="ja-JP" altLang="en-US" dirty="0"/>
              <a:t>その間は上流をとめないと命令をおく場所がないし，</a:t>
            </a:r>
            <a:br>
              <a:rPr lang="en-US" altLang="ja-JP" dirty="0"/>
            </a:br>
            <a:r>
              <a:rPr lang="ja-JP" altLang="en-US" dirty="0"/>
              <a:t>依存関係がまもられない</a:t>
            </a:r>
            <a:endPar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より</a:t>
            </a:r>
            <a:r>
              <a:rPr kumimoji="1" lang="ja-JP" altLang="en-US" dirty="0"/>
              <a:t>下流は流れていっても，この場合は問題ない</a:t>
            </a:r>
            <a:endParaRPr kumimoji="1" lang="en-US" altLang="ja-JP" dirty="0"/>
          </a:p>
        </p:txBody>
      </p:sp>
      <p:grpSp>
        <p:nvGrpSpPr>
          <p:cNvPr id="4" name="グループ化 3"/>
          <p:cNvGrpSpPr/>
          <p:nvPr/>
        </p:nvGrpSpPr>
        <p:grpSpPr>
          <a:xfrm>
            <a:off x="3125967" y="2618991"/>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4566127" y="2618991"/>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6006287" y="2618991"/>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7446447" y="2618991"/>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3087807" y="1754448"/>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4527967" y="1754448"/>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970014" y="1773032"/>
            <a:ext cx="865983" cy="738664"/>
          </a:xfrm>
          <a:prstGeom prst="rect">
            <a:avLst/>
          </a:prstGeom>
        </p:spPr>
        <p:txBody>
          <a:bodyPr wrap="none">
            <a:no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ﾀｲﾍﾝﾈ</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7410174" y="1773032"/>
            <a:ext cx="937991" cy="738664"/>
          </a:xfrm>
          <a:prstGeom prst="rect">
            <a:avLst/>
          </a:prstGeom>
        </p:spPr>
        <p:txBody>
          <a:bodyPr wrap="none">
            <a:no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ｼｮﾎﾞｰﾝ</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cxnSp>
        <p:nvCxnSpPr>
          <p:cNvPr id="20" name="直線矢印コネクタ 19"/>
          <p:cNvCxnSpPr/>
          <p:nvPr/>
        </p:nvCxnSpPr>
        <p:spPr bwMode="auto">
          <a:xfrm>
            <a:off x="3125967" y="3429000"/>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21" name="角丸四角形 20"/>
          <p:cNvSpPr/>
          <p:nvPr/>
        </p:nvSpPr>
        <p:spPr bwMode="auto">
          <a:xfrm>
            <a:off x="4925987" y="2528990"/>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a:t>
            </a:r>
          </a:p>
        </p:txBody>
      </p:sp>
      <p:sp>
        <p:nvSpPr>
          <p:cNvPr id="22" name="角丸四角形 21"/>
          <p:cNvSpPr/>
          <p:nvPr/>
        </p:nvSpPr>
        <p:spPr bwMode="auto">
          <a:xfrm>
            <a:off x="3575972" y="2528990"/>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a:t>
            </a:r>
          </a:p>
        </p:txBody>
      </p:sp>
      <p:grpSp>
        <p:nvGrpSpPr>
          <p:cNvPr id="27" name="グループ化 26"/>
          <p:cNvGrpSpPr/>
          <p:nvPr/>
        </p:nvGrpSpPr>
        <p:grpSpPr>
          <a:xfrm>
            <a:off x="6456004" y="2528990"/>
            <a:ext cx="2160024" cy="360004"/>
            <a:chOff x="4932004" y="3068996"/>
            <a:chExt cx="2160024" cy="360004"/>
          </a:xfrm>
        </p:grpSpPr>
        <p:sp>
          <p:nvSpPr>
            <p:cNvPr id="23" name="角丸四角形 22"/>
            <p:cNvSpPr/>
            <p:nvPr/>
          </p:nvSpPr>
          <p:spPr bwMode="auto">
            <a:xfrm>
              <a:off x="4932004"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a:t>
              </a:r>
            </a:p>
          </p:txBody>
        </p:sp>
        <p:sp>
          <p:nvSpPr>
            <p:cNvPr id="24" name="角丸四角形 23"/>
            <p:cNvSpPr/>
            <p:nvPr/>
          </p:nvSpPr>
          <p:spPr bwMode="auto">
            <a:xfrm>
              <a:off x="6372020"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a:t>
              </a:r>
            </a:p>
          </p:txBody>
        </p:sp>
      </p:grpSp>
      <p:sp>
        <p:nvSpPr>
          <p:cNvPr id="25" name="角丸四角形吹き出し 24"/>
          <p:cNvSpPr/>
          <p:nvPr/>
        </p:nvSpPr>
        <p:spPr bwMode="auto">
          <a:xfrm>
            <a:off x="3575972" y="1088974"/>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うるせぇ</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命令ぶつけんぞ</a:t>
            </a:r>
          </a:p>
        </p:txBody>
      </p:sp>
      <p:sp>
        <p:nvSpPr>
          <p:cNvPr id="26" name="角丸四角形吹き出し 25"/>
          <p:cNvSpPr/>
          <p:nvPr/>
        </p:nvSpPr>
        <p:spPr bwMode="auto">
          <a:xfrm>
            <a:off x="5195990" y="1088974"/>
            <a:ext cx="1440016"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もうしばらく</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おまちください</a:t>
            </a:r>
          </a:p>
        </p:txBody>
      </p:sp>
    </p:spTree>
    <p:extLst>
      <p:ext uri="{BB962C8B-B14F-4D97-AF65-F5344CB8AC3E}">
        <p14:creationId xmlns:p14="http://schemas.microsoft.com/office/powerpoint/2010/main" val="20748752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4.72222E-6 2.59259E-6 L 0.15746 0.00023 " pathEditMode="relative" rAng="0" ptsTypes="AA">
                                      <p:cBhvr>
                                        <p:cTn id="6" dur="2000" fill="hold"/>
                                        <p:tgtEl>
                                          <p:spTgt spid="27"/>
                                        </p:tgtEl>
                                        <p:attrNameLst>
                                          <p:attrName>ppt_x</p:attrName>
                                          <p:attrName>ppt_y</p:attrName>
                                        </p:attrNameLst>
                                      </p:cBhvr>
                                      <p:rCtr x="7865"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415948" y="0"/>
            <a:ext cx="10776052" cy="908972"/>
          </a:xfrm>
        </p:spPr>
        <p:txBody>
          <a:bodyPr/>
          <a:lstStyle/>
          <a:p>
            <a:r>
              <a:rPr lang="ja-JP" altLang="en-US" dirty="0"/>
              <a:t>パイプラインを止めること</a:t>
            </a:r>
          </a:p>
        </p:txBody>
      </p:sp>
      <p:sp>
        <p:nvSpPr>
          <p:cNvPr id="3" name="テキスト プレースホルダー 2"/>
          <p:cNvSpPr>
            <a:spLocks noGrp="1"/>
          </p:cNvSpPr>
          <p:nvPr>
            <p:ph type="body" sz="quarter" idx="10"/>
          </p:nvPr>
        </p:nvSpPr>
        <p:spPr>
          <a:xfrm>
            <a:off x="1325947" y="1089025"/>
            <a:ext cx="9089641" cy="5489575"/>
          </a:xfrm>
        </p:spPr>
        <p:txBody>
          <a:bodyPr/>
          <a:lstStyle/>
          <a:p>
            <a:r>
              <a:rPr lang="ja-JP" altLang="en-US" dirty="0"/>
              <a:t>パイプラインを止めるとことを「ストール」や「インターロック」という</a:t>
            </a:r>
            <a:endParaRPr lang="en-US" altLang="ja-JP" dirty="0"/>
          </a:p>
          <a:p>
            <a:pPr lvl="1"/>
            <a:r>
              <a:rPr lang="ja-JP" altLang="en-US" dirty="0"/>
              <a:t>本や人によって，意味や使い方が微妙に統一されていない</a:t>
            </a:r>
            <a:endParaRPr lang="en-US" altLang="ja-JP" dirty="0"/>
          </a:p>
          <a:p>
            <a:pPr lvl="1"/>
            <a:r>
              <a:rPr lang="ja-JP" altLang="en-US" dirty="0"/>
              <a:t>この講義では，以降はストールで統一</a:t>
            </a:r>
            <a:endParaRPr lang="en-US" altLang="ja-JP" dirty="0"/>
          </a:p>
        </p:txBody>
      </p:sp>
    </p:spTree>
    <p:extLst>
      <p:ext uri="{BB962C8B-B14F-4D97-AF65-F5344CB8AC3E}">
        <p14:creationId xmlns:p14="http://schemas.microsoft.com/office/powerpoint/2010/main" val="3121954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4" name="直線コネクタ 53"/>
          <p:cNvCxnSpPr/>
          <p:nvPr/>
        </p:nvCxnSpPr>
        <p:spPr bwMode="auto">
          <a:xfrm>
            <a:off x="3215968" y="1718981"/>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28" name="直線コネクタ 27"/>
          <p:cNvCxnSpPr/>
          <p:nvPr/>
        </p:nvCxnSpPr>
        <p:spPr bwMode="auto">
          <a:xfrm>
            <a:off x="3215968" y="1268976"/>
            <a:ext cx="720080"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kumimoji="1" lang="ja-JP" altLang="en-US" dirty="0"/>
              <a:t>ストールの動作</a:t>
            </a:r>
          </a:p>
        </p:txBody>
      </p:sp>
      <p:sp>
        <p:nvSpPr>
          <p:cNvPr id="3" name="テキスト プレースホルダー 2"/>
          <p:cNvSpPr>
            <a:spLocks noGrp="1"/>
          </p:cNvSpPr>
          <p:nvPr>
            <p:ph type="body" sz="quarter" idx="10"/>
          </p:nvPr>
        </p:nvSpPr>
        <p:spPr>
          <a:xfrm>
            <a:off x="2135956" y="4509013"/>
            <a:ext cx="8280092" cy="1799713"/>
          </a:xfrm>
        </p:spPr>
        <p:txBody>
          <a:bodyPr/>
          <a:lstStyle/>
          <a:p>
            <a:r>
              <a:rPr lang="en-US" altLang="ja-JP" dirty="0"/>
              <a:t>pop</a:t>
            </a:r>
            <a:r>
              <a:rPr lang="ja-JP" altLang="en-US" dirty="0"/>
              <a:t>：１つレジスタに書いたあと，次のサイクルで書き込む</a:t>
            </a:r>
            <a:endParaRPr lang="en-US" altLang="ja-JP" dirty="0"/>
          </a:p>
          <a:p>
            <a:pPr lvl="1"/>
            <a:r>
              <a:rPr lang="en-US" altLang="ja-JP" dirty="0"/>
              <a:t>WB1 </a:t>
            </a:r>
            <a:r>
              <a:rPr lang="ja-JP" altLang="en-US" dirty="0"/>
              <a:t>と </a:t>
            </a:r>
            <a:r>
              <a:rPr lang="en-US" altLang="ja-JP" dirty="0"/>
              <a:t>WB2 </a:t>
            </a:r>
            <a:r>
              <a:rPr lang="ja-JP" altLang="en-US" dirty="0"/>
              <a:t>の２サイクルで書き込む</a:t>
            </a:r>
            <a:endParaRPr lang="en-US" altLang="ja-JP" dirty="0"/>
          </a:p>
          <a:p>
            <a:pPr lvl="1"/>
            <a:r>
              <a:rPr lang="en-US" altLang="ja-JP" dirty="0"/>
              <a:t>WB2 </a:t>
            </a:r>
            <a:r>
              <a:rPr lang="ja-JP" altLang="en-US" dirty="0"/>
              <a:t>の間は上流を全て止める</a:t>
            </a:r>
            <a:endParaRPr lang="en-US" altLang="ja-JP" dirty="0"/>
          </a:p>
          <a:p>
            <a:r>
              <a:rPr kumimoji="1" lang="ja-JP" altLang="en-US" dirty="0"/>
              <a:t>パイプライン・チャート上では上記のようになる</a:t>
            </a:r>
            <a:endParaRPr kumimoji="1" lang="en-US" altLang="ja-JP" dirty="0"/>
          </a:p>
          <a:p>
            <a:pPr lvl="1"/>
            <a:r>
              <a:rPr kumimoji="1" lang="ja-JP" altLang="en-US" dirty="0"/>
              <a:t>止める原因の命令の下が全部右にずれる</a:t>
            </a:r>
            <a:endParaRPr kumimoji="1" lang="en-US" altLang="ja-JP" dirty="0"/>
          </a:p>
          <a:p>
            <a:pPr lvl="1"/>
            <a:r>
              <a:rPr kumimoji="1" lang="ja-JP" altLang="en-US" dirty="0"/>
              <a:t>ずれた部分の空き（</a:t>
            </a:r>
            <a:r>
              <a:rPr kumimoji="1" lang="en-US" altLang="ja-JP" dirty="0"/>
              <a:t>bb</a:t>
            </a:r>
            <a:r>
              <a:rPr kumimoji="1" lang="ja-JP" altLang="en-US" dirty="0"/>
              <a:t>）を「</a:t>
            </a:r>
            <a:r>
              <a:rPr kumimoji="1" lang="ja-JP" altLang="en-US" dirty="0">
                <a:solidFill>
                  <a:schemeClr val="accent5"/>
                </a:solidFill>
              </a:rPr>
              <a:t>バブル（</a:t>
            </a:r>
            <a:r>
              <a:rPr kumimoji="1" lang="en-US" altLang="ja-JP" b="1" u="sng" dirty="0">
                <a:solidFill>
                  <a:schemeClr val="accent5"/>
                </a:solidFill>
              </a:rPr>
              <a:t>b</a:t>
            </a:r>
            <a:r>
              <a:rPr kumimoji="1" lang="en-US" altLang="ja-JP" dirty="0">
                <a:solidFill>
                  <a:schemeClr val="accent5"/>
                </a:solidFill>
              </a:rPr>
              <a:t>u</a:t>
            </a:r>
            <a:r>
              <a:rPr kumimoji="1" lang="en-US" altLang="ja-JP" b="1" u="sng" dirty="0">
                <a:solidFill>
                  <a:schemeClr val="accent5"/>
                </a:solidFill>
              </a:rPr>
              <a:t>b</a:t>
            </a:r>
            <a:r>
              <a:rPr kumimoji="1" lang="en-US" altLang="ja-JP" dirty="0">
                <a:solidFill>
                  <a:schemeClr val="accent5"/>
                </a:solidFill>
              </a:rPr>
              <a:t>ble</a:t>
            </a:r>
            <a:r>
              <a:rPr kumimoji="1" lang="ja-JP" altLang="en-US" dirty="0">
                <a:solidFill>
                  <a:schemeClr val="accent5"/>
                </a:solidFill>
              </a:rPr>
              <a:t>）</a:t>
            </a:r>
            <a:r>
              <a:rPr kumimoji="1" lang="ja-JP" altLang="en-US" dirty="0"/>
              <a:t>」とよぶ</a:t>
            </a:r>
          </a:p>
        </p:txBody>
      </p:sp>
      <p:sp>
        <p:nvSpPr>
          <p:cNvPr id="11" name="Rectangle 69"/>
          <p:cNvSpPr>
            <a:spLocks noChangeArrowheads="1"/>
          </p:cNvSpPr>
          <p:nvPr/>
        </p:nvSpPr>
        <p:spPr bwMode="auto">
          <a:xfrm>
            <a:off x="3755974"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4205979"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4655984"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5105989"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5555994" y="1088974"/>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WB1</a:t>
            </a:r>
          </a:p>
        </p:txBody>
      </p:sp>
      <p:sp>
        <p:nvSpPr>
          <p:cNvPr id="17" name="Rectangle 69"/>
          <p:cNvSpPr>
            <a:spLocks noChangeArrowheads="1"/>
          </p:cNvSpPr>
          <p:nvPr/>
        </p:nvSpPr>
        <p:spPr bwMode="auto">
          <a:xfrm>
            <a:off x="4205979"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8" name="Rectangle 70"/>
          <p:cNvSpPr>
            <a:spLocks noChangeArrowheads="1"/>
          </p:cNvSpPr>
          <p:nvPr/>
        </p:nvSpPr>
        <p:spPr bwMode="auto">
          <a:xfrm>
            <a:off x="4655984"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9" name="Rectangle 71"/>
          <p:cNvSpPr>
            <a:spLocks noChangeArrowheads="1"/>
          </p:cNvSpPr>
          <p:nvPr/>
        </p:nvSpPr>
        <p:spPr bwMode="auto">
          <a:xfrm>
            <a:off x="5105989"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0" name="Rectangle 72"/>
          <p:cNvSpPr>
            <a:spLocks noChangeArrowheads="1"/>
          </p:cNvSpPr>
          <p:nvPr/>
        </p:nvSpPr>
        <p:spPr bwMode="auto">
          <a:xfrm>
            <a:off x="5555994"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1" name="Rectangle 73"/>
          <p:cNvSpPr>
            <a:spLocks noChangeArrowheads="1"/>
          </p:cNvSpPr>
          <p:nvPr/>
        </p:nvSpPr>
        <p:spPr bwMode="auto">
          <a:xfrm>
            <a:off x="6456004"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3" name="Rectangle 69"/>
          <p:cNvSpPr>
            <a:spLocks noChangeArrowheads="1"/>
          </p:cNvSpPr>
          <p:nvPr/>
        </p:nvSpPr>
        <p:spPr bwMode="auto">
          <a:xfrm>
            <a:off x="4655984"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5105989"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5555994"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6456004"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6906009"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1" name="正方形/長方形 30"/>
          <p:cNvSpPr/>
          <p:nvPr/>
        </p:nvSpPr>
        <p:spPr bwMode="auto">
          <a:xfrm>
            <a:off x="2495960" y="108897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pop</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2" name="Rectangle 73"/>
          <p:cNvSpPr>
            <a:spLocks noChangeArrowheads="1"/>
          </p:cNvSpPr>
          <p:nvPr/>
        </p:nvSpPr>
        <p:spPr bwMode="auto">
          <a:xfrm>
            <a:off x="6005999" y="1088974"/>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WB2</a:t>
            </a:r>
          </a:p>
        </p:txBody>
      </p:sp>
      <p:sp>
        <p:nvSpPr>
          <p:cNvPr id="33" name="Rectangle 69"/>
          <p:cNvSpPr>
            <a:spLocks noChangeArrowheads="1"/>
          </p:cNvSpPr>
          <p:nvPr/>
        </p:nvSpPr>
        <p:spPr bwMode="auto">
          <a:xfrm>
            <a:off x="5105989"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4" name="Rectangle 70"/>
          <p:cNvSpPr>
            <a:spLocks noChangeArrowheads="1"/>
          </p:cNvSpPr>
          <p:nvPr/>
        </p:nvSpPr>
        <p:spPr bwMode="auto">
          <a:xfrm>
            <a:off x="5555994"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5" name="Rectangle 71"/>
          <p:cNvSpPr>
            <a:spLocks noChangeArrowheads="1"/>
          </p:cNvSpPr>
          <p:nvPr/>
        </p:nvSpPr>
        <p:spPr bwMode="auto">
          <a:xfrm>
            <a:off x="6456004"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6" name="Rectangle 72"/>
          <p:cNvSpPr>
            <a:spLocks noChangeArrowheads="1"/>
          </p:cNvSpPr>
          <p:nvPr/>
        </p:nvSpPr>
        <p:spPr bwMode="auto">
          <a:xfrm>
            <a:off x="6906009"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7" name="Rectangle 73"/>
          <p:cNvSpPr>
            <a:spLocks noChangeArrowheads="1"/>
          </p:cNvSpPr>
          <p:nvPr/>
        </p:nvSpPr>
        <p:spPr bwMode="auto">
          <a:xfrm>
            <a:off x="7356014"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8" name="Rectangle 69"/>
          <p:cNvSpPr>
            <a:spLocks noChangeArrowheads="1"/>
          </p:cNvSpPr>
          <p:nvPr/>
        </p:nvSpPr>
        <p:spPr bwMode="auto">
          <a:xfrm>
            <a:off x="5555994"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9" name="Rectangle 70"/>
          <p:cNvSpPr>
            <a:spLocks noChangeArrowheads="1"/>
          </p:cNvSpPr>
          <p:nvPr/>
        </p:nvSpPr>
        <p:spPr bwMode="auto">
          <a:xfrm>
            <a:off x="6456004"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0" name="Rectangle 71"/>
          <p:cNvSpPr>
            <a:spLocks noChangeArrowheads="1"/>
          </p:cNvSpPr>
          <p:nvPr/>
        </p:nvSpPr>
        <p:spPr bwMode="auto">
          <a:xfrm>
            <a:off x="6906009"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41" name="Rectangle 72"/>
          <p:cNvSpPr>
            <a:spLocks noChangeArrowheads="1"/>
          </p:cNvSpPr>
          <p:nvPr/>
        </p:nvSpPr>
        <p:spPr bwMode="auto">
          <a:xfrm>
            <a:off x="7356014"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2" name="Rectangle 73"/>
          <p:cNvSpPr>
            <a:spLocks noChangeArrowheads="1"/>
          </p:cNvSpPr>
          <p:nvPr/>
        </p:nvSpPr>
        <p:spPr bwMode="auto">
          <a:xfrm>
            <a:off x="7806019"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3" name="Rectangle 73"/>
          <p:cNvSpPr>
            <a:spLocks noChangeArrowheads="1"/>
          </p:cNvSpPr>
          <p:nvPr/>
        </p:nvSpPr>
        <p:spPr bwMode="auto">
          <a:xfrm>
            <a:off x="6005999" y="153897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4" name="Rectangle 73"/>
          <p:cNvSpPr>
            <a:spLocks noChangeArrowheads="1"/>
          </p:cNvSpPr>
          <p:nvPr/>
        </p:nvSpPr>
        <p:spPr bwMode="auto">
          <a:xfrm>
            <a:off x="6005999" y="1988984"/>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5" name="Rectangle 73"/>
          <p:cNvSpPr>
            <a:spLocks noChangeArrowheads="1"/>
          </p:cNvSpPr>
          <p:nvPr/>
        </p:nvSpPr>
        <p:spPr bwMode="auto">
          <a:xfrm>
            <a:off x="6005999" y="243898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6" name="Rectangle 73"/>
          <p:cNvSpPr>
            <a:spLocks noChangeArrowheads="1"/>
          </p:cNvSpPr>
          <p:nvPr/>
        </p:nvSpPr>
        <p:spPr bwMode="auto">
          <a:xfrm>
            <a:off x="6005999" y="2888994"/>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7" name="Rectangle 69"/>
          <p:cNvSpPr>
            <a:spLocks noChangeArrowheads="1"/>
          </p:cNvSpPr>
          <p:nvPr/>
        </p:nvSpPr>
        <p:spPr bwMode="auto">
          <a:xfrm>
            <a:off x="6456004"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8" name="Rectangle 70"/>
          <p:cNvSpPr>
            <a:spLocks noChangeArrowheads="1"/>
          </p:cNvSpPr>
          <p:nvPr/>
        </p:nvSpPr>
        <p:spPr bwMode="auto">
          <a:xfrm>
            <a:off x="6906009"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9" name="Rectangle 71"/>
          <p:cNvSpPr>
            <a:spLocks noChangeArrowheads="1"/>
          </p:cNvSpPr>
          <p:nvPr/>
        </p:nvSpPr>
        <p:spPr bwMode="auto">
          <a:xfrm>
            <a:off x="7356014"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50" name="Rectangle 72"/>
          <p:cNvSpPr>
            <a:spLocks noChangeArrowheads="1"/>
          </p:cNvSpPr>
          <p:nvPr/>
        </p:nvSpPr>
        <p:spPr bwMode="auto">
          <a:xfrm>
            <a:off x="7806019"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1" name="Rectangle 73"/>
          <p:cNvSpPr>
            <a:spLocks noChangeArrowheads="1"/>
          </p:cNvSpPr>
          <p:nvPr/>
        </p:nvSpPr>
        <p:spPr bwMode="auto">
          <a:xfrm>
            <a:off x="8256024"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3" name="角丸四角形 52"/>
          <p:cNvSpPr/>
          <p:nvPr/>
        </p:nvSpPr>
        <p:spPr bwMode="auto">
          <a:xfrm>
            <a:off x="5953169" y="908972"/>
            <a:ext cx="450005" cy="2970033"/>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56" name="直線コネクタ 55"/>
          <p:cNvCxnSpPr/>
          <p:nvPr/>
        </p:nvCxnSpPr>
        <p:spPr bwMode="auto">
          <a:xfrm>
            <a:off x="3215968" y="2168986"/>
            <a:ext cx="1440088" cy="0"/>
          </a:xfrm>
          <a:prstGeom prst="line">
            <a:avLst/>
          </a:prstGeom>
          <a:noFill/>
          <a:ln w="9525" cap="flat" cmpd="sng" algn="ctr">
            <a:solidFill>
              <a:schemeClr val="tx1"/>
            </a:solidFill>
            <a:prstDash val="dash"/>
            <a:round/>
            <a:headEnd type="none" w="med" len="med"/>
            <a:tailEnd type="none" w="med" len="med"/>
          </a:ln>
          <a:effectLst/>
        </p:spPr>
      </p:cxnSp>
      <p:sp>
        <p:nvSpPr>
          <p:cNvPr id="58" name="正方形/長方形 57"/>
          <p:cNvSpPr/>
          <p:nvPr/>
        </p:nvSpPr>
        <p:spPr bwMode="auto">
          <a:xfrm>
            <a:off x="2495960" y="153897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add</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2495960" y="198898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60" name="直線コネクタ 59"/>
          <p:cNvCxnSpPr/>
          <p:nvPr/>
        </p:nvCxnSpPr>
        <p:spPr bwMode="auto">
          <a:xfrm>
            <a:off x="3215969" y="2618991"/>
            <a:ext cx="1890093" cy="0"/>
          </a:xfrm>
          <a:prstGeom prst="line">
            <a:avLst/>
          </a:prstGeom>
          <a:noFill/>
          <a:ln w="9525" cap="flat" cmpd="sng" algn="ctr">
            <a:solidFill>
              <a:schemeClr val="tx1"/>
            </a:solidFill>
            <a:prstDash val="dash"/>
            <a:round/>
            <a:headEnd type="none" w="med" len="med"/>
            <a:tailEnd type="none" w="med" len="med"/>
          </a:ln>
          <a:effectLst/>
        </p:spPr>
      </p:cxnSp>
      <p:sp>
        <p:nvSpPr>
          <p:cNvPr id="62" name="正方形/長方形 61"/>
          <p:cNvSpPr/>
          <p:nvPr/>
        </p:nvSpPr>
        <p:spPr bwMode="auto">
          <a:xfrm>
            <a:off x="2495960" y="243898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63" name="直線コネクタ 62"/>
          <p:cNvCxnSpPr>
            <a:endCxn id="38" idx="1"/>
          </p:cNvCxnSpPr>
          <p:nvPr/>
        </p:nvCxnSpPr>
        <p:spPr bwMode="auto">
          <a:xfrm flipV="1">
            <a:off x="3215968" y="3068994"/>
            <a:ext cx="2340026" cy="2"/>
          </a:xfrm>
          <a:prstGeom prst="line">
            <a:avLst/>
          </a:prstGeom>
          <a:noFill/>
          <a:ln w="9525" cap="flat" cmpd="sng" algn="ctr">
            <a:solidFill>
              <a:schemeClr val="tx1"/>
            </a:solidFill>
            <a:prstDash val="dash"/>
            <a:round/>
            <a:headEnd type="none" w="med" len="med"/>
            <a:tailEnd type="none" w="med" len="med"/>
          </a:ln>
          <a:effectLst/>
        </p:spPr>
      </p:cxnSp>
      <p:sp>
        <p:nvSpPr>
          <p:cNvPr id="64" name="正方形/長方形 63"/>
          <p:cNvSpPr/>
          <p:nvPr/>
        </p:nvSpPr>
        <p:spPr bwMode="auto">
          <a:xfrm>
            <a:off x="2495960" y="288899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65" name="直線コネクタ 64"/>
          <p:cNvCxnSpPr>
            <a:endCxn id="47" idx="1"/>
          </p:cNvCxnSpPr>
          <p:nvPr/>
        </p:nvCxnSpPr>
        <p:spPr bwMode="auto">
          <a:xfrm flipV="1">
            <a:off x="3215968" y="3518999"/>
            <a:ext cx="3240036" cy="2"/>
          </a:xfrm>
          <a:prstGeom prst="line">
            <a:avLst/>
          </a:prstGeom>
          <a:noFill/>
          <a:ln w="9525" cap="flat" cmpd="sng" algn="ctr">
            <a:solidFill>
              <a:schemeClr val="tx1"/>
            </a:solidFill>
            <a:prstDash val="dash"/>
            <a:round/>
            <a:headEnd type="none" w="med" len="med"/>
            <a:tailEnd type="none" w="med" len="med"/>
          </a:ln>
          <a:effectLst/>
        </p:spPr>
      </p:cxnSp>
      <p:sp>
        <p:nvSpPr>
          <p:cNvPr id="66" name="正方形/長方形 65"/>
          <p:cNvSpPr/>
          <p:nvPr/>
        </p:nvSpPr>
        <p:spPr bwMode="auto">
          <a:xfrm>
            <a:off x="2495960" y="333899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52" name="直線矢印コネクタ 51"/>
          <p:cNvCxnSpPr/>
          <p:nvPr/>
        </p:nvCxnSpPr>
        <p:spPr bwMode="auto">
          <a:xfrm>
            <a:off x="6005999" y="3789004"/>
            <a:ext cx="2700030"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55" name="正方形/長方形 54"/>
          <p:cNvSpPr/>
          <p:nvPr/>
        </p:nvSpPr>
        <p:spPr bwMode="auto">
          <a:xfrm>
            <a:off x="8166023" y="2078985"/>
            <a:ext cx="1800020"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add </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以降の全処理が</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バブルで右に１つずれる</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１サイクル実行が</a:t>
            </a:r>
            <a:b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b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遅くなっている</a:t>
            </a:r>
          </a:p>
        </p:txBody>
      </p:sp>
    </p:spTree>
    <p:extLst>
      <p:ext uri="{BB962C8B-B14F-4D97-AF65-F5344CB8AC3E}">
        <p14:creationId xmlns:p14="http://schemas.microsoft.com/office/powerpoint/2010/main" val="26788138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ストールの実現方法</a:t>
            </a:r>
            <a:endParaRPr kumimoji="1" lang="ja-JP" altLang="en-US" dirty="0"/>
          </a:p>
        </p:txBody>
      </p:sp>
      <p:sp>
        <p:nvSpPr>
          <p:cNvPr id="3" name="テキスト プレースホルダー 2"/>
          <p:cNvSpPr>
            <a:spLocks noGrp="1"/>
          </p:cNvSpPr>
          <p:nvPr>
            <p:ph type="body" sz="quarter" idx="10"/>
          </p:nvPr>
        </p:nvSpPr>
        <p:spPr>
          <a:xfrm>
            <a:off x="2135956" y="4509013"/>
            <a:ext cx="8280092" cy="1799713"/>
          </a:xfrm>
        </p:spPr>
        <p:txBody>
          <a:bodyPr/>
          <a:lstStyle/>
          <a:p>
            <a:r>
              <a:rPr kumimoji="1" lang="ja-JP" altLang="en-US" dirty="0"/>
              <a:t>回路的には，</a:t>
            </a:r>
            <a:r>
              <a:rPr lang="en-US" altLang="ja-JP" dirty="0"/>
              <a:t>Write Enable</a:t>
            </a:r>
            <a:r>
              <a:rPr lang="ja-JP" altLang="en-US" dirty="0"/>
              <a:t>（</a:t>
            </a:r>
            <a:r>
              <a:rPr lang="en-US" altLang="ja-JP" dirty="0"/>
              <a:t>WE</a:t>
            </a:r>
            <a:r>
              <a:rPr lang="ja-JP" altLang="en-US" dirty="0"/>
              <a:t>）つきの </a:t>
            </a:r>
            <a:r>
              <a:rPr lang="en-US" altLang="ja-JP" dirty="0"/>
              <a:t>D-FF </a:t>
            </a:r>
            <a:r>
              <a:rPr lang="ja-JP" altLang="en-US" dirty="0"/>
              <a:t>を使う</a:t>
            </a:r>
            <a:endParaRPr lang="en-US" altLang="ja-JP" dirty="0"/>
          </a:p>
          <a:p>
            <a:pPr lvl="1"/>
            <a:r>
              <a:rPr kumimoji="1" lang="en-US" altLang="ja-JP" dirty="0"/>
              <a:t>WE </a:t>
            </a:r>
            <a:r>
              <a:rPr kumimoji="1" lang="ja-JP" altLang="en-US" dirty="0"/>
              <a:t>が </a:t>
            </a:r>
            <a:r>
              <a:rPr kumimoji="1" lang="en-US" altLang="ja-JP" dirty="0"/>
              <a:t>0 </a:t>
            </a:r>
            <a:r>
              <a:rPr kumimoji="1" lang="ja-JP" altLang="en-US" dirty="0"/>
              <a:t>のサイクルは書き込みが行われない</a:t>
            </a:r>
            <a:endParaRPr kumimoji="1" lang="en-US" altLang="ja-JP" dirty="0"/>
          </a:p>
          <a:p>
            <a:pPr lvl="1"/>
            <a:r>
              <a:rPr kumimoji="1" lang="ja-JP" altLang="en-US" dirty="0"/>
              <a:t>ストールさせたい時は，そのステージの </a:t>
            </a:r>
            <a:r>
              <a:rPr kumimoji="1" lang="en-US" altLang="ja-JP" dirty="0"/>
              <a:t>WE </a:t>
            </a:r>
            <a:r>
              <a:rPr kumimoji="1" lang="ja-JP" altLang="en-US" dirty="0"/>
              <a:t>を </a:t>
            </a:r>
            <a:r>
              <a:rPr kumimoji="1" lang="en-US" altLang="ja-JP" dirty="0"/>
              <a:t>0 </a:t>
            </a:r>
            <a:r>
              <a:rPr kumimoji="1" lang="ja-JP" altLang="en-US" dirty="0"/>
              <a:t>に</a:t>
            </a:r>
          </a:p>
        </p:txBody>
      </p:sp>
      <p:sp>
        <p:nvSpPr>
          <p:cNvPr id="4" name="正方形/長方形 3"/>
          <p:cNvSpPr/>
          <p:nvPr/>
        </p:nvSpPr>
        <p:spPr bwMode="auto">
          <a:xfrm>
            <a:off x="3215968" y="1988984"/>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cxnSp>
        <p:nvCxnSpPr>
          <p:cNvPr id="6" name="直線矢印コネクタ 5"/>
          <p:cNvCxnSpPr/>
          <p:nvPr/>
        </p:nvCxnSpPr>
        <p:spPr bwMode="auto">
          <a:xfrm>
            <a:off x="4655984" y="2708992"/>
            <a:ext cx="360004" cy="0"/>
          </a:xfrm>
          <a:prstGeom prst="straightConnector1">
            <a:avLst/>
          </a:prstGeom>
          <a:noFill/>
          <a:ln w="9525" cap="flat" cmpd="sng" algn="ctr">
            <a:solidFill>
              <a:schemeClr val="tx1"/>
            </a:solidFill>
            <a:prstDash val="solid"/>
            <a:round/>
            <a:headEnd type="none" w="med" len="med"/>
            <a:tailEnd type="triangle"/>
          </a:ln>
          <a:effectLst/>
        </p:spPr>
      </p:cxnSp>
      <p:grpSp>
        <p:nvGrpSpPr>
          <p:cNvPr id="7" name="グループ化 6"/>
          <p:cNvGrpSpPr/>
          <p:nvPr/>
        </p:nvGrpSpPr>
        <p:grpSpPr>
          <a:xfrm>
            <a:off x="5015988" y="2348988"/>
            <a:ext cx="360004" cy="720008"/>
            <a:chOff x="2411977" y="3068996"/>
            <a:chExt cx="360004" cy="720008"/>
          </a:xfrm>
        </p:grpSpPr>
        <p:sp>
          <p:nvSpPr>
            <p:cNvPr id="8" name="正方形/長方形 7"/>
            <p:cNvSpPr/>
            <p:nvPr/>
          </p:nvSpPr>
          <p:spPr bwMode="auto">
            <a:xfrm>
              <a:off x="2411977" y="3068996"/>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9" name="二等辺三角形 8"/>
            <p:cNvSpPr/>
            <p:nvPr/>
          </p:nvSpPr>
          <p:spPr bwMode="auto">
            <a:xfrm>
              <a:off x="2501977" y="3609002"/>
              <a:ext cx="180002" cy="180002"/>
            </a:xfrm>
            <a:prstGeom prst="triangle">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cxnSp>
        <p:nvCxnSpPr>
          <p:cNvPr id="10" name="直線矢印コネクタ 9"/>
          <p:cNvCxnSpPr/>
          <p:nvPr/>
        </p:nvCxnSpPr>
        <p:spPr bwMode="auto">
          <a:xfrm>
            <a:off x="2855964" y="2708992"/>
            <a:ext cx="360004" cy="0"/>
          </a:xfrm>
          <a:prstGeom prst="straightConnector1">
            <a:avLst/>
          </a:prstGeom>
          <a:noFill/>
          <a:ln w="9525" cap="flat" cmpd="sng" algn="ctr">
            <a:solidFill>
              <a:schemeClr val="tx1"/>
            </a:solidFill>
            <a:prstDash val="solid"/>
            <a:round/>
            <a:headEnd type="none" w="med" len="med"/>
            <a:tailEnd type="triangle"/>
          </a:ln>
          <a:effectLst/>
        </p:spPr>
      </p:cxnSp>
      <p:grpSp>
        <p:nvGrpSpPr>
          <p:cNvPr id="11" name="グループ化 10"/>
          <p:cNvGrpSpPr/>
          <p:nvPr/>
        </p:nvGrpSpPr>
        <p:grpSpPr>
          <a:xfrm>
            <a:off x="7536016" y="2348988"/>
            <a:ext cx="360004" cy="720008"/>
            <a:chOff x="2411977" y="3068996"/>
            <a:chExt cx="360004" cy="720008"/>
          </a:xfrm>
        </p:grpSpPr>
        <p:sp>
          <p:nvSpPr>
            <p:cNvPr id="12" name="正方形/長方形 11"/>
            <p:cNvSpPr/>
            <p:nvPr/>
          </p:nvSpPr>
          <p:spPr bwMode="auto">
            <a:xfrm>
              <a:off x="2411977" y="3068996"/>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3" name="二等辺三角形 12"/>
            <p:cNvSpPr/>
            <p:nvPr/>
          </p:nvSpPr>
          <p:spPr bwMode="auto">
            <a:xfrm>
              <a:off x="2501977" y="3609002"/>
              <a:ext cx="180002" cy="180002"/>
            </a:xfrm>
            <a:prstGeom prst="triangle">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14" name="正方形/長方形 13"/>
          <p:cNvSpPr/>
          <p:nvPr/>
        </p:nvSpPr>
        <p:spPr bwMode="auto">
          <a:xfrm>
            <a:off x="5735996" y="1988984"/>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cxnSp>
        <p:nvCxnSpPr>
          <p:cNvPr id="15" name="直線矢印コネクタ 14"/>
          <p:cNvCxnSpPr/>
          <p:nvPr/>
        </p:nvCxnSpPr>
        <p:spPr bwMode="auto">
          <a:xfrm>
            <a:off x="7176012" y="2708992"/>
            <a:ext cx="360004" cy="0"/>
          </a:xfrm>
          <a:prstGeom prst="straightConnector1">
            <a:avLst/>
          </a:prstGeom>
          <a:noFill/>
          <a:ln w="9525" cap="flat" cmpd="sng" algn="ctr">
            <a:solidFill>
              <a:schemeClr val="tx1"/>
            </a:solidFill>
            <a:prstDash val="solid"/>
            <a:round/>
            <a:headEnd type="none" w="med" len="med"/>
            <a:tailEnd type="triangle"/>
          </a:ln>
          <a:effectLst/>
        </p:spPr>
      </p:cxnSp>
      <p:cxnSp>
        <p:nvCxnSpPr>
          <p:cNvPr id="16" name="直線矢印コネクタ 15"/>
          <p:cNvCxnSpPr/>
          <p:nvPr/>
        </p:nvCxnSpPr>
        <p:spPr bwMode="auto">
          <a:xfrm>
            <a:off x="5375992" y="2708992"/>
            <a:ext cx="360004" cy="0"/>
          </a:xfrm>
          <a:prstGeom prst="straightConnector1">
            <a:avLst/>
          </a:prstGeom>
          <a:noFill/>
          <a:ln w="9525" cap="flat" cmpd="sng" algn="ctr">
            <a:solidFill>
              <a:schemeClr val="tx1"/>
            </a:solidFill>
            <a:prstDash val="solid"/>
            <a:round/>
            <a:headEnd type="none" w="med" len="med"/>
            <a:tailEnd type="triangle"/>
          </a:ln>
          <a:effectLst/>
        </p:spPr>
      </p:cxnSp>
      <p:cxnSp>
        <p:nvCxnSpPr>
          <p:cNvPr id="17" name="直線矢印コネクタ 16"/>
          <p:cNvCxnSpPr/>
          <p:nvPr/>
        </p:nvCxnSpPr>
        <p:spPr bwMode="auto">
          <a:xfrm>
            <a:off x="7896020" y="2708992"/>
            <a:ext cx="360004" cy="0"/>
          </a:xfrm>
          <a:prstGeom prst="straightConnector1">
            <a:avLst/>
          </a:prstGeom>
          <a:noFill/>
          <a:ln w="9525" cap="flat" cmpd="sng" algn="ctr">
            <a:solidFill>
              <a:schemeClr val="tx1"/>
            </a:solidFill>
            <a:prstDash val="solid"/>
            <a:round/>
            <a:headEnd type="none" w="med" len="med"/>
            <a:tailEnd type="triangle"/>
          </a:ln>
          <a:effectLst/>
        </p:spPr>
      </p:cxnSp>
      <p:cxnSp>
        <p:nvCxnSpPr>
          <p:cNvPr id="18" name="直線矢印コネクタ 17"/>
          <p:cNvCxnSpPr>
            <a:endCxn id="8" idx="0"/>
          </p:cNvCxnSpPr>
          <p:nvPr/>
        </p:nvCxnSpPr>
        <p:spPr bwMode="auto">
          <a:xfrm>
            <a:off x="5195990" y="1988984"/>
            <a:ext cx="0" cy="360004"/>
          </a:xfrm>
          <a:prstGeom prst="straightConnector1">
            <a:avLst/>
          </a:prstGeom>
          <a:noFill/>
          <a:ln w="9525" cap="flat" cmpd="sng" algn="ctr">
            <a:solidFill>
              <a:schemeClr val="tx1"/>
            </a:solidFill>
            <a:prstDash val="solid"/>
            <a:round/>
            <a:headEnd type="none" w="med" len="med"/>
            <a:tailEnd type="triangle"/>
          </a:ln>
          <a:effectLst/>
        </p:spPr>
      </p:cxnSp>
      <p:cxnSp>
        <p:nvCxnSpPr>
          <p:cNvPr id="21" name="直線矢印コネクタ 20"/>
          <p:cNvCxnSpPr/>
          <p:nvPr/>
        </p:nvCxnSpPr>
        <p:spPr bwMode="auto">
          <a:xfrm>
            <a:off x="7716018" y="1988984"/>
            <a:ext cx="0" cy="360004"/>
          </a:xfrm>
          <a:prstGeom prst="straightConnector1">
            <a:avLst/>
          </a:prstGeom>
          <a:noFill/>
          <a:ln w="9525" cap="flat" cmpd="sng" algn="ctr">
            <a:solidFill>
              <a:schemeClr val="tx1"/>
            </a:solidFill>
            <a:prstDash val="solid"/>
            <a:round/>
            <a:headEnd type="none" w="med" len="med"/>
            <a:tailEnd type="triangle"/>
          </a:ln>
          <a:effectLst/>
        </p:spPr>
      </p:cxnSp>
      <p:sp>
        <p:nvSpPr>
          <p:cNvPr id="22" name="正方形/長方形 21"/>
          <p:cNvSpPr/>
          <p:nvPr/>
        </p:nvSpPr>
        <p:spPr bwMode="auto">
          <a:xfrm>
            <a:off x="4835986" y="1628980"/>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WE</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7356014" y="1628980"/>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WE</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5343054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WE </a:t>
            </a:r>
            <a:r>
              <a:rPr lang="ja-JP" altLang="en-US" dirty="0"/>
              <a:t>つき </a:t>
            </a:r>
            <a:r>
              <a:rPr lang="en-US" altLang="ja-JP" dirty="0"/>
              <a:t>D-FF </a:t>
            </a:r>
            <a:r>
              <a:rPr lang="ja-JP" altLang="en-US" dirty="0"/>
              <a:t>の実現方法</a:t>
            </a:r>
            <a:endParaRPr kumimoji="1" lang="ja-JP" altLang="en-US" dirty="0"/>
          </a:p>
        </p:txBody>
      </p:sp>
      <p:sp>
        <p:nvSpPr>
          <p:cNvPr id="3" name="テキスト プレースホルダー 2"/>
          <p:cNvSpPr>
            <a:spLocks noGrp="1"/>
          </p:cNvSpPr>
          <p:nvPr>
            <p:ph type="body" sz="quarter" idx="10"/>
          </p:nvPr>
        </p:nvSpPr>
        <p:spPr>
          <a:xfrm>
            <a:off x="2045955" y="3789005"/>
            <a:ext cx="8280092" cy="1799713"/>
          </a:xfrm>
        </p:spPr>
        <p:txBody>
          <a:bodyPr/>
          <a:lstStyle/>
          <a:p>
            <a:r>
              <a:rPr kumimoji="1" lang="ja-JP" altLang="en-US" dirty="0"/>
              <a:t>たとえば </a:t>
            </a:r>
            <a:r>
              <a:rPr kumimoji="1" lang="en-US" altLang="ja-JP" dirty="0"/>
              <a:t>D-FF </a:t>
            </a:r>
            <a:r>
              <a:rPr kumimoji="1" lang="ja-JP" altLang="en-US" dirty="0"/>
              <a:t>とマルチプレクサで作れる</a:t>
            </a:r>
            <a:endParaRPr kumimoji="1" lang="en-US" altLang="ja-JP" dirty="0"/>
          </a:p>
          <a:p>
            <a:pPr lvl="1"/>
            <a:r>
              <a:rPr kumimoji="1" lang="en-US" altLang="ja-JP" dirty="0"/>
              <a:t>WE </a:t>
            </a:r>
            <a:r>
              <a:rPr kumimoji="1" lang="ja-JP" altLang="en-US" dirty="0"/>
              <a:t>が </a:t>
            </a:r>
            <a:r>
              <a:rPr kumimoji="1" lang="en-US" altLang="ja-JP" dirty="0"/>
              <a:t>1 </a:t>
            </a:r>
            <a:r>
              <a:rPr kumimoji="1" lang="ja-JP" altLang="en-US" dirty="0"/>
              <a:t>の時は，左からきた入力を選んで書き込む</a:t>
            </a:r>
            <a:endParaRPr kumimoji="1" lang="en-US" altLang="ja-JP" dirty="0"/>
          </a:p>
          <a:p>
            <a:pPr lvl="1"/>
            <a:r>
              <a:rPr kumimoji="1" lang="en-US" altLang="ja-JP" dirty="0"/>
              <a:t>WE </a:t>
            </a:r>
            <a:r>
              <a:rPr kumimoji="1" lang="ja-JP" altLang="en-US" dirty="0"/>
              <a:t>が </a:t>
            </a:r>
            <a:r>
              <a:rPr kumimoji="1" lang="en-US" altLang="ja-JP" dirty="0"/>
              <a:t>0 </a:t>
            </a:r>
            <a:r>
              <a:rPr kumimoji="1" lang="ja-JP" altLang="en-US" dirty="0"/>
              <a:t>の時は，その時の自分自身の出力を選んで書き込む</a:t>
            </a:r>
          </a:p>
        </p:txBody>
      </p:sp>
      <p:sp>
        <p:nvSpPr>
          <p:cNvPr id="30" name="正方形/長方形 29"/>
          <p:cNvSpPr/>
          <p:nvPr/>
        </p:nvSpPr>
        <p:spPr bwMode="auto">
          <a:xfrm>
            <a:off x="5285991"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WE</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35" name="グループ化 34"/>
          <p:cNvGrpSpPr/>
          <p:nvPr/>
        </p:nvGrpSpPr>
        <p:grpSpPr>
          <a:xfrm>
            <a:off x="5195990" y="2438990"/>
            <a:ext cx="1620018" cy="1260013"/>
            <a:chOff x="3761991" y="1718981"/>
            <a:chExt cx="1620018" cy="1260013"/>
          </a:xfrm>
        </p:grpSpPr>
        <p:cxnSp>
          <p:nvCxnSpPr>
            <p:cNvPr id="24" name="直線矢印コネクタ 23"/>
            <p:cNvCxnSpPr/>
            <p:nvPr/>
          </p:nvCxnSpPr>
          <p:spPr bwMode="auto">
            <a:xfrm>
              <a:off x="3761991" y="2258987"/>
              <a:ext cx="360004" cy="0"/>
            </a:xfrm>
            <a:prstGeom prst="straightConnector1">
              <a:avLst/>
            </a:prstGeom>
            <a:noFill/>
            <a:ln w="9525" cap="flat" cmpd="sng" algn="ctr">
              <a:solidFill>
                <a:schemeClr val="tx1"/>
              </a:solidFill>
              <a:prstDash val="solid"/>
              <a:round/>
              <a:headEnd type="none" w="med" len="med"/>
              <a:tailEnd type="triangle"/>
            </a:ln>
            <a:effectLst/>
          </p:spPr>
        </p:cxnSp>
        <p:grpSp>
          <p:nvGrpSpPr>
            <p:cNvPr id="25" name="グループ化 24"/>
            <p:cNvGrpSpPr/>
            <p:nvPr/>
          </p:nvGrpSpPr>
          <p:grpSpPr>
            <a:xfrm>
              <a:off x="4572000" y="1988984"/>
              <a:ext cx="360004" cy="720008"/>
              <a:chOff x="2411977" y="3068996"/>
              <a:chExt cx="360004" cy="720008"/>
            </a:xfrm>
          </p:grpSpPr>
          <p:sp>
            <p:nvSpPr>
              <p:cNvPr id="26" name="正方形/長方形 25"/>
              <p:cNvSpPr/>
              <p:nvPr/>
            </p:nvSpPr>
            <p:spPr bwMode="auto">
              <a:xfrm>
                <a:off x="2411977" y="3068996"/>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27" name="二等辺三角形 26"/>
              <p:cNvSpPr/>
              <p:nvPr/>
            </p:nvSpPr>
            <p:spPr bwMode="auto">
              <a:xfrm>
                <a:off x="2501977" y="3609002"/>
                <a:ext cx="180002" cy="180002"/>
              </a:xfrm>
              <a:prstGeom prst="triangle">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cxnSp>
          <p:nvCxnSpPr>
            <p:cNvPr id="28" name="直線矢印コネクタ 27"/>
            <p:cNvCxnSpPr/>
            <p:nvPr/>
          </p:nvCxnSpPr>
          <p:spPr bwMode="auto">
            <a:xfrm>
              <a:off x="4932004" y="2348988"/>
              <a:ext cx="450005" cy="0"/>
            </a:xfrm>
            <a:prstGeom prst="straightConnector1">
              <a:avLst/>
            </a:prstGeom>
            <a:noFill/>
            <a:ln w="9525" cap="flat" cmpd="sng" algn="ctr">
              <a:solidFill>
                <a:schemeClr val="tx1"/>
              </a:solidFill>
              <a:prstDash val="solid"/>
              <a:round/>
              <a:headEnd type="none" w="med" len="med"/>
              <a:tailEnd type="triangle"/>
            </a:ln>
            <a:effectLst/>
          </p:spPr>
        </p:cxnSp>
        <p:cxnSp>
          <p:nvCxnSpPr>
            <p:cNvPr id="29" name="直線矢印コネクタ 28"/>
            <p:cNvCxnSpPr/>
            <p:nvPr/>
          </p:nvCxnSpPr>
          <p:spPr bwMode="auto">
            <a:xfrm>
              <a:off x="4211996" y="1718981"/>
              <a:ext cx="0" cy="360004"/>
            </a:xfrm>
            <a:prstGeom prst="straightConnector1">
              <a:avLst/>
            </a:prstGeom>
            <a:noFill/>
            <a:ln w="9525" cap="flat" cmpd="sng" algn="ctr">
              <a:solidFill>
                <a:schemeClr val="tx1"/>
              </a:solidFill>
              <a:prstDash val="solid"/>
              <a:round/>
              <a:headEnd type="none" w="med" len="med"/>
              <a:tailEnd type="triangle"/>
            </a:ln>
            <a:effectLst/>
          </p:spPr>
        </p:cxnSp>
        <p:sp>
          <p:nvSpPr>
            <p:cNvPr id="31" name="フローチャート: 手作業 30"/>
            <p:cNvSpPr/>
            <p:nvPr/>
          </p:nvSpPr>
          <p:spPr bwMode="auto">
            <a:xfrm rot="16200000">
              <a:off x="3851992" y="2258987"/>
              <a:ext cx="720008" cy="180001"/>
            </a:xfrm>
            <a:prstGeom prst="flowChartManualOperation">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vert="vert" rtlCol="0" anchor="ctr"/>
            <a:lstStyle/>
            <a:p>
              <a:pPr algn="ctr"/>
              <a:endParaRPr lang="en-US" altLang="ja-JP" sz="1400" dirty="0">
                <a:ea typeface="メイリオ" panose="020B0604030504040204" pitchFamily="50" charset="-128"/>
              </a:endParaRPr>
            </a:p>
          </p:txBody>
        </p:sp>
        <p:sp>
          <p:nvSpPr>
            <p:cNvPr id="32" name="Freeform 10"/>
            <p:cNvSpPr>
              <a:spLocks/>
            </p:cNvSpPr>
            <p:nvPr/>
          </p:nvSpPr>
          <p:spPr bwMode="auto">
            <a:xfrm flipH="1">
              <a:off x="3851992" y="2348987"/>
              <a:ext cx="126001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cs typeface="Times New Roman" pitchFamily="18" charset="0"/>
              </a:endParaRPr>
            </a:p>
          </p:txBody>
        </p:sp>
        <p:sp>
          <p:nvSpPr>
            <p:cNvPr id="33" name="Freeform 10"/>
            <p:cNvSpPr>
              <a:spLocks/>
            </p:cNvSpPr>
            <p:nvPr/>
          </p:nvSpPr>
          <p:spPr bwMode="auto">
            <a:xfrm flipV="1">
              <a:off x="3851992" y="2528989"/>
              <a:ext cx="270002"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cs typeface="Times New Roman" pitchFamily="18" charset="0"/>
              </a:endParaRPr>
            </a:p>
          </p:txBody>
        </p:sp>
        <p:cxnSp>
          <p:nvCxnSpPr>
            <p:cNvPr id="34" name="直線矢印コネクタ 33"/>
            <p:cNvCxnSpPr>
              <a:stCxn id="31" idx="2"/>
            </p:cNvCxnSpPr>
            <p:nvPr/>
          </p:nvCxnSpPr>
          <p:spPr bwMode="auto">
            <a:xfrm>
              <a:off x="4301997" y="2348988"/>
              <a:ext cx="270003" cy="0"/>
            </a:xfrm>
            <a:prstGeom prst="straightConnector1">
              <a:avLst/>
            </a:prstGeom>
            <a:noFill/>
            <a:ln w="9525" cap="flat" cmpd="sng" algn="ctr">
              <a:solidFill>
                <a:schemeClr val="tx1"/>
              </a:solidFill>
              <a:prstDash val="solid"/>
              <a:round/>
              <a:headEnd type="none" w="med" len="med"/>
              <a:tailEnd type="triangle"/>
            </a:ln>
            <a:effectLst/>
          </p:spPr>
        </p:cxnSp>
      </p:grpSp>
    </p:spTree>
    <p:extLst>
      <p:ext uri="{BB962C8B-B14F-4D97-AF65-F5344CB8AC3E}">
        <p14:creationId xmlns:p14="http://schemas.microsoft.com/office/powerpoint/2010/main" val="94734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2961AEFA-E157-0C29-796B-4579D0BB8AC8}"/>
              </a:ext>
            </a:extLst>
          </p:cNvPr>
          <p:cNvSpPr>
            <a:spLocks noGrp="1"/>
          </p:cNvSpPr>
          <p:nvPr>
            <p:ph type="title"/>
          </p:nvPr>
        </p:nvSpPr>
        <p:spPr/>
        <p:txBody>
          <a:bodyPr/>
          <a:lstStyle/>
          <a:p>
            <a:r>
              <a:rPr lang="ja-JP" altLang="en-US" dirty="0"/>
              <a:t>非構造ハザード</a:t>
            </a:r>
            <a:endParaRPr lang="en-US" altLang="ja-JP" dirty="0"/>
          </a:p>
        </p:txBody>
      </p:sp>
    </p:spTree>
    <p:extLst>
      <p:ext uri="{BB962C8B-B14F-4D97-AF65-F5344CB8AC3E}">
        <p14:creationId xmlns:p14="http://schemas.microsoft.com/office/powerpoint/2010/main" val="18059280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もくじ</a:t>
            </a:r>
          </a:p>
        </p:txBody>
      </p:sp>
      <p:sp>
        <p:nvSpPr>
          <p:cNvPr id="3" name="テキスト プレースホルダー 2"/>
          <p:cNvSpPr>
            <a:spLocks noGrp="1"/>
          </p:cNvSpPr>
          <p:nvPr>
            <p:ph type="body" sz="quarter" idx="10"/>
          </p:nvPr>
        </p:nvSpPr>
        <p:spPr/>
        <p:txBody>
          <a:bodyPr/>
          <a:lstStyle/>
          <a:p>
            <a:pPr marL="385200" indent="-457200">
              <a:buFont typeface="+mj-lt"/>
              <a:buAutoNum type="arabicPeriod"/>
            </a:pPr>
            <a:r>
              <a:rPr lang="ja-JP" altLang="en-US" dirty="0"/>
              <a:t>構造ハザード：ハード資源の不足に起因</a:t>
            </a:r>
            <a:endParaRPr lang="en-US" altLang="ja-JP" dirty="0"/>
          </a:p>
          <a:p>
            <a:pPr marL="745200" lvl="1" indent="-457200">
              <a:buFont typeface="+mj-lt"/>
              <a:buAutoNum type="arabicPeriod"/>
            </a:pPr>
            <a:r>
              <a:rPr lang="ja-JP" altLang="en-US" dirty="0"/>
              <a:t>構造ハザードとはなにか？</a:t>
            </a:r>
            <a:endParaRPr lang="en-US" altLang="ja-JP" dirty="0"/>
          </a:p>
          <a:p>
            <a:pPr marL="745200" lvl="1" indent="-457200">
              <a:buFont typeface="+mj-lt"/>
              <a:buAutoNum type="arabicPeriod"/>
            </a:pPr>
            <a:r>
              <a:rPr lang="ja-JP" altLang="en-US" dirty="0"/>
              <a:t>その解決方法</a:t>
            </a:r>
          </a:p>
          <a:p>
            <a:pPr marL="385200" indent="-457200">
              <a:buFont typeface="+mj-lt"/>
              <a:buAutoNum type="arabicPeriod"/>
            </a:pPr>
            <a:r>
              <a:rPr lang="ja-JP" altLang="en-US" b="1" dirty="0"/>
              <a:t>非構造ハザード：バックエッジに由来</a:t>
            </a:r>
            <a:endParaRPr lang="en-US" altLang="ja-JP" b="1"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dirty="0"/>
              <a:t>制御ハザード</a:t>
            </a:r>
            <a:endParaRPr lang="en-US" altLang="ja-JP" dirty="0"/>
          </a:p>
        </p:txBody>
      </p:sp>
    </p:spTree>
    <p:extLst>
      <p:ext uri="{BB962C8B-B14F-4D97-AF65-F5344CB8AC3E}">
        <p14:creationId xmlns:p14="http://schemas.microsoft.com/office/powerpoint/2010/main" val="2637499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バックエッジとは：逆方向（右から左）にいく信号</a:t>
            </a:r>
          </a:p>
        </p:txBody>
      </p:sp>
      <p:sp>
        <p:nvSpPr>
          <p:cNvPr id="3" name="テキスト プレースホルダー 2"/>
          <p:cNvSpPr>
            <a:spLocks noGrp="1"/>
          </p:cNvSpPr>
          <p:nvPr>
            <p:ph type="body" sz="quarter" idx="10"/>
          </p:nvPr>
        </p:nvSpPr>
        <p:spPr>
          <a:xfrm>
            <a:off x="2135956" y="5589025"/>
            <a:ext cx="8280092" cy="719701"/>
          </a:xfrm>
        </p:spPr>
        <p:txBody>
          <a:bodyPr/>
          <a:lstStyle/>
          <a:p>
            <a:r>
              <a:rPr kumimoji="1" lang="ja-JP" altLang="en-US" dirty="0"/>
              <a:t>バックエッジがあるため，命令を</a:t>
            </a:r>
            <a:r>
              <a:rPr lang="ja-JP" altLang="en-US" dirty="0"/>
              <a:t>単純に流せない場合がある</a:t>
            </a:r>
            <a:endParaRPr lang="en-US" altLang="ja-JP" dirty="0"/>
          </a:p>
          <a:p>
            <a:pPr lvl="1"/>
            <a:r>
              <a:rPr lang="ja-JP" altLang="en-US" dirty="0"/>
              <a:t>工場のラインのように，一方向に流せない</a:t>
            </a:r>
            <a:endParaRPr kumimoji="1" lang="ja-JP" altLang="en-US" dirty="0"/>
          </a:p>
        </p:txBody>
      </p:sp>
      <p:sp>
        <p:nvSpPr>
          <p:cNvPr id="4" name="正方形/長方形 3"/>
          <p:cNvSpPr/>
          <p:nvPr/>
        </p:nvSpPr>
        <p:spPr bwMode="auto">
          <a:xfrm>
            <a:off x="2495960"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91007" y="3834004"/>
            <a:ext cx="117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789004"/>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4149008"/>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978993"/>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2528990"/>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2405959" y="2438989"/>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正方形/長方形 12"/>
          <p:cNvSpPr/>
          <p:nvPr/>
        </p:nvSpPr>
        <p:spPr bwMode="auto">
          <a:xfrm>
            <a:off x="2135955" y="225898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14" name="Freeform 10"/>
          <p:cNvSpPr>
            <a:spLocks/>
          </p:cNvSpPr>
          <p:nvPr/>
        </p:nvSpPr>
        <p:spPr bwMode="auto">
          <a:xfrm>
            <a:off x="1595950" y="1988984"/>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3080968" y="2213985"/>
            <a:ext cx="630007"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1595950" y="1988984"/>
            <a:ext cx="1800020" cy="0"/>
          </a:xfrm>
          <a:prstGeom prst="straightConnector1">
            <a:avLst/>
          </a:prstGeom>
          <a:noFill/>
          <a:ln w="9525" cap="flat" cmpd="sng" algn="ctr">
            <a:solidFill>
              <a:schemeClr val="tx1"/>
            </a:solidFill>
            <a:prstDash val="solid"/>
            <a:round/>
            <a:headEnd type="none" w="sm" len="sm"/>
            <a:tailEnd type="none"/>
          </a:ln>
          <a:effectLst/>
        </p:spPr>
      </p:cxnSp>
      <p:cxnSp>
        <p:nvCxnSpPr>
          <p:cNvPr id="17" name="直線矢印コネクタ 16"/>
          <p:cNvCxnSpPr/>
          <p:nvPr/>
        </p:nvCxnSpPr>
        <p:spPr bwMode="auto">
          <a:xfrm>
            <a:off x="3935976" y="4149008"/>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8" name="正方形/長方形 17"/>
          <p:cNvSpPr/>
          <p:nvPr/>
        </p:nvSpPr>
        <p:spPr bwMode="auto">
          <a:xfrm>
            <a:off x="249596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19" name="正方形/長方形 18"/>
          <p:cNvSpPr/>
          <p:nvPr/>
        </p:nvSpPr>
        <p:spPr bwMode="auto">
          <a:xfrm>
            <a:off x="3575972"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lang="ja-JP" altLang="en-US" sz="1200" dirty="0">
                <a:latin typeface="メイリオ" panose="020B0604030504040204" pitchFamily="50" charset="-128"/>
                <a:ea typeface="メイリオ" panose="020B0604030504040204" pitchFamily="50" charset="-128"/>
              </a:rPr>
              <a:t>命令</a:t>
            </a:r>
          </a:p>
        </p:txBody>
      </p:sp>
      <p:sp>
        <p:nvSpPr>
          <p:cNvPr id="20" name="Freeform 10"/>
          <p:cNvSpPr>
            <a:spLocks/>
          </p:cNvSpPr>
          <p:nvPr/>
        </p:nvSpPr>
        <p:spPr bwMode="auto">
          <a:xfrm flipV="1">
            <a:off x="4475982" y="3969003"/>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1" name="直線矢印コネクタ 20"/>
          <p:cNvCxnSpPr/>
          <p:nvPr/>
        </p:nvCxnSpPr>
        <p:spPr bwMode="auto">
          <a:xfrm>
            <a:off x="4475982" y="4329010"/>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2" name="正方形/長方形 21"/>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a:t>
            </a:r>
          </a:p>
        </p:txBody>
      </p:sp>
      <p:sp>
        <p:nvSpPr>
          <p:cNvPr id="23" name="正方形/長方形 22"/>
          <p:cNvSpPr/>
          <p:nvPr/>
        </p:nvSpPr>
        <p:spPr bwMode="auto">
          <a:xfrm>
            <a:off x="4655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4655984" y="414900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4655984"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6" name="正方形/長方形 25"/>
          <p:cNvSpPr/>
          <p:nvPr/>
        </p:nvSpPr>
        <p:spPr bwMode="auto">
          <a:xfrm>
            <a:off x="465598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sp>
        <p:nvSpPr>
          <p:cNvPr id="27" name="正方形/長方形 26"/>
          <p:cNvSpPr/>
          <p:nvPr/>
        </p:nvSpPr>
        <p:spPr bwMode="auto">
          <a:xfrm>
            <a:off x="2495960"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命令メモリ</a:t>
            </a:r>
          </a:p>
        </p:txBody>
      </p:sp>
      <p:cxnSp>
        <p:nvCxnSpPr>
          <p:cNvPr id="28" name="直線矢印コネクタ 27"/>
          <p:cNvCxnSpPr/>
          <p:nvPr/>
        </p:nvCxnSpPr>
        <p:spPr bwMode="auto">
          <a:xfrm>
            <a:off x="4475982" y="4689014"/>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9" name="Freeform 10"/>
          <p:cNvSpPr>
            <a:spLocks/>
          </p:cNvSpPr>
          <p:nvPr/>
        </p:nvSpPr>
        <p:spPr bwMode="auto">
          <a:xfrm>
            <a:off x="4475982" y="1898984"/>
            <a:ext cx="180002" cy="171001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0" name="Freeform 10"/>
          <p:cNvSpPr>
            <a:spLocks/>
          </p:cNvSpPr>
          <p:nvPr/>
        </p:nvSpPr>
        <p:spPr bwMode="auto">
          <a:xfrm rot="10800000" flipH="1">
            <a:off x="9876039" y="3429000"/>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1" name="直線矢印コネクタ 30"/>
          <p:cNvCxnSpPr/>
          <p:nvPr/>
        </p:nvCxnSpPr>
        <p:spPr bwMode="auto">
          <a:xfrm>
            <a:off x="9696040" y="4149008"/>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7536016" y="4149008"/>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3" name="直線矢印コネクタ 32"/>
          <p:cNvCxnSpPr/>
          <p:nvPr/>
        </p:nvCxnSpPr>
        <p:spPr bwMode="auto">
          <a:xfrm>
            <a:off x="6096000" y="3789004"/>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4" name="直線矢印コネクタ 33"/>
          <p:cNvCxnSpPr/>
          <p:nvPr/>
        </p:nvCxnSpPr>
        <p:spPr bwMode="auto">
          <a:xfrm>
            <a:off x="6096000" y="4599013"/>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5" name="正方形/長方形 34"/>
          <p:cNvSpPr/>
          <p:nvPr/>
        </p:nvSpPr>
        <p:spPr bwMode="auto">
          <a:xfrm>
            <a:off x="8256024"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36" name="正方形/長方形 35"/>
          <p:cNvSpPr/>
          <p:nvPr/>
        </p:nvSpPr>
        <p:spPr bwMode="auto">
          <a:xfrm>
            <a:off x="825602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7" name="Freeform 10"/>
          <p:cNvSpPr>
            <a:spLocks/>
          </p:cNvSpPr>
          <p:nvPr/>
        </p:nvSpPr>
        <p:spPr bwMode="auto">
          <a:xfrm>
            <a:off x="6636005" y="4599013"/>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4599012"/>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Freeform 10"/>
          <p:cNvSpPr>
            <a:spLocks/>
          </p:cNvSpPr>
          <p:nvPr/>
        </p:nvSpPr>
        <p:spPr bwMode="auto">
          <a:xfrm flipV="1">
            <a:off x="8076022" y="378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0" name="正方形/長方形 39"/>
          <p:cNvSpPr/>
          <p:nvPr/>
        </p:nvSpPr>
        <p:spPr bwMode="auto">
          <a:xfrm>
            <a:off x="8256024" y="4419011"/>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1" name="直線矢印コネクタ 40"/>
          <p:cNvCxnSpPr/>
          <p:nvPr/>
        </p:nvCxnSpPr>
        <p:spPr bwMode="auto">
          <a:xfrm>
            <a:off x="10056044" y="3158997"/>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2" name="直線矢印コネクタ 41"/>
          <p:cNvCxnSpPr/>
          <p:nvPr/>
        </p:nvCxnSpPr>
        <p:spPr bwMode="auto">
          <a:xfrm flipH="1">
            <a:off x="3395971" y="1898983"/>
            <a:ext cx="7110079" cy="0"/>
          </a:xfrm>
          <a:prstGeom prst="straightConnector1">
            <a:avLst/>
          </a:prstGeom>
          <a:noFill/>
          <a:ln w="31750" cap="flat" cmpd="sng" algn="ctr">
            <a:solidFill>
              <a:schemeClr val="accent6"/>
            </a:solidFill>
            <a:prstDash val="solid"/>
            <a:round/>
            <a:headEnd type="none" w="sm" len="sm"/>
            <a:tailEnd type="triangle"/>
          </a:ln>
          <a:effectLst/>
        </p:spPr>
      </p:cxnSp>
      <p:sp>
        <p:nvSpPr>
          <p:cNvPr id="43" name="Freeform 10"/>
          <p:cNvSpPr>
            <a:spLocks/>
          </p:cNvSpPr>
          <p:nvPr/>
        </p:nvSpPr>
        <p:spPr bwMode="auto">
          <a:xfrm rot="10800000" flipH="1">
            <a:off x="8076022" y="3248995"/>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Freeform 10"/>
          <p:cNvSpPr>
            <a:spLocks/>
          </p:cNvSpPr>
          <p:nvPr/>
        </p:nvSpPr>
        <p:spPr bwMode="auto">
          <a:xfrm rot="5400000" flipH="1" flipV="1">
            <a:off x="9561041" y="2393989"/>
            <a:ext cx="1440015"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正方形/長方形 44"/>
          <p:cNvSpPr/>
          <p:nvPr/>
        </p:nvSpPr>
        <p:spPr bwMode="auto">
          <a:xfrm>
            <a:off x="879603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cxnSp>
        <p:nvCxnSpPr>
          <p:cNvPr id="46" name="直線矢印コネクタ 45"/>
          <p:cNvCxnSpPr/>
          <p:nvPr/>
        </p:nvCxnSpPr>
        <p:spPr bwMode="auto">
          <a:xfrm>
            <a:off x="3395970" y="1808982"/>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7" name="直線矢印コネクタ 46"/>
          <p:cNvCxnSpPr/>
          <p:nvPr/>
        </p:nvCxnSpPr>
        <p:spPr bwMode="auto">
          <a:xfrm flipH="1">
            <a:off x="3395970" y="2078985"/>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48" name="正方形/長方形 47"/>
          <p:cNvSpPr/>
          <p:nvPr/>
        </p:nvSpPr>
        <p:spPr bwMode="auto">
          <a:xfrm>
            <a:off x="3395970" y="1178975"/>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accent6"/>
                </a:solidFill>
                <a:latin typeface="メイリオ" panose="020B0604030504040204" pitchFamily="50" charset="-128"/>
                <a:ea typeface="メイリオ" panose="020B0604030504040204" pitchFamily="50" charset="-128"/>
              </a:rPr>
              <a:t>2. </a:t>
            </a:r>
            <a:r>
              <a:rPr lang="ja-JP" altLang="en-US" sz="1600" dirty="0">
                <a:solidFill>
                  <a:schemeClr val="accent6"/>
                </a:solidFill>
                <a:latin typeface="メイリオ" panose="020B0604030504040204" pitchFamily="50" charset="-128"/>
                <a:ea typeface="メイリオ" panose="020B0604030504040204" pitchFamily="50" charset="-128"/>
              </a:rPr>
              <a:t>分岐結果の </a:t>
            </a:r>
            <a:r>
              <a:rPr lang="en-US" altLang="ja-JP" sz="1600" dirty="0">
                <a:solidFill>
                  <a:schemeClr val="accent6"/>
                </a:solidFill>
                <a:latin typeface="メイリオ" panose="020B0604030504040204" pitchFamily="50" charset="-128"/>
                <a:ea typeface="メイリオ" panose="020B0604030504040204" pitchFamily="50" charset="-128"/>
              </a:rPr>
              <a:t>PC </a:t>
            </a:r>
            <a:r>
              <a:rPr lang="ja-JP" altLang="en-US" sz="1600" dirty="0" err="1">
                <a:solidFill>
                  <a:schemeClr val="accent6"/>
                </a:solidFill>
                <a:latin typeface="メイリオ" panose="020B0604030504040204" pitchFamily="50" charset="-128"/>
                <a:ea typeface="メイリオ" panose="020B0604030504040204" pitchFamily="50" charset="-128"/>
              </a:rPr>
              <a:t>への</a:t>
            </a:r>
            <a:r>
              <a:rPr lang="ja-JP" altLang="en-US" sz="1600" dirty="0">
                <a:solidFill>
                  <a:schemeClr val="accent6"/>
                </a:solidFill>
                <a:latin typeface="メイリオ" panose="020B0604030504040204" pitchFamily="50" charset="-128"/>
                <a:ea typeface="メイリオ" panose="020B0604030504040204" pitchFamily="50" charset="-128"/>
              </a:rPr>
              <a:t>反映</a:t>
            </a:r>
            <a:endParaRPr lang="en-US" altLang="ja-JP" sz="1600" dirty="0">
              <a:solidFill>
                <a:schemeClr val="accent6"/>
              </a:solidFill>
              <a:latin typeface="メイリオ" panose="020B0604030504040204" pitchFamily="50" charset="-128"/>
              <a:ea typeface="メイリオ" panose="020B0604030504040204" pitchFamily="50" charset="-128"/>
            </a:endParaRPr>
          </a:p>
          <a:p>
            <a:r>
              <a:rPr lang="ja-JP" altLang="en-US" sz="1600" dirty="0">
                <a:solidFill>
                  <a:schemeClr val="accent6"/>
                </a:solidFill>
                <a:latin typeface="メイリオ" panose="020B0604030504040204" pitchFamily="50" charset="-128"/>
                <a:ea typeface="メイリオ" panose="020B0604030504040204" pitchFamily="50" charset="-128"/>
              </a:rPr>
              <a:t>制御ハザードの原因</a:t>
            </a:r>
          </a:p>
        </p:txBody>
      </p:sp>
      <p:sp>
        <p:nvSpPr>
          <p:cNvPr id="49" name="正方形/長方形 48"/>
          <p:cNvSpPr/>
          <p:nvPr/>
        </p:nvSpPr>
        <p:spPr bwMode="auto">
          <a:xfrm>
            <a:off x="4835986" y="2888994"/>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marL="342900" indent="-342900">
              <a:buAutoNum type="arabicPeriod"/>
            </a:pPr>
            <a:r>
              <a:rPr lang="ja-JP" altLang="en-US" sz="1600" dirty="0">
                <a:solidFill>
                  <a:schemeClr val="accent6"/>
                </a:solidFill>
                <a:latin typeface="メイリオ" panose="020B0604030504040204" pitchFamily="50" charset="-128"/>
                <a:ea typeface="メイリオ" panose="020B0604030504040204" pitchFamily="50" charset="-128"/>
              </a:rPr>
              <a:t>演算やロードの結果の書き込み</a:t>
            </a:r>
            <a:br>
              <a:rPr lang="en-US" altLang="ja-JP" sz="1600" dirty="0">
                <a:solidFill>
                  <a:schemeClr val="accent6"/>
                </a:solidFill>
                <a:latin typeface="メイリオ" panose="020B0604030504040204" pitchFamily="50" charset="-128"/>
                <a:ea typeface="メイリオ" panose="020B0604030504040204" pitchFamily="50" charset="-128"/>
              </a:rPr>
            </a:br>
            <a:r>
              <a:rPr lang="ja-JP" altLang="en-US" sz="1600" dirty="0">
                <a:solidFill>
                  <a:schemeClr val="accent6"/>
                </a:solidFill>
                <a:latin typeface="メイリオ" panose="020B0604030504040204" pitchFamily="50" charset="-128"/>
                <a:ea typeface="メイリオ" panose="020B0604030504040204" pitchFamily="50" charset="-128"/>
              </a:rPr>
              <a:t>データハザードの原因</a:t>
            </a:r>
          </a:p>
        </p:txBody>
      </p:sp>
    </p:spTree>
    <p:extLst>
      <p:ext uri="{BB962C8B-B14F-4D97-AF65-F5344CB8AC3E}">
        <p14:creationId xmlns:p14="http://schemas.microsoft.com/office/powerpoint/2010/main" val="42362099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データ・ハザード</a:t>
            </a:r>
            <a:endParaRPr kumimoji="1" lang="ja-JP" altLang="en-US" dirty="0"/>
          </a:p>
        </p:txBody>
      </p:sp>
      <p:sp>
        <p:nvSpPr>
          <p:cNvPr id="58" name="コンテンツ プレースホルダー 57"/>
          <p:cNvSpPr>
            <a:spLocks noGrp="1"/>
          </p:cNvSpPr>
          <p:nvPr>
            <p:ph type="body" sz="quarter" idx="10"/>
          </p:nvPr>
        </p:nvSpPr>
        <p:spPr>
          <a:xfrm>
            <a:off x="1775953" y="4689015"/>
            <a:ext cx="8730097" cy="1369161"/>
          </a:xfrm>
          <a:prstGeom prst="rect">
            <a:avLst/>
          </a:prstGeom>
        </p:spPr>
        <p:txBody>
          <a:bodyPr/>
          <a:lstStyle/>
          <a:p>
            <a:r>
              <a:rPr lang="ja-JP" altLang="en-US" dirty="0"/>
              <a:t>レジスタ・ファイルへのアクセス</a:t>
            </a:r>
            <a:endParaRPr lang="en-US" altLang="ja-JP" dirty="0"/>
          </a:p>
          <a:p>
            <a:pPr lvl="1"/>
            <a:r>
              <a:rPr lang="ja-JP" altLang="en-US" dirty="0"/>
              <a:t>演算の入力は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の人がレジスタ・ファイルから読み出す</a:t>
            </a:r>
            <a:endParaRPr lang="en-US" altLang="ja-JP" dirty="0"/>
          </a:p>
          <a:p>
            <a:pPr lvl="1"/>
            <a:r>
              <a:rPr lang="ja-JP" altLang="en-US" dirty="0"/>
              <a:t>演算の結果は</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の人がレジスタ・ファイルに書き込む</a:t>
            </a:r>
            <a:endPar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命令メモリ</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ALU</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bg1"/>
                </a:solidFill>
                <a:latin typeface="Arial Narrow" panose="020B0606020202030204" pitchFamily="34" charset="0"/>
              </a:rPr>
              <a:t>b=a+1</a:t>
            </a:r>
          </a:p>
          <a:p>
            <a:pPr>
              <a:lnSpc>
                <a:spcPct val="80000"/>
              </a:lnSpc>
            </a:pPr>
            <a:r>
              <a:rPr lang="en-US" altLang="ja-JP" sz="2000" dirty="0">
                <a:solidFill>
                  <a:schemeClr val="bg1"/>
                </a:solidFill>
                <a:latin typeface="Arial Narrow" panose="020B0606020202030204" pitchFamily="34" charset="0"/>
              </a:rPr>
              <a:t>c=b-1</a:t>
            </a:r>
          </a:p>
          <a:p>
            <a:pPr>
              <a:lnSpc>
                <a:spcPct val="80000"/>
              </a:lnSpc>
            </a:pPr>
            <a:r>
              <a:rPr lang="en-US" altLang="ja-JP" sz="2000" dirty="0">
                <a:solidFill>
                  <a:schemeClr val="bg1"/>
                </a:solidFill>
                <a:latin typeface="Arial Narrow" panose="020B0606020202030204" pitchFamily="34" charset="0"/>
              </a:rPr>
              <a:t>d=c+2</a:t>
            </a:r>
          </a:p>
          <a:p>
            <a:pPr>
              <a:lnSpc>
                <a:spcPct val="80000"/>
              </a:lnSpc>
            </a:pPr>
            <a:r>
              <a:rPr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8076022" y="1808982"/>
            <a:ext cx="1350015" cy="432646"/>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書きます！</a:t>
            </a:r>
          </a:p>
        </p:txBody>
      </p:sp>
      <p:sp>
        <p:nvSpPr>
          <p:cNvPr id="45" name="角丸四角形吹き出し 44"/>
          <p:cNvSpPr/>
          <p:nvPr/>
        </p:nvSpPr>
        <p:spPr bwMode="auto">
          <a:xfrm>
            <a:off x="5195990" y="1808982"/>
            <a:ext cx="1350015"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読みます！</a:t>
            </a:r>
          </a:p>
        </p:txBody>
      </p:sp>
    </p:spTree>
    <p:extLst>
      <p:ext uri="{BB962C8B-B14F-4D97-AF65-F5344CB8AC3E}">
        <p14:creationId xmlns:p14="http://schemas.microsoft.com/office/powerpoint/2010/main" val="6586131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データ・ハザード</a:t>
            </a:r>
            <a:endParaRPr kumimoji="1" lang="ja-JP" altLang="en-US" dirty="0"/>
          </a:p>
        </p:txBody>
      </p:sp>
      <p:sp>
        <p:nvSpPr>
          <p:cNvPr id="58" name="コンテンツ プレースホルダー 57"/>
          <p:cNvSpPr>
            <a:spLocks noGrp="1"/>
          </p:cNvSpPr>
          <p:nvPr>
            <p:ph type="body" sz="quarter" idx="10"/>
          </p:nvPr>
        </p:nvSpPr>
        <p:spPr>
          <a:xfrm>
            <a:off x="1775953" y="4869017"/>
            <a:ext cx="8730097" cy="1369161"/>
          </a:xfrm>
          <a:prstGeom prst="rect">
            <a:avLst/>
          </a:prstGeom>
        </p:spPr>
        <p:txBody>
          <a:bodyPr/>
          <a:lstStyle/>
          <a:p>
            <a:r>
              <a:rPr lang="ja-JP" altLang="en-US" dirty="0"/>
              <a:t>直前の命令の結果を使う命令が現れた場合：</a:t>
            </a:r>
            <a:endParaRPr lang="en-US" altLang="ja-JP" dirty="0"/>
          </a:p>
          <a:p>
            <a:pPr lvl="1"/>
            <a:r>
              <a:rPr lang="ja-JP" altLang="en-US" dirty="0"/>
              <a:t>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の人が </a:t>
            </a:r>
            <a:r>
              <a:rPr lang="en-US" altLang="ja-JP" b="1" dirty="0"/>
              <a:t>b</a:t>
            </a:r>
            <a:r>
              <a:rPr lang="en-US" altLang="ja-JP" dirty="0"/>
              <a:t>=a+1 </a:t>
            </a:r>
            <a:r>
              <a:rPr lang="ja-JP" altLang="en-US" dirty="0"/>
              <a:t>の結果を読もうとしても，</a:t>
            </a:r>
            <a:endParaRPr lang="en-US" altLang="ja-JP" dirty="0"/>
          </a:p>
          <a:p>
            <a:pPr lvl="1"/>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の人がまだ計算中でレジスタ・ファイルに </a:t>
            </a:r>
            <a:r>
              <a:rPr lang="en-US" altLang="ja-JP" dirty="0"/>
              <a:t>b </a:t>
            </a:r>
            <a:r>
              <a:rPr lang="ja-JP" altLang="en-US" dirty="0"/>
              <a:t>が書けていない</a:t>
            </a:r>
            <a:endParaRPr lang="en-US" altLang="ja-JP" dirty="0"/>
          </a:p>
          <a:p>
            <a:pPr lvl="1"/>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の人が計算結果をかけるのはさらに次のサイクル</a:t>
            </a:r>
            <a:endPar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lumMod val="75000"/>
                  </a:schemeClr>
                </a:solidFill>
              </a:rPr>
              <a:t>命令メモリ</a:t>
            </a:r>
            <a:endParaRPr lang="en-US" altLang="ja-JP" sz="1600" dirty="0">
              <a:solidFill>
                <a:schemeClr val="accent1">
                  <a:lumMod val="75000"/>
                </a:schemeClr>
              </a:solidFill>
            </a:endParaRPr>
          </a:p>
          <a:p>
            <a:pPr algn="ctr"/>
            <a:r>
              <a:rPr lang="ja-JP" altLang="en-US" sz="1600" dirty="0">
                <a:solidFill>
                  <a:schemeClr val="accent1">
                    <a:lumMod val="75000"/>
                  </a:schemeClr>
                </a:solidFill>
              </a:rPr>
              <a:t>（プログラム）</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=a+1</a:t>
            </a:r>
          </a:p>
          <a:p>
            <a:pPr>
              <a:lnSpc>
                <a:spcPct val="80000"/>
              </a:lnSpc>
            </a:pPr>
            <a:r>
              <a:rPr lang="en-US" altLang="ja-JP" sz="2000" dirty="0">
                <a:solidFill>
                  <a:schemeClr val="bg1"/>
                </a:solidFill>
                <a:latin typeface="Arial Narrow" panose="020B0606020202030204" pitchFamily="34" charset="0"/>
              </a:rPr>
              <a:t>c=</a:t>
            </a: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-1</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6726007" y="1808982"/>
            <a:ext cx="1260014" cy="432646"/>
          </a:xfrm>
          <a:prstGeom prst="wedgeRoundRectCallout">
            <a:avLst>
              <a:gd name="adj1" fmla="val -51493"/>
              <a:gd name="adj2" fmla="val 139793"/>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計算中･･･</a:t>
            </a:r>
          </a:p>
        </p:txBody>
      </p:sp>
      <p:sp>
        <p:nvSpPr>
          <p:cNvPr id="45" name="角丸四角形吹き出し 44"/>
          <p:cNvSpPr/>
          <p:nvPr/>
        </p:nvSpPr>
        <p:spPr bwMode="auto">
          <a:xfrm>
            <a:off x="5195990" y="1808982"/>
            <a:ext cx="1260014"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65000"/>
                    <a:lumOff val="35000"/>
                  </a:schemeClr>
                </a:solidFill>
                <a:latin typeface="Arial Narrow" panose="020B0606020202030204" pitchFamily="34" charset="0"/>
              </a:rPr>
              <a:t>b </a:t>
            </a:r>
            <a:r>
              <a:rPr lang="ja-JP" altLang="en-US" dirty="0">
                <a:solidFill>
                  <a:schemeClr val="tx1">
                    <a:lumMod val="65000"/>
                    <a:lumOff val="35000"/>
                  </a:schemeClr>
                </a:solidFill>
                <a:latin typeface="Arial Narrow" panose="020B0606020202030204" pitchFamily="34" charset="0"/>
              </a:rPr>
              <a:t>ください</a:t>
            </a:r>
          </a:p>
        </p:txBody>
      </p:sp>
      <p:sp>
        <p:nvSpPr>
          <p:cNvPr id="46" name="角丸四角形 45"/>
          <p:cNvSpPr/>
          <p:nvPr/>
        </p:nvSpPr>
        <p:spPr bwMode="auto">
          <a:xfrm>
            <a:off x="6456004"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=a+1</a:t>
            </a:r>
            <a:endParaRPr lang="ja-JP" altLang="en-US" dirty="0">
              <a:latin typeface="Arial Narrow" panose="020B0606020202030204" pitchFamily="34" charset="0"/>
            </a:endParaRPr>
          </a:p>
        </p:txBody>
      </p:sp>
      <p:sp>
        <p:nvSpPr>
          <p:cNvPr id="47" name="角丸四角形 46"/>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t>
            </a: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-1</a:t>
            </a:r>
            <a:endParaRPr lang="ja-JP" altLang="en-US" dirty="0">
              <a:latin typeface="Arial Narrow" panose="020B0606020202030204" pitchFamily="34" charset="0"/>
            </a:endParaRPr>
          </a:p>
        </p:txBody>
      </p:sp>
      <p:sp>
        <p:nvSpPr>
          <p:cNvPr id="48" name="角丸四角形 47"/>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9" name="角丸四角形吹き出し 58"/>
          <p:cNvSpPr/>
          <p:nvPr/>
        </p:nvSpPr>
        <p:spPr bwMode="auto">
          <a:xfrm>
            <a:off x="8166023" y="1808982"/>
            <a:ext cx="2160024" cy="450005"/>
          </a:xfrm>
          <a:prstGeom prst="wedgeRoundRectCallout">
            <a:avLst>
              <a:gd name="adj1" fmla="val -49124"/>
              <a:gd name="adj2" fmla="val 10124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まだ</a:t>
            </a:r>
            <a:r>
              <a:rPr lang="ja-JP" altLang="en-US" dirty="0" err="1">
                <a:solidFill>
                  <a:schemeClr val="tx1">
                    <a:lumMod val="65000"/>
                    <a:lumOff val="35000"/>
                  </a:schemeClr>
                </a:solidFill>
                <a:latin typeface="Arial Narrow" panose="020B0606020202030204" pitchFamily="34" charset="0"/>
              </a:rPr>
              <a:t>ｂ</a:t>
            </a:r>
            <a:r>
              <a:rPr lang="ja-JP" altLang="en-US" dirty="0">
                <a:solidFill>
                  <a:schemeClr val="tx1">
                    <a:lumMod val="65000"/>
                    <a:lumOff val="35000"/>
                  </a:schemeClr>
                </a:solidFill>
                <a:latin typeface="Arial Narrow" panose="020B0606020202030204" pitchFamily="34" charset="0"/>
              </a:rPr>
              <a:t>書けないよ</a:t>
            </a:r>
          </a:p>
        </p:txBody>
      </p:sp>
    </p:spTree>
    <p:extLst>
      <p:ext uri="{BB962C8B-B14F-4D97-AF65-F5344CB8AC3E}">
        <p14:creationId xmlns:p14="http://schemas.microsoft.com/office/powerpoint/2010/main" val="38848918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a:t>
            </a:r>
          </a:p>
        </p:txBody>
      </p:sp>
      <p:sp>
        <p:nvSpPr>
          <p:cNvPr id="3" name="テキスト プレースホルダー 2"/>
          <p:cNvSpPr>
            <a:spLocks noGrp="1"/>
          </p:cNvSpPr>
          <p:nvPr>
            <p:ph type="body" sz="quarter" idx="10"/>
          </p:nvPr>
        </p:nvSpPr>
        <p:spPr>
          <a:xfrm>
            <a:off x="2135956" y="4149009"/>
            <a:ext cx="8280092" cy="2159717"/>
          </a:xfrm>
        </p:spPr>
        <p:txBody>
          <a:bodyPr/>
          <a:lstStyle/>
          <a:p>
            <a:r>
              <a:rPr kumimoji="1" lang="en-US" altLang="ja-JP" dirty="0"/>
              <a:t>I0 </a:t>
            </a:r>
            <a:r>
              <a:rPr kumimoji="1" lang="ja-JP" altLang="en-US" dirty="0"/>
              <a:t>の </a:t>
            </a:r>
            <a:r>
              <a:rPr kumimoji="1" lang="en-US" altLang="ja-JP" dirty="0"/>
              <a:t>WB </a:t>
            </a:r>
            <a:r>
              <a:rPr kumimoji="1" lang="ja-JP" altLang="en-US" dirty="0"/>
              <a:t>が終わるまで，その結果はレジスタに書き込まれない</a:t>
            </a:r>
            <a:endParaRPr kumimoji="1" lang="en-US" altLang="ja-JP" dirty="0"/>
          </a:p>
          <a:p>
            <a:pPr lvl="1"/>
            <a:r>
              <a:rPr lang="en-US" altLang="ja-JP" dirty="0"/>
              <a:t>I4 </a:t>
            </a:r>
            <a:r>
              <a:rPr lang="ja-JP" altLang="en-US" dirty="0"/>
              <a:t>までは，その値がレジスタから得られない</a:t>
            </a:r>
            <a:endParaRPr lang="en-US" altLang="ja-JP" dirty="0"/>
          </a:p>
          <a:p>
            <a:pPr lvl="1"/>
            <a:r>
              <a:rPr kumimoji="1" lang="en-US" altLang="ja-JP" dirty="0"/>
              <a:t>ID </a:t>
            </a:r>
            <a:r>
              <a:rPr kumimoji="1" lang="ja-JP" altLang="en-US" dirty="0"/>
              <a:t>ステージでレジスタを読むため</a:t>
            </a:r>
          </a:p>
        </p:txBody>
      </p:sp>
      <p:cxnSp>
        <p:nvCxnSpPr>
          <p:cNvPr id="4" name="直線コネクタ 3"/>
          <p:cNvCxnSpPr/>
          <p:nvPr/>
        </p:nvCxnSpPr>
        <p:spPr bwMode="auto">
          <a:xfrm>
            <a:off x="3935976" y="2438989"/>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1"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537599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582599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627600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672600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6" name="Rectangle 69"/>
          <p:cNvSpPr>
            <a:spLocks noChangeArrowheads="1"/>
          </p:cNvSpPr>
          <p:nvPr/>
        </p:nvSpPr>
        <p:spPr bwMode="auto">
          <a:xfrm>
            <a:off x="537599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 name="Rectangle 70"/>
          <p:cNvSpPr>
            <a:spLocks noChangeArrowheads="1"/>
          </p:cNvSpPr>
          <p:nvPr/>
        </p:nvSpPr>
        <p:spPr bwMode="auto">
          <a:xfrm>
            <a:off x="582599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8" name="Rectangle 71"/>
          <p:cNvSpPr>
            <a:spLocks noChangeArrowheads="1"/>
          </p:cNvSpPr>
          <p:nvPr/>
        </p:nvSpPr>
        <p:spPr bwMode="auto">
          <a:xfrm>
            <a:off x="627600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9" name="Rectangle 72"/>
          <p:cNvSpPr>
            <a:spLocks noChangeArrowheads="1"/>
          </p:cNvSpPr>
          <p:nvPr/>
        </p:nvSpPr>
        <p:spPr bwMode="auto">
          <a:xfrm>
            <a:off x="672600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0" name="Rectangle 73"/>
          <p:cNvSpPr>
            <a:spLocks noChangeArrowheads="1"/>
          </p:cNvSpPr>
          <p:nvPr/>
        </p:nvSpPr>
        <p:spPr bwMode="auto">
          <a:xfrm>
            <a:off x="717601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1" name="正方形/長方形 20"/>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Rectangle 69"/>
          <p:cNvSpPr>
            <a:spLocks noChangeArrowheads="1"/>
          </p:cNvSpPr>
          <p:nvPr/>
        </p:nvSpPr>
        <p:spPr bwMode="auto">
          <a:xfrm>
            <a:off x="582599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627600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672600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717601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762601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8" name="Rectangle 69"/>
          <p:cNvSpPr>
            <a:spLocks noChangeArrowheads="1"/>
          </p:cNvSpPr>
          <p:nvPr/>
        </p:nvSpPr>
        <p:spPr bwMode="auto">
          <a:xfrm>
            <a:off x="627600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6726007" y="360900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717601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762601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807602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7" name="直線コネクタ 36"/>
          <p:cNvCxnSpPr/>
          <p:nvPr/>
        </p:nvCxnSpPr>
        <p:spPr bwMode="auto">
          <a:xfrm>
            <a:off x="3935976" y="2888994"/>
            <a:ext cx="1440088" cy="0"/>
          </a:xfrm>
          <a:prstGeom prst="line">
            <a:avLst/>
          </a:prstGeom>
          <a:noFill/>
          <a:ln w="9525" cap="flat" cmpd="sng" algn="ctr">
            <a:solidFill>
              <a:schemeClr val="tx1"/>
            </a:solidFill>
            <a:prstDash val="dash"/>
            <a:round/>
            <a:headEnd type="none" w="med" len="med"/>
            <a:tailEnd type="none" w="med" len="med"/>
          </a:ln>
          <a:effectLst/>
        </p:spPr>
      </p:cxnSp>
      <p:sp>
        <p:nvSpPr>
          <p:cNvPr id="38" name="正方形/長方形 37"/>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0" name="直線コネクタ 39"/>
          <p:cNvCxnSpPr/>
          <p:nvPr/>
        </p:nvCxnSpPr>
        <p:spPr bwMode="auto">
          <a:xfrm>
            <a:off x="3935977" y="3338999"/>
            <a:ext cx="1890093" cy="0"/>
          </a:xfrm>
          <a:prstGeom prst="line">
            <a:avLst/>
          </a:prstGeom>
          <a:noFill/>
          <a:ln w="9525" cap="flat" cmpd="sng" algn="ctr">
            <a:solidFill>
              <a:schemeClr val="tx1"/>
            </a:solidFill>
            <a:prstDash val="dash"/>
            <a:round/>
            <a:headEnd type="none" w="med" len="med"/>
            <a:tailEnd type="none" w="med" len="med"/>
          </a:ln>
          <a:effectLst/>
        </p:spPr>
      </p:cxnSp>
      <p:sp>
        <p:nvSpPr>
          <p:cNvPr id="41" name="正方形/長方形 40"/>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2" name="直線コネクタ 41"/>
          <p:cNvCxnSpPr>
            <a:endCxn id="28" idx="1"/>
          </p:cNvCxnSpPr>
          <p:nvPr/>
        </p:nvCxnSpPr>
        <p:spPr bwMode="auto">
          <a:xfrm flipV="1">
            <a:off x="3935976" y="3789002"/>
            <a:ext cx="2340026" cy="2"/>
          </a:xfrm>
          <a:prstGeom prst="line">
            <a:avLst/>
          </a:prstGeom>
          <a:noFill/>
          <a:ln w="9525" cap="flat" cmpd="sng" algn="ctr">
            <a:solidFill>
              <a:schemeClr val="tx1"/>
            </a:solidFill>
            <a:prstDash val="dash"/>
            <a:round/>
            <a:headEnd type="none" w="med" len="med"/>
            <a:tailEnd type="none" w="med" len="med"/>
          </a:ln>
          <a:effectLst/>
        </p:spPr>
      </p:cxnSp>
      <p:sp>
        <p:nvSpPr>
          <p:cNvPr id="43" name="正方形/長方形 42"/>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4"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a:t>
            </a:r>
          </a:p>
        </p:txBody>
      </p:sp>
      <p:cxnSp>
        <p:nvCxnSpPr>
          <p:cNvPr id="45" name="直線コネクタ 44"/>
          <p:cNvCxnSpPr/>
          <p:nvPr/>
        </p:nvCxnSpPr>
        <p:spPr bwMode="auto">
          <a:xfrm>
            <a:off x="6688837" y="1748717"/>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23361459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データ・ハザードの解消方法</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dirty="0"/>
              <a:t>フォワーディング</a:t>
            </a:r>
            <a:endParaRPr kumimoji="1" lang="en-US" altLang="ja-JP" dirty="0"/>
          </a:p>
        </p:txBody>
      </p:sp>
    </p:spTree>
    <p:extLst>
      <p:ext uri="{BB962C8B-B14F-4D97-AF65-F5344CB8AC3E}">
        <p14:creationId xmlns:p14="http://schemas.microsoft.com/office/powerpoint/2010/main" val="2317907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１．</a:t>
            </a:r>
            <a:r>
              <a:rPr lang="ja-JP" altLang="en-US" dirty="0"/>
              <a:t>ストール</a:t>
            </a:r>
            <a:endParaRPr kumimoji="1" lang="ja-JP" altLang="en-US" dirty="0"/>
          </a:p>
        </p:txBody>
      </p:sp>
      <p:sp>
        <p:nvSpPr>
          <p:cNvPr id="58" name="コンテンツ プレースホルダー 57"/>
          <p:cNvSpPr>
            <a:spLocks noGrp="1"/>
          </p:cNvSpPr>
          <p:nvPr>
            <p:ph type="body" sz="quarter" idx="10"/>
          </p:nvPr>
        </p:nvSpPr>
        <p:spPr>
          <a:xfrm>
            <a:off x="1775953" y="4869017"/>
            <a:ext cx="8730097" cy="1369161"/>
          </a:xfrm>
          <a:prstGeom prst="rect">
            <a:avLst/>
          </a:prstGeom>
        </p:spPr>
        <p:txBody>
          <a:bodyPr/>
          <a:lstStyle/>
          <a:p>
            <a:r>
              <a:rPr lang="ja-JP" altLang="en-US" dirty="0"/>
              <a:t>直前の命令の結果を使う命令が現れた場合：</a:t>
            </a:r>
            <a:endParaRPr lang="en-US" altLang="ja-JP" dirty="0"/>
          </a:p>
          <a:p>
            <a:pPr lvl="1"/>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の人が計算結果をレジスタに書くまで， </a:t>
            </a:r>
            <a:br>
              <a:rPr lang="en-US" altLang="ja-JP" dirty="0"/>
            </a:b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の人と上流のラインを止める</a:t>
            </a:r>
            <a:endParaRPr lang="en-US" altLang="ja-JP" dirty="0"/>
          </a:p>
          <a:p>
            <a:pPr lvl="1"/>
            <a:r>
              <a:rPr lang="ja-JP" altLang="en-US" dirty="0"/>
              <a:t>間にバブル（何もしないステージ）が入る</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lumMod val="75000"/>
                  </a:schemeClr>
                </a:solidFill>
              </a:rPr>
              <a:t>命令メモリ</a:t>
            </a:r>
            <a:endParaRPr lang="en-US" altLang="ja-JP" sz="1600" dirty="0">
              <a:solidFill>
                <a:schemeClr val="accent1">
                  <a:lumMod val="75000"/>
                </a:schemeClr>
              </a:solidFill>
            </a:endParaRPr>
          </a:p>
          <a:p>
            <a:pPr algn="ctr"/>
            <a:r>
              <a:rPr lang="ja-JP" altLang="en-US" sz="1600" dirty="0">
                <a:solidFill>
                  <a:schemeClr val="accent1">
                    <a:lumMod val="75000"/>
                  </a:schemeClr>
                </a:solidFill>
              </a:rPr>
              <a:t>（プログラム）</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=a+1</a:t>
            </a:r>
          </a:p>
          <a:p>
            <a:pPr>
              <a:lnSpc>
                <a:spcPct val="80000"/>
              </a:lnSpc>
            </a:pPr>
            <a:r>
              <a:rPr lang="en-US" altLang="ja-JP" sz="2000" dirty="0">
                <a:solidFill>
                  <a:schemeClr val="bg1"/>
                </a:solidFill>
                <a:latin typeface="Arial Narrow" panose="020B0606020202030204" pitchFamily="34" charset="0"/>
              </a:rPr>
              <a:t>c=</a:t>
            </a: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-1</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6726007" y="1808982"/>
            <a:ext cx="900010" cy="432646"/>
          </a:xfrm>
          <a:prstGeom prst="wedgeRoundRectCallout">
            <a:avLst>
              <a:gd name="adj1" fmla="val -51493"/>
              <a:gd name="adj2" fmla="val 139793"/>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休憩中</a:t>
            </a:r>
          </a:p>
        </p:txBody>
      </p:sp>
      <p:sp>
        <p:nvSpPr>
          <p:cNvPr id="45" name="角丸四角形吹き出し 44"/>
          <p:cNvSpPr/>
          <p:nvPr/>
        </p:nvSpPr>
        <p:spPr bwMode="auto">
          <a:xfrm>
            <a:off x="5195990" y="1808982"/>
            <a:ext cx="1260014"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65000"/>
                    <a:lumOff val="35000"/>
                  </a:schemeClr>
                </a:solidFill>
                <a:latin typeface="Arial Narrow" panose="020B0606020202030204" pitchFamily="34" charset="0"/>
              </a:rPr>
              <a:t>b </a:t>
            </a:r>
            <a:r>
              <a:rPr lang="ja-JP" altLang="en-US" dirty="0">
                <a:solidFill>
                  <a:schemeClr val="tx1">
                    <a:lumMod val="65000"/>
                    <a:lumOff val="35000"/>
                  </a:schemeClr>
                </a:solidFill>
                <a:latin typeface="Arial Narrow" panose="020B0606020202030204" pitchFamily="34" charset="0"/>
              </a:rPr>
              <a:t>まちます</a:t>
            </a:r>
          </a:p>
        </p:txBody>
      </p:sp>
      <p:sp>
        <p:nvSpPr>
          <p:cNvPr id="46" name="角丸四角形 45"/>
          <p:cNvSpPr/>
          <p:nvPr/>
        </p:nvSpPr>
        <p:spPr bwMode="auto">
          <a:xfrm>
            <a:off x="7986021"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=a+1</a:t>
            </a:r>
            <a:endParaRPr lang="ja-JP" altLang="en-US" dirty="0">
              <a:latin typeface="Arial Narrow" panose="020B0606020202030204" pitchFamily="34" charset="0"/>
            </a:endParaRPr>
          </a:p>
        </p:txBody>
      </p:sp>
      <p:sp>
        <p:nvSpPr>
          <p:cNvPr id="47" name="角丸四角形 46"/>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t>
            </a: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-1</a:t>
            </a:r>
            <a:endParaRPr lang="ja-JP" altLang="en-US" dirty="0">
              <a:latin typeface="Arial Narrow" panose="020B0606020202030204" pitchFamily="34" charset="0"/>
            </a:endParaRPr>
          </a:p>
        </p:txBody>
      </p:sp>
      <p:sp>
        <p:nvSpPr>
          <p:cNvPr id="48" name="角丸四角形 47"/>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9" name="角丸四角形吹き出し 58"/>
          <p:cNvSpPr/>
          <p:nvPr/>
        </p:nvSpPr>
        <p:spPr bwMode="auto">
          <a:xfrm>
            <a:off x="8166023" y="1808982"/>
            <a:ext cx="2340026" cy="450005"/>
          </a:xfrm>
          <a:prstGeom prst="wedgeRoundRectCallout">
            <a:avLst>
              <a:gd name="adj1" fmla="val -49124"/>
              <a:gd name="adj2" fmla="val 10124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ｂを書くまで待って</a:t>
            </a:r>
          </a:p>
        </p:txBody>
      </p:sp>
    </p:spTree>
    <p:extLst>
      <p:ext uri="{BB962C8B-B14F-4D97-AF65-F5344CB8AC3E}">
        <p14:creationId xmlns:p14="http://schemas.microsoft.com/office/powerpoint/2010/main" val="18214424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１．ストールさせる</a:t>
            </a:r>
          </a:p>
        </p:txBody>
      </p:sp>
      <p:sp>
        <p:nvSpPr>
          <p:cNvPr id="3" name="テキスト プレースホルダー 2"/>
          <p:cNvSpPr>
            <a:spLocks noGrp="1"/>
          </p:cNvSpPr>
          <p:nvPr>
            <p:ph type="body" sz="quarter" idx="10"/>
          </p:nvPr>
        </p:nvSpPr>
        <p:spPr>
          <a:xfrm>
            <a:off x="2135956" y="4149009"/>
            <a:ext cx="8280092" cy="2159717"/>
          </a:xfrm>
        </p:spPr>
        <p:txBody>
          <a:bodyPr/>
          <a:lstStyle/>
          <a:p>
            <a:r>
              <a:rPr kumimoji="1" lang="en-US" altLang="ja-JP" dirty="0"/>
              <a:t>I0 </a:t>
            </a:r>
            <a:r>
              <a:rPr kumimoji="1" lang="ja-JP" altLang="en-US" dirty="0"/>
              <a:t>の </a:t>
            </a:r>
            <a:r>
              <a:rPr kumimoji="1" lang="en-US" altLang="ja-JP" dirty="0"/>
              <a:t>WB </a:t>
            </a:r>
            <a:r>
              <a:rPr kumimoji="1" lang="ja-JP" altLang="en-US" dirty="0"/>
              <a:t>が終わるまで，後続の命令を遅らせる</a:t>
            </a:r>
            <a:endParaRPr kumimoji="1" lang="en-US" altLang="ja-JP" dirty="0"/>
          </a:p>
          <a:p>
            <a:pPr lvl="1"/>
            <a:r>
              <a:rPr lang="en-US" altLang="ja-JP" dirty="0"/>
              <a:t>I1 </a:t>
            </a:r>
            <a:r>
              <a:rPr lang="ja-JP" altLang="en-US" dirty="0"/>
              <a:t>の </a:t>
            </a:r>
            <a:r>
              <a:rPr lang="en-US" altLang="ja-JP" dirty="0"/>
              <a:t>ID </a:t>
            </a:r>
            <a:r>
              <a:rPr lang="ja-JP" altLang="en-US" dirty="0"/>
              <a:t>が，</a:t>
            </a:r>
            <a:r>
              <a:rPr lang="en-US" altLang="ja-JP" dirty="0"/>
              <a:t>I0 </a:t>
            </a:r>
            <a:r>
              <a:rPr lang="ja-JP" altLang="en-US" dirty="0"/>
              <a:t>の </a:t>
            </a:r>
            <a:r>
              <a:rPr lang="en-US" altLang="ja-JP" dirty="0"/>
              <a:t>WB </a:t>
            </a:r>
            <a:r>
              <a:rPr lang="ja-JP" altLang="en-US" dirty="0"/>
              <a:t>の右にくるまでストール</a:t>
            </a:r>
            <a:endParaRPr lang="en-US" altLang="ja-JP" dirty="0"/>
          </a:p>
          <a:p>
            <a:pPr lvl="1"/>
            <a:r>
              <a:rPr kumimoji="1" lang="en-US" altLang="ja-JP" dirty="0"/>
              <a:t>I1 </a:t>
            </a:r>
            <a:r>
              <a:rPr kumimoji="1" lang="ja-JP" altLang="en-US" dirty="0"/>
              <a:t>は </a:t>
            </a:r>
            <a:r>
              <a:rPr kumimoji="1" lang="en-US" altLang="ja-JP" dirty="0"/>
              <a:t>I0 </a:t>
            </a:r>
            <a:r>
              <a:rPr kumimoji="1" lang="ja-JP" altLang="en-US" dirty="0"/>
              <a:t>の結果を使える</a:t>
            </a:r>
            <a:endParaRPr kumimoji="1" lang="en-US" altLang="ja-JP" dirty="0"/>
          </a:p>
          <a:p>
            <a:r>
              <a:rPr kumimoji="1" lang="ja-JP" altLang="en-US" dirty="0"/>
              <a:t>欠点：プログラムの実行がとても遅くなる</a:t>
            </a:r>
          </a:p>
        </p:txBody>
      </p:sp>
      <p:cxnSp>
        <p:nvCxnSpPr>
          <p:cNvPr id="4" name="直線コネクタ 3"/>
          <p:cNvCxnSpPr/>
          <p:nvPr/>
        </p:nvCxnSpPr>
        <p:spPr bwMode="auto">
          <a:xfrm>
            <a:off x="3935976" y="2438989"/>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1"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6816008" y="2258987"/>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7266013"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7716018"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8166023"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6" name="Rectangle 69"/>
          <p:cNvSpPr>
            <a:spLocks noChangeArrowheads="1"/>
          </p:cNvSpPr>
          <p:nvPr/>
        </p:nvSpPr>
        <p:spPr bwMode="auto">
          <a:xfrm>
            <a:off x="6816008"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 name="Rectangle 70"/>
          <p:cNvSpPr>
            <a:spLocks noChangeArrowheads="1"/>
          </p:cNvSpPr>
          <p:nvPr/>
        </p:nvSpPr>
        <p:spPr bwMode="auto">
          <a:xfrm>
            <a:off x="7266013"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8" name="Rectangle 71"/>
          <p:cNvSpPr>
            <a:spLocks noChangeArrowheads="1"/>
          </p:cNvSpPr>
          <p:nvPr/>
        </p:nvSpPr>
        <p:spPr bwMode="auto">
          <a:xfrm>
            <a:off x="7716018"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9" name="Rectangle 72"/>
          <p:cNvSpPr>
            <a:spLocks noChangeArrowheads="1"/>
          </p:cNvSpPr>
          <p:nvPr/>
        </p:nvSpPr>
        <p:spPr bwMode="auto">
          <a:xfrm>
            <a:off x="8166023"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0" name="Rectangle 73"/>
          <p:cNvSpPr>
            <a:spLocks noChangeArrowheads="1"/>
          </p:cNvSpPr>
          <p:nvPr/>
        </p:nvSpPr>
        <p:spPr bwMode="auto">
          <a:xfrm>
            <a:off x="8616028"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1" name="正方形/長方形 20"/>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Rectangle 69"/>
          <p:cNvSpPr>
            <a:spLocks noChangeArrowheads="1"/>
          </p:cNvSpPr>
          <p:nvPr/>
        </p:nvSpPr>
        <p:spPr bwMode="auto">
          <a:xfrm>
            <a:off x="7266013"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7716018"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8166023"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8616028"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9066033"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8" name="Rectangle 69"/>
          <p:cNvSpPr>
            <a:spLocks noChangeArrowheads="1"/>
          </p:cNvSpPr>
          <p:nvPr/>
        </p:nvSpPr>
        <p:spPr bwMode="auto">
          <a:xfrm>
            <a:off x="7716018"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8166023"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8616028"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9066033"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9516038"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7" name="直線コネクタ 36"/>
          <p:cNvCxnSpPr>
            <a:endCxn id="16" idx="1"/>
          </p:cNvCxnSpPr>
          <p:nvPr/>
        </p:nvCxnSpPr>
        <p:spPr bwMode="auto">
          <a:xfrm flipV="1">
            <a:off x="3935976" y="2888992"/>
            <a:ext cx="2880032" cy="2"/>
          </a:xfrm>
          <a:prstGeom prst="line">
            <a:avLst/>
          </a:prstGeom>
          <a:noFill/>
          <a:ln w="9525" cap="flat" cmpd="sng" algn="ctr">
            <a:solidFill>
              <a:schemeClr val="tx1"/>
            </a:solidFill>
            <a:prstDash val="dash"/>
            <a:round/>
            <a:headEnd type="none" w="med" len="med"/>
            <a:tailEnd type="none" w="med" len="med"/>
          </a:ln>
          <a:effectLst/>
        </p:spPr>
      </p:cxnSp>
      <p:sp>
        <p:nvSpPr>
          <p:cNvPr id="38" name="正方形/長方形 37"/>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0" name="直線コネクタ 39"/>
          <p:cNvCxnSpPr>
            <a:endCxn id="23" idx="1"/>
          </p:cNvCxnSpPr>
          <p:nvPr/>
        </p:nvCxnSpPr>
        <p:spPr bwMode="auto">
          <a:xfrm flipV="1">
            <a:off x="3935977" y="3338997"/>
            <a:ext cx="3330037" cy="2"/>
          </a:xfrm>
          <a:prstGeom prst="line">
            <a:avLst/>
          </a:prstGeom>
          <a:noFill/>
          <a:ln w="9525" cap="flat" cmpd="sng" algn="ctr">
            <a:solidFill>
              <a:schemeClr val="tx1"/>
            </a:solidFill>
            <a:prstDash val="dash"/>
            <a:round/>
            <a:headEnd type="none" w="med" len="med"/>
            <a:tailEnd type="none" w="med" len="med"/>
          </a:ln>
          <a:effectLst/>
        </p:spPr>
      </p:cxnSp>
      <p:sp>
        <p:nvSpPr>
          <p:cNvPr id="41" name="正方形/長方形 40"/>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2" name="直線コネクタ 41"/>
          <p:cNvCxnSpPr>
            <a:stCxn id="43" idx="3"/>
            <a:endCxn id="28" idx="1"/>
          </p:cNvCxnSpPr>
          <p:nvPr/>
        </p:nvCxnSpPr>
        <p:spPr bwMode="auto">
          <a:xfrm flipV="1">
            <a:off x="3935976" y="3789002"/>
            <a:ext cx="3780042" cy="2"/>
          </a:xfrm>
          <a:prstGeom prst="line">
            <a:avLst/>
          </a:prstGeom>
          <a:noFill/>
          <a:ln w="9525" cap="flat" cmpd="sng" algn="ctr">
            <a:solidFill>
              <a:schemeClr val="tx1"/>
            </a:solidFill>
            <a:prstDash val="dash"/>
            <a:round/>
            <a:headEnd type="none" w="med" len="med"/>
            <a:tailEnd type="none" w="med" len="med"/>
          </a:ln>
          <a:effectLst/>
        </p:spPr>
      </p:cxnSp>
      <p:sp>
        <p:nvSpPr>
          <p:cNvPr id="43" name="正方形/長方形 42"/>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4"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a:t>
            </a:r>
          </a:p>
        </p:txBody>
      </p:sp>
      <p:cxnSp>
        <p:nvCxnSpPr>
          <p:cNvPr id="45" name="直線コネクタ 44"/>
          <p:cNvCxnSpPr/>
          <p:nvPr/>
        </p:nvCxnSpPr>
        <p:spPr bwMode="auto">
          <a:xfrm>
            <a:off x="6718573" y="1748717"/>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
        <p:nvSpPr>
          <p:cNvPr id="46" name="Rectangle 73"/>
          <p:cNvSpPr>
            <a:spLocks noChangeArrowheads="1"/>
          </p:cNvSpPr>
          <p:nvPr/>
        </p:nvSpPr>
        <p:spPr bwMode="auto">
          <a:xfrm>
            <a:off x="5375992" y="225898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7" name="Rectangle 73"/>
          <p:cNvSpPr>
            <a:spLocks noChangeArrowheads="1"/>
          </p:cNvSpPr>
          <p:nvPr/>
        </p:nvSpPr>
        <p:spPr bwMode="auto">
          <a:xfrm>
            <a:off x="5825997" y="225898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8" name="Rectangle 73"/>
          <p:cNvSpPr>
            <a:spLocks noChangeArrowheads="1"/>
          </p:cNvSpPr>
          <p:nvPr/>
        </p:nvSpPr>
        <p:spPr bwMode="auto">
          <a:xfrm>
            <a:off x="6276002" y="225898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Tree>
    <p:extLst>
      <p:ext uri="{BB962C8B-B14F-4D97-AF65-F5344CB8AC3E}">
        <p14:creationId xmlns:p14="http://schemas.microsoft.com/office/powerpoint/2010/main" val="1128223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1658179"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ｲｲﾉｶｿﾚ･･･</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1478033"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ｼﾖｳﾃﾞｽ</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en-US" altLang="ja-JP" dirty="0"/>
              <a:t>2. </a:t>
            </a:r>
            <a:r>
              <a:rPr lang="ja-JP" altLang="en-US" dirty="0"/>
              <a:t>遅延スロット（なにもしない）</a:t>
            </a:r>
            <a:endParaRPr kumimoji="1" lang="ja-JP" altLang="en-US" dirty="0"/>
          </a:p>
        </p:txBody>
      </p:sp>
      <p:sp>
        <p:nvSpPr>
          <p:cNvPr id="58" name="コンテンツ プレースホルダー 57"/>
          <p:cNvSpPr>
            <a:spLocks noGrp="1"/>
          </p:cNvSpPr>
          <p:nvPr>
            <p:ph type="body" sz="quarter" idx="10"/>
          </p:nvPr>
        </p:nvSpPr>
        <p:spPr>
          <a:xfrm>
            <a:off x="1775953" y="4869017"/>
            <a:ext cx="8730097" cy="1369161"/>
          </a:xfrm>
          <a:prstGeom prst="rect">
            <a:avLst/>
          </a:prstGeom>
        </p:spPr>
        <p:txBody>
          <a:bodyPr/>
          <a:lstStyle/>
          <a:p>
            <a:r>
              <a:rPr lang="ja-JP" altLang="en-US" dirty="0"/>
              <a:t>直前の命令の結果を使う命令が現れた場合：</a:t>
            </a:r>
            <a:endParaRPr lang="en-US" altLang="ja-JP" dirty="0"/>
          </a:p>
          <a:p>
            <a:pPr lvl="1"/>
            <a:r>
              <a:rPr lang="ja-JP" altLang="en-US" dirty="0"/>
              <a:t>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の人は，その時レジスタ・ファイルにある </a:t>
            </a:r>
            <a:r>
              <a:rPr lang="en-US" altLang="ja-JP" dirty="0"/>
              <a:t>b</a:t>
            </a:r>
            <a:r>
              <a:rPr lang="ja-JP" altLang="en-US" dirty="0"/>
              <a:t> を気にせず読んでしまう</a:t>
            </a:r>
            <a:endParaRPr lang="en-US" altLang="ja-JP" dirty="0"/>
          </a:p>
          <a:p>
            <a:pPr lvl="1"/>
            <a:r>
              <a:rPr lang="ja-JP" altLang="en-US" dirty="0"/>
              <a:t>２つ前の命令の結果の </a:t>
            </a:r>
            <a:r>
              <a:rPr lang="en-US" altLang="ja-JP" dirty="0"/>
              <a:t>b</a:t>
            </a:r>
            <a:r>
              <a:rPr lang="ja-JP" altLang="en-US" dirty="0"/>
              <a:t> が読めてしまう</a:t>
            </a:r>
            <a:endParaRPr lang="en-US" altLang="ja-JP" dirty="0"/>
          </a:p>
          <a:p>
            <a:pPr lvl="2"/>
            <a:r>
              <a:rPr lang="ja-JP" altLang="en-US" dirty="0">
                <a:solidFill>
                  <a:schemeClr val="accent5"/>
                </a:solidFill>
              </a:rPr>
              <a:t>そう言う仕様ということにする</a:t>
            </a:r>
            <a:endParaRPr lang="en-US" altLang="ja-JP" dirty="0">
              <a:solidFill>
                <a:schemeClr val="accent5"/>
              </a:solidFill>
            </a:endParaRPr>
          </a:p>
          <a:p>
            <a:pPr lvl="1"/>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lumMod val="75000"/>
                  </a:schemeClr>
                </a:solidFill>
              </a:rPr>
              <a:t>命令メモリ</a:t>
            </a:r>
            <a:endParaRPr lang="en-US" altLang="ja-JP" sz="1600" dirty="0">
              <a:solidFill>
                <a:schemeClr val="accent1">
                  <a:lumMod val="75000"/>
                </a:schemeClr>
              </a:solidFill>
            </a:endParaRPr>
          </a:p>
          <a:p>
            <a:pPr algn="ctr"/>
            <a:r>
              <a:rPr lang="ja-JP" altLang="en-US" sz="1600" dirty="0">
                <a:solidFill>
                  <a:schemeClr val="accent1">
                    <a:lumMod val="75000"/>
                  </a:schemeClr>
                </a:solidFill>
              </a:rPr>
              <a:t>（プログラム）</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a:t>
            </a:r>
          </a:p>
          <a:p>
            <a:pPr>
              <a:lnSpc>
                <a:spcPct val="80000"/>
              </a:lnSpc>
            </a:pPr>
            <a:r>
              <a:rPr lang="en-US" altLang="ja-JP" sz="2000" b="1" dirty="0">
                <a:solidFill>
                  <a:schemeClr val="tx2"/>
                </a:solidFill>
                <a:latin typeface="Arial Narrow" panose="020B0606020202030204" pitchFamily="34" charset="0"/>
              </a:rPr>
              <a:t>...</a:t>
            </a:r>
            <a:br>
              <a:rPr lang="en-US" altLang="ja-JP" sz="2000" b="1" dirty="0">
                <a:solidFill>
                  <a:schemeClr val="tx2"/>
                </a:solidFill>
                <a:latin typeface="Arial Narrow" panose="020B0606020202030204" pitchFamily="34" charset="0"/>
              </a:rPr>
            </a:b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=a+1</a:t>
            </a:r>
          </a:p>
          <a:p>
            <a:pPr>
              <a:lnSpc>
                <a:spcPct val="80000"/>
              </a:lnSpc>
            </a:pPr>
            <a:r>
              <a:rPr lang="en-US" altLang="ja-JP" sz="2000" dirty="0">
                <a:solidFill>
                  <a:schemeClr val="bg1"/>
                </a:solidFill>
                <a:latin typeface="Arial Narrow" panose="020B0606020202030204" pitchFamily="34" charset="0"/>
              </a:rPr>
              <a:t>c=</a:t>
            </a: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-1</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6726007" y="1808982"/>
            <a:ext cx="1260014" cy="432646"/>
          </a:xfrm>
          <a:prstGeom prst="wedgeRoundRectCallout">
            <a:avLst>
              <a:gd name="adj1" fmla="val -51493"/>
              <a:gd name="adj2" fmla="val 139793"/>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計算中･･･</a:t>
            </a:r>
          </a:p>
        </p:txBody>
      </p:sp>
      <p:sp>
        <p:nvSpPr>
          <p:cNvPr id="45" name="角丸四角形吹き出し 44"/>
          <p:cNvSpPr/>
          <p:nvPr/>
        </p:nvSpPr>
        <p:spPr bwMode="auto">
          <a:xfrm>
            <a:off x="5195991" y="1088975"/>
            <a:ext cx="1530017" cy="882651"/>
          </a:xfrm>
          <a:prstGeom prst="wedgeRoundRectCallout">
            <a:avLst>
              <a:gd name="adj1" fmla="val -42120"/>
              <a:gd name="adj2" fmla="val 121051"/>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古い </a:t>
            </a:r>
            <a:r>
              <a:rPr lang="en-US" altLang="ja-JP" dirty="0">
                <a:solidFill>
                  <a:schemeClr val="tx1">
                    <a:lumMod val="65000"/>
                    <a:lumOff val="35000"/>
                  </a:schemeClr>
                </a:solidFill>
                <a:latin typeface="Arial Narrow" panose="020B0606020202030204" pitchFamily="34" charset="0"/>
              </a:rPr>
              <a:t>b </a:t>
            </a:r>
            <a:r>
              <a:rPr lang="ja-JP" altLang="en-US" dirty="0">
                <a:solidFill>
                  <a:schemeClr val="tx1">
                    <a:lumMod val="65000"/>
                    <a:lumOff val="35000"/>
                  </a:schemeClr>
                </a:solidFill>
                <a:latin typeface="Arial Narrow" panose="020B0606020202030204" pitchFamily="34" charset="0"/>
              </a:rPr>
              <a:t>が</a:t>
            </a:r>
            <a:br>
              <a:rPr lang="en-US" altLang="ja-JP" dirty="0">
                <a:solidFill>
                  <a:schemeClr val="tx1">
                    <a:lumMod val="65000"/>
                    <a:lumOff val="35000"/>
                  </a:schemeClr>
                </a:solidFill>
                <a:latin typeface="Arial Narrow" panose="020B0606020202030204" pitchFamily="34" charset="0"/>
              </a:rPr>
            </a:br>
            <a:r>
              <a:rPr lang="ja-JP" altLang="en-US" dirty="0">
                <a:solidFill>
                  <a:schemeClr val="tx1">
                    <a:lumMod val="65000"/>
                    <a:lumOff val="35000"/>
                  </a:schemeClr>
                </a:solidFill>
                <a:latin typeface="Arial Narrow" panose="020B0606020202030204" pitchFamily="34" charset="0"/>
              </a:rPr>
              <a:t>見えてるけど</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気にしない</a:t>
            </a:r>
          </a:p>
        </p:txBody>
      </p:sp>
      <p:sp>
        <p:nvSpPr>
          <p:cNvPr id="46" name="角丸四角形 45"/>
          <p:cNvSpPr/>
          <p:nvPr/>
        </p:nvSpPr>
        <p:spPr bwMode="auto">
          <a:xfrm>
            <a:off x="6456004"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=a+1</a:t>
            </a:r>
            <a:endParaRPr lang="ja-JP" altLang="en-US" dirty="0">
              <a:latin typeface="Arial Narrow" panose="020B0606020202030204" pitchFamily="34" charset="0"/>
            </a:endParaRPr>
          </a:p>
        </p:txBody>
      </p:sp>
      <p:sp>
        <p:nvSpPr>
          <p:cNvPr id="47" name="角丸四角形 46"/>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t>
            </a: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-1</a:t>
            </a:r>
            <a:endParaRPr lang="ja-JP" altLang="en-US" dirty="0">
              <a:latin typeface="Arial Narrow" panose="020B0606020202030204" pitchFamily="34" charset="0"/>
            </a:endParaRPr>
          </a:p>
        </p:txBody>
      </p:sp>
      <p:sp>
        <p:nvSpPr>
          <p:cNvPr id="48" name="角丸四角形 47"/>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9" name="角丸四角形吹き出し 58"/>
          <p:cNvSpPr/>
          <p:nvPr/>
        </p:nvSpPr>
        <p:spPr bwMode="auto">
          <a:xfrm>
            <a:off x="8166023" y="1808982"/>
            <a:ext cx="2160024" cy="450005"/>
          </a:xfrm>
          <a:prstGeom prst="wedgeRoundRectCallout">
            <a:avLst>
              <a:gd name="adj1" fmla="val -49124"/>
              <a:gd name="adj2" fmla="val 10124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まだ</a:t>
            </a:r>
            <a:r>
              <a:rPr lang="ja-JP" altLang="en-US" dirty="0" err="1">
                <a:solidFill>
                  <a:schemeClr val="tx1">
                    <a:lumMod val="65000"/>
                    <a:lumOff val="35000"/>
                  </a:schemeClr>
                </a:solidFill>
                <a:latin typeface="Arial Narrow" panose="020B0606020202030204" pitchFamily="34" charset="0"/>
              </a:rPr>
              <a:t>ｂ</a:t>
            </a:r>
            <a:r>
              <a:rPr lang="ja-JP" altLang="en-US" dirty="0">
                <a:solidFill>
                  <a:schemeClr val="tx1">
                    <a:lumMod val="65000"/>
                    <a:lumOff val="35000"/>
                  </a:schemeClr>
                </a:solidFill>
                <a:latin typeface="Arial Narrow" panose="020B0606020202030204" pitchFamily="34" charset="0"/>
              </a:rPr>
              <a:t>書けないよ</a:t>
            </a:r>
          </a:p>
        </p:txBody>
      </p:sp>
      <p:sp>
        <p:nvSpPr>
          <p:cNvPr id="4" name="角丸四角形 47">
            <a:extLst>
              <a:ext uri="{FF2B5EF4-FFF2-40B4-BE49-F238E27FC236}">
                <a16:creationId xmlns:a16="http://schemas.microsoft.com/office/drawing/2014/main" id="{D78167A7-B863-2ECE-C25C-05A8F599CA73}"/>
              </a:ext>
            </a:extLst>
          </p:cNvPr>
          <p:cNvSpPr/>
          <p:nvPr/>
        </p:nvSpPr>
        <p:spPr bwMode="auto">
          <a:xfrm>
            <a:off x="7896020"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 name="角丸四角形 47">
            <a:extLst>
              <a:ext uri="{FF2B5EF4-FFF2-40B4-BE49-F238E27FC236}">
                <a16:creationId xmlns:a16="http://schemas.microsoft.com/office/drawing/2014/main" id="{A4594095-CA49-3A20-4664-83138D30998D}"/>
              </a:ext>
            </a:extLst>
          </p:cNvPr>
          <p:cNvSpPr/>
          <p:nvPr/>
        </p:nvSpPr>
        <p:spPr bwMode="auto">
          <a:xfrm>
            <a:off x="9426037"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rgbClr val="FFFF00"/>
                </a:solidFill>
                <a:latin typeface="Arial Narrow" panose="020B0606020202030204" pitchFamily="34" charset="0"/>
              </a:rPr>
              <a:t>b</a:t>
            </a:r>
            <a:r>
              <a:rPr lang="en-US" altLang="ja-JP" dirty="0">
                <a:latin typeface="Arial Narrow" panose="020B0606020202030204" pitchFamily="34" charset="0"/>
              </a:rPr>
              <a:t>=</a:t>
            </a:r>
            <a:endParaRPr lang="ja-JP" altLang="en-US" dirty="0">
              <a:latin typeface="Arial Narrow" panose="020B0606020202030204" pitchFamily="34" charset="0"/>
            </a:endParaRPr>
          </a:p>
        </p:txBody>
      </p:sp>
      <p:cxnSp>
        <p:nvCxnSpPr>
          <p:cNvPr id="7" name="直線矢印コネクタ 6">
            <a:extLst>
              <a:ext uri="{FF2B5EF4-FFF2-40B4-BE49-F238E27FC236}">
                <a16:creationId xmlns:a16="http://schemas.microsoft.com/office/drawing/2014/main" id="{A185FAD6-861C-B4C6-BA9D-B772943E94B5}"/>
              </a:ext>
            </a:extLst>
          </p:cNvPr>
          <p:cNvCxnSpPr>
            <a:cxnSpLocks/>
          </p:cNvCxnSpPr>
          <p:nvPr/>
        </p:nvCxnSpPr>
        <p:spPr bwMode="auto">
          <a:xfrm>
            <a:off x="1955954" y="2798994"/>
            <a:ext cx="180002" cy="450005"/>
          </a:xfrm>
          <a:prstGeom prst="straightConnector1">
            <a:avLst/>
          </a:prstGeom>
          <a:noFill/>
          <a:ln w="38100" cap="flat" cmpd="sng" algn="ctr">
            <a:solidFill>
              <a:schemeClr val="tx2"/>
            </a:solidFill>
            <a:prstDash val="solid"/>
            <a:round/>
            <a:headEnd type="none" w="med" len="med"/>
            <a:tailEnd type="triangle"/>
          </a:ln>
          <a:effectLst/>
        </p:spPr>
      </p:cxnSp>
      <p:sp>
        <p:nvSpPr>
          <p:cNvPr id="10" name="円弧 9">
            <a:extLst>
              <a:ext uri="{FF2B5EF4-FFF2-40B4-BE49-F238E27FC236}">
                <a16:creationId xmlns:a16="http://schemas.microsoft.com/office/drawing/2014/main" id="{46D5A372-89C5-E4C7-8D6B-0BBF884B554E}"/>
              </a:ext>
            </a:extLst>
          </p:cNvPr>
          <p:cNvSpPr/>
          <p:nvPr/>
        </p:nvSpPr>
        <p:spPr bwMode="auto">
          <a:xfrm flipV="1">
            <a:off x="5465994" y="3068996"/>
            <a:ext cx="4230047" cy="360004"/>
          </a:xfrm>
          <a:prstGeom prst="arc">
            <a:avLst>
              <a:gd name="adj1" fmla="val 10801253"/>
              <a:gd name="adj2" fmla="val 0"/>
            </a:avLst>
          </a:prstGeom>
          <a:ln>
            <a:solidFill>
              <a:schemeClr val="tx2"/>
            </a:solidFill>
            <a:headEnd type="triangle" w="med" len="med"/>
            <a:tailEnd type="none" w="med" len="med"/>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en-US">
              <a:latin typeface="Verdana" pitchFamily="34" charset="0"/>
              <a:ea typeface="HG丸ｺﾞｼｯｸM-PRO" pitchFamily="50" charset="-128"/>
            </a:endParaRPr>
          </a:p>
        </p:txBody>
      </p:sp>
    </p:spTree>
    <p:extLst>
      <p:ext uri="{BB962C8B-B14F-4D97-AF65-F5344CB8AC3E}">
        <p14:creationId xmlns:p14="http://schemas.microsoft.com/office/powerpoint/2010/main" val="37736833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遅延スロット（なにもしない）</a:t>
            </a:r>
            <a:endParaRPr kumimoji="1" lang="ja-JP" altLang="en-US" dirty="0"/>
          </a:p>
        </p:txBody>
      </p:sp>
      <p:sp>
        <p:nvSpPr>
          <p:cNvPr id="3" name="テキスト プレースホルダー 2"/>
          <p:cNvSpPr>
            <a:spLocks noGrp="1"/>
          </p:cNvSpPr>
          <p:nvPr>
            <p:ph type="body" sz="quarter" idx="10"/>
          </p:nvPr>
        </p:nvSpPr>
        <p:spPr>
          <a:xfrm>
            <a:off x="2135956" y="4239010"/>
            <a:ext cx="8280092" cy="1799713"/>
          </a:xfrm>
        </p:spPr>
        <p:txBody>
          <a:bodyPr/>
          <a:lstStyle/>
          <a:p>
            <a:r>
              <a:rPr lang="ja-JP" altLang="en-US" dirty="0"/>
              <a:t>ここに </a:t>
            </a:r>
            <a:r>
              <a:rPr lang="en-US" altLang="ja-JP" dirty="0"/>
              <a:t>I0 </a:t>
            </a:r>
            <a:r>
              <a:rPr lang="ja-JP" altLang="en-US" dirty="0"/>
              <a:t>の結果を使わない命令を入れれば，性能低下はない</a:t>
            </a:r>
            <a:endParaRPr lang="en-US" altLang="ja-JP" dirty="0"/>
          </a:p>
          <a:p>
            <a:pPr lvl="1"/>
            <a:r>
              <a:rPr lang="ja-JP" altLang="en-US" dirty="0"/>
              <a:t>この直前の命令の結果が見えない部分を「遅延スロット」と呼ぶ</a:t>
            </a:r>
            <a:endParaRPr lang="en-US" altLang="ja-JP" dirty="0"/>
          </a:p>
          <a:p>
            <a:pPr lvl="2"/>
            <a:r>
              <a:rPr lang="ja-JP" altLang="en-US" dirty="0"/>
              <a:t>この図では，遅延スロットが３命令分ある</a:t>
            </a:r>
            <a:endParaRPr lang="en-US" altLang="ja-JP" dirty="0"/>
          </a:p>
          <a:p>
            <a:pPr lvl="2"/>
            <a:r>
              <a:rPr lang="ja-JP" altLang="en-US" dirty="0"/>
              <a:t>それらは </a:t>
            </a:r>
            <a:r>
              <a:rPr lang="en-US" altLang="ja-JP" dirty="0"/>
              <a:t>I1, I2, I3 </a:t>
            </a:r>
            <a:r>
              <a:rPr lang="ja-JP" altLang="en-US" dirty="0"/>
              <a:t>は </a:t>
            </a:r>
            <a:r>
              <a:rPr lang="en-US" altLang="ja-JP" dirty="0"/>
              <a:t>I0 </a:t>
            </a:r>
            <a:r>
              <a:rPr lang="ja-JP" altLang="en-US" dirty="0"/>
              <a:t>の結果を使っていないので問題無い</a:t>
            </a:r>
            <a:endParaRPr lang="en-US" altLang="ja-JP" dirty="0"/>
          </a:p>
          <a:p>
            <a:pPr lvl="1"/>
            <a:r>
              <a:rPr lang="ja-JP" altLang="en-US" dirty="0"/>
              <a:t>遅延スロットへの命令挿入はコンパイラががんばる</a:t>
            </a:r>
            <a:endParaRPr lang="en-US" altLang="ja-JP" dirty="0"/>
          </a:p>
          <a:p>
            <a:pPr lvl="1"/>
            <a:r>
              <a:rPr lang="ja-JP" altLang="en-US" dirty="0"/>
              <a:t>人力でアセンブリ言語でがんばることもある</a:t>
            </a:r>
            <a:endParaRPr lang="en-US" altLang="ja-JP" dirty="0"/>
          </a:p>
        </p:txBody>
      </p:sp>
      <p:cxnSp>
        <p:nvCxnSpPr>
          <p:cNvPr id="4" name="直線コネクタ 3"/>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b="1" dirty="0">
                <a:solidFill>
                  <a:schemeClr val="accent6"/>
                </a:solidFill>
                <a:latin typeface="メイリオ" panose="020B0604030504040204" pitchFamily="50" charset="-128"/>
                <a:ea typeface="メイリオ" panose="020B0604030504040204" pitchFamily="50" charset="-128"/>
              </a:rPr>
              <a:t>x1</a:t>
            </a:r>
            <a:endParaRPr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add </a:t>
            </a:r>
            <a:r>
              <a:rPr lang="en-US" altLang="ja-JP" sz="1600" b="1" dirty="0">
                <a:solidFill>
                  <a:schemeClr val="accent5"/>
                </a:solidFill>
                <a:latin typeface="メイリオ" panose="020B0604030504040204" pitchFamily="50" charset="-128"/>
                <a:ea typeface="メイリオ" panose="020B0604030504040204" pitchFamily="50" charset="-128"/>
              </a:rPr>
              <a:t>x4</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sub </a:t>
            </a:r>
            <a:r>
              <a:rPr lang="en-US" altLang="ja-JP" sz="1600" b="1" dirty="0">
                <a:solidFill>
                  <a:schemeClr val="accent5"/>
                </a:solidFill>
                <a:latin typeface="メイリオ" panose="020B0604030504040204" pitchFamily="50" charset="-128"/>
                <a:ea typeface="メイリオ" panose="020B0604030504040204" pitchFamily="50" charset="-128"/>
              </a:rPr>
              <a:t>x7</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and </a:t>
            </a:r>
            <a:r>
              <a:rPr lang="en-US" altLang="ja-JP" sz="1600" b="1" dirty="0">
                <a:solidFill>
                  <a:schemeClr val="accent5"/>
                </a:solidFill>
                <a:latin typeface="メイリオ" panose="020B0604030504040204" pitchFamily="50" charset="-128"/>
                <a:ea typeface="メイリオ" panose="020B0604030504040204" pitchFamily="50" charset="-128"/>
              </a:rPr>
              <a:t>x8</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&amp;1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endCxn id="26"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 and </a:t>
            </a:r>
            <a:r>
              <a:rPr lang="en-US" altLang="ja-JP" sz="1600" b="1"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&amp;1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x1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15420340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NOP </a:t>
            </a:r>
            <a:r>
              <a:rPr kumimoji="1" lang="ja-JP" altLang="en-US" dirty="0"/>
              <a:t>の挿入</a:t>
            </a:r>
          </a:p>
        </p:txBody>
      </p:sp>
      <p:sp>
        <p:nvSpPr>
          <p:cNvPr id="3" name="テキスト プレースホルダー 2"/>
          <p:cNvSpPr>
            <a:spLocks noGrp="1"/>
          </p:cNvSpPr>
          <p:nvPr>
            <p:ph type="body" sz="quarter" idx="10"/>
          </p:nvPr>
        </p:nvSpPr>
        <p:spPr>
          <a:xfrm>
            <a:off x="2135956" y="4239010"/>
            <a:ext cx="8280092" cy="1799713"/>
          </a:xfrm>
        </p:spPr>
        <p:txBody>
          <a:bodyPr/>
          <a:lstStyle/>
          <a:p>
            <a:r>
              <a:rPr lang="ja-JP" altLang="en-US" dirty="0"/>
              <a:t>もしそのような命令がない場合，</a:t>
            </a:r>
            <a:endParaRPr lang="en-US" altLang="ja-JP" dirty="0"/>
          </a:p>
          <a:p>
            <a:pPr lvl="1"/>
            <a:r>
              <a:rPr lang="en-US" altLang="ja-JP" dirty="0"/>
              <a:t>NOP</a:t>
            </a:r>
            <a:r>
              <a:rPr lang="ja-JP" altLang="en-US" dirty="0"/>
              <a:t>（</a:t>
            </a:r>
            <a:r>
              <a:rPr lang="en-US" altLang="ja-JP" dirty="0"/>
              <a:t>No Operation</a:t>
            </a:r>
            <a:r>
              <a:rPr lang="ja-JP" altLang="en-US" dirty="0"/>
              <a:t>）と呼ぶ何もしない命令をいれる</a:t>
            </a:r>
            <a:endParaRPr lang="en-US" altLang="ja-JP" dirty="0"/>
          </a:p>
          <a:p>
            <a:pPr lvl="1"/>
            <a:r>
              <a:rPr lang="ja-JP" altLang="en-US" dirty="0"/>
              <a:t>これもコンパイル時にいれておくる必要がある</a:t>
            </a:r>
            <a:endParaRPr lang="en-US" altLang="ja-JP" dirty="0"/>
          </a:p>
          <a:p>
            <a:r>
              <a:rPr lang="ja-JP" altLang="en-US" dirty="0"/>
              <a:t>上の例は，</a:t>
            </a:r>
            <a:r>
              <a:rPr lang="en-US" altLang="ja-JP" dirty="0"/>
              <a:t>x1 </a:t>
            </a:r>
            <a:r>
              <a:rPr lang="ja-JP" altLang="en-US" dirty="0"/>
              <a:t>に１を足した結果を使う以外の処理がなかった場合</a:t>
            </a:r>
            <a:endParaRPr lang="en-US" altLang="ja-JP" dirty="0"/>
          </a:p>
        </p:txBody>
      </p:sp>
      <p:cxnSp>
        <p:nvCxnSpPr>
          <p:cNvPr id="4" name="直線コネクタ 3"/>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accent6"/>
                </a:solidFill>
                <a:latin typeface="メイリオ" panose="020B0604030504040204" pitchFamily="50" charset="-128"/>
                <a:ea typeface="メイリオ" panose="020B0604030504040204" pitchFamily="50" charset="-128"/>
              </a:rPr>
              <a:t>x1</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34" name="直線コネクタ 33"/>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36" name="直線コネクタ 35"/>
          <p:cNvCxnSpPr>
            <a:endCxn id="26"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 sub </a:t>
            </a:r>
            <a:r>
              <a:rPr lang="en-US" altLang="ja-JP" sz="1600"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35128978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遅延スロットの利点</a:t>
            </a:r>
          </a:p>
        </p:txBody>
      </p:sp>
      <p:sp>
        <p:nvSpPr>
          <p:cNvPr id="3" name="テキスト プレースホルダー 2"/>
          <p:cNvSpPr>
            <a:spLocks noGrp="1"/>
          </p:cNvSpPr>
          <p:nvPr>
            <p:ph type="body" sz="quarter" idx="10"/>
          </p:nvPr>
        </p:nvSpPr>
        <p:spPr/>
        <p:txBody>
          <a:bodyPr/>
          <a:lstStyle/>
          <a:p>
            <a:r>
              <a:rPr lang="ja-JP" altLang="en-US" dirty="0"/>
              <a:t>利点：</a:t>
            </a:r>
            <a:endParaRPr lang="en-US" altLang="ja-JP" dirty="0"/>
          </a:p>
          <a:p>
            <a:pPr lvl="1"/>
            <a:r>
              <a:rPr lang="ja-JP" altLang="en-US" dirty="0"/>
              <a:t>なにもしないので，ハードは最も単純</a:t>
            </a:r>
            <a:endParaRPr lang="en-US" altLang="ja-JP" dirty="0"/>
          </a:p>
          <a:p>
            <a:pPr lvl="1"/>
            <a:r>
              <a:rPr lang="ja-JP" altLang="en-US" dirty="0"/>
              <a:t>並列にできる命令があれば，性能も下がらない</a:t>
            </a:r>
            <a:endParaRPr lang="en-US" altLang="ja-JP" dirty="0"/>
          </a:p>
        </p:txBody>
      </p:sp>
    </p:spTree>
    <p:extLst>
      <p:ext uri="{BB962C8B-B14F-4D97-AF65-F5344CB8AC3E}">
        <p14:creationId xmlns:p14="http://schemas.microsoft.com/office/powerpoint/2010/main" val="29107134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遅延スロットの欠点</a:t>
            </a:r>
          </a:p>
        </p:txBody>
      </p:sp>
      <p:sp>
        <p:nvSpPr>
          <p:cNvPr id="3" name="テキスト プレースホルダー 2"/>
          <p:cNvSpPr>
            <a:spLocks noGrp="1"/>
          </p:cNvSpPr>
          <p:nvPr>
            <p:ph type="body" sz="quarter" idx="10"/>
          </p:nvPr>
        </p:nvSpPr>
        <p:spPr>
          <a:xfrm>
            <a:off x="2135956" y="908972"/>
            <a:ext cx="8280092" cy="2610028"/>
          </a:xfrm>
        </p:spPr>
        <p:txBody>
          <a:bodyPr/>
          <a:lstStyle/>
          <a:p>
            <a:r>
              <a:rPr lang="ja-JP" altLang="en-US" dirty="0"/>
              <a:t>欠点：「仕様」なので，一度決めると変えられない</a:t>
            </a:r>
            <a:endParaRPr lang="en-US" altLang="ja-JP" dirty="0"/>
          </a:p>
          <a:p>
            <a:pPr lvl="1"/>
            <a:r>
              <a:rPr lang="ja-JP" altLang="en-US" dirty="0"/>
              <a:t>後からパイプラインの段数や構造を変えると互換性がなくなる</a:t>
            </a:r>
            <a:endParaRPr lang="en-US" altLang="ja-JP" dirty="0"/>
          </a:p>
          <a:p>
            <a:pPr lvl="2"/>
            <a:r>
              <a:rPr lang="ja-JP" altLang="en-US" dirty="0"/>
              <a:t>クロックをあげるために，段数を増やせない</a:t>
            </a:r>
            <a:endParaRPr lang="en-US" altLang="ja-JP" dirty="0"/>
          </a:p>
          <a:p>
            <a:pPr lvl="1"/>
            <a:r>
              <a:rPr lang="ja-JP" altLang="en-US" dirty="0"/>
              <a:t>複数の命令を同時処理しようとしたときにも互換性がなくなる</a:t>
            </a:r>
            <a:endParaRPr lang="en-US" altLang="ja-JP" dirty="0"/>
          </a:p>
          <a:p>
            <a:pPr lvl="1"/>
            <a:r>
              <a:rPr lang="en-US" altLang="ja-JP" dirty="0"/>
              <a:t>MIPS </a:t>
            </a:r>
            <a:r>
              <a:rPr lang="ja-JP" altLang="en-US" dirty="0"/>
              <a:t>では遅延スロットが１命令分，仕様として存在</a:t>
            </a:r>
            <a:endParaRPr lang="en-US" altLang="ja-JP" dirty="0"/>
          </a:p>
          <a:p>
            <a:pPr lvl="2"/>
            <a:r>
              <a:rPr lang="ja-JP" altLang="en-US" dirty="0"/>
              <a:t>互換性のためにこれを忠実に再現するため後年は逆に複雑化</a:t>
            </a:r>
            <a:endParaRPr lang="en-US" altLang="ja-JP" dirty="0"/>
          </a:p>
        </p:txBody>
      </p:sp>
      <p:sp>
        <p:nvSpPr>
          <p:cNvPr id="4" name="Rectangle 69"/>
          <p:cNvSpPr>
            <a:spLocks noChangeArrowheads="1"/>
          </p:cNvSpPr>
          <p:nvPr/>
        </p:nvSpPr>
        <p:spPr bwMode="auto">
          <a:xfrm>
            <a:off x="177595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5" name="Rectangle 70"/>
          <p:cNvSpPr>
            <a:spLocks noChangeArrowheads="1"/>
          </p:cNvSpPr>
          <p:nvPr/>
        </p:nvSpPr>
        <p:spPr bwMode="auto">
          <a:xfrm>
            <a:off x="2225957"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 name="Rectangle 71"/>
          <p:cNvSpPr>
            <a:spLocks noChangeArrowheads="1"/>
          </p:cNvSpPr>
          <p:nvPr/>
        </p:nvSpPr>
        <p:spPr bwMode="auto">
          <a:xfrm>
            <a:off x="267596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7" name="Rectangle 72"/>
          <p:cNvSpPr>
            <a:spLocks noChangeArrowheads="1"/>
          </p:cNvSpPr>
          <p:nvPr/>
        </p:nvSpPr>
        <p:spPr bwMode="auto">
          <a:xfrm>
            <a:off x="3125967"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8" name="Rectangle 69"/>
          <p:cNvSpPr>
            <a:spLocks noChangeArrowheads="1"/>
          </p:cNvSpPr>
          <p:nvPr/>
        </p:nvSpPr>
        <p:spPr bwMode="auto">
          <a:xfrm>
            <a:off x="2225957"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9" name="Rectangle 70"/>
          <p:cNvSpPr>
            <a:spLocks noChangeArrowheads="1"/>
          </p:cNvSpPr>
          <p:nvPr/>
        </p:nvSpPr>
        <p:spPr bwMode="auto">
          <a:xfrm>
            <a:off x="2675962"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10" name="Rectangle 71"/>
          <p:cNvSpPr>
            <a:spLocks noChangeArrowheads="1"/>
          </p:cNvSpPr>
          <p:nvPr/>
        </p:nvSpPr>
        <p:spPr bwMode="auto">
          <a:xfrm>
            <a:off x="3125967"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11" name="Rectangle 72"/>
          <p:cNvSpPr>
            <a:spLocks noChangeArrowheads="1"/>
          </p:cNvSpPr>
          <p:nvPr/>
        </p:nvSpPr>
        <p:spPr bwMode="auto">
          <a:xfrm>
            <a:off x="3575972"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12" name="Rectangle 73"/>
          <p:cNvSpPr>
            <a:spLocks noChangeArrowheads="1"/>
          </p:cNvSpPr>
          <p:nvPr/>
        </p:nvSpPr>
        <p:spPr bwMode="auto">
          <a:xfrm>
            <a:off x="4025977"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13" name="Rectangle 69"/>
          <p:cNvSpPr>
            <a:spLocks noChangeArrowheads="1"/>
          </p:cNvSpPr>
          <p:nvPr/>
        </p:nvSpPr>
        <p:spPr bwMode="auto">
          <a:xfrm>
            <a:off x="2675962"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14" name="Rectangle 70"/>
          <p:cNvSpPr>
            <a:spLocks noChangeArrowheads="1"/>
          </p:cNvSpPr>
          <p:nvPr/>
        </p:nvSpPr>
        <p:spPr bwMode="auto">
          <a:xfrm>
            <a:off x="3125967"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15" name="Rectangle 71"/>
          <p:cNvSpPr>
            <a:spLocks noChangeArrowheads="1"/>
          </p:cNvSpPr>
          <p:nvPr/>
        </p:nvSpPr>
        <p:spPr bwMode="auto">
          <a:xfrm>
            <a:off x="3575972"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16" name="Rectangle 72"/>
          <p:cNvSpPr>
            <a:spLocks noChangeArrowheads="1"/>
          </p:cNvSpPr>
          <p:nvPr/>
        </p:nvSpPr>
        <p:spPr bwMode="auto">
          <a:xfrm>
            <a:off x="4025977"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17" name="Rectangle 73"/>
          <p:cNvSpPr>
            <a:spLocks noChangeArrowheads="1"/>
          </p:cNvSpPr>
          <p:nvPr/>
        </p:nvSpPr>
        <p:spPr bwMode="auto">
          <a:xfrm>
            <a:off x="4475982"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18" name="Rectangle 69"/>
          <p:cNvSpPr>
            <a:spLocks noChangeArrowheads="1"/>
          </p:cNvSpPr>
          <p:nvPr/>
        </p:nvSpPr>
        <p:spPr bwMode="auto">
          <a:xfrm>
            <a:off x="3125967"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19" name="Rectangle 70"/>
          <p:cNvSpPr>
            <a:spLocks noChangeArrowheads="1"/>
          </p:cNvSpPr>
          <p:nvPr/>
        </p:nvSpPr>
        <p:spPr bwMode="auto">
          <a:xfrm>
            <a:off x="3575972"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20" name="Rectangle 71"/>
          <p:cNvSpPr>
            <a:spLocks noChangeArrowheads="1"/>
          </p:cNvSpPr>
          <p:nvPr/>
        </p:nvSpPr>
        <p:spPr bwMode="auto">
          <a:xfrm>
            <a:off x="4025977"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21" name="Rectangle 72"/>
          <p:cNvSpPr>
            <a:spLocks noChangeArrowheads="1"/>
          </p:cNvSpPr>
          <p:nvPr/>
        </p:nvSpPr>
        <p:spPr bwMode="auto">
          <a:xfrm>
            <a:off x="4475982"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22" name="Rectangle 73"/>
          <p:cNvSpPr>
            <a:spLocks noChangeArrowheads="1"/>
          </p:cNvSpPr>
          <p:nvPr/>
        </p:nvSpPr>
        <p:spPr bwMode="auto">
          <a:xfrm>
            <a:off x="4925987"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23" name="Rectangle 73"/>
          <p:cNvSpPr>
            <a:spLocks noChangeArrowheads="1"/>
          </p:cNvSpPr>
          <p:nvPr/>
        </p:nvSpPr>
        <p:spPr bwMode="auto">
          <a:xfrm>
            <a:off x="357597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4" name="Rectangle 69"/>
          <p:cNvSpPr>
            <a:spLocks noChangeArrowheads="1"/>
          </p:cNvSpPr>
          <p:nvPr/>
        </p:nvSpPr>
        <p:spPr bwMode="auto">
          <a:xfrm>
            <a:off x="663600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5" name="Rectangle 70"/>
          <p:cNvSpPr>
            <a:spLocks noChangeArrowheads="1"/>
          </p:cNvSpPr>
          <p:nvPr/>
        </p:nvSpPr>
        <p:spPr bwMode="auto">
          <a:xfrm>
            <a:off x="7086011"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6" name="Rectangle 71"/>
          <p:cNvSpPr>
            <a:spLocks noChangeArrowheads="1"/>
          </p:cNvSpPr>
          <p:nvPr/>
        </p:nvSpPr>
        <p:spPr bwMode="auto">
          <a:xfrm>
            <a:off x="753601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7" name="Rectangle 72"/>
          <p:cNvSpPr>
            <a:spLocks noChangeArrowheads="1"/>
          </p:cNvSpPr>
          <p:nvPr/>
        </p:nvSpPr>
        <p:spPr bwMode="auto">
          <a:xfrm>
            <a:off x="7986021"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8" name="Rectangle 69"/>
          <p:cNvSpPr>
            <a:spLocks noChangeArrowheads="1"/>
          </p:cNvSpPr>
          <p:nvPr/>
        </p:nvSpPr>
        <p:spPr bwMode="auto">
          <a:xfrm>
            <a:off x="6636006"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7086011"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7536016"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7986021"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8436026"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33" name="Rectangle 69"/>
          <p:cNvSpPr>
            <a:spLocks noChangeArrowheads="1"/>
          </p:cNvSpPr>
          <p:nvPr/>
        </p:nvSpPr>
        <p:spPr bwMode="auto">
          <a:xfrm>
            <a:off x="7086011"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34" name="Rectangle 70"/>
          <p:cNvSpPr>
            <a:spLocks noChangeArrowheads="1"/>
          </p:cNvSpPr>
          <p:nvPr/>
        </p:nvSpPr>
        <p:spPr bwMode="auto">
          <a:xfrm>
            <a:off x="7536016"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35" name="Rectangle 71"/>
          <p:cNvSpPr>
            <a:spLocks noChangeArrowheads="1"/>
          </p:cNvSpPr>
          <p:nvPr/>
        </p:nvSpPr>
        <p:spPr bwMode="auto">
          <a:xfrm>
            <a:off x="7986021"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36" name="Rectangle 72"/>
          <p:cNvSpPr>
            <a:spLocks noChangeArrowheads="1"/>
          </p:cNvSpPr>
          <p:nvPr/>
        </p:nvSpPr>
        <p:spPr bwMode="auto">
          <a:xfrm>
            <a:off x="8436026"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37" name="Rectangle 73"/>
          <p:cNvSpPr>
            <a:spLocks noChangeArrowheads="1"/>
          </p:cNvSpPr>
          <p:nvPr/>
        </p:nvSpPr>
        <p:spPr bwMode="auto">
          <a:xfrm>
            <a:off x="8886031"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38" name="Rectangle 69"/>
          <p:cNvSpPr>
            <a:spLocks noChangeArrowheads="1"/>
          </p:cNvSpPr>
          <p:nvPr/>
        </p:nvSpPr>
        <p:spPr bwMode="auto">
          <a:xfrm>
            <a:off x="7086011"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39" name="Rectangle 70"/>
          <p:cNvSpPr>
            <a:spLocks noChangeArrowheads="1"/>
          </p:cNvSpPr>
          <p:nvPr/>
        </p:nvSpPr>
        <p:spPr bwMode="auto">
          <a:xfrm>
            <a:off x="7536016"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40" name="Rectangle 71"/>
          <p:cNvSpPr>
            <a:spLocks noChangeArrowheads="1"/>
          </p:cNvSpPr>
          <p:nvPr/>
        </p:nvSpPr>
        <p:spPr bwMode="auto">
          <a:xfrm>
            <a:off x="7986021"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41" name="Rectangle 72"/>
          <p:cNvSpPr>
            <a:spLocks noChangeArrowheads="1"/>
          </p:cNvSpPr>
          <p:nvPr/>
        </p:nvSpPr>
        <p:spPr bwMode="auto">
          <a:xfrm>
            <a:off x="8436026"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42" name="Rectangle 73"/>
          <p:cNvSpPr>
            <a:spLocks noChangeArrowheads="1"/>
          </p:cNvSpPr>
          <p:nvPr/>
        </p:nvSpPr>
        <p:spPr bwMode="auto">
          <a:xfrm>
            <a:off x="8886031"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43" name="Rectangle 73"/>
          <p:cNvSpPr>
            <a:spLocks noChangeArrowheads="1"/>
          </p:cNvSpPr>
          <p:nvPr/>
        </p:nvSpPr>
        <p:spPr bwMode="auto">
          <a:xfrm>
            <a:off x="843602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4" name="Rectangle 69"/>
          <p:cNvSpPr>
            <a:spLocks noChangeArrowheads="1"/>
          </p:cNvSpPr>
          <p:nvPr/>
        </p:nvSpPr>
        <p:spPr bwMode="auto">
          <a:xfrm>
            <a:off x="3575972"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5" name="Rectangle 70"/>
          <p:cNvSpPr>
            <a:spLocks noChangeArrowheads="1"/>
          </p:cNvSpPr>
          <p:nvPr/>
        </p:nvSpPr>
        <p:spPr bwMode="auto">
          <a:xfrm>
            <a:off x="4025977"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6" name="Rectangle 71"/>
          <p:cNvSpPr>
            <a:spLocks noChangeArrowheads="1"/>
          </p:cNvSpPr>
          <p:nvPr/>
        </p:nvSpPr>
        <p:spPr bwMode="auto">
          <a:xfrm>
            <a:off x="4475982"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47" name="Rectangle 72"/>
          <p:cNvSpPr>
            <a:spLocks noChangeArrowheads="1"/>
          </p:cNvSpPr>
          <p:nvPr/>
        </p:nvSpPr>
        <p:spPr bwMode="auto">
          <a:xfrm>
            <a:off x="4925987"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8" name="Rectangle 73"/>
          <p:cNvSpPr>
            <a:spLocks noChangeArrowheads="1"/>
          </p:cNvSpPr>
          <p:nvPr/>
        </p:nvSpPr>
        <p:spPr bwMode="auto">
          <a:xfrm>
            <a:off x="5375992"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9" name="Rectangle 69"/>
          <p:cNvSpPr>
            <a:spLocks noChangeArrowheads="1"/>
          </p:cNvSpPr>
          <p:nvPr/>
        </p:nvSpPr>
        <p:spPr bwMode="auto">
          <a:xfrm>
            <a:off x="7536016"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50" name="Rectangle 70"/>
          <p:cNvSpPr>
            <a:spLocks noChangeArrowheads="1"/>
          </p:cNvSpPr>
          <p:nvPr/>
        </p:nvSpPr>
        <p:spPr bwMode="auto">
          <a:xfrm>
            <a:off x="7986021"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51" name="Rectangle 71"/>
          <p:cNvSpPr>
            <a:spLocks noChangeArrowheads="1"/>
          </p:cNvSpPr>
          <p:nvPr/>
        </p:nvSpPr>
        <p:spPr bwMode="auto">
          <a:xfrm>
            <a:off x="8436026"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52" name="Rectangle 72"/>
          <p:cNvSpPr>
            <a:spLocks noChangeArrowheads="1"/>
          </p:cNvSpPr>
          <p:nvPr/>
        </p:nvSpPr>
        <p:spPr bwMode="auto">
          <a:xfrm>
            <a:off x="8886031"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53" name="Rectangle 73"/>
          <p:cNvSpPr>
            <a:spLocks noChangeArrowheads="1"/>
          </p:cNvSpPr>
          <p:nvPr/>
        </p:nvSpPr>
        <p:spPr bwMode="auto">
          <a:xfrm>
            <a:off x="9336036"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54" name="Rectangle 69"/>
          <p:cNvSpPr>
            <a:spLocks noChangeArrowheads="1"/>
          </p:cNvSpPr>
          <p:nvPr/>
        </p:nvSpPr>
        <p:spPr bwMode="auto">
          <a:xfrm>
            <a:off x="7536016"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55" name="Rectangle 70"/>
          <p:cNvSpPr>
            <a:spLocks noChangeArrowheads="1"/>
          </p:cNvSpPr>
          <p:nvPr/>
        </p:nvSpPr>
        <p:spPr bwMode="auto">
          <a:xfrm>
            <a:off x="7986021"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56" name="Rectangle 71"/>
          <p:cNvSpPr>
            <a:spLocks noChangeArrowheads="1"/>
          </p:cNvSpPr>
          <p:nvPr/>
        </p:nvSpPr>
        <p:spPr bwMode="auto">
          <a:xfrm>
            <a:off x="8436026"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57" name="Rectangle 72"/>
          <p:cNvSpPr>
            <a:spLocks noChangeArrowheads="1"/>
          </p:cNvSpPr>
          <p:nvPr/>
        </p:nvSpPr>
        <p:spPr bwMode="auto">
          <a:xfrm>
            <a:off x="8886031"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58" name="Rectangle 73"/>
          <p:cNvSpPr>
            <a:spLocks noChangeArrowheads="1"/>
          </p:cNvSpPr>
          <p:nvPr/>
        </p:nvSpPr>
        <p:spPr bwMode="auto">
          <a:xfrm>
            <a:off x="9336036"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59" name="正方形/長方形 58"/>
          <p:cNvSpPr/>
          <p:nvPr/>
        </p:nvSpPr>
        <p:spPr bwMode="auto">
          <a:xfrm>
            <a:off x="6005999" y="378900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２命令同時処理すると，遅延スロットが増える</a:t>
            </a:r>
          </a:p>
        </p:txBody>
      </p:sp>
    </p:spTree>
    <p:extLst>
      <p:ext uri="{BB962C8B-B14F-4D97-AF65-F5344CB8AC3E}">
        <p14:creationId xmlns:p14="http://schemas.microsoft.com/office/powerpoint/2010/main" val="29313710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遅延スロットの欠点２</a:t>
            </a:r>
          </a:p>
        </p:txBody>
      </p:sp>
      <p:sp>
        <p:nvSpPr>
          <p:cNvPr id="3" name="テキスト プレースホルダー 2"/>
          <p:cNvSpPr>
            <a:spLocks noGrp="1"/>
          </p:cNvSpPr>
          <p:nvPr>
            <p:ph type="body" sz="quarter" idx="10"/>
          </p:nvPr>
        </p:nvSpPr>
        <p:spPr>
          <a:xfrm>
            <a:off x="2135956" y="4959017"/>
            <a:ext cx="8280092" cy="1349708"/>
          </a:xfrm>
        </p:spPr>
        <p:txBody>
          <a:bodyPr/>
          <a:lstStyle/>
          <a:p>
            <a:r>
              <a:rPr lang="ja-JP" altLang="en-US" dirty="0"/>
              <a:t>欠点２：並列してできる命令が常にあるとは限らない</a:t>
            </a:r>
            <a:endParaRPr lang="en-US" altLang="ja-JP" dirty="0"/>
          </a:p>
          <a:p>
            <a:pPr lvl="1"/>
            <a:r>
              <a:rPr lang="en-US" altLang="ja-JP" dirty="0"/>
              <a:t>NOP </a:t>
            </a:r>
            <a:r>
              <a:rPr lang="ja-JP" altLang="en-US" dirty="0"/>
              <a:t>を入れるしかなくなる</a:t>
            </a:r>
            <a:endParaRPr lang="en-US" altLang="ja-JP" dirty="0"/>
          </a:p>
          <a:p>
            <a:pPr lvl="1"/>
            <a:r>
              <a:rPr lang="ja-JP" altLang="en-US" dirty="0"/>
              <a:t>実質ストールしてバブルを入れるのと同じになってしまう</a:t>
            </a:r>
            <a:endParaRPr lang="en-US" altLang="ja-JP" dirty="0"/>
          </a:p>
        </p:txBody>
      </p:sp>
      <p:cxnSp>
        <p:nvCxnSpPr>
          <p:cNvPr id="42" name="直線コネクタ 41"/>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43" name="直線コネクタ 42"/>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44"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5"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6"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47"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8"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9"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50"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51"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2"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3"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54"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55"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56"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7"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8" name="正方形/長方形 57"/>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accent6"/>
                </a:solidFill>
                <a:latin typeface="メイリオ" panose="020B0604030504040204" pitchFamily="50" charset="-128"/>
                <a:ea typeface="メイリオ" panose="020B0604030504040204" pitchFamily="50" charset="-128"/>
              </a:rPr>
              <a:t>x1</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59"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60"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1"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62"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63"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64"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65"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6"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67"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68"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69" name="直線コネクタ 68"/>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70" name="正方形/長方形 69"/>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71" name="正方形/長方形 70"/>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72" name="直線コネクタ 71"/>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73" name="正方形/長方形 72"/>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74" name="直線コネクタ 73"/>
          <p:cNvCxnSpPr>
            <a:endCxn id="64"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75" name="正方形/長方形 74"/>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 sub </a:t>
            </a:r>
            <a:r>
              <a:rPr lang="en-US" altLang="ja-JP" sz="1600"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6"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77" name="直線コネクタ 76"/>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cxnSp>
        <p:nvCxnSpPr>
          <p:cNvPr id="79" name="直線コネクタ 78"/>
          <p:cNvCxnSpPr/>
          <p:nvPr/>
        </p:nvCxnSpPr>
        <p:spPr bwMode="auto">
          <a:xfrm>
            <a:off x="3935976" y="3969006"/>
            <a:ext cx="720080" cy="0"/>
          </a:xfrm>
          <a:prstGeom prst="line">
            <a:avLst/>
          </a:prstGeom>
          <a:noFill/>
          <a:ln w="9525" cap="flat" cmpd="sng" algn="ctr">
            <a:solidFill>
              <a:schemeClr val="tx1"/>
            </a:solidFill>
            <a:prstDash val="dash"/>
            <a:round/>
            <a:headEnd type="none" w="med" len="med"/>
            <a:tailEnd type="none" w="med" len="med"/>
          </a:ln>
          <a:effectLst/>
        </p:spPr>
      </p:cxnSp>
      <p:sp>
        <p:nvSpPr>
          <p:cNvPr id="80" name="Rectangle 69"/>
          <p:cNvSpPr>
            <a:spLocks noChangeArrowheads="1"/>
          </p:cNvSpPr>
          <p:nvPr/>
        </p:nvSpPr>
        <p:spPr bwMode="auto">
          <a:xfrm>
            <a:off x="4475982"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81" name="Rectangle 70"/>
          <p:cNvSpPr>
            <a:spLocks noChangeArrowheads="1"/>
          </p:cNvSpPr>
          <p:nvPr/>
        </p:nvSpPr>
        <p:spPr bwMode="auto">
          <a:xfrm>
            <a:off x="4925987"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2" name="Rectangle 71"/>
          <p:cNvSpPr>
            <a:spLocks noChangeArrowheads="1"/>
          </p:cNvSpPr>
          <p:nvPr/>
        </p:nvSpPr>
        <p:spPr bwMode="auto">
          <a:xfrm>
            <a:off x="5375992"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83" name="Rectangle 72"/>
          <p:cNvSpPr>
            <a:spLocks noChangeArrowheads="1"/>
          </p:cNvSpPr>
          <p:nvPr/>
        </p:nvSpPr>
        <p:spPr bwMode="auto">
          <a:xfrm>
            <a:off x="5825997"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94" name="正方形/長方形 93"/>
          <p:cNvSpPr/>
          <p:nvPr/>
        </p:nvSpPr>
        <p:spPr bwMode="auto">
          <a:xfrm>
            <a:off x="2045955" y="378900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accent6"/>
                </a:solidFill>
                <a:latin typeface="メイリオ" panose="020B0604030504040204" pitchFamily="50" charset="-128"/>
                <a:ea typeface="メイリオ" panose="020B0604030504040204" pitchFamily="50" charset="-128"/>
              </a:rPr>
              <a:t>x1</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100" name="Rectangle 69"/>
          <p:cNvSpPr>
            <a:spLocks noChangeArrowheads="1"/>
          </p:cNvSpPr>
          <p:nvPr/>
        </p:nvSpPr>
        <p:spPr bwMode="auto">
          <a:xfrm>
            <a:off x="4925987"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01" name="Rectangle 70"/>
          <p:cNvSpPr>
            <a:spLocks noChangeArrowheads="1"/>
          </p:cNvSpPr>
          <p:nvPr/>
        </p:nvSpPr>
        <p:spPr bwMode="auto">
          <a:xfrm>
            <a:off x="6726007"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02" name="Rectangle 71"/>
          <p:cNvSpPr>
            <a:spLocks noChangeArrowheads="1"/>
          </p:cNvSpPr>
          <p:nvPr/>
        </p:nvSpPr>
        <p:spPr bwMode="auto">
          <a:xfrm>
            <a:off x="7176012"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03" name="Rectangle 72"/>
          <p:cNvSpPr>
            <a:spLocks noChangeArrowheads="1"/>
          </p:cNvSpPr>
          <p:nvPr/>
        </p:nvSpPr>
        <p:spPr bwMode="auto">
          <a:xfrm>
            <a:off x="7626017"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4" name="Rectangle 73"/>
          <p:cNvSpPr>
            <a:spLocks noChangeArrowheads="1"/>
          </p:cNvSpPr>
          <p:nvPr/>
        </p:nvSpPr>
        <p:spPr bwMode="auto">
          <a:xfrm>
            <a:off x="8076022"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110" name="直線コネクタ 109"/>
          <p:cNvCxnSpPr>
            <a:endCxn id="100" idx="1"/>
          </p:cNvCxnSpPr>
          <p:nvPr/>
        </p:nvCxnSpPr>
        <p:spPr bwMode="auto">
          <a:xfrm flipV="1">
            <a:off x="3935977" y="4419009"/>
            <a:ext cx="990011" cy="4"/>
          </a:xfrm>
          <a:prstGeom prst="line">
            <a:avLst/>
          </a:prstGeom>
          <a:noFill/>
          <a:ln w="9525" cap="flat" cmpd="sng" algn="ctr">
            <a:solidFill>
              <a:schemeClr val="tx1"/>
            </a:solidFill>
            <a:prstDash val="dash"/>
            <a:round/>
            <a:headEnd type="none" w="med" len="med"/>
            <a:tailEnd type="none" w="med" len="med"/>
          </a:ln>
          <a:effectLst/>
        </p:spPr>
      </p:cxnSp>
      <p:sp>
        <p:nvSpPr>
          <p:cNvPr id="111" name="正方形/長方形 110"/>
          <p:cNvSpPr/>
          <p:nvPr/>
        </p:nvSpPr>
        <p:spPr bwMode="auto">
          <a:xfrm>
            <a:off x="2045955" y="423900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sub </a:t>
            </a:r>
            <a:r>
              <a:rPr lang="en-US" altLang="ja-JP" sz="1600"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12" name="Rectangle 73"/>
          <p:cNvSpPr>
            <a:spLocks noChangeArrowheads="1"/>
          </p:cNvSpPr>
          <p:nvPr/>
        </p:nvSpPr>
        <p:spPr bwMode="auto">
          <a:xfrm>
            <a:off x="6276002"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113" name="直線コネクタ 112"/>
          <p:cNvCxnSpPr/>
          <p:nvPr/>
        </p:nvCxnSpPr>
        <p:spPr bwMode="auto">
          <a:xfrm>
            <a:off x="6680611" y="3781570"/>
            <a:ext cx="1" cy="900010"/>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
        <p:nvSpPr>
          <p:cNvPr id="116" name="Rectangle 73"/>
          <p:cNvSpPr>
            <a:spLocks noChangeArrowheads="1"/>
          </p:cNvSpPr>
          <p:nvPr/>
        </p:nvSpPr>
        <p:spPr bwMode="auto">
          <a:xfrm>
            <a:off x="5375992" y="423900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117" name="Rectangle 73"/>
          <p:cNvSpPr>
            <a:spLocks noChangeArrowheads="1"/>
          </p:cNvSpPr>
          <p:nvPr/>
        </p:nvSpPr>
        <p:spPr bwMode="auto">
          <a:xfrm>
            <a:off x="5825997" y="423900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118" name="Rectangle 73"/>
          <p:cNvSpPr>
            <a:spLocks noChangeArrowheads="1"/>
          </p:cNvSpPr>
          <p:nvPr/>
        </p:nvSpPr>
        <p:spPr bwMode="auto">
          <a:xfrm>
            <a:off x="6276002" y="423900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cxnSp>
        <p:nvCxnSpPr>
          <p:cNvPr id="78" name="直線コネクタ 77">
            <a:extLst>
              <a:ext uri="{FF2B5EF4-FFF2-40B4-BE49-F238E27FC236}">
                <a16:creationId xmlns:a16="http://schemas.microsoft.com/office/drawing/2014/main" id="{330A5556-B0E2-DE34-FB0E-A68C1366273E}"/>
              </a:ext>
            </a:extLst>
          </p:cNvPr>
          <p:cNvCxnSpPr>
            <a:cxnSpLocks/>
          </p:cNvCxnSpPr>
          <p:nvPr/>
        </p:nvCxnSpPr>
        <p:spPr bwMode="auto">
          <a:xfrm>
            <a:off x="8496716" y="1178976"/>
            <a:ext cx="0" cy="3510039"/>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2734807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データ・ハザードの解消方法</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b="1" dirty="0"/>
              <a:t>フォワーディング</a:t>
            </a:r>
            <a:endParaRPr kumimoji="1" lang="en-US" altLang="ja-JP" b="1" dirty="0"/>
          </a:p>
        </p:txBody>
      </p:sp>
    </p:spTree>
    <p:extLst>
      <p:ext uri="{BB962C8B-B14F-4D97-AF65-F5344CB8AC3E}">
        <p14:creationId xmlns:p14="http://schemas.microsoft.com/office/powerpoint/2010/main" val="35109665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879005"/>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879005"/>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879005"/>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879005"/>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3014462"/>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3014462"/>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3033046"/>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3033046"/>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a:xfrm>
            <a:off x="1865953" y="11181"/>
            <a:ext cx="8712046" cy="908972"/>
          </a:xfrm>
        </p:spPr>
        <p:txBody>
          <a:bodyPr/>
          <a:lstStyle/>
          <a:p>
            <a:r>
              <a:rPr lang="ja-JP" altLang="en-US" dirty="0"/>
              <a:t>フォワーディング</a:t>
            </a:r>
            <a:endParaRPr kumimoji="1" lang="ja-JP" altLang="en-US" dirty="0"/>
          </a:p>
        </p:txBody>
      </p:sp>
      <p:sp>
        <p:nvSpPr>
          <p:cNvPr id="58" name="コンテンツ プレースホルダー 57"/>
          <p:cNvSpPr>
            <a:spLocks noGrp="1"/>
          </p:cNvSpPr>
          <p:nvPr>
            <p:ph type="body" sz="quarter" idx="10"/>
          </p:nvPr>
        </p:nvSpPr>
        <p:spPr>
          <a:xfrm>
            <a:off x="1775953" y="5389877"/>
            <a:ext cx="8730097" cy="1009157"/>
          </a:xfrm>
          <a:prstGeom prst="rect">
            <a:avLst/>
          </a:prstGeom>
        </p:spPr>
        <p:txBody>
          <a:bodyPr/>
          <a:lstStyle/>
          <a:p>
            <a:r>
              <a:rPr lang="ja-JP" altLang="en-US" sz="1800" dirty="0"/>
              <a:t>フォワーディング（バイパスとも呼ぶ）</a:t>
            </a:r>
            <a:endParaRPr lang="en-US" altLang="ja-JP" sz="1800" dirty="0"/>
          </a:p>
          <a:p>
            <a:pPr lvl="1"/>
            <a:r>
              <a:rPr lang="ja-JP" altLang="en-US" sz="18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8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00" dirty="0"/>
              <a:t>の人が，次のサイクルに自分の計算結果を即座に使えるよう，手元にも結果を置いて使う</a:t>
            </a:r>
            <a:endParaRPr lang="en-US" altLang="ja-JP" sz="1800" dirty="0"/>
          </a:p>
          <a:p>
            <a:pPr lvl="1"/>
            <a:r>
              <a:rPr lang="en-US" altLang="ja-JP" sz="18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00" dirty="0"/>
              <a:t>がレジスタ・ファイルから読んできた値は必要に応じて捨てる</a:t>
            </a:r>
            <a:endParaRPr lang="en-US" altLang="ja-JP" sz="1800" dirty="0"/>
          </a:p>
        </p:txBody>
      </p:sp>
      <p:cxnSp>
        <p:nvCxnSpPr>
          <p:cNvPr id="67" name="直線矢印コネクタ 66"/>
          <p:cNvCxnSpPr/>
          <p:nvPr/>
        </p:nvCxnSpPr>
        <p:spPr bwMode="auto">
          <a:xfrm>
            <a:off x="3125967" y="4689014"/>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2403057"/>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8981"/>
            <a:ext cx="1008112" cy="1152128"/>
            <a:chOff x="3563888" y="2708920"/>
            <a:chExt cx="1296144" cy="432048"/>
          </a:xfrm>
        </p:grpSpPr>
        <p:sp>
          <p:nvSpPr>
            <p:cNvPr id="33" name="Freeform 9"/>
            <p:cNvSpPr>
              <a:spLocks/>
            </p:cNvSpPr>
            <p:nvPr/>
          </p:nvSpPr>
          <p:spPr bwMode="auto">
            <a:xfrm>
              <a:off x="4211960" y="2708920"/>
              <a:ext cx="648072" cy="270003"/>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25400">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25400">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808983"/>
            <a:ext cx="720080" cy="918111"/>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254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3699003"/>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3158998"/>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bg1"/>
                </a:solidFill>
                <a:latin typeface="Arial Narrow" panose="020B0606020202030204" pitchFamily="34" charset="0"/>
              </a:rPr>
              <a:t>a=a+1</a:t>
            </a:r>
          </a:p>
          <a:p>
            <a:pPr>
              <a:lnSpc>
                <a:spcPct val="80000"/>
              </a:lnSpc>
            </a:pPr>
            <a:r>
              <a:rPr lang="en-US" altLang="ja-JP" sz="2000" dirty="0">
                <a:solidFill>
                  <a:schemeClr val="bg1"/>
                </a:solidFill>
                <a:latin typeface="Arial Narrow" panose="020B0606020202030204" pitchFamily="34" charset="0"/>
              </a:rPr>
              <a:t>b=a-1</a:t>
            </a:r>
          </a:p>
          <a:p>
            <a:pPr>
              <a:lnSpc>
                <a:spcPct val="80000"/>
              </a:lnSpc>
            </a:pPr>
            <a:r>
              <a:rPr lang="en-US" altLang="ja-JP" sz="2000" dirty="0">
                <a:solidFill>
                  <a:schemeClr val="bg1"/>
                </a:solidFill>
                <a:latin typeface="Arial Narrow" panose="020B0606020202030204" pitchFamily="34" charset="0"/>
              </a:rPr>
              <a:t>c=a+2</a:t>
            </a:r>
          </a:p>
          <a:p>
            <a:pPr>
              <a:lnSpc>
                <a:spcPct val="80000"/>
              </a:lnSpc>
            </a:pPr>
            <a:r>
              <a:rPr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6" name="角丸四角形 45"/>
          <p:cNvSpPr/>
          <p:nvPr/>
        </p:nvSpPr>
        <p:spPr bwMode="auto">
          <a:xfrm>
            <a:off x="6456004"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7" name="角丸四角形 46"/>
          <p:cNvSpPr/>
          <p:nvPr/>
        </p:nvSpPr>
        <p:spPr bwMode="auto">
          <a:xfrm>
            <a:off x="5015988"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b=a-1</a:t>
            </a:r>
            <a:endParaRPr lang="ja-JP" altLang="en-US" dirty="0">
              <a:latin typeface="Arial Narrow" panose="020B0606020202030204" pitchFamily="34" charset="0"/>
            </a:endParaRPr>
          </a:p>
        </p:txBody>
      </p:sp>
      <p:sp>
        <p:nvSpPr>
          <p:cNvPr id="48" name="角丸四角形 47"/>
          <p:cNvSpPr/>
          <p:nvPr/>
        </p:nvSpPr>
        <p:spPr bwMode="auto">
          <a:xfrm>
            <a:off x="3575972"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c=a+2</a:t>
            </a:r>
            <a:endParaRPr lang="ja-JP" altLang="en-US" dirty="0">
              <a:latin typeface="Arial Narrow" panose="020B0606020202030204" pitchFamily="34" charset="0"/>
            </a:endParaRPr>
          </a:p>
        </p:txBody>
      </p:sp>
      <p:sp>
        <p:nvSpPr>
          <p:cNvPr id="57" name="Freeform 8"/>
          <p:cNvSpPr>
            <a:spLocks/>
          </p:cNvSpPr>
          <p:nvPr/>
        </p:nvSpPr>
        <p:spPr bwMode="auto">
          <a:xfrm rot="16200000">
            <a:off x="6285017" y="1709966"/>
            <a:ext cx="810009" cy="118804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cap="rnd">
            <a:miter lim="800000"/>
            <a:headEnd/>
            <a:tailEnd type="none" w="med" len="med"/>
          </a:ln>
        </p:spPr>
        <p:style>
          <a:lnRef idx="3">
            <a:schemeClr val="accent2"/>
          </a:lnRef>
          <a:fillRef idx="0">
            <a:schemeClr val="accent2"/>
          </a:fillRef>
          <a:effectRef idx="2">
            <a:schemeClr val="accent2"/>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0" name="Freeform 8"/>
          <p:cNvSpPr>
            <a:spLocks/>
          </p:cNvSpPr>
          <p:nvPr/>
        </p:nvSpPr>
        <p:spPr bwMode="auto">
          <a:xfrm rot="5400000">
            <a:off x="5969977" y="2025006"/>
            <a:ext cx="540078"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cap="rnd">
            <a:miter lim="800000"/>
            <a:headEnd/>
            <a:tailEnd type="triangle" w="med" len="med"/>
          </a:ln>
        </p:spPr>
        <p:style>
          <a:lnRef idx="3">
            <a:schemeClr val="accent2"/>
          </a:lnRef>
          <a:fillRef idx="0">
            <a:schemeClr val="accent2"/>
          </a:fillRef>
          <a:effectRef idx="2">
            <a:schemeClr val="accent2"/>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3" name="Freeform 8"/>
          <p:cNvSpPr>
            <a:spLocks/>
          </p:cNvSpPr>
          <p:nvPr/>
        </p:nvSpPr>
        <p:spPr bwMode="auto">
          <a:xfrm rot="5400000">
            <a:off x="5969977" y="2475011"/>
            <a:ext cx="540078"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cap="rnd">
            <a:miter lim="800000"/>
            <a:headEnd/>
            <a:tailEnd type="triangle" w="med" len="med"/>
          </a:ln>
        </p:spPr>
        <p:style>
          <a:lnRef idx="3">
            <a:schemeClr val="accent2"/>
          </a:lnRef>
          <a:fillRef idx="0">
            <a:schemeClr val="accent2"/>
          </a:fillRef>
          <a:effectRef idx="2">
            <a:schemeClr val="accent2"/>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5" name="角丸四角形吹き出し 64"/>
          <p:cNvSpPr/>
          <p:nvPr/>
        </p:nvSpPr>
        <p:spPr bwMode="auto">
          <a:xfrm>
            <a:off x="6726007" y="2888995"/>
            <a:ext cx="2880032" cy="522647"/>
          </a:xfrm>
          <a:prstGeom prst="wedgeRoundRectCallout">
            <a:avLst>
              <a:gd name="adj1" fmla="val -51558"/>
              <a:gd name="adj2" fmla="val 73833"/>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次の </a:t>
            </a:r>
            <a:r>
              <a:rPr lang="en-US" altLang="ja-JP" dirty="0">
                <a:solidFill>
                  <a:schemeClr val="tx1">
                    <a:lumMod val="65000"/>
                    <a:lumOff val="35000"/>
                  </a:schemeClr>
                </a:solidFill>
                <a:latin typeface="Arial Narrow" panose="020B0606020202030204" pitchFamily="34" charset="0"/>
              </a:rPr>
              <a:t>b=a-1 </a:t>
            </a:r>
            <a:r>
              <a:rPr lang="ja-JP" altLang="en-US" dirty="0">
                <a:solidFill>
                  <a:schemeClr val="tx1">
                    <a:lumMod val="65000"/>
                    <a:lumOff val="35000"/>
                  </a:schemeClr>
                </a:solidFill>
                <a:latin typeface="Arial Narrow" panose="020B0606020202030204" pitchFamily="34" charset="0"/>
              </a:rPr>
              <a:t>では今の結果を</a:t>
            </a:r>
            <a:br>
              <a:rPr lang="en-US" altLang="ja-JP" dirty="0">
                <a:solidFill>
                  <a:schemeClr val="tx1">
                    <a:lumMod val="65000"/>
                    <a:lumOff val="35000"/>
                  </a:schemeClr>
                </a:solidFill>
                <a:latin typeface="Arial Narrow" panose="020B0606020202030204" pitchFamily="34" charset="0"/>
              </a:rPr>
            </a:br>
            <a:r>
              <a:rPr lang="ja-JP" altLang="en-US" dirty="0">
                <a:solidFill>
                  <a:schemeClr val="tx1">
                    <a:lumMod val="65000"/>
                    <a:lumOff val="35000"/>
                  </a:schemeClr>
                </a:solidFill>
                <a:latin typeface="Arial Narrow" panose="020B0606020202030204" pitchFamily="34" charset="0"/>
              </a:rPr>
              <a:t>直接使いましょ</a:t>
            </a:r>
          </a:p>
        </p:txBody>
      </p:sp>
    </p:spTree>
    <p:extLst>
      <p:ext uri="{BB962C8B-B14F-4D97-AF65-F5344CB8AC3E}">
        <p14:creationId xmlns:p14="http://schemas.microsoft.com/office/powerpoint/2010/main" val="37621518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フォワーディングの回路</a:t>
            </a:r>
            <a:endParaRPr kumimoji="1" lang="ja-JP" altLang="en-US" dirty="0"/>
          </a:p>
        </p:txBody>
      </p:sp>
      <p:sp>
        <p:nvSpPr>
          <p:cNvPr id="3" name="テキスト プレースホルダー 2"/>
          <p:cNvSpPr>
            <a:spLocks noGrp="1"/>
          </p:cNvSpPr>
          <p:nvPr>
            <p:ph type="body" sz="quarter" idx="10"/>
          </p:nvPr>
        </p:nvSpPr>
        <p:spPr>
          <a:xfrm>
            <a:off x="2135956" y="5589025"/>
            <a:ext cx="8280092" cy="719701"/>
          </a:xfrm>
        </p:spPr>
        <p:txBody>
          <a:bodyPr/>
          <a:lstStyle/>
          <a:p>
            <a:r>
              <a:rPr kumimoji="1" lang="ja-JP" altLang="en-US" dirty="0"/>
              <a:t>演算器の結果を，フィードバック</a:t>
            </a:r>
            <a:endParaRPr kumimoji="1" lang="en-US" altLang="ja-JP" dirty="0"/>
          </a:p>
          <a:p>
            <a:pPr lvl="1"/>
            <a:r>
              <a:rPr kumimoji="1" lang="ja-JP" altLang="en-US" dirty="0"/>
              <a:t>レジスタ・ファイルからの読み出し結果と選択して入力に</a:t>
            </a:r>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5" y="2708992"/>
            <a:ext cx="990011"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01006" y="3203998"/>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8" name="直線矢印コネクタ 17"/>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cxnSp>
        <p:nvCxnSpPr>
          <p:cNvPr id="19" name="直線矢印コネクタ 18"/>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0" name="Freeform 10"/>
          <p:cNvSpPr>
            <a:spLocks/>
          </p:cNvSpPr>
          <p:nvPr/>
        </p:nvSpPr>
        <p:spPr bwMode="auto">
          <a:xfrm>
            <a:off x="4475982" y="1808983"/>
            <a:ext cx="180002"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1"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2" name="直線矢印コネクタ 21"/>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23" name="直線矢印コネクタ 22"/>
          <p:cNvCxnSpPr/>
          <p:nvPr/>
        </p:nvCxnSpPr>
        <p:spPr bwMode="auto">
          <a:xfrm>
            <a:off x="7356014" y="3429000"/>
            <a:ext cx="720008" cy="0"/>
          </a:xfrm>
          <a:prstGeom prst="straightConnector1">
            <a:avLst/>
          </a:prstGeom>
          <a:noFill/>
          <a:ln w="9525" cap="flat" cmpd="sng" algn="ctr">
            <a:solidFill>
              <a:schemeClr val="tx1"/>
            </a:solidFill>
            <a:prstDash val="solid"/>
            <a:round/>
            <a:headEnd type="none" w="sm" len="sm"/>
            <a:tailEnd type="none"/>
          </a:ln>
          <a:effectLst/>
        </p:spPr>
      </p:cxnSp>
      <p:cxnSp>
        <p:nvCxnSpPr>
          <p:cNvPr id="24" name="直線矢印コネクタ 23"/>
          <p:cNvCxnSpPr/>
          <p:nvPr/>
        </p:nvCxnSpPr>
        <p:spPr bwMode="auto">
          <a:xfrm>
            <a:off x="6096001" y="3068996"/>
            <a:ext cx="810009" cy="0"/>
          </a:xfrm>
          <a:prstGeom prst="straightConnector1">
            <a:avLst/>
          </a:prstGeom>
          <a:noFill/>
          <a:ln w="31750" cap="flat" cmpd="sng" algn="ctr">
            <a:solidFill>
              <a:schemeClr val="accent5"/>
            </a:solidFill>
            <a:prstDash val="solid"/>
            <a:round/>
            <a:headEnd type="none" w="sm" len="sm"/>
            <a:tailEnd type="triangle"/>
          </a:ln>
          <a:effectLst/>
        </p:spPr>
      </p:cxnSp>
      <p:cxnSp>
        <p:nvCxnSpPr>
          <p:cNvPr id="25" name="直線矢印コネクタ 24"/>
          <p:cNvCxnSpPr/>
          <p:nvPr/>
        </p:nvCxnSpPr>
        <p:spPr bwMode="auto">
          <a:xfrm>
            <a:off x="6096001" y="3879005"/>
            <a:ext cx="810009" cy="0"/>
          </a:xfrm>
          <a:prstGeom prst="straightConnector1">
            <a:avLst/>
          </a:prstGeom>
          <a:noFill/>
          <a:ln w="31750" cap="flat" cmpd="sng" algn="ctr">
            <a:solidFill>
              <a:schemeClr val="accent5"/>
            </a:solidFill>
            <a:prstDash val="solid"/>
            <a:round/>
            <a:headEnd type="none" w="sm" len="sm"/>
            <a:tailEnd type="triangle"/>
          </a:ln>
          <a:effectLst/>
        </p:spPr>
      </p:cxnSp>
      <p:sp>
        <p:nvSpPr>
          <p:cNvPr id="26" name="正方形/長方形 25"/>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27"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8"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31" name="直線矢印コネクタ 30"/>
          <p:cNvCxnSpPr/>
          <p:nvPr/>
        </p:nvCxnSpPr>
        <p:spPr bwMode="auto">
          <a:xfrm flipH="1">
            <a:off x="4475983" y="1808982"/>
            <a:ext cx="6030067" cy="0"/>
          </a:xfrm>
          <a:prstGeom prst="straightConnector1">
            <a:avLst/>
          </a:prstGeom>
          <a:noFill/>
          <a:ln w="9525" cap="flat" cmpd="sng" algn="ctr">
            <a:solidFill>
              <a:schemeClr val="tx1"/>
            </a:solidFill>
            <a:prstDash val="solid"/>
            <a:round/>
            <a:headEnd type="none" w="sm" len="sm"/>
            <a:tailEnd type="none"/>
          </a:ln>
          <a:effectLst/>
        </p:spPr>
      </p:cxnSp>
      <p:sp>
        <p:nvSpPr>
          <p:cNvPr id="3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3" name="Freeform 10"/>
          <p:cNvSpPr>
            <a:spLocks/>
          </p:cNvSpPr>
          <p:nvPr/>
        </p:nvSpPr>
        <p:spPr bwMode="auto">
          <a:xfrm rot="5400000" flipH="1" flipV="1">
            <a:off x="9876044" y="1988985"/>
            <a:ext cx="810009"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4" name="正方形/長方形 33"/>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40" name="グループ化 39"/>
          <p:cNvGrpSpPr/>
          <p:nvPr/>
        </p:nvGrpSpPr>
        <p:grpSpPr>
          <a:xfrm>
            <a:off x="4025977" y="3068996"/>
            <a:ext cx="360004" cy="720008"/>
            <a:chOff x="2411977" y="3068996"/>
            <a:chExt cx="360004" cy="720008"/>
          </a:xfrm>
        </p:grpSpPr>
        <p:sp>
          <p:nvSpPr>
            <p:cNvPr id="41" name="正方形/長方形 40"/>
            <p:cNvSpPr/>
            <p:nvPr/>
          </p:nvSpPr>
          <p:spPr bwMode="auto">
            <a:xfrm>
              <a:off x="2411977"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2" name="二等辺三角形 41"/>
            <p:cNvSpPr/>
            <p:nvPr/>
          </p:nvSpPr>
          <p:spPr bwMode="auto">
            <a:xfrm>
              <a:off x="2501977" y="3609002"/>
              <a:ext cx="180002" cy="180002"/>
            </a:xfrm>
            <a:prstGeom prst="triangl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43" name="正方形/長方形 42"/>
          <p:cNvSpPr/>
          <p:nvPr/>
        </p:nvSpPr>
        <p:spPr bwMode="auto">
          <a:xfrm>
            <a:off x="6276002" y="2438989"/>
            <a:ext cx="270003"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4" name="二等辺三角形 43"/>
          <p:cNvSpPr/>
          <p:nvPr/>
        </p:nvSpPr>
        <p:spPr bwMode="auto">
          <a:xfrm>
            <a:off x="631317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正方形/長方形 44"/>
          <p:cNvSpPr/>
          <p:nvPr/>
        </p:nvSpPr>
        <p:spPr bwMode="auto">
          <a:xfrm>
            <a:off x="7716018" y="2438989"/>
            <a:ext cx="270003"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6" name="二等辺三角形 45"/>
          <p:cNvSpPr/>
          <p:nvPr/>
        </p:nvSpPr>
        <p:spPr bwMode="auto">
          <a:xfrm>
            <a:off x="776062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3" name="Freeform 10"/>
          <p:cNvSpPr>
            <a:spLocks/>
          </p:cNvSpPr>
          <p:nvPr/>
        </p:nvSpPr>
        <p:spPr bwMode="auto">
          <a:xfrm flipH="1" flipV="1">
            <a:off x="5825997" y="2258986"/>
            <a:ext cx="162001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4" name="直線矢印コネクタ 53"/>
          <p:cNvCxnSpPr/>
          <p:nvPr/>
        </p:nvCxnSpPr>
        <p:spPr bwMode="auto">
          <a:xfrm>
            <a:off x="6096000" y="2888994"/>
            <a:ext cx="0" cy="360004"/>
          </a:xfrm>
          <a:prstGeom prst="straightConnector1">
            <a:avLst/>
          </a:prstGeom>
          <a:noFill/>
          <a:ln w="38100" cap="flat" cmpd="sng" algn="ctr">
            <a:solidFill>
              <a:schemeClr val="accent5"/>
            </a:solidFill>
            <a:prstDash val="solid"/>
            <a:round/>
            <a:headEnd type="none" w="sm" len="sm"/>
            <a:tailEnd type="none"/>
          </a:ln>
          <a:effectLst/>
        </p:spPr>
      </p:cxnSp>
      <p:cxnSp>
        <p:nvCxnSpPr>
          <p:cNvPr id="55" name="直線矢印コネクタ 54"/>
          <p:cNvCxnSpPr/>
          <p:nvPr/>
        </p:nvCxnSpPr>
        <p:spPr bwMode="auto">
          <a:xfrm>
            <a:off x="6096000" y="3699003"/>
            <a:ext cx="0" cy="360004"/>
          </a:xfrm>
          <a:prstGeom prst="straightConnector1">
            <a:avLst/>
          </a:prstGeom>
          <a:noFill/>
          <a:ln w="38100" cap="flat" cmpd="sng" algn="ctr">
            <a:solidFill>
              <a:schemeClr val="accent5"/>
            </a:solidFill>
            <a:prstDash val="solid"/>
            <a:round/>
            <a:headEnd type="none" w="sm" len="sm"/>
            <a:tailEnd type="none"/>
          </a:ln>
          <a:effectLst/>
        </p:spPr>
      </p:cxnSp>
      <p:sp>
        <p:nvSpPr>
          <p:cNvPr id="56" name="Freeform 10"/>
          <p:cNvSpPr>
            <a:spLocks/>
          </p:cNvSpPr>
          <p:nvPr/>
        </p:nvSpPr>
        <p:spPr bwMode="auto">
          <a:xfrm rot="10800000" flipH="1" flipV="1">
            <a:off x="5825998" y="2258988"/>
            <a:ext cx="270003"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57" name="Freeform 10"/>
          <p:cNvSpPr>
            <a:spLocks/>
          </p:cNvSpPr>
          <p:nvPr/>
        </p:nvSpPr>
        <p:spPr bwMode="auto">
          <a:xfrm rot="10800000" flipH="1" flipV="1">
            <a:off x="5825998" y="2978995"/>
            <a:ext cx="270003"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8" name="直線矢印コネクタ 57"/>
          <p:cNvCxnSpPr/>
          <p:nvPr/>
        </p:nvCxnSpPr>
        <p:spPr bwMode="auto">
          <a:xfrm>
            <a:off x="5645996" y="3158997"/>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60" name="直線矢印コネクタ 59"/>
          <p:cNvCxnSpPr/>
          <p:nvPr/>
        </p:nvCxnSpPr>
        <p:spPr bwMode="auto">
          <a:xfrm>
            <a:off x="5645996" y="3969006"/>
            <a:ext cx="450005" cy="0"/>
          </a:xfrm>
          <a:prstGeom prst="straightConnector1">
            <a:avLst/>
          </a:prstGeom>
          <a:noFill/>
          <a:ln w="9525" cap="flat" cmpd="sng" algn="ctr">
            <a:solidFill>
              <a:schemeClr val="tx1"/>
            </a:solidFill>
            <a:prstDash val="solid"/>
            <a:round/>
            <a:headEnd type="none" w="sm" len="sm"/>
            <a:tailEnd type="triangle"/>
          </a:ln>
          <a:effectLst/>
        </p:spPr>
      </p:cxnSp>
    </p:spTree>
    <p:extLst>
      <p:ext uri="{BB962C8B-B14F-4D97-AF65-F5344CB8AC3E}">
        <p14:creationId xmlns:p14="http://schemas.microsoft.com/office/powerpoint/2010/main" val="11892200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フォワーディングの利点</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利点：</a:t>
            </a:r>
            <a:endParaRPr kumimoji="1" lang="en-US" altLang="ja-JP" dirty="0"/>
          </a:p>
          <a:p>
            <a:pPr lvl="1"/>
            <a:r>
              <a:rPr kumimoji="1" lang="ja-JP" altLang="en-US" dirty="0"/>
              <a:t>依存関係がある命令が連続できてもパイプラインを動かし続けられる</a:t>
            </a:r>
            <a:endParaRPr kumimoji="1" lang="en-US" altLang="ja-JP" dirty="0"/>
          </a:p>
          <a:p>
            <a:pPr lvl="1"/>
            <a:r>
              <a:rPr lang="ja-JP" altLang="en-US" dirty="0"/>
              <a:t>バブルを発生させることがない</a:t>
            </a:r>
            <a:endParaRPr kumimoji="1" lang="ja-JP" altLang="en-US" dirty="0"/>
          </a:p>
        </p:txBody>
      </p:sp>
    </p:spTree>
    <p:extLst>
      <p:ext uri="{BB962C8B-B14F-4D97-AF65-F5344CB8AC3E}">
        <p14:creationId xmlns:p14="http://schemas.microsoft.com/office/powerpoint/2010/main" val="21686912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ロードについては，完全に解決はできない</a:t>
            </a:r>
          </a:p>
        </p:txBody>
      </p:sp>
      <p:sp>
        <p:nvSpPr>
          <p:cNvPr id="3" name="テキスト プレースホルダー 2"/>
          <p:cNvSpPr>
            <a:spLocks noGrp="1"/>
          </p:cNvSpPr>
          <p:nvPr>
            <p:ph type="body" sz="quarter" idx="10"/>
          </p:nvPr>
        </p:nvSpPr>
        <p:spPr>
          <a:xfrm>
            <a:off x="2135956" y="5139019"/>
            <a:ext cx="8280092" cy="629700"/>
          </a:xfrm>
        </p:spPr>
        <p:txBody>
          <a:bodyPr/>
          <a:lstStyle/>
          <a:p>
            <a:r>
              <a:rPr kumimoji="1" lang="ja-JP" altLang="en-US" dirty="0"/>
              <a:t>ロードではデータ・メモリを読むまでその値は取れない</a:t>
            </a:r>
            <a:endParaRPr kumimoji="1" lang="en-US" altLang="ja-JP" dirty="0"/>
          </a:p>
          <a:p>
            <a:pPr lvl="1"/>
            <a:r>
              <a:rPr kumimoji="1" lang="ja-JP" altLang="en-US" dirty="0"/>
              <a:t>次の命令は，</a:t>
            </a:r>
            <a:r>
              <a:rPr kumimoji="1" lang="en-US" altLang="ja-JP" dirty="0"/>
              <a:t>MEM </a:t>
            </a:r>
            <a:r>
              <a:rPr kumimoji="1" lang="ja-JP" altLang="en-US" dirty="0"/>
              <a:t>より後に </a:t>
            </a:r>
            <a:r>
              <a:rPr kumimoji="1" lang="en-US" altLang="ja-JP" dirty="0"/>
              <a:t>EX </a:t>
            </a:r>
            <a:r>
              <a:rPr kumimoji="1" lang="ja-JP" altLang="en-US" dirty="0"/>
              <a:t>がこないといけない</a:t>
            </a:r>
            <a:endParaRPr kumimoji="1" lang="en-US" altLang="ja-JP" dirty="0"/>
          </a:p>
          <a:p>
            <a:pPr lvl="2"/>
            <a:r>
              <a:rPr kumimoji="1" lang="en-US" altLang="ja-JP" dirty="0"/>
              <a:t>I1 </a:t>
            </a:r>
            <a:r>
              <a:rPr kumimoji="1" lang="ja-JP" altLang="en-US" dirty="0"/>
              <a:t>は，</a:t>
            </a:r>
            <a:r>
              <a:rPr kumimoji="1" lang="en-US" altLang="ja-JP" dirty="0"/>
              <a:t>I0 </a:t>
            </a:r>
            <a:r>
              <a:rPr kumimoji="1" lang="ja-JP" altLang="en-US" dirty="0"/>
              <a:t>のロード結果が見えない</a:t>
            </a:r>
            <a:endParaRPr kumimoji="1" lang="en-US" altLang="ja-JP" dirty="0"/>
          </a:p>
          <a:p>
            <a:pPr lvl="1"/>
            <a:r>
              <a:rPr kumimoji="1" lang="ja-JP" altLang="en-US" dirty="0"/>
              <a:t>この部分はストールや遅延スロットでなんとかすることがおおい</a:t>
            </a:r>
          </a:p>
        </p:txBody>
      </p:sp>
      <p:cxnSp>
        <p:nvCxnSpPr>
          <p:cNvPr id="4" name="直線コネクタ 3"/>
          <p:cNvCxnSpPr>
            <a:stCxn id="32" idx="3"/>
            <a:endCxn id="10" idx="1"/>
          </p:cNvCxnSpPr>
          <p:nvPr/>
        </p:nvCxnSpPr>
        <p:spPr bwMode="auto">
          <a:xfrm flipV="1">
            <a:off x="3935977" y="2438987"/>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a:stCxn id="33" idx="3"/>
            <a:endCxn id="15" idx="1"/>
          </p:cNvCxnSpPr>
          <p:nvPr/>
        </p:nvCxnSpPr>
        <p:spPr bwMode="auto">
          <a:xfrm flipV="1">
            <a:off x="3935976" y="2888992"/>
            <a:ext cx="1440016" cy="2"/>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a:stCxn id="35" idx="3"/>
            <a:endCxn id="21" idx="1"/>
          </p:cNvCxnSpPr>
          <p:nvPr/>
        </p:nvCxnSpPr>
        <p:spPr bwMode="auto">
          <a:xfrm flipV="1">
            <a:off x="3935977" y="3338997"/>
            <a:ext cx="1890021" cy="2"/>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stCxn id="37" idx="3"/>
            <a:endCxn id="26" idx="1"/>
          </p:cNvCxnSpPr>
          <p:nvPr/>
        </p:nvCxnSpPr>
        <p:spPr bwMode="auto">
          <a:xfrm flipV="1">
            <a:off x="3935976" y="3789002"/>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231398" y="171898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1742263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制御ハザード</a:t>
            </a:r>
          </a:p>
        </p:txBody>
      </p:sp>
      <p:sp>
        <p:nvSpPr>
          <p:cNvPr id="3" name="テキスト プレースホルダー 2"/>
          <p:cNvSpPr>
            <a:spLocks noGrp="1"/>
          </p:cNvSpPr>
          <p:nvPr>
            <p:ph type="body" sz="quarter" idx="10"/>
          </p:nvPr>
        </p:nvSpPr>
        <p:spPr/>
        <p:txBody>
          <a:bodyPr/>
          <a:lstStyle/>
          <a:p>
            <a:pPr marL="385200" indent="-457200">
              <a:buFont typeface="+mj-lt"/>
              <a:buAutoNum type="arabicPeriod"/>
            </a:pPr>
            <a:r>
              <a:rPr lang="ja-JP" altLang="en-US" dirty="0"/>
              <a:t>構造ハザード</a:t>
            </a:r>
            <a:endParaRPr lang="en-US" altLang="ja-JP" dirty="0"/>
          </a:p>
          <a:p>
            <a:pPr marL="385200" indent="-457200">
              <a:buFont typeface="+mj-lt"/>
              <a:buAutoNum type="arabicPeriod"/>
            </a:pPr>
            <a:r>
              <a:rPr lang="ja-JP" altLang="en-US" dirty="0"/>
              <a:t>非構造ハザード：バックエッジに由来</a:t>
            </a:r>
            <a:endParaRPr lang="en-US" altLang="ja-JP"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b="1" dirty="0"/>
              <a:t>制御ハザード</a:t>
            </a:r>
            <a:endParaRPr lang="en-US" altLang="ja-JP" b="1" dirty="0"/>
          </a:p>
        </p:txBody>
      </p:sp>
    </p:spTree>
    <p:extLst>
      <p:ext uri="{BB962C8B-B14F-4D97-AF65-F5344CB8AC3E}">
        <p14:creationId xmlns:p14="http://schemas.microsoft.com/office/powerpoint/2010/main" val="40922513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分岐命令の処理と制御ハザード</a:t>
            </a:r>
          </a:p>
        </p:txBody>
      </p:sp>
      <p:sp>
        <p:nvSpPr>
          <p:cNvPr id="58" name="コンテンツ プレースホルダー 57"/>
          <p:cNvSpPr>
            <a:spLocks noGrp="1"/>
          </p:cNvSpPr>
          <p:nvPr>
            <p:ph type="body" sz="quarter" idx="10"/>
          </p:nvPr>
        </p:nvSpPr>
        <p:spPr>
          <a:xfrm>
            <a:off x="1651205" y="4329011"/>
            <a:ext cx="9000100" cy="2250025"/>
          </a:xfrm>
          <a:prstGeom prst="rect">
            <a:avLst/>
          </a:prstGeom>
        </p:spPr>
        <p:txBody>
          <a:bodyPr/>
          <a:lstStyle/>
          <a:p>
            <a:r>
              <a:rPr lang="ja-JP" altLang="en-US" dirty="0"/>
              <a:t>「</a:t>
            </a:r>
            <a:r>
              <a:rPr lang="en-US" altLang="ja-JP" dirty="0">
                <a:solidFill>
                  <a:schemeClr val="accent5"/>
                </a:solidFill>
              </a:rPr>
              <a:t>if a &gt; 0</a:t>
            </a:r>
            <a:r>
              <a:rPr lang="ja-JP" altLang="en-US" dirty="0"/>
              <a:t>」の結果は</a:t>
            </a:r>
            <a:r>
              <a:rPr lang="ja-JP" altLang="en-US" dirty="0">
                <a:solidFill>
                  <a:schemeClr val="accent4"/>
                </a:solidFill>
              </a:rPr>
              <a:t>最終段の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の人まで反映出来ない</a:t>
            </a:r>
            <a:endParaRPr lang="en-US" altLang="ja-JP" sz="1800" dirty="0"/>
          </a:p>
          <a:p>
            <a:pPr lvl="1"/>
            <a:r>
              <a:rPr lang="ja-JP" altLang="en-US" dirty="0"/>
              <a:t>先頭は次に </a:t>
            </a:r>
            <a:r>
              <a:rPr lang="en-US" altLang="ja-JP" dirty="0">
                <a:solidFill>
                  <a:schemeClr val="accent5"/>
                </a:solidFill>
              </a:rPr>
              <a:t>a=a+1 </a:t>
            </a:r>
            <a:r>
              <a:rPr lang="ja-JP" altLang="en-US" dirty="0"/>
              <a:t>と </a:t>
            </a:r>
            <a:r>
              <a:rPr lang="en-US" altLang="ja-JP" dirty="0">
                <a:solidFill>
                  <a:schemeClr val="accent5"/>
                </a:solidFill>
              </a:rPr>
              <a:t>a=a-1</a:t>
            </a:r>
            <a:r>
              <a:rPr lang="en-US" altLang="ja-JP" dirty="0"/>
              <a:t> </a:t>
            </a:r>
            <a:r>
              <a:rPr lang="ja-JP" altLang="en-US" dirty="0"/>
              <a:t>のどちらを取り込めばいいのかわからない</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命令メモリ</a:t>
            </a:r>
          </a:p>
        </p:txBody>
      </p:sp>
      <p:sp>
        <p:nvSpPr>
          <p:cNvPr id="24" name="角丸四角形吹き出し 23"/>
          <p:cNvSpPr/>
          <p:nvPr/>
        </p:nvSpPr>
        <p:spPr bwMode="auto">
          <a:xfrm>
            <a:off x="3665973" y="1718981"/>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次どう</a:t>
            </a:r>
            <a:r>
              <a:rPr lang="ja-JP" altLang="en-US" sz="1400" dirty="0" err="1">
                <a:solidFill>
                  <a:schemeClr val="tx1">
                    <a:lumMod val="65000"/>
                    <a:lumOff val="35000"/>
                  </a:schemeClr>
                </a:solidFill>
                <a:latin typeface="Arial Narrow" panose="020B0606020202030204" pitchFamily="34" charset="0"/>
              </a:rPr>
              <a:t>すんねん</a:t>
            </a:r>
            <a:endParaRPr lang="ja-JP" altLang="en-US" sz="1400"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86955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制御ハザードの解消方法</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sz="1800" dirty="0"/>
              <a:t>解消方法</a:t>
            </a:r>
            <a:endParaRPr lang="en-US" altLang="ja-JP" sz="1800" dirty="0"/>
          </a:p>
          <a:p>
            <a:pPr marL="817200" lvl="1" indent="-457200">
              <a:buFont typeface="+mj-lt"/>
              <a:buAutoNum type="arabicPeriod"/>
            </a:pPr>
            <a:r>
              <a:rPr lang="ja-JP" altLang="en-US" sz="1800" dirty="0"/>
              <a:t>ストールさせる</a:t>
            </a:r>
            <a:endParaRPr lang="en-US" altLang="ja-JP" sz="1800" dirty="0"/>
          </a:p>
          <a:p>
            <a:pPr marL="817200" lvl="1" indent="-457200">
              <a:buFont typeface="+mj-lt"/>
              <a:buAutoNum type="arabicPeriod"/>
            </a:pPr>
            <a:r>
              <a:rPr lang="ja-JP" altLang="en-US" sz="1800" dirty="0"/>
              <a:t>遅延スロット（なにもしない）</a:t>
            </a:r>
            <a:endParaRPr lang="en-US" altLang="ja-JP" sz="1800" dirty="0"/>
          </a:p>
          <a:p>
            <a:pPr marL="817200" lvl="1" indent="-457200">
              <a:buFont typeface="+mj-lt"/>
              <a:buAutoNum type="arabicPeriod"/>
            </a:pPr>
            <a:endParaRPr lang="en-US" altLang="ja-JP" sz="1800" dirty="0"/>
          </a:p>
          <a:p>
            <a:pPr lvl="1"/>
            <a:r>
              <a:rPr lang="ja-JP" altLang="en-US" sz="1800" dirty="0"/>
              <a:t>上記は基本的にデータ・ハザードと同様にして適用できる</a:t>
            </a:r>
            <a:endParaRPr lang="en-US" altLang="ja-JP" sz="1800" dirty="0"/>
          </a:p>
          <a:p>
            <a:pPr lvl="2"/>
            <a:r>
              <a:rPr lang="ja-JP" altLang="en-US" sz="1800" dirty="0"/>
              <a:t>ただしフォワーディングは，制御ハザードでは意味的に無理</a:t>
            </a:r>
            <a:br>
              <a:rPr lang="en-US" altLang="ja-JP" sz="1800" dirty="0"/>
            </a:br>
            <a:endParaRPr lang="en-US" altLang="ja-JP" sz="1800" dirty="0"/>
          </a:p>
          <a:p>
            <a:pPr marL="817200" lvl="1" indent="-457200">
              <a:buFont typeface="+mj-lt"/>
              <a:buAutoNum type="arabicPeriod" startAt="3"/>
            </a:pPr>
            <a:r>
              <a:rPr lang="ja-JP" altLang="en-US" sz="1800" b="1" dirty="0"/>
              <a:t>分岐予測による投機実行</a:t>
            </a:r>
            <a:endParaRPr lang="ja-JP" altLang="en-US" sz="1800" dirty="0"/>
          </a:p>
        </p:txBody>
      </p:sp>
    </p:spTree>
    <p:extLst>
      <p:ext uri="{BB962C8B-B14F-4D97-AF65-F5344CB8AC3E}">
        <p14:creationId xmlns:p14="http://schemas.microsoft.com/office/powerpoint/2010/main" val="29972403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a:t>
            </a:r>
            <a:endParaRPr kumimoji="1" lang="ja-JP" altLang="en-US" dirty="0"/>
          </a:p>
        </p:txBody>
      </p:sp>
      <p:sp>
        <p:nvSpPr>
          <p:cNvPr id="58" name="コンテンツ プレースホルダー 57"/>
          <p:cNvSpPr>
            <a:spLocks noGrp="1"/>
          </p:cNvSpPr>
          <p:nvPr>
            <p:ph type="body" sz="quarter" idx="10"/>
          </p:nvPr>
        </p:nvSpPr>
        <p:spPr>
          <a:xfrm>
            <a:off x="1775953" y="4689015"/>
            <a:ext cx="8550095" cy="1369161"/>
          </a:xfrm>
          <a:prstGeom prst="rect">
            <a:avLst/>
          </a:prstGeom>
        </p:spPr>
        <p:txBody>
          <a:bodyPr/>
          <a:lstStyle/>
          <a:p>
            <a:r>
              <a:rPr lang="ja-JP" altLang="en-US" dirty="0"/>
              <a:t>動作</a:t>
            </a:r>
            <a:endParaRPr lang="en-US" altLang="ja-JP" dirty="0"/>
          </a:p>
          <a:p>
            <a:pPr lvl="1"/>
            <a:r>
              <a:rPr lang="ja-JP" altLang="en-US" dirty="0"/>
              <a:t>「</a:t>
            </a:r>
            <a:r>
              <a:rPr lang="en-US" altLang="ja-JP" dirty="0">
                <a:solidFill>
                  <a:schemeClr val="accent5"/>
                </a:solidFill>
              </a:rPr>
              <a:t>if a &gt; 0</a:t>
            </a:r>
            <a:r>
              <a:rPr lang="ja-JP" altLang="en-US" dirty="0"/>
              <a:t>」の結果を予測して，命令を取り込む</a:t>
            </a:r>
            <a:endParaRPr lang="en-US" altLang="ja-JP" dirty="0"/>
          </a:p>
          <a:p>
            <a:pPr lvl="2"/>
            <a:r>
              <a:rPr lang="ja-JP" altLang="en-US" dirty="0"/>
              <a:t>前回はこっちに行ったので，次もこっちに違いないとかで予測</a:t>
            </a:r>
            <a:endParaRPr lang="en-US" altLang="ja-JP" dirty="0"/>
          </a:p>
          <a:p>
            <a:pPr lvl="1"/>
            <a:r>
              <a:rPr lang="ja-JP" altLang="en-US" dirty="0"/>
              <a:t>あとから予測が正しいか確認する</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 name="角丸四角形吹き出し 3"/>
          <p:cNvSpPr/>
          <p:nvPr/>
        </p:nvSpPr>
        <p:spPr bwMode="auto">
          <a:xfrm>
            <a:off x="3575972" y="1268976"/>
            <a:ext cx="2520028" cy="612648"/>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err="1">
                <a:solidFill>
                  <a:schemeClr val="tx1">
                    <a:lumMod val="65000"/>
                    <a:lumOff val="35000"/>
                  </a:schemeClr>
                </a:solidFill>
                <a:latin typeface="Arial Narrow" panose="020B0606020202030204" pitchFamily="34" charset="0"/>
              </a:rPr>
              <a:t>わいの</a:t>
            </a:r>
            <a:r>
              <a:rPr lang="ja-JP" altLang="en-US" dirty="0">
                <a:solidFill>
                  <a:schemeClr val="tx1">
                    <a:lumMod val="65000"/>
                    <a:lumOff val="35000"/>
                  </a:schemeClr>
                </a:solidFill>
                <a:latin typeface="Arial Narrow" panose="020B0606020202030204" pitchFamily="34" charset="0"/>
              </a:rPr>
              <a:t>予想では </a:t>
            </a:r>
            <a:r>
              <a:rPr lang="en-US" altLang="ja-JP" dirty="0">
                <a:solidFill>
                  <a:schemeClr val="tx1">
                    <a:lumMod val="65000"/>
                    <a:lumOff val="35000"/>
                  </a:schemeClr>
                </a:solidFill>
                <a:latin typeface="Arial Narrow" panose="020B0606020202030204" pitchFamily="34" charset="0"/>
              </a:rPr>
              <a:t>else </a:t>
            </a:r>
            <a:r>
              <a:rPr lang="ja-JP" altLang="en-US" dirty="0">
                <a:solidFill>
                  <a:schemeClr val="tx1">
                    <a:lumMod val="65000"/>
                    <a:lumOff val="35000"/>
                  </a:schemeClr>
                </a:solidFill>
                <a:latin typeface="Arial Narrow" panose="020B0606020202030204" pitchFamily="34" charset="0"/>
              </a:rPr>
              <a:t>や</a:t>
            </a:r>
            <a:endParaRPr lang="en-US" altLang="ja-JP" dirty="0">
              <a:solidFill>
                <a:schemeClr val="tx1">
                  <a:lumMod val="65000"/>
                  <a:lumOff val="35000"/>
                </a:schemeClr>
              </a:solidFill>
              <a:latin typeface="Arial Narrow" panose="020B0606020202030204" pitchFamily="34" charset="0"/>
            </a:endParaRPr>
          </a:p>
        </p:txBody>
      </p:sp>
      <p:sp>
        <p:nvSpPr>
          <p:cNvPr id="27" name="角丸四角形吹き出し 26"/>
          <p:cNvSpPr/>
          <p:nvPr/>
        </p:nvSpPr>
        <p:spPr bwMode="auto">
          <a:xfrm>
            <a:off x="8076022" y="1268976"/>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ほんまかいな</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後でたしかめるで</a:t>
            </a:r>
          </a:p>
        </p:txBody>
      </p:sp>
      <p:sp>
        <p:nvSpPr>
          <p:cNvPr id="28" name="正方形/長方形 27"/>
          <p:cNvSpPr/>
          <p:nvPr/>
        </p:nvSpPr>
        <p:spPr bwMode="auto">
          <a:xfrm>
            <a:off x="6636007"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ｳｿｸｻｰ</a:t>
            </a:r>
          </a:p>
        </p:txBody>
      </p:sp>
      <p:sp>
        <p:nvSpPr>
          <p:cNvPr id="29" name="正方形/長方形 28"/>
          <p:cNvSpPr/>
          <p:nvPr/>
        </p:nvSpPr>
        <p:spPr bwMode="auto">
          <a:xfrm>
            <a:off x="5285992"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ﾎﾝﾄｶﾅｰ</a:t>
            </a:r>
          </a:p>
        </p:txBody>
      </p:sp>
      <p:sp>
        <p:nvSpPr>
          <p:cNvPr id="5" name="正方形/長方形 4">
            <a:extLst>
              <a:ext uri="{FF2B5EF4-FFF2-40B4-BE49-F238E27FC236}">
                <a16:creationId xmlns:a16="http://schemas.microsoft.com/office/drawing/2014/main" id="{98688416-EB24-28D9-B4EE-E708B686A8ED}"/>
              </a:ext>
            </a:extLst>
          </p:cNvPr>
          <p:cNvSpPr/>
          <p:nvPr/>
        </p:nvSpPr>
        <p:spPr bwMode="auto">
          <a:xfrm>
            <a:off x="3755975"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solidFill>
              </a:rPr>
              <a:t>ﾏﾁｶﾞｲﾅｲ</a:t>
            </a:r>
          </a:p>
        </p:txBody>
      </p:sp>
    </p:spTree>
    <p:extLst>
      <p:ext uri="{BB962C8B-B14F-4D97-AF65-F5344CB8AC3E}">
        <p14:creationId xmlns:p14="http://schemas.microsoft.com/office/powerpoint/2010/main" val="25273853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予測ペナルティ</a:t>
            </a:r>
            <a:endParaRPr kumimoji="1" lang="ja-JP" altLang="en-US" dirty="0"/>
          </a:p>
        </p:txBody>
      </p:sp>
      <p:sp>
        <p:nvSpPr>
          <p:cNvPr id="58" name="コンテンツ プレースホルダー 57"/>
          <p:cNvSpPr>
            <a:spLocks noGrp="1"/>
          </p:cNvSpPr>
          <p:nvPr>
            <p:ph type="body" sz="quarter" idx="10"/>
          </p:nvPr>
        </p:nvSpPr>
        <p:spPr>
          <a:xfrm>
            <a:off x="2225958" y="4869017"/>
            <a:ext cx="8190091" cy="1369161"/>
          </a:xfrm>
          <a:prstGeom prst="rect">
            <a:avLst/>
          </a:prstGeom>
        </p:spPr>
        <p:txBody>
          <a:bodyPr/>
          <a:lstStyle/>
          <a:p>
            <a:r>
              <a:rPr lang="ja-JP" altLang="en-US" dirty="0"/>
              <a:t>予測が間違っていた場合，以降の処理を</a:t>
            </a:r>
            <a:br>
              <a:rPr lang="en-US" altLang="ja-JP" dirty="0"/>
            </a:br>
            <a:r>
              <a:rPr lang="ja-JP" altLang="en-US" dirty="0"/>
              <a:t>取り消してやり直す</a:t>
            </a:r>
            <a:endParaRPr lang="en-US" altLang="ja-JP" dirty="0"/>
          </a:p>
          <a:p>
            <a:r>
              <a:rPr lang="ja-JP" altLang="en-US" dirty="0"/>
              <a:t>この図では，無駄になるのは</a:t>
            </a:r>
            <a:r>
              <a:rPr lang="en-US" altLang="ja-JP" dirty="0"/>
              <a:t>3</a:t>
            </a:r>
            <a:r>
              <a:rPr lang="ja-JP" altLang="en-US" dirty="0"/>
              <a:t>命令分</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7896020"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6456004"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 name="角丸四角形吹き出し 3"/>
          <p:cNvSpPr/>
          <p:nvPr/>
        </p:nvSpPr>
        <p:spPr bwMode="auto">
          <a:xfrm>
            <a:off x="3395970" y="1358977"/>
            <a:ext cx="2880032" cy="612648"/>
          </a:xfrm>
          <a:prstGeom prst="wedgeRoundRectCallout">
            <a:avLst>
              <a:gd name="adj1" fmla="val -38140"/>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75000"/>
                    <a:lumOff val="25000"/>
                  </a:schemeClr>
                </a:solidFill>
                <a:latin typeface="Arial Narrow" panose="020B0606020202030204" pitchFamily="34" charset="0"/>
              </a:rPr>
              <a:t>a=a+1 </a:t>
            </a:r>
            <a:r>
              <a:rPr lang="ja-JP" altLang="en-US" dirty="0">
                <a:solidFill>
                  <a:schemeClr val="tx1">
                    <a:lumMod val="65000"/>
                    <a:lumOff val="35000"/>
                  </a:schemeClr>
                </a:solidFill>
                <a:latin typeface="Arial Narrow" panose="020B0606020202030204" pitchFamily="34" charset="0"/>
              </a:rPr>
              <a:t>からやりなおしや！</a:t>
            </a:r>
          </a:p>
        </p:txBody>
      </p:sp>
      <p:sp>
        <p:nvSpPr>
          <p:cNvPr id="27" name="角丸四角形吹き出し 26"/>
          <p:cNvSpPr/>
          <p:nvPr/>
        </p:nvSpPr>
        <p:spPr bwMode="auto">
          <a:xfrm>
            <a:off x="8076022" y="1358977"/>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Arial Narrow" panose="020B0606020202030204" pitchFamily="34" charset="0"/>
              </a:rPr>
              <a:t>間違っとるが</a:t>
            </a:r>
            <a:r>
              <a:rPr lang="ja-JP" altLang="en-US" dirty="0" err="1">
                <a:solidFill>
                  <a:schemeClr val="tx1">
                    <a:lumMod val="65000"/>
                    <a:lumOff val="35000"/>
                  </a:schemeClr>
                </a:solidFill>
                <a:latin typeface="Arial Narrow" panose="020B0606020202030204" pitchFamily="34" charset="0"/>
              </a:rPr>
              <a:t>な</a:t>
            </a:r>
            <a:endParaRPr lang="ja-JP" altLang="en-US" dirty="0">
              <a:solidFill>
                <a:schemeClr val="tx1">
                  <a:lumMod val="65000"/>
                  <a:lumOff val="35000"/>
                </a:schemeClr>
              </a:solidFill>
              <a:latin typeface="Arial Narrow" panose="020B0606020202030204" pitchFamily="34" charset="0"/>
            </a:endParaRPr>
          </a:p>
        </p:txBody>
      </p:sp>
      <p:sp>
        <p:nvSpPr>
          <p:cNvPr id="28" name="角丸四角形 27"/>
          <p:cNvSpPr/>
          <p:nvPr/>
        </p:nvSpPr>
        <p:spPr bwMode="auto">
          <a:xfrm>
            <a:off x="5015988"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29" name="角丸四角形 28"/>
          <p:cNvSpPr/>
          <p:nvPr/>
        </p:nvSpPr>
        <p:spPr bwMode="auto">
          <a:xfrm>
            <a:off x="3575972"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30" name="正方形/長方形 29"/>
          <p:cNvSpPr/>
          <p:nvPr/>
        </p:nvSpPr>
        <p:spPr bwMode="auto">
          <a:xfrm>
            <a:off x="6636007"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ﾓｳﾔﾀﾞ</a:t>
            </a:r>
          </a:p>
        </p:txBody>
      </p:sp>
      <p:sp>
        <p:nvSpPr>
          <p:cNvPr id="31" name="正方形/長方形 30"/>
          <p:cNvSpPr/>
          <p:nvPr/>
        </p:nvSpPr>
        <p:spPr bwMode="auto">
          <a:xfrm>
            <a:off x="5285992"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ﾏｼﾞﾃﾞ</a:t>
            </a:r>
          </a:p>
        </p:txBody>
      </p:sp>
    </p:spTree>
    <p:extLst>
      <p:ext uri="{BB962C8B-B14F-4D97-AF65-F5344CB8AC3E}">
        <p14:creationId xmlns:p14="http://schemas.microsoft.com/office/powerpoint/2010/main" val="81201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xit" presetSubtype="0" fill="hold" grpId="0" nodeType="clickEffect">
                                  <p:stCondLst>
                                    <p:cond delay="0"/>
                                  </p:stCondLst>
                                  <p:childTnLst>
                                    <p:animEffect transition="out" filter="fade">
                                      <p:cBhvr>
                                        <p:cTn id="6" dur="1000"/>
                                        <p:tgtEl>
                                          <p:spTgt spid="24"/>
                                        </p:tgtEl>
                                      </p:cBhvr>
                                    </p:animEffect>
                                    <p:anim calcmode="lin" valueType="num">
                                      <p:cBhvr>
                                        <p:cTn id="7" dur="1000"/>
                                        <p:tgtEl>
                                          <p:spTgt spid="24"/>
                                        </p:tgtEl>
                                        <p:attrNameLst>
                                          <p:attrName>ppt_x</p:attrName>
                                        </p:attrNameLst>
                                      </p:cBhvr>
                                      <p:tavLst>
                                        <p:tav tm="0">
                                          <p:val>
                                            <p:strVal val="ppt_x"/>
                                          </p:val>
                                        </p:tav>
                                        <p:tav tm="100000">
                                          <p:val>
                                            <p:strVal val="ppt_x"/>
                                          </p:val>
                                        </p:tav>
                                      </p:tavLst>
                                    </p:anim>
                                    <p:anim calcmode="lin" valueType="num">
                                      <p:cBhvr>
                                        <p:cTn id="8" dur="1000"/>
                                        <p:tgtEl>
                                          <p:spTgt spid="24"/>
                                        </p:tgtEl>
                                        <p:attrNameLst>
                                          <p:attrName>ppt_y</p:attrName>
                                        </p:attrNameLst>
                                      </p:cBhvr>
                                      <p:tavLst>
                                        <p:tav tm="0">
                                          <p:val>
                                            <p:strVal val="ppt_y"/>
                                          </p:val>
                                        </p:tav>
                                        <p:tav tm="100000">
                                          <p:val>
                                            <p:strVal val="ppt_y+.1"/>
                                          </p:val>
                                        </p:tav>
                                      </p:tavLst>
                                    </p:anim>
                                    <p:set>
                                      <p:cBhvr>
                                        <p:cTn id="9" dur="1" fill="hold">
                                          <p:stCondLst>
                                            <p:cond delay="999"/>
                                          </p:stCondLst>
                                        </p:cTn>
                                        <p:tgtEl>
                                          <p:spTgt spid="24"/>
                                        </p:tgtEl>
                                        <p:attrNameLst>
                                          <p:attrName>style.visibility</p:attrName>
                                        </p:attrNameLst>
                                      </p:cBhvr>
                                      <p:to>
                                        <p:strVal val="hidden"/>
                                      </p:to>
                                    </p:set>
                                  </p:childTnLst>
                                </p:cTn>
                              </p:par>
                              <p:par>
                                <p:cTn id="10" presetID="42" presetClass="exit" presetSubtype="0" fill="hold" grpId="0" nodeType="withEffect">
                                  <p:stCondLst>
                                    <p:cond delay="0"/>
                                  </p:stCondLst>
                                  <p:childTnLst>
                                    <p:animEffect transition="out" filter="fade">
                                      <p:cBhvr>
                                        <p:cTn id="11" dur="1000"/>
                                        <p:tgtEl>
                                          <p:spTgt spid="28"/>
                                        </p:tgtEl>
                                      </p:cBhvr>
                                    </p:animEffect>
                                    <p:anim calcmode="lin" valueType="num">
                                      <p:cBhvr>
                                        <p:cTn id="12" dur="1000"/>
                                        <p:tgtEl>
                                          <p:spTgt spid="28"/>
                                        </p:tgtEl>
                                        <p:attrNameLst>
                                          <p:attrName>ppt_x</p:attrName>
                                        </p:attrNameLst>
                                      </p:cBhvr>
                                      <p:tavLst>
                                        <p:tav tm="0">
                                          <p:val>
                                            <p:strVal val="ppt_x"/>
                                          </p:val>
                                        </p:tav>
                                        <p:tav tm="100000">
                                          <p:val>
                                            <p:strVal val="ppt_x"/>
                                          </p:val>
                                        </p:tav>
                                      </p:tavLst>
                                    </p:anim>
                                    <p:anim calcmode="lin" valueType="num">
                                      <p:cBhvr>
                                        <p:cTn id="13" dur="1000"/>
                                        <p:tgtEl>
                                          <p:spTgt spid="28"/>
                                        </p:tgtEl>
                                        <p:attrNameLst>
                                          <p:attrName>ppt_y</p:attrName>
                                        </p:attrNameLst>
                                      </p:cBhvr>
                                      <p:tavLst>
                                        <p:tav tm="0">
                                          <p:val>
                                            <p:strVal val="ppt_y"/>
                                          </p:val>
                                        </p:tav>
                                        <p:tav tm="100000">
                                          <p:val>
                                            <p:strVal val="ppt_y+.1"/>
                                          </p:val>
                                        </p:tav>
                                      </p:tavLst>
                                    </p:anim>
                                    <p:set>
                                      <p:cBhvr>
                                        <p:cTn id="14" dur="1" fill="hold">
                                          <p:stCondLst>
                                            <p:cond delay="999"/>
                                          </p:stCondLst>
                                        </p:cTn>
                                        <p:tgtEl>
                                          <p:spTgt spid="28"/>
                                        </p:tgtEl>
                                        <p:attrNameLst>
                                          <p:attrName>style.visibility</p:attrName>
                                        </p:attrNameLst>
                                      </p:cBhvr>
                                      <p:to>
                                        <p:strVal val="hidden"/>
                                      </p:to>
                                    </p:set>
                                  </p:childTnLst>
                                </p:cTn>
                              </p:par>
                              <p:par>
                                <p:cTn id="15" presetID="42" presetClass="exit" presetSubtype="0" fill="hold" grpId="0" nodeType="withEffect">
                                  <p:stCondLst>
                                    <p:cond delay="0"/>
                                  </p:stCondLst>
                                  <p:childTnLst>
                                    <p:animEffect transition="out" filter="fade">
                                      <p:cBhvr>
                                        <p:cTn id="16" dur="1000"/>
                                        <p:tgtEl>
                                          <p:spTgt spid="29"/>
                                        </p:tgtEl>
                                      </p:cBhvr>
                                    </p:animEffect>
                                    <p:anim calcmode="lin" valueType="num">
                                      <p:cBhvr>
                                        <p:cTn id="17" dur="1000"/>
                                        <p:tgtEl>
                                          <p:spTgt spid="29"/>
                                        </p:tgtEl>
                                        <p:attrNameLst>
                                          <p:attrName>ppt_x</p:attrName>
                                        </p:attrNameLst>
                                      </p:cBhvr>
                                      <p:tavLst>
                                        <p:tav tm="0">
                                          <p:val>
                                            <p:strVal val="ppt_x"/>
                                          </p:val>
                                        </p:tav>
                                        <p:tav tm="100000">
                                          <p:val>
                                            <p:strVal val="ppt_x"/>
                                          </p:val>
                                        </p:tav>
                                      </p:tavLst>
                                    </p:anim>
                                    <p:anim calcmode="lin" valueType="num">
                                      <p:cBhvr>
                                        <p:cTn id="18" dur="1000"/>
                                        <p:tgtEl>
                                          <p:spTgt spid="29"/>
                                        </p:tgtEl>
                                        <p:attrNameLst>
                                          <p:attrName>ppt_y</p:attrName>
                                        </p:attrNameLst>
                                      </p:cBhvr>
                                      <p:tavLst>
                                        <p:tav tm="0">
                                          <p:val>
                                            <p:strVal val="ppt_y"/>
                                          </p:val>
                                        </p:tav>
                                        <p:tav tm="100000">
                                          <p:val>
                                            <p:strVal val="ppt_y+.1"/>
                                          </p:val>
                                        </p:tav>
                                      </p:tavLst>
                                    </p:anim>
                                    <p:set>
                                      <p:cBhvr>
                                        <p:cTn id="19" dur="1" fill="hold">
                                          <p:stCondLst>
                                            <p:cond delay="999"/>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8" grpId="0" animBg="1"/>
      <p:bldP spid="29"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大規模な高性能プロセッサの場合</a:t>
            </a:r>
          </a:p>
        </p:txBody>
      </p:sp>
      <p:sp>
        <p:nvSpPr>
          <p:cNvPr id="3" name="テキスト プレースホルダー 2"/>
          <p:cNvSpPr>
            <a:spLocks noGrp="1"/>
          </p:cNvSpPr>
          <p:nvPr>
            <p:ph type="body" sz="quarter" idx="10"/>
          </p:nvPr>
        </p:nvSpPr>
        <p:spPr>
          <a:xfrm>
            <a:off x="2315959" y="5949336"/>
            <a:ext cx="8010089" cy="719701"/>
          </a:xfrm>
        </p:spPr>
        <p:txBody>
          <a:bodyPr/>
          <a:lstStyle/>
          <a:p>
            <a:r>
              <a:rPr kumimoji="1" lang="ja-JP" altLang="en-US" dirty="0"/>
              <a:t>取り消しは最悪</a:t>
            </a:r>
            <a:r>
              <a:rPr lang="ja-JP" altLang="en-US" dirty="0"/>
              <a:t>数十命令以上に</a:t>
            </a:r>
            <a:endParaRPr lang="en-US" altLang="ja-JP" dirty="0"/>
          </a:p>
          <a:p>
            <a:pPr lvl="1"/>
            <a:r>
              <a:rPr kumimoji="1" lang="en-US" altLang="ja-JP" dirty="0"/>
              <a:t>Apple </a:t>
            </a:r>
            <a:r>
              <a:rPr kumimoji="1" lang="ja-JP" altLang="en-US" dirty="0"/>
              <a:t>の </a:t>
            </a:r>
            <a:r>
              <a:rPr kumimoji="1" lang="en-US" altLang="ja-JP" dirty="0"/>
              <a:t>M4P </a:t>
            </a:r>
            <a:r>
              <a:rPr kumimoji="1" lang="ja-JP" altLang="en-US" dirty="0"/>
              <a:t>という </a:t>
            </a:r>
            <a:r>
              <a:rPr kumimoji="1" lang="en-US" altLang="ja-JP" dirty="0"/>
              <a:t>CPU </a:t>
            </a:r>
            <a:r>
              <a:rPr kumimoji="1" lang="ja-JP" altLang="en-US" dirty="0"/>
              <a:t>だと </a:t>
            </a:r>
            <a:r>
              <a:rPr kumimoji="1" lang="en-US" altLang="ja-JP" dirty="0"/>
              <a:t>10</a:t>
            </a:r>
            <a:r>
              <a:rPr kumimoji="1" lang="ja-JP" altLang="en-US" dirty="0"/>
              <a:t>命令同時 </a:t>
            </a:r>
            <a:r>
              <a:rPr kumimoji="1" lang="en-US" altLang="ja-JP" dirty="0"/>
              <a:t>× 10</a:t>
            </a:r>
            <a:r>
              <a:rPr kumimoji="1" lang="ja-JP" altLang="en-US" dirty="0"/>
              <a:t>数段 </a:t>
            </a:r>
            <a:endParaRPr lang="ja-JP" altLang="en-US" dirty="0"/>
          </a:p>
        </p:txBody>
      </p:sp>
      <p:grpSp>
        <p:nvGrpSpPr>
          <p:cNvPr id="4" name="グループ化 3"/>
          <p:cNvGrpSpPr/>
          <p:nvPr/>
        </p:nvGrpSpPr>
        <p:grpSpPr>
          <a:xfrm>
            <a:off x="3125968" y="1574446"/>
            <a:ext cx="630007" cy="360000"/>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2" name="グループ化 291"/>
          <p:cNvGrpSpPr/>
          <p:nvPr/>
        </p:nvGrpSpPr>
        <p:grpSpPr>
          <a:xfrm>
            <a:off x="3665974" y="1574446"/>
            <a:ext cx="630007" cy="360000"/>
            <a:chOff x="971600" y="5445224"/>
            <a:chExt cx="7200800" cy="576064"/>
          </a:xfrm>
        </p:grpSpPr>
        <p:sp>
          <p:nvSpPr>
            <p:cNvPr id="293" name="平行四辺形 29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4" name="平行四辺形 29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5" name="グループ化 294"/>
          <p:cNvGrpSpPr/>
          <p:nvPr/>
        </p:nvGrpSpPr>
        <p:grpSpPr>
          <a:xfrm>
            <a:off x="4205980" y="1574446"/>
            <a:ext cx="630007" cy="360000"/>
            <a:chOff x="971600" y="5445224"/>
            <a:chExt cx="7200800" cy="576064"/>
          </a:xfrm>
        </p:grpSpPr>
        <p:sp>
          <p:nvSpPr>
            <p:cNvPr id="296" name="平行四辺形 2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7" name="平行四辺形 29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8" name="グループ化 297"/>
          <p:cNvGrpSpPr/>
          <p:nvPr/>
        </p:nvGrpSpPr>
        <p:grpSpPr>
          <a:xfrm>
            <a:off x="4745986" y="1574446"/>
            <a:ext cx="630007" cy="360000"/>
            <a:chOff x="971600" y="5445224"/>
            <a:chExt cx="7200800" cy="576064"/>
          </a:xfrm>
        </p:grpSpPr>
        <p:sp>
          <p:nvSpPr>
            <p:cNvPr id="299" name="平行四辺形 29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0" name="平行四辺形 29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1" name="グループ化 300"/>
          <p:cNvGrpSpPr/>
          <p:nvPr/>
        </p:nvGrpSpPr>
        <p:grpSpPr>
          <a:xfrm>
            <a:off x="5285992" y="1574446"/>
            <a:ext cx="630007" cy="360000"/>
            <a:chOff x="971600" y="5445224"/>
            <a:chExt cx="7200800" cy="576064"/>
          </a:xfrm>
        </p:grpSpPr>
        <p:sp>
          <p:nvSpPr>
            <p:cNvPr id="302" name="平行四辺形 30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3" name="平行四辺形 30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4" name="グループ化 303"/>
          <p:cNvGrpSpPr/>
          <p:nvPr/>
        </p:nvGrpSpPr>
        <p:grpSpPr>
          <a:xfrm>
            <a:off x="5825998" y="1574446"/>
            <a:ext cx="630007" cy="360000"/>
            <a:chOff x="971600" y="5445224"/>
            <a:chExt cx="7200800" cy="576064"/>
          </a:xfrm>
        </p:grpSpPr>
        <p:sp>
          <p:nvSpPr>
            <p:cNvPr id="305" name="平行四辺形 30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6" name="平行四辺形 30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7" name="グループ化 306"/>
          <p:cNvGrpSpPr/>
          <p:nvPr/>
        </p:nvGrpSpPr>
        <p:grpSpPr>
          <a:xfrm>
            <a:off x="6366004" y="1574446"/>
            <a:ext cx="630007" cy="360000"/>
            <a:chOff x="971600" y="5445224"/>
            <a:chExt cx="7200800" cy="576064"/>
          </a:xfrm>
        </p:grpSpPr>
        <p:sp>
          <p:nvSpPr>
            <p:cNvPr id="308" name="平行四辺形 30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9" name="平行四辺形 30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0" name="グループ化 309"/>
          <p:cNvGrpSpPr/>
          <p:nvPr/>
        </p:nvGrpSpPr>
        <p:grpSpPr>
          <a:xfrm>
            <a:off x="6906010" y="1574446"/>
            <a:ext cx="630007" cy="360000"/>
            <a:chOff x="971600" y="5445224"/>
            <a:chExt cx="7200800" cy="576064"/>
          </a:xfrm>
        </p:grpSpPr>
        <p:sp>
          <p:nvSpPr>
            <p:cNvPr id="311" name="平行四辺形 31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2" name="平行四辺形 31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3" name="グループ化 312"/>
          <p:cNvGrpSpPr/>
          <p:nvPr/>
        </p:nvGrpSpPr>
        <p:grpSpPr>
          <a:xfrm>
            <a:off x="7446016" y="1574446"/>
            <a:ext cx="630007" cy="360000"/>
            <a:chOff x="971600" y="5445224"/>
            <a:chExt cx="7200800" cy="576064"/>
          </a:xfrm>
        </p:grpSpPr>
        <p:sp>
          <p:nvSpPr>
            <p:cNvPr id="314" name="平行四辺形 31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5" name="平行四辺形 31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6" name="グループ化 315"/>
          <p:cNvGrpSpPr/>
          <p:nvPr/>
        </p:nvGrpSpPr>
        <p:grpSpPr>
          <a:xfrm>
            <a:off x="7986022" y="1574446"/>
            <a:ext cx="630007" cy="360000"/>
            <a:chOff x="971600" y="5445224"/>
            <a:chExt cx="7200800" cy="576064"/>
          </a:xfrm>
        </p:grpSpPr>
        <p:sp>
          <p:nvSpPr>
            <p:cNvPr id="317" name="平行四辺形 31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8" name="平行四辺形 31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9" name="グループ化 318"/>
          <p:cNvGrpSpPr/>
          <p:nvPr/>
        </p:nvGrpSpPr>
        <p:grpSpPr>
          <a:xfrm>
            <a:off x="8526028" y="1574446"/>
            <a:ext cx="630007" cy="360000"/>
            <a:chOff x="971600" y="5445224"/>
            <a:chExt cx="7200800" cy="576064"/>
          </a:xfrm>
        </p:grpSpPr>
        <p:sp>
          <p:nvSpPr>
            <p:cNvPr id="320" name="平行四辺形 31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1" name="平行四辺形 32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22" name="グループ化 321"/>
          <p:cNvGrpSpPr/>
          <p:nvPr/>
        </p:nvGrpSpPr>
        <p:grpSpPr>
          <a:xfrm>
            <a:off x="9066034" y="1574446"/>
            <a:ext cx="630007" cy="360000"/>
            <a:chOff x="971600" y="5445224"/>
            <a:chExt cx="7200800" cy="576064"/>
          </a:xfrm>
        </p:grpSpPr>
        <p:sp>
          <p:nvSpPr>
            <p:cNvPr id="323" name="平行四辺形 32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4" name="平行四辺形 32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1" name="グループ化 360"/>
          <p:cNvGrpSpPr/>
          <p:nvPr/>
        </p:nvGrpSpPr>
        <p:grpSpPr>
          <a:xfrm>
            <a:off x="3125968" y="2114452"/>
            <a:ext cx="630007" cy="360000"/>
            <a:chOff x="971600" y="5445224"/>
            <a:chExt cx="7200800" cy="576064"/>
          </a:xfrm>
        </p:grpSpPr>
        <p:sp>
          <p:nvSpPr>
            <p:cNvPr id="362" name="平行四辺形 36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63" name="平行四辺形 36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4" name="グループ化 363"/>
          <p:cNvGrpSpPr/>
          <p:nvPr/>
        </p:nvGrpSpPr>
        <p:grpSpPr>
          <a:xfrm>
            <a:off x="3665974" y="2114452"/>
            <a:ext cx="630007" cy="360000"/>
            <a:chOff x="971600" y="5445224"/>
            <a:chExt cx="7200800" cy="576064"/>
          </a:xfrm>
        </p:grpSpPr>
        <p:sp>
          <p:nvSpPr>
            <p:cNvPr id="365" name="平行四辺形 36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66" name="平行四辺形 36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7" name="グループ化 366"/>
          <p:cNvGrpSpPr/>
          <p:nvPr/>
        </p:nvGrpSpPr>
        <p:grpSpPr>
          <a:xfrm>
            <a:off x="4205980" y="2114452"/>
            <a:ext cx="630007" cy="360000"/>
            <a:chOff x="971600" y="5445224"/>
            <a:chExt cx="7200800" cy="576064"/>
          </a:xfrm>
        </p:grpSpPr>
        <p:sp>
          <p:nvSpPr>
            <p:cNvPr id="368" name="平行四辺形 36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69" name="平行四辺形 36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0" name="グループ化 369"/>
          <p:cNvGrpSpPr/>
          <p:nvPr/>
        </p:nvGrpSpPr>
        <p:grpSpPr>
          <a:xfrm>
            <a:off x="4745986" y="2114452"/>
            <a:ext cx="630007" cy="360000"/>
            <a:chOff x="971600" y="5445224"/>
            <a:chExt cx="7200800" cy="576064"/>
          </a:xfrm>
        </p:grpSpPr>
        <p:sp>
          <p:nvSpPr>
            <p:cNvPr id="371" name="平行四辺形 37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2" name="平行四辺形 37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3" name="グループ化 372"/>
          <p:cNvGrpSpPr/>
          <p:nvPr/>
        </p:nvGrpSpPr>
        <p:grpSpPr>
          <a:xfrm>
            <a:off x="5285992" y="2114452"/>
            <a:ext cx="630007" cy="360000"/>
            <a:chOff x="971600" y="5445224"/>
            <a:chExt cx="7200800" cy="576064"/>
          </a:xfrm>
        </p:grpSpPr>
        <p:sp>
          <p:nvSpPr>
            <p:cNvPr id="374" name="平行四辺形 37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5" name="平行四辺形 37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6" name="グループ化 375"/>
          <p:cNvGrpSpPr/>
          <p:nvPr/>
        </p:nvGrpSpPr>
        <p:grpSpPr>
          <a:xfrm>
            <a:off x="5825998" y="2114452"/>
            <a:ext cx="630007" cy="360000"/>
            <a:chOff x="971600" y="5445224"/>
            <a:chExt cx="7200800" cy="576064"/>
          </a:xfrm>
        </p:grpSpPr>
        <p:sp>
          <p:nvSpPr>
            <p:cNvPr id="377" name="平行四辺形 37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8" name="平行四辺形 37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9" name="グループ化 378"/>
          <p:cNvGrpSpPr/>
          <p:nvPr/>
        </p:nvGrpSpPr>
        <p:grpSpPr>
          <a:xfrm>
            <a:off x="6366004" y="2114452"/>
            <a:ext cx="630007" cy="360000"/>
            <a:chOff x="971600" y="5445224"/>
            <a:chExt cx="7200800" cy="576064"/>
          </a:xfrm>
        </p:grpSpPr>
        <p:sp>
          <p:nvSpPr>
            <p:cNvPr id="380" name="平行四辺形 37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81" name="平行四辺形 38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2" name="グループ化 381"/>
          <p:cNvGrpSpPr/>
          <p:nvPr/>
        </p:nvGrpSpPr>
        <p:grpSpPr>
          <a:xfrm>
            <a:off x="6906010" y="2114452"/>
            <a:ext cx="630007" cy="360000"/>
            <a:chOff x="971600" y="5445224"/>
            <a:chExt cx="7200800" cy="576064"/>
          </a:xfrm>
        </p:grpSpPr>
        <p:sp>
          <p:nvSpPr>
            <p:cNvPr id="383" name="平行四辺形 3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84" name="平行四辺形 38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5" name="グループ化 384"/>
          <p:cNvGrpSpPr/>
          <p:nvPr/>
        </p:nvGrpSpPr>
        <p:grpSpPr>
          <a:xfrm>
            <a:off x="7446016" y="2114452"/>
            <a:ext cx="630007" cy="360000"/>
            <a:chOff x="971600" y="5445224"/>
            <a:chExt cx="7200800" cy="576064"/>
          </a:xfrm>
        </p:grpSpPr>
        <p:sp>
          <p:nvSpPr>
            <p:cNvPr id="386" name="平行四辺形 38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87" name="平行四辺形 38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8" name="グループ化 387"/>
          <p:cNvGrpSpPr/>
          <p:nvPr/>
        </p:nvGrpSpPr>
        <p:grpSpPr>
          <a:xfrm>
            <a:off x="7986022" y="2114452"/>
            <a:ext cx="630007" cy="360000"/>
            <a:chOff x="971600" y="5445224"/>
            <a:chExt cx="7200800" cy="576064"/>
          </a:xfrm>
        </p:grpSpPr>
        <p:sp>
          <p:nvSpPr>
            <p:cNvPr id="389" name="平行四辺形 38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0" name="平行四辺形 38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91" name="グループ化 390"/>
          <p:cNvGrpSpPr/>
          <p:nvPr/>
        </p:nvGrpSpPr>
        <p:grpSpPr>
          <a:xfrm>
            <a:off x="8526028" y="2114452"/>
            <a:ext cx="630007" cy="360000"/>
            <a:chOff x="971600" y="5445224"/>
            <a:chExt cx="7200800" cy="576064"/>
          </a:xfrm>
        </p:grpSpPr>
        <p:sp>
          <p:nvSpPr>
            <p:cNvPr id="392" name="平行四辺形 39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3" name="平行四辺形 39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94" name="グループ化 393"/>
          <p:cNvGrpSpPr/>
          <p:nvPr/>
        </p:nvGrpSpPr>
        <p:grpSpPr>
          <a:xfrm>
            <a:off x="9066034" y="2114452"/>
            <a:ext cx="630007" cy="360000"/>
            <a:chOff x="971600" y="5445224"/>
            <a:chExt cx="7200800" cy="576064"/>
          </a:xfrm>
        </p:grpSpPr>
        <p:sp>
          <p:nvSpPr>
            <p:cNvPr id="395" name="平行四辺形 39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6" name="平行四辺形 39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97" name="グループ化 396"/>
          <p:cNvGrpSpPr/>
          <p:nvPr/>
        </p:nvGrpSpPr>
        <p:grpSpPr>
          <a:xfrm>
            <a:off x="3125968" y="2654458"/>
            <a:ext cx="630007" cy="360000"/>
            <a:chOff x="971600" y="5445224"/>
            <a:chExt cx="7200800" cy="576064"/>
          </a:xfrm>
        </p:grpSpPr>
        <p:sp>
          <p:nvSpPr>
            <p:cNvPr id="398" name="平行四辺形 39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9" name="平行四辺形 39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0" name="グループ化 399"/>
          <p:cNvGrpSpPr/>
          <p:nvPr/>
        </p:nvGrpSpPr>
        <p:grpSpPr>
          <a:xfrm>
            <a:off x="3665974" y="2654458"/>
            <a:ext cx="630007" cy="360000"/>
            <a:chOff x="971600" y="5445224"/>
            <a:chExt cx="7200800" cy="576064"/>
          </a:xfrm>
        </p:grpSpPr>
        <p:sp>
          <p:nvSpPr>
            <p:cNvPr id="401" name="平行四辺形 40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2" name="平行四辺形 40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3" name="グループ化 402"/>
          <p:cNvGrpSpPr/>
          <p:nvPr/>
        </p:nvGrpSpPr>
        <p:grpSpPr>
          <a:xfrm>
            <a:off x="4205980" y="2654458"/>
            <a:ext cx="630007" cy="360000"/>
            <a:chOff x="971600" y="5445224"/>
            <a:chExt cx="7200800" cy="576064"/>
          </a:xfrm>
        </p:grpSpPr>
        <p:sp>
          <p:nvSpPr>
            <p:cNvPr id="404" name="平行四辺形 40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5" name="平行四辺形 40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6" name="グループ化 405"/>
          <p:cNvGrpSpPr/>
          <p:nvPr/>
        </p:nvGrpSpPr>
        <p:grpSpPr>
          <a:xfrm>
            <a:off x="4745986" y="2654458"/>
            <a:ext cx="630007" cy="360000"/>
            <a:chOff x="971600" y="5445224"/>
            <a:chExt cx="7200800" cy="576064"/>
          </a:xfrm>
        </p:grpSpPr>
        <p:sp>
          <p:nvSpPr>
            <p:cNvPr id="407" name="平行四辺形 40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8" name="平行四辺形 40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9" name="グループ化 408"/>
          <p:cNvGrpSpPr/>
          <p:nvPr/>
        </p:nvGrpSpPr>
        <p:grpSpPr>
          <a:xfrm>
            <a:off x="5285992" y="2654458"/>
            <a:ext cx="630007" cy="360000"/>
            <a:chOff x="971600" y="5445224"/>
            <a:chExt cx="7200800" cy="576064"/>
          </a:xfrm>
        </p:grpSpPr>
        <p:sp>
          <p:nvSpPr>
            <p:cNvPr id="410" name="平行四辺形 40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1" name="平行四辺形 41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2" name="グループ化 411"/>
          <p:cNvGrpSpPr/>
          <p:nvPr/>
        </p:nvGrpSpPr>
        <p:grpSpPr>
          <a:xfrm>
            <a:off x="5825998" y="2654458"/>
            <a:ext cx="630007" cy="360000"/>
            <a:chOff x="971600" y="5445224"/>
            <a:chExt cx="7200800" cy="576064"/>
          </a:xfrm>
        </p:grpSpPr>
        <p:sp>
          <p:nvSpPr>
            <p:cNvPr id="413" name="平行四辺形 41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4" name="平行四辺形 41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5" name="グループ化 414"/>
          <p:cNvGrpSpPr/>
          <p:nvPr/>
        </p:nvGrpSpPr>
        <p:grpSpPr>
          <a:xfrm>
            <a:off x="6366004" y="2654458"/>
            <a:ext cx="630007" cy="360000"/>
            <a:chOff x="971600" y="5445224"/>
            <a:chExt cx="7200800" cy="576064"/>
          </a:xfrm>
        </p:grpSpPr>
        <p:sp>
          <p:nvSpPr>
            <p:cNvPr id="416" name="平行四辺形 41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7" name="平行四辺形 41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8" name="グループ化 417"/>
          <p:cNvGrpSpPr/>
          <p:nvPr/>
        </p:nvGrpSpPr>
        <p:grpSpPr>
          <a:xfrm>
            <a:off x="6906010" y="2654458"/>
            <a:ext cx="630007" cy="360000"/>
            <a:chOff x="971600" y="5445224"/>
            <a:chExt cx="7200800" cy="576064"/>
          </a:xfrm>
        </p:grpSpPr>
        <p:sp>
          <p:nvSpPr>
            <p:cNvPr id="419" name="平行四辺形 41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0" name="平行四辺形 41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21" name="グループ化 420"/>
          <p:cNvGrpSpPr/>
          <p:nvPr/>
        </p:nvGrpSpPr>
        <p:grpSpPr>
          <a:xfrm>
            <a:off x="7446016" y="2654458"/>
            <a:ext cx="630007" cy="360000"/>
            <a:chOff x="971600" y="5445224"/>
            <a:chExt cx="7200800" cy="576064"/>
          </a:xfrm>
        </p:grpSpPr>
        <p:sp>
          <p:nvSpPr>
            <p:cNvPr id="422" name="平行四辺形 42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3" name="平行四辺形 42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24" name="グループ化 423"/>
          <p:cNvGrpSpPr/>
          <p:nvPr/>
        </p:nvGrpSpPr>
        <p:grpSpPr>
          <a:xfrm>
            <a:off x="7986022" y="2654458"/>
            <a:ext cx="630007" cy="360000"/>
            <a:chOff x="971600" y="5445224"/>
            <a:chExt cx="7200800" cy="576064"/>
          </a:xfrm>
        </p:grpSpPr>
        <p:sp>
          <p:nvSpPr>
            <p:cNvPr id="425" name="平行四辺形 42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6" name="平行四辺形 42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27" name="グループ化 426"/>
          <p:cNvGrpSpPr/>
          <p:nvPr/>
        </p:nvGrpSpPr>
        <p:grpSpPr>
          <a:xfrm>
            <a:off x="8526028" y="2654458"/>
            <a:ext cx="630007" cy="360000"/>
            <a:chOff x="971600" y="5445224"/>
            <a:chExt cx="7200800" cy="576064"/>
          </a:xfrm>
        </p:grpSpPr>
        <p:sp>
          <p:nvSpPr>
            <p:cNvPr id="428" name="平行四辺形 42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9" name="平行四辺形 42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0" name="グループ化 429"/>
          <p:cNvGrpSpPr/>
          <p:nvPr/>
        </p:nvGrpSpPr>
        <p:grpSpPr>
          <a:xfrm>
            <a:off x="9066034" y="2654458"/>
            <a:ext cx="630007" cy="360000"/>
            <a:chOff x="971600" y="5445224"/>
            <a:chExt cx="7200800" cy="576064"/>
          </a:xfrm>
        </p:grpSpPr>
        <p:sp>
          <p:nvSpPr>
            <p:cNvPr id="431" name="平行四辺形 43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2" name="平行四辺形 43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3" name="グループ化 432"/>
          <p:cNvGrpSpPr/>
          <p:nvPr/>
        </p:nvGrpSpPr>
        <p:grpSpPr>
          <a:xfrm>
            <a:off x="3125968" y="3194464"/>
            <a:ext cx="630007" cy="360000"/>
            <a:chOff x="971600" y="5445224"/>
            <a:chExt cx="7200800" cy="576064"/>
          </a:xfrm>
        </p:grpSpPr>
        <p:sp>
          <p:nvSpPr>
            <p:cNvPr id="434" name="平行四辺形 43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5" name="平行四辺形 43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6" name="グループ化 435"/>
          <p:cNvGrpSpPr/>
          <p:nvPr/>
        </p:nvGrpSpPr>
        <p:grpSpPr>
          <a:xfrm>
            <a:off x="3665974" y="3194464"/>
            <a:ext cx="630007" cy="360000"/>
            <a:chOff x="971600" y="5445224"/>
            <a:chExt cx="7200800" cy="576064"/>
          </a:xfrm>
        </p:grpSpPr>
        <p:sp>
          <p:nvSpPr>
            <p:cNvPr id="437" name="平行四辺形 43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8" name="平行四辺形 43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9" name="グループ化 438"/>
          <p:cNvGrpSpPr/>
          <p:nvPr/>
        </p:nvGrpSpPr>
        <p:grpSpPr>
          <a:xfrm>
            <a:off x="4205980" y="3194464"/>
            <a:ext cx="630007" cy="360000"/>
            <a:chOff x="971600" y="5445224"/>
            <a:chExt cx="7200800" cy="576064"/>
          </a:xfrm>
        </p:grpSpPr>
        <p:sp>
          <p:nvSpPr>
            <p:cNvPr id="440" name="平行四辺形 43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41" name="平行四辺形 44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2" name="グループ化 441"/>
          <p:cNvGrpSpPr/>
          <p:nvPr/>
        </p:nvGrpSpPr>
        <p:grpSpPr>
          <a:xfrm>
            <a:off x="4745986" y="3194464"/>
            <a:ext cx="630007" cy="360000"/>
            <a:chOff x="971600" y="5445224"/>
            <a:chExt cx="7200800" cy="576064"/>
          </a:xfrm>
        </p:grpSpPr>
        <p:sp>
          <p:nvSpPr>
            <p:cNvPr id="443" name="平行四辺形 44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44" name="平行四辺形 44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5" name="グループ化 444"/>
          <p:cNvGrpSpPr/>
          <p:nvPr/>
        </p:nvGrpSpPr>
        <p:grpSpPr>
          <a:xfrm>
            <a:off x="5285992" y="3194464"/>
            <a:ext cx="630007" cy="360000"/>
            <a:chOff x="971600" y="5445224"/>
            <a:chExt cx="7200800" cy="576064"/>
          </a:xfrm>
        </p:grpSpPr>
        <p:sp>
          <p:nvSpPr>
            <p:cNvPr id="446" name="平行四辺形 44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47" name="平行四辺形 44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8" name="グループ化 447"/>
          <p:cNvGrpSpPr/>
          <p:nvPr/>
        </p:nvGrpSpPr>
        <p:grpSpPr>
          <a:xfrm>
            <a:off x="5825998" y="3194464"/>
            <a:ext cx="630007" cy="360000"/>
            <a:chOff x="971600" y="5445224"/>
            <a:chExt cx="7200800" cy="576064"/>
          </a:xfrm>
        </p:grpSpPr>
        <p:sp>
          <p:nvSpPr>
            <p:cNvPr id="449" name="平行四辺形 44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0" name="平行四辺形 44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1" name="グループ化 450"/>
          <p:cNvGrpSpPr/>
          <p:nvPr/>
        </p:nvGrpSpPr>
        <p:grpSpPr>
          <a:xfrm>
            <a:off x="6366004" y="3194464"/>
            <a:ext cx="630007" cy="360000"/>
            <a:chOff x="971600" y="5445224"/>
            <a:chExt cx="7200800" cy="576064"/>
          </a:xfrm>
        </p:grpSpPr>
        <p:sp>
          <p:nvSpPr>
            <p:cNvPr id="452" name="平行四辺形 45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3" name="平行四辺形 45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4" name="グループ化 453"/>
          <p:cNvGrpSpPr/>
          <p:nvPr/>
        </p:nvGrpSpPr>
        <p:grpSpPr>
          <a:xfrm>
            <a:off x="6906010" y="3194464"/>
            <a:ext cx="630007" cy="360000"/>
            <a:chOff x="971600" y="5445224"/>
            <a:chExt cx="7200800" cy="576064"/>
          </a:xfrm>
        </p:grpSpPr>
        <p:sp>
          <p:nvSpPr>
            <p:cNvPr id="455" name="平行四辺形 45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6" name="平行四辺形 45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7" name="グループ化 456"/>
          <p:cNvGrpSpPr/>
          <p:nvPr/>
        </p:nvGrpSpPr>
        <p:grpSpPr>
          <a:xfrm>
            <a:off x="7446016" y="3194464"/>
            <a:ext cx="630007" cy="360000"/>
            <a:chOff x="971600" y="5445224"/>
            <a:chExt cx="7200800" cy="576064"/>
          </a:xfrm>
        </p:grpSpPr>
        <p:sp>
          <p:nvSpPr>
            <p:cNvPr id="458" name="平行四辺形 45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9" name="平行四辺形 45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0" name="グループ化 459"/>
          <p:cNvGrpSpPr/>
          <p:nvPr/>
        </p:nvGrpSpPr>
        <p:grpSpPr>
          <a:xfrm>
            <a:off x="7986022" y="3194464"/>
            <a:ext cx="630007" cy="360000"/>
            <a:chOff x="971600" y="5445224"/>
            <a:chExt cx="7200800" cy="576064"/>
          </a:xfrm>
        </p:grpSpPr>
        <p:sp>
          <p:nvSpPr>
            <p:cNvPr id="461" name="平行四辺形 46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2" name="平行四辺形 46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3" name="グループ化 462"/>
          <p:cNvGrpSpPr/>
          <p:nvPr/>
        </p:nvGrpSpPr>
        <p:grpSpPr>
          <a:xfrm>
            <a:off x="8526028" y="3194464"/>
            <a:ext cx="630007" cy="360000"/>
            <a:chOff x="971600" y="5445224"/>
            <a:chExt cx="7200800" cy="576064"/>
          </a:xfrm>
        </p:grpSpPr>
        <p:sp>
          <p:nvSpPr>
            <p:cNvPr id="464" name="平行四辺形 46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5" name="平行四辺形 46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6" name="グループ化 465"/>
          <p:cNvGrpSpPr/>
          <p:nvPr/>
        </p:nvGrpSpPr>
        <p:grpSpPr>
          <a:xfrm>
            <a:off x="9066034" y="3194464"/>
            <a:ext cx="630007" cy="360000"/>
            <a:chOff x="971600" y="5445224"/>
            <a:chExt cx="7200800" cy="576064"/>
          </a:xfrm>
        </p:grpSpPr>
        <p:sp>
          <p:nvSpPr>
            <p:cNvPr id="467" name="平行四辺形 46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8" name="平行四辺形 46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9" name="グループ化 468"/>
          <p:cNvGrpSpPr/>
          <p:nvPr/>
        </p:nvGrpSpPr>
        <p:grpSpPr>
          <a:xfrm>
            <a:off x="3125968" y="3699007"/>
            <a:ext cx="630007" cy="360000"/>
            <a:chOff x="971600" y="5445224"/>
            <a:chExt cx="7200800" cy="576064"/>
          </a:xfrm>
        </p:grpSpPr>
        <p:sp>
          <p:nvSpPr>
            <p:cNvPr id="470" name="平行四辺形 46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1" name="平行四辺形 47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2" name="グループ化 471"/>
          <p:cNvGrpSpPr/>
          <p:nvPr/>
        </p:nvGrpSpPr>
        <p:grpSpPr>
          <a:xfrm>
            <a:off x="3665974" y="3699007"/>
            <a:ext cx="630007" cy="360000"/>
            <a:chOff x="971600" y="5445224"/>
            <a:chExt cx="7200800" cy="576064"/>
          </a:xfrm>
        </p:grpSpPr>
        <p:sp>
          <p:nvSpPr>
            <p:cNvPr id="473" name="平行四辺形 47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4" name="平行四辺形 47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5" name="グループ化 474"/>
          <p:cNvGrpSpPr/>
          <p:nvPr/>
        </p:nvGrpSpPr>
        <p:grpSpPr>
          <a:xfrm>
            <a:off x="4205980" y="3699007"/>
            <a:ext cx="630007" cy="360000"/>
            <a:chOff x="971600" y="5445224"/>
            <a:chExt cx="7200800" cy="576064"/>
          </a:xfrm>
        </p:grpSpPr>
        <p:sp>
          <p:nvSpPr>
            <p:cNvPr id="476" name="平行四辺形 47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7" name="平行四辺形 47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8" name="グループ化 477"/>
          <p:cNvGrpSpPr/>
          <p:nvPr/>
        </p:nvGrpSpPr>
        <p:grpSpPr>
          <a:xfrm>
            <a:off x="4745986" y="3699007"/>
            <a:ext cx="630007" cy="360000"/>
            <a:chOff x="971600" y="5445224"/>
            <a:chExt cx="7200800" cy="576064"/>
          </a:xfrm>
        </p:grpSpPr>
        <p:sp>
          <p:nvSpPr>
            <p:cNvPr id="479" name="平行四辺形 47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0" name="平行四辺形 47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1" name="グループ化 480"/>
          <p:cNvGrpSpPr/>
          <p:nvPr/>
        </p:nvGrpSpPr>
        <p:grpSpPr>
          <a:xfrm>
            <a:off x="5285992" y="3699007"/>
            <a:ext cx="630007" cy="360000"/>
            <a:chOff x="971600" y="5445224"/>
            <a:chExt cx="7200800" cy="576064"/>
          </a:xfrm>
        </p:grpSpPr>
        <p:sp>
          <p:nvSpPr>
            <p:cNvPr id="482" name="平行四辺形 48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3" name="平行四辺形 48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4" name="グループ化 483"/>
          <p:cNvGrpSpPr/>
          <p:nvPr/>
        </p:nvGrpSpPr>
        <p:grpSpPr>
          <a:xfrm>
            <a:off x="5825998" y="3699007"/>
            <a:ext cx="630007" cy="360000"/>
            <a:chOff x="971600" y="5445224"/>
            <a:chExt cx="7200800" cy="576064"/>
          </a:xfrm>
        </p:grpSpPr>
        <p:sp>
          <p:nvSpPr>
            <p:cNvPr id="485" name="平行四辺形 48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6" name="平行四辺形 48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7" name="グループ化 486"/>
          <p:cNvGrpSpPr/>
          <p:nvPr/>
        </p:nvGrpSpPr>
        <p:grpSpPr>
          <a:xfrm>
            <a:off x="6366004" y="3699007"/>
            <a:ext cx="630007" cy="360000"/>
            <a:chOff x="971600" y="5445224"/>
            <a:chExt cx="7200800" cy="576064"/>
          </a:xfrm>
        </p:grpSpPr>
        <p:sp>
          <p:nvSpPr>
            <p:cNvPr id="488" name="平行四辺形 48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9" name="平行四辺形 48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0" name="グループ化 489"/>
          <p:cNvGrpSpPr/>
          <p:nvPr/>
        </p:nvGrpSpPr>
        <p:grpSpPr>
          <a:xfrm>
            <a:off x="6906010" y="3699007"/>
            <a:ext cx="630007" cy="360000"/>
            <a:chOff x="971600" y="5445224"/>
            <a:chExt cx="7200800" cy="576064"/>
          </a:xfrm>
        </p:grpSpPr>
        <p:sp>
          <p:nvSpPr>
            <p:cNvPr id="491" name="平行四辺形 49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2" name="平行四辺形 49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3" name="グループ化 492"/>
          <p:cNvGrpSpPr/>
          <p:nvPr/>
        </p:nvGrpSpPr>
        <p:grpSpPr>
          <a:xfrm>
            <a:off x="7446016" y="3699007"/>
            <a:ext cx="630007" cy="360000"/>
            <a:chOff x="971600" y="5445224"/>
            <a:chExt cx="7200800" cy="576064"/>
          </a:xfrm>
        </p:grpSpPr>
        <p:sp>
          <p:nvSpPr>
            <p:cNvPr id="494" name="平行四辺形 49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5" name="平行四辺形 49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6" name="グループ化 495"/>
          <p:cNvGrpSpPr/>
          <p:nvPr/>
        </p:nvGrpSpPr>
        <p:grpSpPr>
          <a:xfrm>
            <a:off x="7986022" y="3699007"/>
            <a:ext cx="630007" cy="360000"/>
            <a:chOff x="971600" y="5445224"/>
            <a:chExt cx="7200800" cy="576064"/>
          </a:xfrm>
        </p:grpSpPr>
        <p:sp>
          <p:nvSpPr>
            <p:cNvPr id="497" name="平行四辺形 49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8" name="平行四辺形 49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9" name="グループ化 498"/>
          <p:cNvGrpSpPr/>
          <p:nvPr/>
        </p:nvGrpSpPr>
        <p:grpSpPr>
          <a:xfrm>
            <a:off x="8526028" y="3699007"/>
            <a:ext cx="630007" cy="360000"/>
            <a:chOff x="971600" y="5445224"/>
            <a:chExt cx="7200800" cy="576064"/>
          </a:xfrm>
        </p:grpSpPr>
        <p:sp>
          <p:nvSpPr>
            <p:cNvPr id="500" name="平行四辺形 49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1" name="平行四辺形 50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2" name="グループ化 501"/>
          <p:cNvGrpSpPr/>
          <p:nvPr/>
        </p:nvGrpSpPr>
        <p:grpSpPr>
          <a:xfrm>
            <a:off x="9066034" y="3699007"/>
            <a:ext cx="630007" cy="360000"/>
            <a:chOff x="971600" y="5445224"/>
            <a:chExt cx="7200800" cy="576064"/>
          </a:xfrm>
        </p:grpSpPr>
        <p:sp>
          <p:nvSpPr>
            <p:cNvPr id="503" name="平行四辺形 50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4" name="平行四辺形 50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5" name="グループ化 504"/>
          <p:cNvGrpSpPr/>
          <p:nvPr/>
        </p:nvGrpSpPr>
        <p:grpSpPr>
          <a:xfrm>
            <a:off x="3125968" y="4239013"/>
            <a:ext cx="630007" cy="360000"/>
            <a:chOff x="971600" y="5445224"/>
            <a:chExt cx="7200800" cy="576064"/>
          </a:xfrm>
        </p:grpSpPr>
        <p:sp>
          <p:nvSpPr>
            <p:cNvPr id="506" name="平行四辺形 50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7" name="平行四辺形 50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8" name="グループ化 507"/>
          <p:cNvGrpSpPr/>
          <p:nvPr/>
        </p:nvGrpSpPr>
        <p:grpSpPr>
          <a:xfrm>
            <a:off x="3665974" y="4239013"/>
            <a:ext cx="630007" cy="360000"/>
            <a:chOff x="971600" y="5445224"/>
            <a:chExt cx="7200800" cy="576064"/>
          </a:xfrm>
        </p:grpSpPr>
        <p:sp>
          <p:nvSpPr>
            <p:cNvPr id="509" name="平行四辺形 5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0" name="平行四辺形 50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11" name="グループ化 510"/>
          <p:cNvGrpSpPr/>
          <p:nvPr/>
        </p:nvGrpSpPr>
        <p:grpSpPr>
          <a:xfrm>
            <a:off x="4205980" y="4239013"/>
            <a:ext cx="630007" cy="360000"/>
            <a:chOff x="971600" y="5445224"/>
            <a:chExt cx="7200800" cy="576064"/>
          </a:xfrm>
        </p:grpSpPr>
        <p:sp>
          <p:nvSpPr>
            <p:cNvPr id="512" name="平行四辺形 51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3" name="平行四辺形 51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14" name="グループ化 513"/>
          <p:cNvGrpSpPr/>
          <p:nvPr/>
        </p:nvGrpSpPr>
        <p:grpSpPr>
          <a:xfrm>
            <a:off x="4745986" y="4239013"/>
            <a:ext cx="630007" cy="360000"/>
            <a:chOff x="971600" y="5445224"/>
            <a:chExt cx="7200800" cy="576064"/>
          </a:xfrm>
        </p:grpSpPr>
        <p:sp>
          <p:nvSpPr>
            <p:cNvPr id="515" name="平行四辺形 51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6" name="平行四辺形 51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17" name="グループ化 516"/>
          <p:cNvGrpSpPr/>
          <p:nvPr/>
        </p:nvGrpSpPr>
        <p:grpSpPr>
          <a:xfrm>
            <a:off x="5285992" y="4239013"/>
            <a:ext cx="630007" cy="360000"/>
            <a:chOff x="971600" y="5445224"/>
            <a:chExt cx="7200800" cy="576064"/>
          </a:xfrm>
        </p:grpSpPr>
        <p:sp>
          <p:nvSpPr>
            <p:cNvPr id="518" name="平行四辺形 51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9" name="平行四辺形 51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0" name="グループ化 519"/>
          <p:cNvGrpSpPr/>
          <p:nvPr/>
        </p:nvGrpSpPr>
        <p:grpSpPr>
          <a:xfrm>
            <a:off x="5825998" y="4239013"/>
            <a:ext cx="630007" cy="360000"/>
            <a:chOff x="971600" y="5445224"/>
            <a:chExt cx="7200800" cy="576064"/>
          </a:xfrm>
        </p:grpSpPr>
        <p:sp>
          <p:nvSpPr>
            <p:cNvPr id="521" name="平行四辺形 5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2" name="平行四辺形 5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3" name="グループ化 522"/>
          <p:cNvGrpSpPr/>
          <p:nvPr/>
        </p:nvGrpSpPr>
        <p:grpSpPr>
          <a:xfrm>
            <a:off x="6366004" y="4239013"/>
            <a:ext cx="630007" cy="360000"/>
            <a:chOff x="971600" y="5445224"/>
            <a:chExt cx="7200800" cy="576064"/>
          </a:xfrm>
        </p:grpSpPr>
        <p:sp>
          <p:nvSpPr>
            <p:cNvPr id="524" name="平行四辺形 52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5" name="平行四辺形 52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6" name="グループ化 525"/>
          <p:cNvGrpSpPr/>
          <p:nvPr/>
        </p:nvGrpSpPr>
        <p:grpSpPr>
          <a:xfrm>
            <a:off x="6906010" y="4239013"/>
            <a:ext cx="630007" cy="360000"/>
            <a:chOff x="971600" y="5445224"/>
            <a:chExt cx="7200800" cy="576064"/>
          </a:xfrm>
        </p:grpSpPr>
        <p:sp>
          <p:nvSpPr>
            <p:cNvPr id="527" name="平行四辺形 52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8" name="平行四辺形 52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9" name="グループ化 528"/>
          <p:cNvGrpSpPr/>
          <p:nvPr/>
        </p:nvGrpSpPr>
        <p:grpSpPr>
          <a:xfrm>
            <a:off x="7446016" y="4239013"/>
            <a:ext cx="630007" cy="360000"/>
            <a:chOff x="971600" y="5445224"/>
            <a:chExt cx="7200800" cy="576064"/>
          </a:xfrm>
        </p:grpSpPr>
        <p:sp>
          <p:nvSpPr>
            <p:cNvPr id="530" name="平行四辺形 52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1" name="平行四辺形 53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32" name="グループ化 531"/>
          <p:cNvGrpSpPr/>
          <p:nvPr/>
        </p:nvGrpSpPr>
        <p:grpSpPr>
          <a:xfrm>
            <a:off x="7986022" y="4239013"/>
            <a:ext cx="630007" cy="360000"/>
            <a:chOff x="971600" y="5445224"/>
            <a:chExt cx="7200800" cy="576064"/>
          </a:xfrm>
        </p:grpSpPr>
        <p:sp>
          <p:nvSpPr>
            <p:cNvPr id="533" name="平行四辺形 53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4" name="平行四辺形 53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35" name="グループ化 534"/>
          <p:cNvGrpSpPr/>
          <p:nvPr/>
        </p:nvGrpSpPr>
        <p:grpSpPr>
          <a:xfrm>
            <a:off x="8526028" y="4239013"/>
            <a:ext cx="630007" cy="360000"/>
            <a:chOff x="971600" y="5445224"/>
            <a:chExt cx="7200800" cy="576064"/>
          </a:xfrm>
        </p:grpSpPr>
        <p:sp>
          <p:nvSpPr>
            <p:cNvPr id="536" name="平行四辺形 53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7" name="平行四辺形 5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38" name="グループ化 537"/>
          <p:cNvGrpSpPr/>
          <p:nvPr/>
        </p:nvGrpSpPr>
        <p:grpSpPr>
          <a:xfrm>
            <a:off x="9066034" y="4239013"/>
            <a:ext cx="630007" cy="360000"/>
            <a:chOff x="971600" y="5445224"/>
            <a:chExt cx="7200800" cy="576064"/>
          </a:xfrm>
        </p:grpSpPr>
        <p:sp>
          <p:nvSpPr>
            <p:cNvPr id="539" name="平行四辺形 53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0" name="平行四辺形 53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41" name="グループ化 540"/>
          <p:cNvGrpSpPr/>
          <p:nvPr/>
        </p:nvGrpSpPr>
        <p:grpSpPr>
          <a:xfrm>
            <a:off x="3125968" y="4779019"/>
            <a:ext cx="630007" cy="360000"/>
            <a:chOff x="971600" y="5445224"/>
            <a:chExt cx="7200800" cy="576064"/>
          </a:xfrm>
        </p:grpSpPr>
        <p:sp>
          <p:nvSpPr>
            <p:cNvPr id="542" name="平行四辺形 54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3" name="平行四辺形 54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44" name="グループ化 543"/>
          <p:cNvGrpSpPr/>
          <p:nvPr/>
        </p:nvGrpSpPr>
        <p:grpSpPr>
          <a:xfrm>
            <a:off x="3665974" y="4779019"/>
            <a:ext cx="630007" cy="360000"/>
            <a:chOff x="971600" y="5445224"/>
            <a:chExt cx="7200800" cy="576064"/>
          </a:xfrm>
        </p:grpSpPr>
        <p:sp>
          <p:nvSpPr>
            <p:cNvPr id="545" name="平行四辺形 54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6" name="平行四辺形 54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47" name="グループ化 546"/>
          <p:cNvGrpSpPr/>
          <p:nvPr/>
        </p:nvGrpSpPr>
        <p:grpSpPr>
          <a:xfrm>
            <a:off x="4205980" y="4779019"/>
            <a:ext cx="630007" cy="360000"/>
            <a:chOff x="971600" y="5445224"/>
            <a:chExt cx="7200800" cy="576064"/>
          </a:xfrm>
        </p:grpSpPr>
        <p:sp>
          <p:nvSpPr>
            <p:cNvPr id="548" name="平行四辺形 54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9" name="平行四辺形 54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0" name="グループ化 549"/>
          <p:cNvGrpSpPr/>
          <p:nvPr/>
        </p:nvGrpSpPr>
        <p:grpSpPr>
          <a:xfrm>
            <a:off x="4745986" y="4779019"/>
            <a:ext cx="630007" cy="360000"/>
            <a:chOff x="971600" y="5445224"/>
            <a:chExt cx="7200800" cy="576064"/>
          </a:xfrm>
        </p:grpSpPr>
        <p:sp>
          <p:nvSpPr>
            <p:cNvPr id="551" name="平行四辺形 55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52" name="平行四辺形 55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3" name="グループ化 552"/>
          <p:cNvGrpSpPr/>
          <p:nvPr/>
        </p:nvGrpSpPr>
        <p:grpSpPr>
          <a:xfrm>
            <a:off x="5285992" y="4779019"/>
            <a:ext cx="630007" cy="360000"/>
            <a:chOff x="971600" y="5445224"/>
            <a:chExt cx="7200800" cy="576064"/>
          </a:xfrm>
        </p:grpSpPr>
        <p:sp>
          <p:nvSpPr>
            <p:cNvPr id="554" name="平行四辺形 55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55" name="平行四辺形 55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6" name="グループ化 555"/>
          <p:cNvGrpSpPr/>
          <p:nvPr/>
        </p:nvGrpSpPr>
        <p:grpSpPr>
          <a:xfrm>
            <a:off x="5825998" y="4779019"/>
            <a:ext cx="630007" cy="360000"/>
            <a:chOff x="971600" y="5445224"/>
            <a:chExt cx="7200800" cy="576064"/>
          </a:xfrm>
        </p:grpSpPr>
        <p:sp>
          <p:nvSpPr>
            <p:cNvPr id="557" name="平行四辺形 55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58" name="平行四辺形 55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9" name="グループ化 558"/>
          <p:cNvGrpSpPr/>
          <p:nvPr/>
        </p:nvGrpSpPr>
        <p:grpSpPr>
          <a:xfrm>
            <a:off x="6366004" y="4779019"/>
            <a:ext cx="630007" cy="360000"/>
            <a:chOff x="971600" y="5445224"/>
            <a:chExt cx="7200800" cy="576064"/>
          </a:xfrm>
        </p:grpSpPr>
        <p:sp>
          <p:nvSpPr>
            <p:cNvPr id="560" name="平行四辺形 55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1" name="平行四辺形 56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2" name="グループ化 561"/>
          <p:cNvGrpSpPr/>
          <p:nvPr/>
        </p:nvGrpSpPr>
        <p:grpSpPr>
          <a:xfrm>
            <a:off x="6906010" y="4779019"/>
            <a:ext cx="630007" cy="360000"/>
            <a:chOff x="971600" y="5445224"/>
            <a:chExt cx="7200800" cy="576064"/>
          </a:xfrm>
        </p:grpSpPr>
        <p:sp>
          <p:nvSpPr>
            <p:cNvPr id="563" name="平行四辺形 56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4" name="平行四辺形 56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5" name="グループ化 564"/>
          <p:cNvGrpSpPr/>
          <p:nvPr/>
        </p:nvGrpSpPr>
        <p:grpSpPr>
          <a:xfrm>
            <a:off x="7446016" y="4779019"/>
            <a:ext cx="630007" cy="360000"/>
            <a:chOff x="971600" y="5445224"/>
            <a:chExt cx="7200800" cy="576064"/>
          </a:xfrm>
        </p:grpSpPr>
        <p:sp>
          <p:nvSpPr>
            <p:cNvPr id="566" name="平行四辺形 56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7" name="平行四辺形 56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8" name="グループ化 567"/>
          <p:cNvGrpSpPr/>
          <p:nvPr/>
        </p:nvGrpSpPr>
        <p:grpSpPr>
          <a:xfrm>
            <a:off x="7986022" y="4779019"/>
            <a:ext cx="630007" cy="360000"/>
            <a:chOff x="971600" y="5445224"/>
            <a:chExt cx="7200800" cy="576064"/>
          </a:xfrm>
        </p:grpSpPr>
        <p:sp>
          <p:nvSpPr>
            <p:cNvPr id="569" name="平行四辺形 56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0" name="平行四辺形 56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71" name="グループ化 570"/>
          <p:cNvGrpSpPr/>
          <p:nvPr/>
        </p:nvGrpSpPr>
        <p:grpSpPr>
          <a:xfrm>
            <a:off x="8526028" y="4779019"/>
            <a:ext cx="630007" cy="360000"/>
            <a:chOff x="971600" y="5445224"/>
            <a:chExt cx="7200800" cy="576064"/>
          </a:xfrm>
        </p:grpSpPr>
        <p:sp>
          <p:nvSpPr>
            <p:cNvPr id="572" name="平行四辺形 57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3" name="平行四辺形 57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74" name="グループ化 573"/>
          <p:cNvGrpSpPr/>
          <p:nvPr/>
        </p:nvGrpSpPr>
        <p:grpSpPr>
          <a:xfrm>
            <a:off x="9066034" y="4779019"/>
            <a:ext cx="630007" cy="360000"/>
            <a:chOff x="971600" y="5445224"/>
            <a:chExt cx="7200800" cy="576064"/>
          </a:xfrm>
        </p:grpSpPr>
        <p:sp>
          <p:nvSpPr>
            <p:cNvPr id="575" name="平行四辺形 57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6" name="平行四辺形 57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77" name="グループ化 576"/>
          <p:cNvGrpSpPr/>
          <p:nvPr/>
        </p:nvGrpSpPr>
        <p:grpSpPr>
          <a:xfrm>
            <a:off x="3125968" y="5319025"/>
            <a:ext cx="630007" cy="360000"/>
            <a:chOff x="971600" y="5445224"/>
            <a:chExt cx="7200800" cy="576064"/>
          </a:xfrm>
        </p:grpSpPr>
        <p:sp>
          <p:nvSpPr>
            <p:cNvPr id="578" name="平行四辺形 57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9" name="平行四辺形 57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0" name="グループ化 579"/>
          <p:cNvGrpSpPr/>
          <p:nvPr/>
        </p:nvGrpSpPr>
        <p:grpSpPr>
          <a:xfrm>
            <a:off x="3665974" y="5319025"/>
            <a:ext cx="630007" cy="360000"/>
            <a:chOff x="971600" y="5445224"/>
            <a:chExt cx="7200800" cy="576064"/>
          </a:xfrm>
        </p:grpSpPr>
        <p:sp>
          <p:nvSpPr>
            <p:cNvPr id="581" name="平行四辺形 58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2" name="平行四辺形 58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3" name="グループ化 582"/>
          <p:cNvGrpSpPr/>
          <p:nvPr/>
        </p:nvGrpSpPr>
        <p:grpSpPr>
          <a:xfrm>
            <a:off x="4205980" y="5319025"/>
            <a:ext cx="630007" cy="360000"/>
            <a:chOff x="971600" y="5445224"/>
            <a:chExt cx="7200800" cy="576064"/>
          </a:xfrm>
        </p:grpSpPr>
        <p:sp>
          <p:nvSpPr>
            <p:cNvPr id="584" name="平行四辺形 58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5" name="平行四辺形 58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6" name="グループ化 585"/>
          <p:cNvGrpSpPr/>
          <p:nvPr/>
        </p:nvGrpSpPr>
        <p:grpSpPr>
          <a:xfrm>
            <a:off x="4745986" y="5319025"/>
            <a:ext cx="630007" cy="360000"/>
            <a:chOff x="971600" y="5445224"/>
            <a:chExt cx="7200800" cy="576064"/>
          </a:xfrm>
        </p:grpSpPr>
        <p:sp>
          <p:nvSpPr>
            <p:cNvPr id="587" name="平行四辺形 58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8" name="平行四辺形 58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9" name="グループ化 588"/>
          <p:cNvGrpSpPr/>
          <p:nvPr/>
        </p:nvGrpSpPr>
        <p:grpSpPr>
          <a:xfrm>
            <a:off x="5285992" y="5319025"/>
            <a:ext cx="630007" cy="360000"/>
            <a:chOff x="971600" y="5445224"/>
            <a:chExt cx="7200800" cy="576064"/>
          </a:xfrm>
        </p:grpSpPr>
        <p:sp>
          <p:nvSpPr>
            <p:cNvPr id="590" name="平行四辺形 58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1" name="平行四辺形 59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92" name="グループ化 591"/>
          <p:cNvGrpSpPr/>
          <p:nvPr/>
        </p:nvGrpSpPr>
        <p:grpSpPr>
          <a:xfrm>
            <a:off x="5825998" y="5319025"/>
            <a:ext cx="630007" cy="360000"/>
            <a:chOff x="971600" y="5445224"/>
            <a:chExt cx="7200800" cy="576064"/>
          </a:xfrm>
        </p:grpSpPr>
        <p:sp>
          <p:nvSpPr>
            <p:cNvPr id="593" name="平行四辺形 59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4" name="平行四辺形 59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95" name="グループ化 594"/>
          <p:cNvGrpSpPr/>
          <p:nvPr/>
        </p:nvGrpSpPr>
        <p:grpSpPr>
          <a:xfrm>
            <a:off x="6366004" y="5319025"/>
            <a:ext cx="630007" cy="360000"/>
            <a:chOff x="971600" y="5445224"/>
            <a:chExt cx="7200800" cy="576064"/>
          </a:xfrm>
        </p:grpSpPr>
        <p:sp>
          <p:nvSpPr>
            <p:cNvPr id="596" name="平行四辺形 5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7" name="平行四辺形 59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98" name="グループ化 597"/>
          <p:cNvGrpSpPr/>
          <p:nvPr/>
        </p:nvGrpSpPr>
        <p:grpSpPr>
          <a:xfrm>
            <a:off x="6906010" y="5319025"/>
            <a:ext cx="630007" cy="360000"/>
            <a:chOff x="971600" y="5445224"/>
            <a:chExt cx="7200800" cy="576064"/>
          </a:xfrm>
        </p:grpSpPr>
        <p:sp>
          <p:nvSpPr>
            <p:cNvPr id="599" name="平行四辺形 59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0" name="平行四辺形 59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01" name="グループ化 600"/>
          <p:cNvGrpSpPr/>
          <p:nvPr/>
        </p:nvGrpSpPr>
        <p:grpSpPr>
          <a:xfrm>
            <a:off x="7446016" y="5319025"/>
            <a:ext cx="630007" cy="360000"/>
            <a:chOff x="971600" y="5445224"/>
            <a:chExt cx="7200800" cy="576064"/>
          </a:xfrm>
        </p:grpSpPr>
        <p:sp>
          <p:nvSpPr>
            <p:cNvPr id="602" name="平行四辺形 60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3" name="平行四辺形 60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04" name="グループ化 603"/>
          <p:cNvGrpSpPr/>
          <p:nvPr/>
        </p:nvGrpSpPr>
        <p:grpSpPr>
          <a:xfrm>
            <a:off x="7986022" y="5319025"/>
            <a:ext cx="630007" cy="360000"/>
            <a:chOff x="971600" y="5445224"/>
            <a:chExt cx="7200800" cy="576064"/>
          </a:xfrm>
        </p:grpSpPr>
        <p:sp>
          <p:nvSpPr>
            <p:cNvPr id="605" name="平行四辺形 60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6" name="平行四辺形 60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07" name="グループ化 606"/>
          <p:cNvGrpSpPr/>
          <p:nvPr/>
        </p:nvGrpSpPr>
        <p:grpSpPr>
          <a:xfrm>
            <a:off x="8526028" y="5319025"/>
            <a:ext cx="630007" cy="360000"/>
            <a:chOff x="971600" y="5445224"/>
            <a:chExt cx="7200800" cy="576064"/>
          </a:xfrm>
        </p:grpSpPr>
        <p:sp>
          <p:nvSpPr>
            <p:cNvPr id="608" name="平行四辺形 60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9" name="平行四辺形 60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10" name="グループ化 609"/>
          <p:cNvGrpSpPr/>
          <p:nvPr/>
        </p:nvGrpSpPr>
        <p:grpSpPr>
          <a:xfrm>
            <a:off x="9066034" y="5319025"/>
            <a:ext cx="630007" cy="360000"/>
            <a:chOff x="971600" y="5445224"/>
            <a:chExt cx="7200800" cy="576064"/>
          </a:xfrm>
        </p:grpSpPr>
        <p:sp>
          <p:nvSpPr>
            <p:cNvPr id="611" name="平行四辺形 61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12" name="平行四辺形 61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613" name="正方形/長方形 612"/>
          <p:cNvSpPr/>
          <p:nvPr/>
        </p:nvSpPr>
        <p:spPr>
          <a:xfrm>
            <a:off x="2855965" y="908972"/>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14" name="角丸四角形吹き出し 613"/>
          <p:cNvSpPr/>
          <p:nvPr/>
        </p:nvSpPr>
        <p:spPr bwMode="auto">
          <a:xfrm>
            <a:off x="3845975" y="638969"/>
            <a:ext cx="2160024" cy="612648"/>
          </a:xfrm>
          <a:prstGeom prst="wedgeRoundRectCallout">
            <a:avLst>
              <a:gd name="adj1" fmla="val -67072"/>
              <a:gd name="adj2" fmla="val 49646"/>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Arial Narrow" panose="020B0606020202030204" pitchFamily="34" charset="0"/>
              </a:rPr>
              <a:t>どうしてこうなった</a:t>
            </a:r>
          </a:p>
        </p:txBody>
      </p:sp>
      <p:sp>
        <p:nvSpPr>
          <p:cNvPr id="615" name="正方形/長方形 614"/>
          <p:cNvSpPr/>
          <p:nvPr/>
        </p:nvSpPr>
        <p:spPr>
          <a:xfrm>
            <a:off x="9730010" y="4959017"/>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17" name="角丸四角形 616"/>
          <p:cNvSpPr/>
          <p:nvPr/>
        </p:nvSpPr>
        <p:spPr bwMode="auto">
          <a:xfrm>
            <a:off x="9156035" y="5229020"/>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t>
            </a:r>
            <a:endParaRPr lang="ja-JP" altLang="en-US" dirty="0">
              <a:latin typeface="Arial Narrow" panose="020B0606020202030204" pitchFamily="34" charset="0"/>
            </a:endParaRPr>
          </a:p>
        </p:txBody>
      </p:sp>
      <p:sp>
        <p:nvSpPr>
          <p:cNvPr id="618" name="角丸四角形 617"/>
          <p:cNvSpPr/>
          <p:nvPr/>
        </p:nvSpPr>
        <p:spPr bwMode="auto">
          <a:xfrm>
            <a:off x="9156035"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grpSp>
        <p:nvGrpSpPr>
          <p:cNvPr id="713" name="グループ化 712"/>
          <p:cNvGrpSpPr/>
          <p:nvPr/>
        </p:nvGrpSpPr>
        <p:grpSpPr>
          <a:xfrm>
            <a:off x="3215969" y="1429904"/>
            <a:ext cx="6390071" cy="4159121"/>
            <a:chOff x="1691968" y="1429903"/>
            <a:chExt cx="6390071" cy="4159121"/>
          </a:xfrm>
        </p:grpSpPr>
        <p:sp>
          <p:nvSpPr>
            <p:cNvPr id="619" name="角丸四角形 618"/>
            <p:cNvSpPr/>
            <p:nvPr/>
          </p:nvSpPr>
          <p:spPr bwMode="auto">
            <a:xfrm>
              <a:off x="7632034"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0" name="角丸四角形 619"/>
            <p:cNvSpPr/>
            <p:nvPr/>
          </p:nvSpPr>
          <p:spPr bwMode="auto">
            <a:xfrm>
              <a:off x="7632034"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1" name="角丸四角形 620"/>
            <p:cNvSpPr/>
            <p:nvPr/>
          </p:nvSpPr>
          <p:spPr bwMode="auto">
            <a:xfrm>
              <a:off x="7632034"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2" name="角丸四角形 621"/>
            <p:cNvSpPr/>
            <p:nvPr/>
          </p:nvSpPr>
          <p:spPr bwMode="auto">
            <a:xfrm>
              <a:off x="7632034"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3" name="角丸四角形 622"/>
            <p:cNvSpPr/>
            <p:nvPr/>
          </p:nvSpPr>
          <p:spPr bwMode="auto">
            <a:xfrm>
              <a:off x="7632034"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4" name="角丸四角形 623"/>
            <p:cNvSpPr/>
            <p:nvPr/>
          </p:nvSpPr>
          <p:spPr bwMode="auto">
            <a:xfrm>
              <a:off x="7632034"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5" name="角丸四角形 624"/>
            <p:cNvSpPr/>
            <p:nvPr/>
          </p:nvSpPr>
          <p:spPr bwMode="auto">
            <a:xfrm>
              <a:off x="7092028"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6" name="角丸四角形 625"/>
            <p:cNvSpPr/>
            <p:nvPr/>
          </p:nvSpPr>
          <p:spPr bwMode="auto">
            <a:xfrm>
              <a:off x="7092028"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7" name="角丸四角形 626"/>
            <p:cNvSpPr/>
            <p:nvPr/>
          </p:nvSpPr>
          <p:spPr bwMode="auto">
            <a:xfrm>
              <a:off x="7092028"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8" name="角丸四角形 627"/>
            <p:cNvSpPr/>
            <p:nvPr/>
          </p:nvSpPr>
          <p:spPr bwMode="auto">
            <a:xfrm>
              <a:off x="7092028"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9" name="角丸四角形 628"/>
            <p:cNvSpPr/>
            <p:nvPr/>
          </p:nvSpPr>
          <p:spPr bwMode="auto">
            <a:xfrm>
              <a:off x="7092028"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0" name="角丸四角形 629"/>
            <p:cNvSpPr/>
            <p:nvPr/>
          </p:nvSpPr>
          <p:spPr bwMode="auto">
            <a:xfrm>
              <a:off x="7092028"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1" name="角丸四角形 630"/>
            <p:cNvSpPr/>
            <p:nvPr/>
          </p:nvSpPr>
          <p:spPr bwMode="auto">
            <a:xfrm>
              <a:off x="7092028"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2" name="角丸四角形 631"/>
            <p:cNvSpPr/>
            <p:nvPr/>
          </p:nvSpPr>
          <p:spPr bwMode="auto">
            <a:xfrm>
              <a:off x="7092028"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3" name="角丸四角形 632"/>
            <p:cNvSpPr/>
            <p:nvPr/>
          </p:nvSpPr>
          <p:spPr bwMode="auto">
            <a:xfrm>
              <a:off x="6552022"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4" name="角丸四角形 633"/>
            <p:cNvSpPr/>
            <p:nvPr/>
          </p:nvSpPr>
          <p:spPr bwMode="auto">
            <a:xfrm>
              <a:off x="6552022"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5" name="角丸四角形 634"/>
            <p:cNvSpPr/>
            <p:nvPr/>
          </p:nvSpPr>
          <p:spPr bwMode="auto">
            <a:xfrm>
              <a:off x="6552022"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6" name="角丸四角形 635"/>
            <p:cNvSpPr/>
            <p:nvPr/>
          </p:nvSpPr>
          <p:spPr bwMode="auto">
            <a:xfrm>
              <a:off x="6552022"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7" name="角丸四角形 636"/>
            <p:cNvSpPr/>
            <p:nvPr/>
          </p:nvSpPr>
          <p:spPr bwMode="auto">
            <a:xfrm>
              <a:off x="6552022"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8" name="角丸四角形 637"/>
            <p:cNvSpPr/>
            <p:nvPr/>
          </p:nvSpPr>
          <p:spPr bwMode="auto">
            <a:xfrm>
              <a:off x="6552022"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9" name="角丸四角形 638"/>
            <p:cNvSpPr/>
            <p:nvPr/>
          </p:nvSpPr>
          <p:spPr bwMode="auto">
            <a:xfrm>
              <a:off x="6552022"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0" name="角丸四角形 639"/>
            <p:cNvSpPr/>
            <p:nvPr/>
          </p:nvSpPr>
          <p:spPr bwMode="auto">
            <a:xfrm>
              <a:off x="6552022"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1" name="角丸四角形 640"/>
            <p:cNvSpPr/>
            <p:nvPr/>
          </p:nvSpPr>
          <p:spPr bwMode="auto">
            <a:xfrm>
              <a:off x="6012016"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2" name="角丸四角形 641"/>
            <p:cNvSpPr/>
            <p:nvPr/>
          </p:nvSpPr>
          <p:spPr bwMode="auto">
            <a:xfrm>
              <a:off x="6012016"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3" name="角丸四角形 642"/>
            <p:cNvSpPr/>
            <p:nvPr/>
          </p:nvSpPr>
          <p:spPr bwMode="auto">
            <a:xfrm>
              <a:off x="6012016"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4" name="角丸四角形 643"/>
            <p:cNvSpPr/>
            <p:nvPr/>
          </p:nvSpPr>
          <p:spPr bwMode="auto">
            <a:xfrm>
              <a:off x="6012016"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5" name="角丸四角形 644"/>
            <p:cNvSpPr/>
            <p:nvPr/>
          </p:nvSpPr>
          <p:spPr bwMode="auto">
            <a:xfrm>
              <a:off x="6012016"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6" name="角丸四角形 645"/>
            <p:cNvSpPr/>
            <p:nvPr/>
          </p:nvSpPr>
          <p:spPr bwMode="auto">
            <a:xfrm>
              <a:off x="6012016"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7" name="角丸四角形 646"/>
            <p:cNvSpPr/>
            <p:nvPr/>
          </p:nvSpPr>
          <p:spPr bwMode="auto">
            <a:xfrm>
              <a:off x="6012016"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8" name="角丸四角形 647"/>
            <p:cNvSpPr/>
            <p:nvPr/>
          </p:nvSpPr>
          <p:spPr bwMode="auto">
            <a:xfrm>
              <a:off x="6012016"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9" name="角丸四角形 648"/>
            <p:cNvSpPr/>
            <p:nvPr/>
          </p:nvSpPr>
          <p:spPr bwMode="auto">
            <a:xfrm>
              <a:off x="5472010"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0" name="角丸四角形 649"/>
            <p:cNvSpPr/>
            <p:nvPr/>
          </p:nvSpPr>
          <p:spPr bwMode="auto">
            <a:xfrm>
              <a:off x="5472010"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1" name="角丸四角形 650"/>
            <p:cNvSpPr/>
            <p:nvPr/>
          </p:nvSpPr>
          <p:spPr bwMode="auto">
            <a:xfrm>
              <a:off x="5472010"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2" name="角丸四角形 651"/>
            <p:cNvSpPr/>
            <p:nvPr/>
          </p:nvSpPr>
          <p:spPr bwMode="auto">
            <a:xfrm>
              <a:off x="5472010"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3" name="角丸四角形 652"/>
            <p:cNvSpPr/>
            <p:nvPr/>
          </p:nvSpPr>
          <p:spPr bwMode="auto">
            <a:xfrm>
              <a:off x="5472010"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4" name="角丸四角形 653"/>
            <p:cNvSpPr/>
            <p:nvPr/>
          </p:nvSpPr>
          <p:spPr bwMode="auto">
            <a:xfrm>
              <a:off x="5472010"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5" name="角丸四角形 654"/>
            <p:cNvSpPr/>
            <p:nvPr/>
          </p:nvSpPr>
          <p:spPr bwMode="auto">
            <a:xfrm>
              <a:off x="5472010"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6" name="角丸四角形 655"/>
            <p:cNvSpPr/>
            <p:nvPr/>
          </p:nvSpPr>
          <p:spPr bwMode="auto">
            <a:xfrm>
              <a:off x="5472010"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7" name="角丸四角形 656"/>
            <p:cNvSpPr/>
            <p:nvPr/>
          </p:nvSpPr>
          <p:spPr bwMode="auto">
            <a:xfrm>
              <a:off x="4932004"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8" name="角丸四角形 657"/>
            <p:cNvSpPr/>
            <p:nvPr/>
          </p:nvSpPr>
          <p:spPr bwMode="auto">
            <a:xfrm>
              <a:off x="4932004"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9" name="角丸四角形 658"/>
            <p:cNvSpPr/>
            <p:nvPr/>
          </p:nvSpPr>
          <p:spPr bwMode="auto">
            <a:xfrm>
              <a:off x="4932004"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0" name="角丸四角形 659"/>
            <p:cNvSpPr/>
            <p:nvPr/>
          </p:nvSpPr>
          <p:spPr bwMode="auto">
            <a:xfrm>
              <a:off x="4932004"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1" name="角丸四角形 660"/>
            <p:cNvSpPr/>
            <p:nvPr/>
          </p:nvSpPr>
          <p:spPr bwMode="auto">
            <a:xfrm>
              <a:off x="4932004"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2" name="角丸四角形 661"/>
            <p:cNvSpPr/>
            <p:nvPr/>
          </p:nvSpPr>
          <p:spPr bwMode="auto">
            <a:xfrm>
              <a:off x="4932004"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3" name="角丸四角形 662"/>
            <p:cNvSpPr/>
            <p:nvPr/>
          </p:nvSpPr>
          <p:spPr bwMode="auto">
            <a:xfrm>
              <a:off x="4932004"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4" name="角丸四角形 663"/>
            <p:cNvSpPr/>
            <p:nvPr/>
          </p:nvSpPr>
          <p:spPr bwMode="auto">
            <a:xfrm>
              <a:off x="4932004"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5" name="角丸四角形 664"/>
            <p:cNvSpPr/>
            <p:nvPr/>
          </p:nvSpPr>
          <p:spPr bwMode="auto">
            <a:xfrm>
              <a:off x="4391998"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6" name="角丸四角形 665"/>
            <p:cNvSpPr/>
            <p:nvPr/>
          </p:nvSpPr>
          <p:spPr bwMode="auto">
            <a:xfrm>
              <a:off x="4391998"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7" name="角丸四角形 666"/>
            <p:cNvSpPr/>
            <p:nvPr/>
          </p:nvSpPr>
          <p:spPr bwMode="auto">
            <a:xfrm>
              <a:off x="4391998"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8" name="角丸四角形 667"/>
            <p:cNvSpPr/>
            <p:nvPr/>
          </p:nvSpPr>
          <p:spPr bwMode="auto">
            <a:xfrm>
              <a:off x="4391998"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9" name="角丸四角形 668"/>
            <p:cNvSpPr/>
            <p:nvPr/>
          </p:nvSpPr>
          <p:spPr bwMode="auto">
            <a:xfrm>
              <a:off x="4391998"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0" name="角丸四角形 669"/>
            <p:cNvSpPr/>
            <p:nvPr/>
          </p:nvSpPr>
          <p:spPr bwMode="auto">
            <a:xfrm>
              <a:off x="4391998"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1" name="角丸四角形 670"/>
            <p:cNvSpPr/>
            <p:nvPr/>
          </p:nvSpPr>
          <p:spPr bwMode="auto">
            <a:xfrm>
              <a:off x="4391998"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2" name="角丸四角形 671"/>
            <p:cNvSpPr/>
            <p:nvPr/>
          </p:nvSpPr>
          <p:spPr bwMode="auto">
            <a:xfrm>
              <a:off x="4391998"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3" name="角丸四角形 672"/>
            <p:cNvSpPr/>
            <p:nvPr/>
          </p:nvSpPr>
          <p:spPr bwMode="auto">
            <a:xfrm>
              <a:off x="3851992"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4" name="角丸四角形 673"/>
            <p:cNvSpPr/>
            <p:nvPr/>
          </p:nvSpPr>
          <p:spPr bwMode="auto">
            <a:xfrm>
              <a:off x="3851992"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5" name="角丸四角形 674"/>
            <p:cNvSpPr/>
            <p:nvPr/>
          </p:nvSpPr>
          <p:spPr bwMode="auto">
            <a:xfrm>
              <a:off x="3851992"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6" name="角丸四角形 675"/>
            <p:cNvSpPr/>
            <p:nvPr/>
          </p:nvSpPr>
          <p:spPr bwMode="auto">
            <a:xfrm>
              <a:off x="3851992"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7" name="角丸四角形 676"/>
            <p:cNvSpPr/>
            <p:nvPr/>
          </p:nvSpPr>
          <p:spPr bwMode="auto">
            <a:xfrm>
              <a:off x="3851992"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8" name="角丸四角形 677"/>
            <p:cNvSpPr/>
            <p:nvPr/>
          </p:nvSpPr>
          <p:spPr bwMode="auto">
            <a:xfrm>
              <a:off x="3851992"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9" name="角丸四角形 678"/>
            <p:cNvSpPr/>
            <p:nvPr/>
          </p:nvSpPr>
          <p:spPr bwMode="auto">
            <a:xfrm>
              <a:off x="3851992"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0" name="角丸四角形 679"/>
            <p:cNvSpPr/>
            <p:nvPr/>
          </p:nvSpPr>
          <p:spPr bwMode="auto">
            <a:xfrm>
              <a:off x="3851992"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1" name="角丸四角形 680"/>
            <p:cNvSpPr/>
            <p:nvPr/>
          </p:nvSpPr>
          <p:spPr bwMode="auto">
            <a:xfrm>
              <a:off x="3311986"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2" name="角丸四角形 681"/>
            <p:cNvSpPr/>
            <p:nvPr/>
          </p:nvSpPr>
          <p:spPr bwMode="auto">
            <a:xfrm>
              <a:off x="3311986"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3" name="角丸四角形 682"/>
            <p:cNvSpPr/>
            <p:nvPr/>
          </p:nvSpPr>
          <p:spPr bwMode="auto">
            <a:xfrm>
              <a:off x="3311986"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4" name="角丸四角形 683"/>
            <p:cNvSpPr/>
            <p:nvPr/>
          </p:nvSpPr>
          <p:spPr bwMode="auto">
            <a:xfrm>
              <a:off x="3311986"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5" name="角丸四角形 684"/>
            <p:cNvSpPr/>
            <p:nvPr/>
          </p:nvSpPr>
          <p:spPr bwMode="auto">
            <a:xfrm>
              <a:off x="3311986"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6" name="角丸四角形 685"/>
            <p:cNvSpPr/>
            <p:nvPr/>
          </p:nvSpPr>
          <p:spPr bwMode="auto">
            <a:xfrm>
              <a:off x="3311986"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7" name="角丸四角形 686"/>
            <p:cNvSpPr/>
            <p:nvPr/>
          </p:nvSpPr>
          <p:spPr bwMode="auto">
            <a:xfrm>
              <a:off x="3311986"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8" name="角丸四角形 687"/>
            <p:cNvSpPr/>
            <p:nvPr/>
          </p:nvSpPr>
          <p:spPr bwMode="auto">
            <a:xfrm>
              <a:off x="3311986"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9" name="角丸四角形 688"/>
            <p:cNvSpPr/>
            <p:nvPr/>
          </p:nvSpPr>
          <p:spPr bwMode="auto">
            <a:xfrm>
              <a:off x="2771980"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0" name="角丸四角形 689"/>
            <p:cNvSpPr/>
            <p:nvPr/>
          </p:nvSpPr>
          <p:spPr bwMode="auto">
            <a:xfrm>
              <a:off x="2771980"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1" name="角丸四角形 690"/>
            <p:cNvSpPr/>
            <p:nvPr/>
          </p:nvSpPr>
          <p:spPr bwMode="auto">
            <a:xfrm>
              <a:off x="2771980"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2" name="角丸四角形 691"/>
            <p:cNvSpPr/>
            <p:nvPr/>
          </p:nvSpPr>
          <p:spPr bwMode="auto">
            <a:xfrm>
              <a:off x="2771980"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3" name="角丸四角形 692"/>
            <p:cNvSpPr/>
            <p:nvPr/>
          </p:nvSpPr>
          <p:spPr bwMode="auto">
            <a:xfrm>
              <a:off x="2771980"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4" name="角丸四角形 693"/>
            <p:cNvSpPr/>
            <p:nvPr/>
          </p:nvSpPr>
          <p:spPr bwMode="auto">
            <a:xfrm>
              <a:off x="2771980"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5" name="角丸四角形 694"/>
            <p:cNvSpPr/>
            <p:nvPr/>
          </p:nvSpPr>
          <p:spPr bwMode="auto">
            <a:xfrm>
              <a:off x="2771980"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6" name="角丸四角形 695"/>
            <p:cNvSpPr/>
            <p:nvPr/>
          </p:nvSpPr>
          <p:spPr bwMode="auto">
            <a:xfrm>
              <a:off x="2771980"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7" name="角丸四角形 696"/>
            <p:cNvSpPr/>
            <p:nvPr/>
          </p:nvSpPr>
          <p:spPr bwMode="auto">
            <a:xfrm>
              <a:off x="2231974"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8" name="角丸四角形 697"/>
            <p:cNvSpPr/>
            <p:nvPr/>
          </p:nvSpPr>
          <p:spPr bwMode="auto">
            <a:xfrm>
              <a:off x="2231974"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9" name="角丸四角形 698"/>
            <p:cNvSpPr/>
            <p:nvPr/>
          </p:nvSpPr>
          <p:spPr bwMode="auto">
            <a:xfrm>
              <a:off x="2231974"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0" name="角丸四角形 699"/>
            <p:cNvSpPr/>
            <p:nvPr/>
          </p:nvSpPr>
          <p:spPr bwMode="auto">
            <a:xfrm>
              <a:off x="2231974"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1" name="角丸四角形 700"/>
            <p:cNvSpPr/>
            <p:nvPr/>
          </p:nvSpPr>
          <p:spPr bwMode="auto">
            <a:xfrm>
              <a:off x="2231974"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2" name="角丸四角形 701"/>
            <p:cNvSpPr/>
            <p:nvPr/>
          </p:nvSpPr>
          <p:spPr bwMode="auto">
            <a:xfrm>
              <a:off x="2231974"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3" name="角丸四角形 702"/>
            <p:cNvSpPr/>
            <p:nvPr/>
          </p:nvSpPr>
          <p:spPr bwMode="auto">
            <a:xfrm>
              <a:off x="2231974"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4" name="角丸四角形 703"/>
            <p:cNvSpPr/>
            <p:nvPr/>
          </p:nvSpPr>
          <p:spPr bwMode="auto">
            <a:xfrm>
              <a:off x="2231974"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5" name="角丸四角形 704"/>
            <p:cNvSpPr/>
            <p:nvPr/>
          </p:nvSpPr>
          <p:spPr bwMode="auto">
            <a:xfrm>
              <a:off x="1691968"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6" name="角丸四角形 705"/>
            <p:cNvSpPr/>
            <p:nvPr/>
          </p:nvSpPr>
          <p:spPr bwMode="auto">
            <a:xfrm>
              <a:off x="1691968"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7" name="角丸四角形 706"/>
            <p:cNvSpPr/>
            <p:nvPr/>
          </p:nvSpPr>
          <p:spPr bwMode="auto">
            <a:xfrm>
              <a:off x="1691968"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8" name="角丸四角形 707"/>
            <p:cNvSpPr/>
            <p:nvPr/>
          </p:nvSpPr>
          <p:spPr bwMode="auto">
            <a:xfrm>
              <a:off x="1691968"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9" name="角丸四角形 708"/>
            <p:cNvSpPr/>
            <p:nvPr/>
          </p:nvSpPr>
          <p:spPr bwMode="auto">
            <a:xfrm>
              <a:off x="1691968"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10" name="角丸四角形 709"/>
            <p:cNvSpPr/>
            <p:nvPr/>
          </p:nvSpPr>
          <p:spPr bwMode="auto">
            <a:xfrm>
              <a:off x="1691968"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11" name="角丸四角形 710"/>
            <p:cNvSpPr/>
            <p:nvPr/>
          </p:nvSpPr>
          <p:spPr bwMode="auto">
            <a:xfrm>
              <a:off x="1691968"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12" name="角丸四角形 711"/>
            <p:cNvSpPr/>
            <p:nvPr/>
          </p:nvSpPr>
          <p:spPr bwMode="auto">
            <a:xfrm>
              <a:off x="1691968"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grpSp>
      <p:sp>
        <p:nvSpPr>
          <p:cNvPr id="616" name="角丸四角形吹き出し 615"/>
          <p:cNvSpPr/>
          <p:nvPr/>
        </p:nvSpPr>
        <p:spPr bwMode="auto">
          <a:xfrm>
            <a:off x="7626018" y="4329010"/>
            <a:ext cx="2430027" cy="612648"/>
          </a:xfrm>
          <a:prstGeom prst="wedgeRoundRectCallout">
            <a:avLst>
              <a:gd name="adj1" fmla="val 39915"/>
              <a:gd name="adj2" fmla="val 10039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65000"/>
                    <a:lumOff val="35000"/>
                  </a:schemeClr>
                </a:solidFill>
                <a:latin typeface="Arial Narrow" panose="020B0606020202030204" pitchFamily="34" charset="0"/>
              </a:rPr>
              <a:t>やってしまいましたなぁ</a:t>
            </a:r>
          </a:p>
        </p:txBody>
      </p:sp>
    </p:spTree>
    <p:extLst>
      <p:ext uri="{BB962C8B-B14F-4D97-AF65-F5344CB8AC3E}">
        <p14:creationId xmlns:p14="http://schemas.microsoft.com/office/powerpoint/2010/main" val="36131817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xit" presetSubtype="0" fill="hold" nodeType="clickEffect">
                                  <p:stCondLst>
                                    <p:cond delay="0"/>
                                  </p:stCondLst>
                                  <p:childTnLst>
                                    <p:animEffect transition="out" filter="fade">
                                      <p:cBhvr>
                                        <p:cTn id="6" dur="1000"/>
                                        <p:tgtEl>
                                          <p:spTgt spid="713"/>
                                        </p:tgtEl>
                                      </p:cBhvr>
                                    </p:animEffect>
                                    <p:anim calcmode="lin" valueType="num">
                                      <p:cBhvr>
                                        <p:cTn id="7" dur="1000"/>
                                        <p:tgtEl>
                                          <p:spTgt spid="713"/>
                                        </p:tgtEl>
                                        <p:attrNameLst>
                                          <p:attrName>ppt_x</p:attrName>
                                        </p:attrNameLst>
                                      </p:cBhvr>
                                      <p:tavLst>
                                        <p:tav tm="0">
                                          <p:val>
                                            <p:strVal val="ppt_x"/>
                                          </p:val>
                                        </p:tav>
                                        <p:tav tm="100000">
                                          <p:val>
                                            <p:strVal val="ppt_x"/>
                                          </p:val>
                                        </p:tav>
                                      </p:tavLst>
                                    </p:anim>
                                    <p:anim calcmode="lin" valueType="num">
                                      <p:cBhvr>
                                        <p:cTn id="8" dur="1000"/>
                                        <p:tgtEl>
                                          <p:spTgt spid="713"/>
                                        </p:tgtEl>
                                        <p:attrNameLst>
                                          <p:attrName>ppt_y</p:attrName>
                                        </p:attrNameLst>
                                      </p:cBhvr>
                                      <p:tavLst>
                                        <p:tav tm="0">
                                          <p:val>
                                            <p:strVal val="ppt_y"/>
                                          </p:val>
                                        </p:tav>
                                        <p:tav tm="100000">
                                          <p:val>
                                            <p:strVal val="ppt_y+.1"/>
                                          </p:val>
                                        </p:tav>
                                      </p:tavLst>
                                    </p:anim>
                                    <p:set>
                                      <p:cBhvr>
                                        <p:cTn id="9" dur="1" fill="hold">
                                          <p:stCondLst>
                                            <p:cond delay="999"/>
                                          </p:stCondLst>
                                        </p:cTn>
                                        <p:tgtEl>
                                          <p:spTgt spid="7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8CC42FB-55A7-7538-DF8E-697ECCD71CB0}"/>
              </a:ext>
            </a:extLst>
          </p:cNvPr>
          <p:cNvSpPr>
            <a:spLocks noGrp="1"/>
          </p:cNvSpPr>
          <p:nvPr>
            <p:ph type="title"/>
          </p:nvPr>
        </p:nvSpPr>
        <p:spPr/>
        <p:txBody>
          <a:bodyPr/>
          <a:lstStyle/>
          <a:p>
            <a:r>
              <a:rPr kumimoji="1" lang="ja-JP" altLang="en-US" dirty="0"/>
              <a:t>予測アルゴリズムの基本</a:t>
            </a:r>
          </a:p>
        </p:txBody>
      </p:sp>
      <p:sp>
        <p:nvSpPr>
          <p:cNvPr id="3" name="テキスト プレースホルダー 2">
            <a:extLst>
              <a:ext uri="{FF2B5EF4-FFF2-40B4-BE49-F238E27FC236}">
                <a16:creationId xmlns:a16="http://schemas.microsoft.com/office/drawing/2014/main" id="{64515F28-634A-F1E1-48FE-34D0DD9887A3}"/>
              </a:ext>
            </a:extLst>
          </p:cNvPr>
          <p:cNvSpPr>
            <a:spLocks noGrp="1"/>
          </p:cNvSpPr>
          <p:nvPr>
            <p:ph type="body" sz="quarter" idx="10"/>
          </p:nvPr>
        </p:nvSpPr>
        <p:spPr>
          <a:xfrm>
            <a:off x="1415948" y="1088974"/>
            <a:ext cx="9000100" cy="5490061"/>
          </a:xfrm>
        </p:spPr>
        <p:txBody>
          <a:bodyPr/>
          <a:lstStyle/>
          <a:p>
            <a:r>
              <a:rPr lang="ja-JP" altLang="en-US" dirty="0"/>
              <a:t>単純な方法では命令アドレスごとに，過去の分岐方向を憶えておく</a:t>
            </a:r>
            <a:endParaRPr lang="en-US" altLang="ja-JP" dirty="0"/>
          </a:p>
          <a:p>
            <a:pPr lvl="1"/>
            <a:r>
              <a:rPr lang="ja-JP" altLang="en-US" dirty="0"/>
              <a:t>基本的には，過去に起きたことが繰り返されると想定</a:t>
            </a:r>
            <a:endParaRPr lang="en-US" altLang="ja-JP" dirty="0"/>
          </a:p>
          <a:p>
            <a:pPr lvl="2"/>
            <a:r>
              <a:rPr kumimoji="1" lang="en-US" altLang="ja-JP" dirty="0"/>
              <a:t>if </a:t>
            </a:r>
            <a:r>
              <a:rPr kumimoji="1" lang="ja-JP" altLang="en-US" dirty="0"/>
              <a:t>文は大抵同じ方向に行っている</a:t>
            </a:r>
            <a:endParaRPr kumimoji="1" lang="en-US" altLang="ja-JP" dirty="0"/>
          </a:p>
          <a:p>
            <a:pPr lvl="1"/>
            <a:r>
              <a:rPr lang="ja-JP" altLang="en-US" dirty="0"/>
              <a:t>これだけでも</a:t>
            </a:r>
            <a:r>
              <a:rPr lang="en-US" altLang="ja-JP" dirty="0"/>
              <a:t>8</a:t>
            </a:r>
            <a:r>
              <a:rPr lang="ja-JP" altLang="en-US" dirty="0"/>
              <a:t>割から</a:t>
            </a:r>
            <a:r>
              <a:rPr lang="en-US" altLang="ja-JP" dirty="0"/>
              <a:t>9</a:t>
            </a:r>
            <a:r>
              <a:rPr lang="ja-JP" altLang="en-US" dirty="0"/>
              <a:t>割は当てられる</a:t>
            </a:r>
            <a:endParaRPr lang="en-US" altLang="ja-JP" dirty="0"/>
          </a:p>
          <a:p>
            <a:r>
              <a:rPr kumimoji="1" lang="ja-JP" altLang="en-US" dirty="0"/>
              <a:t>より高度な方法では，</a:t>
            </a:r>
            <a:r>
              <a:rPr kumimoji="1" lang="en-US" altLang="ja-JP" dirty="0"/>
              <a:t>if </a:t>
            </a:r>
            <a:r>
              <a:rPr kumimoji="1" lang="ja-JP" altLang="en-US" dirty="0"/>
              <a:t>文に到達するまでの経路と </a:t>
            </a:r>
            <a:r>
              <a:rPr kumimoji="1" lang="en-US" altLang="ja-JP" dirty="0"/>
              <a:t>if </a:t>
            </a:r>
            <a:r>
              <a:rPr kumimoji="1" lang="ja-JP" altLang="en-US" dirty="0"/>
              <a:t>文の相関を捉える</a:t>
            </a:r>
            <a:endParaRPr kumimoji="1" lang="en-US" altLang="ja-JP" dirty="0"/>
          </a:p>
          <a:p>
            <a:pPr lvl="1"/>
            <a:r>
              <a:rPr kumimoji="1" lang="ja-JP" altLang="en-US" dirty="0"/>
              <a:t>「あの関数を呼んで，あそこの </a:t>
            </a:r>
            <a:r>
              <a:rPr kumimoji="1" lang="en-US" altLang="ja-JP" dirty="0"/>
              <a:t>if </a:t>
            </a:r>
            <a:r>
              <a:rPr kumimoji="1" lang="ja-JP" altLang="en-US" dirty="0"/>
              <a:t>文で </a:t>
            </a:r>
            <a:r>
              <a:rPr kumimoji="1" lang="en-US" altLang="ja-JP" dirty="0"/>
              <a:t>else </a:t>
            </a:r>
            <a:r>
              <a:rPr kumimoji="1" lang="ja-JP" altLang="en-US" dirty="0"/>
              <a:t>だったなら，ここは成立」</a:t>
            </a:r>
          </a:p>
        </p:txBody>
      </p:sp>
    </p:spTree>
    <p:extLst>
      <p:ext uri="{BB962C8B-B14F-4D97-AF65-F5344CB8AC3E}">
        <p14:creationId xmlns:p14="http://schemas.microsoft.com/office/powerpoint/2010/main" val="42462464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5C36FA-4923-9F9A-9B2E-3AD9A2E9DE72}"/>
              </a:ext>
            </a:extLst>
          </p:cNvPr>
          <p:cNvSpPr>
            <a:spLocks noGrp="1"/>
          </p:cNvSpPr>
          <p:nvPr>
            <p:ph type="title"/>
          </p:nvPr>
        </p:nvSpPr>
        <p:spPr/>
        <p:txBody>
          <a:bodyPr/>
          <a:lstStyle/>
          <a:p>
            <a:r>
              <a:rPr kumimoji="1" lang="ja-JP" altLang="en-US" dirty="0"/>
              <a:t>分岐予測のアルゴリズムの発展</a:t>
            </a:r>
            <a:endParaRPr kumimoji="1" lang="en-US" dirty="0"/>
          </a:p>
        </p:txBody>
      </p:sp>
      <p:sp>
        <p:nvSpPr>
          <p:cNvPr id="3" name="コンテンツ プレースホルダー 2">
            <a:extLst>
              <a:ext uri="{FF2B5EF4-FFF2-40B4-BE49-F238E27FC236}">
                <a16:creationId xmlns:a16="http://schemas.microsoft.com/office/drawing/2014/main" id="{3E229215-1F13-D6B9-EF86-F917FBA59DDA}"/>
              </a:ext>
            </a:extLst>
          </p:cNvPr>
          <p:cNvSpPr>
            <a:spLocks noGrp="1"/>
          </p:cNvSpPr>
          <p:nvPr>
            <p:ph sz="quarter" idx="10"/>
          </p:nvPr>
        </p:nvSpPr>
        <p:spPr>
          <a:xfrm>
            <a:off x="1955954" y="3248999"/>
            <a:ext cx="8280092" cy="1530017"/>
          </a:xfrm>
        </p:spPr>
        <p:txBody>
          <a:bodyPr anchor="t"/>
          <a:lstStyle/>
          <a:p>
            <a:r>
              <a:rPr lang="en-US" altLang="ja-JP" sz="1800" dirty="0"/>
              <a:t>André Seznec </a:t>
            </a:r>
            <a:r>
              <a:rPr lang="ja-JP" altLang="en-US" sz="1800" dirty="0"/>
              <a:t>先生が作った </a:t>
            </a:r>
            <a:r>
              <a:rPr lang="en-US" altLang="ja-JP" sz="1800" dirty="0"/>
              <a:t>TAGE </a:t>
            </a:r>
            <a:r>
              <a:rPr lang="ja-JP" altLang="en-US" sz="1800" dirty="0"/>
              <a:t>という予測器が</a:t>
            </a:r>
            <a:br>
              <a:rPr lang="en-US" altLang="ja-JP" sz="1800" dirty="0"/>
            </a:br>
            <a:r>
              <a:rPr lang="ja-JP" altLang="en-US" sz="1800" dirty="0"/>
              <a:t>現在最も予測精度が高いと言われている</a:t>
            </a:r>
            <a:endParaRPr lang="en-US" altLang="ja-JP" sz="1800" dirty="0"/>
          </a:p>
          <a:p>
            <a:pPr lvl="1"/>
            <a:r>
              <a:rPr lang="en-US" altLang="ja-JP" sz="1400" i="1" dirty="0"/>
              <a:t>A. Seznec and P. Michaud. A case for (partially)-tagged geometric history length predictors, Journal of Instruction Level Parallelism (http://www.jilp.org/vol8), 2006</a:t>
            </a:r>
            <a:endParaRPr lang="en-US" altLang="ja-JP" sz="1800" dirty="0"/>
          </a:p>
          <a:p>
            <a:pPr lvl="1"/>
            <a:r>
              <a:rPr lang="ja-JP" altLang="en-US" sz="1800" dirty="0"/>
              <a:t>写真 は </a:t>
            </a:r>
            <a:r>
              <a:rPr lang="en-US" sz="1800" dirty="0">
                <a:hlinkClick r:id="rId2"/>
              </a:rPr>
              <a:t>https://team.inria.fr/pacap/members/andre-seznec/</a:t>
            </a:r>
            <a:r>
              <a:rPr lang="en-US" sz="1800" dirty="0"/>
              <a:t> </a:t>
            </a:r>
            <a:r>
              <a:rPr lang="ja-JP" altLang="en-US" sz="1800" dirty="0"/>
              <a:t>より</a:t>
            </a:r>
            <a:endParaRPr lang="en-US" altLang="ja-JP" sz="1800" dirty="0"/>
          </a:p>
          <a:p>
            <a:r>
              <a:rPr lang="en-US" altLang="ja-JP" sz="1800" dirty="0"/>
              <a:t>Championship Branch Prediction </a:t>
            </a:r>
            <a:r>
              <a:rPr lang="ja-JP" altLang="en-US" sz="1800" dirty="0"/>
              <a:t>と言う大会がある</a:t>
            </a:r>
            <a:endParaRPr lang="en-US" altLang="ja-JP" sz="1800" dirty="0"/>
          </a:p>
          <a:p>
            <a:pPr lvl="1"/>
            <a:r>
              <a:rPr lang="ja-JP" altLang="en-US" sz="1800" dirty="0"/>
              <a:t>分岐予測は，この大会で出た様々なアイデアを元に発展してきた</a:t>
            </a:r>
            <a:endParaRPr lang="en-US" altLang="ja-JP" sz="1800" dirty="0"/>
          </a:p>
          <a:p>
            <a:pPr lvl="1"/>
            <a:r>
              <a:rPr lang="en-US" altLang="ja-JP" sz="1800" dirty="0"/>
              <a:t>Seznec </a:t>
            </a:r>
            <a:r>
              <a:rPr lang="ja-JP" altLang="en-US" sz="1800" dirty="0"/>
              <a:t>先生がもうずっと優勝し続けていた（</a:t>
            </a:r>
            <a:r>
              <a:rPr lang="en-US" altLang="ja-JP" sz="1800" dirty="0"/>
              <a:t>20</a:t>
            </a:r>
            <a:r>
              <a:rPr lang="ja-JP" altLang="en-US" sz="1800" dirty="0"/>
              <a:t>年以上）</a:t>
            </a:r>
            <a:endParaRPr lang="en-US" altLang="ja-JP" sz="1800" dirty="0"/>
          </a:p>
          <a:p>
            <a:pPr lvl="1"/>
            <a:r>
              <a:rPr lang="en-US" altLang="ja-JP" sz="1800" dirty="0"/>
              <a:t>2025 </a:t>
            </a:r>
            <a:r>
              <a:rPr lang="ja-JP" altLang="en-US" sz="1800" dirty="0"/>
              <a:t>年に久しぶりに開催</a:t>
            </a:r>
            <a:endParaRPr lang="en-US" altLang="ja-JP" sz="1800" dirty="0"/>
          </a:p>
        </p:txBody>
      </p:sp>
      <p:pic>
        <p:nvPicPr>
          <p:cNvPr id="5" name="Picture 2" descr="André Seznec">
            <a:extLst>
              <a:ext uri="{FF2B5EF4-FFF2-40B4-BE49-F238E27FC236}">
                <a16:creationId xmlns:a16="http://schemas.microsoft.com/office/drawing/2014/main" id="{E9F29D1A-5CC8-69E9-F12E-7DF24787415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26018" y="368967"/>
            <a:ext cx="1806747" cy="2709179"/>
          </a:xfrm>
          <a:prstGeom prst="rect">
            <a:avLst/>
          </a:prstGeom>
          <a:noFill/>
          <a:extLst>
            <a:ext uri="{909E8E84-426E-40DD-AFC4-6F175D3DCCD1}">
              <a14:hiddenFill xmlns:a14="http://schemas.microsoft.com/office/drawing/2010/main">
                <a:solidFill>
                  <a:srgbClr val="FFFFFF"/>
                </a:solidFill>
              </a14:hiddenFill>
            </a:ext>
          </a:extLst>
        </p:spPr>
      </p:pic>
      <p:pic>
        <p:nvPicPr>
          <p:cNvPr id="6" name="図 5">
            <a:extLst>
              <a:ext uri="{FF2B5EF4-FFF2-40B4-BE49-F238E27FC236}">
                <a16:creationId xmlns:a16="http://schemas.microsoft.com/office/drawing/2014/main" id="{2520A811-1F7C-0361-14AE-F7D51B8C2274}"/>
              </a:ext>
            </a:extLst>
          </p:cNvPr>
          <p:cNvPicPr>
            <a:picLocks noChangeAspect="1"/>
          </p:cNvPicPr>
          <p:nvPr/>
        </p:nvPicPr>
        <p:blipFill>
          <a:blip r:embed="rId4"/>
          <a:stretch>
            <a:fillRect/>
          </a:stretch>
        </p:blipFill>
        <p:spPr>
          <a:xfrm>
            <a:off x="3035966" y="949483"/>
            <a:ext cx="3420038" cy="2094873"/>
          </a:xfrm>
          <a:prstGeom prst="rect">
            <a:avLst/>
          </a:prstGeom>
        </p:spPr>
      </p:pic>
    </p:spTree>
    <p:extLst>
      <p:ext uri="{BB962C8B-B14F-4D97-AF65-F5344CB8AC3E}">
        <p14:creationId xmlns:p14="http://schemas.microsoft.com/office/powerpoint/2010/main" val="42188187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24BDF23-B6B9-A415-6103-A64416F597ED}"/>
              </a:ext>
            </a:extLst>
          </p:cNvPr>
          <p:cNvSpPr/>
          <p:nvPr/>
        </p:nvSpPr>
        <p:spPr bwMode="auto">
          <a:xfrm>
            <a:off x="1524000" y="0"/>
            <a:ext cx="9144000" cy="6858000"/>
          </a:xfrm>
          <a:prstGeom prst="rect">
            <a:avLst/>
          </a:prstGeom>
          <a:ln>
            <a:noFill/>
            <a:headEnd/>
            <a:tailEnd type="triangle" w="sm" len="med"/>
          </a:ln>
        </p:spPr>
        <p:style>
          <a:lnRef idx="2">
            <a:schemeClr val="dk1">
              <a:shade val="15000"/>
            </a:schemeClr>
          </a:lnRef>
          <a:fillRef idx="1">
            <a:schemeClr val="dk1"/>
          </a:fillRef>
          <a:effectRef idx="0">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5" name="図 4">
            <a:extLst>
              <a:ext uri="{FF2B5EF4-FFF2-40B4-BE49-F238E27FC236}">
                <a16:creationId xmlns:a16="http://schemas.microsoft.com/office/drawing/2014/main" id="{4B735AC2-5A7B-033B-BC7F-04D89242E9C0}"/>
              </a:ext>
            </a:extLst>
          </p:cNvPr>
          <p:cNvPicPr>
            <a:picLocks noChangeAspect="1"/>
          </p:cNvPicPr>
          <p:nvPr/>
        </p:nvPicPr>
        <p:blipFill>
          <a:blip r:embed="rId2"/>
          <a:stretch>
            <a:fillRect/>
          </a:stretch>
        </p:blipFill>
        <p:spPr>
          <a:xfrm>
            <a:off x="1524000" y="864898"/>
            <a:ext cx="9144000" cy="5128205"/>
          </a:xfrm>
          <a:prstGeom prst="rect">
            <a:avLst/>
          </a:prstGeom>
        </p:spPr>
      </p:pic>
    </p:spTree>
    <p:extLst>
      <p:ext uri="{BB962C8B-B14F-4D97-AF65-F5344CB8AC3E}">
        <p14:creationId xmlns:p14="http://schemas.microsoft.com/office/powerpoint/2010/main" val="16292237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6A3E8BC-E410-7405-495D-07ADB2A61C10}"/>
              </a:ext>
            </a:extLst>
          </p:cNvPr>
          <p:cNvSpPr>
            <a:spLocks noGrp="1"/>
          </p:cNvSpPr>
          <p:nvPr>
            <p:ph type="title"/>
          </p:nvPr>
        </p:nvSpPr>
        <p:spPr/>
        <p:txBody>
          <a:bodyPr/>
          <a:lstStyle/>
          <a:p>
            <a:r>
              <a:rPr kumimoji="1" lang="ja-JP" altLang="en-US" dirty="0"/>
              <a:t>去年はうちが優勝</a:t>
            </a:r>
          </a:p>
        </p:txBody>
      </p:sp>
      <p:pic>
        <p:nvPicPr>
          <p:cNvPr id="5" name="図 4">
            <a:extLst>
              <a:ext uri="{FF2B5EF4-FFF2-40B4-BE49-F238E27FC236}">
                <a16:creationId xmlns:a16="http://schemas.microsoft.com/office/drawing/2014/main" id="{AA9825A1-BF79-0D9E-3822-84FBAA53926A}"/>
              </a:ext>
            </a:extLst>
          </p:cNvPr>
          <p:cNvPicPr>
            <a:picLocks noChangeAspect="1"/>
          </p:cNvPicPr>
          <p:nvPr/>
        </p:nvPicPr>
        <p:blipFill>
          <a:blip r:embed="rId2"/>
          <a:stretch>
            <a:fillRect/>
          </a:stretch>
        </p:blipFill>
        <p:spPr>
          <a:xfrm>
            <a:off x="1505949" y="998973"/>
            <a:ext cx="9144000" cy="5141876"/>
          </a:xfrm>
          <a:prstGeom prst="rect">
            <a:avLst/>
          </a:prstGeom>
        </p:spPr>
      </p:pic>
    </p:spTree>
    <p:extLst>
      <p:ext uri="{BB962C8B-B14F-4D97-AF65-F5344CB8AC3E}">
        <p14:creationId xmlns:p14="http://schemas.microsoft.com/office/powerpoint/2010/main" val="6446615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BB5915-FAB6-7557-A1C3-60B29982973E}"/>
              </a:ext>
            </a:extLst>
          </p:cNvPr>
          <p:cNvSpPr>
            <a:spLocks noGrp="1"/>
          </p:cNvSpPr>
          <p:nvPr>
            <p:ph type="title"/>
          </p:nvPr>
        </p:nvSpPr>
        <p:spPr/>
        <p:txBody>
          <a:bodyPr>
            <a:normAutofit fontScale="90000"/>
          </a:bodyPr>
          <a:lstStyle/>
          <a:p>
            <a:r>
              <a:rPr lang="en-US" altLang="ja-JP" sz="4000" dirty="0"/>
              <a:t>RUNLTS Predictor</a:t>
            </a:r>
            <a:br>
              <a:rPr lang="en-US" altLang="ja-JP" sz="4000" dirty="0"/>
            </a:br>
            <a:r>
              <a:rPr lang="ja-JP" altLang="en-US" sz="2400" dirty="0">
                <a:latin typeface="メイリオ" panose="020B0604030504040204" pitchFamily="50" charset="-128"/>
              </a:rPr>
              <a:t>我々の世界最強の分岐予測器（</a:t>
            </a:r>
            <a:r>
              <a:rPr lang="en-US" altLang="ja-JP" sz="2400" dirty="0">
                <a:latin typeface="メイリオ" panose="020B0604030504040204" pitchFamily="50" charset="-128"/>
              </a:rPr>
              <a:t>2025</a:t>
            </a:r>
            <a:r>
              <a:rPr lang="ja-JP" altLang="en-US" sz="2400" dirty="0">
                <a:latin typeface="メイリオ" panose="020B0604030504040204" pitchFamily="50" charset="-128"/>
              </a:rPr>
              <a:t>年</a:t>
            </a:r>
            <a:r>
              <a:rPr lang="en-US" altLang="ja-JP" sz="2400" dirty="0">
                <a:latin typeface="メイリオ" panose="020B0604030504040204" pitchFamily="50" charset="-128"/>
              </a:rPr>
              <a:t>6</a:t>
            </a:r>
            <a:r>
              <a:rPr lang="ja-JP" altLang="en-US" sz="2400" dirty="0">
                <a:latin typeface="メイリオ" panose="020B0604030504040204" pitchFamily="50" charset="-128"/>
              </a:rPr>
              <a:t>月現在）</a:t>
            </a:r>
            <a:endParaRPr lang="ja-JP" altLang="en-US" sz="4000" dirty="0">
              <a:latin typeface="メイリオ" panose="020B0604030504040204" pitchFamily="50" charset="-128"/>
            </a:endParaRPr>
          </a:p>
        </p:txBody>
      </p:sp>
      <p:sp>
        <p:nvSpPr>
          <p:cNvPr id="3" name="コンテンツ プレースホルダー 2">
            <a:extLst>
              <a:ext uri="{FF2B5EF4-FFF2-40B4-BE49-F238E27FC236}">
                <a16:creationId xmlns:a16="http://schemas.microsoft.com/office/drawing/2014/main" id="{4334B937-DFF3-F15A-A301-50998CA03BA9}"/>
              </a:ext>
            </a:extLst>
          </p:cNvPr>
          <p:cNvSpPr>
            <a:spLocks noGrp="1"/>
          </p:cNvSpPr>
          <p:nvPr>
            <p:ph sz="quarter" idx="10"/>
          </p:nvPr>
        </p:nvSpPr>
        <p:spPr/>
        <p:txBody>
          <a:bodyPr/>
          <a:lstStyle/>
          <a:p>
            <a:r>
              <a:rPr kumimoji="1" lang="en-US" altLang="ja-JP" dirty="0"/>
              <a:t>High-level structure is almost the same as that of TAGE-SC</a:t>
            </a:r>
            <a:r>
              <a:rPr lang="en-US" altLang="ja-JP" dirty="0"/>
              <a:t>.</a:t>
            </a:r>
          </a:p>
          <a:p>
            <a:pPr lvl="1"/>
            <a:r>
              <a:rPr kumimoji="1" lang="en-US" altLang="ja-JP" dirty="0"/>
              <a:t>We added register-value component to the SC.</a:t>
            </a:r>
          </a:p>
        </p:txBody>
      </p:sp>
      <p:sp>
        <p:nvSpPr>
          <p:cNvPr id="260" name="正方形/長方形 259">
            <a:extLst>
              <a:ext uri="{FF2B5EF4-FFF2-40B4-BE49-F238E27FC236}">
                <a16:creationId xmlns:a16="http://schemas.microsoft.com/office/drawing/2014/main" id="{6B4AE000-F6C8-7D70-EEF6-86BFFA9AF891}"/>
              </a:ext>
            </a:extLst>
          </p:cNvPr>
          <p:cNvSpPr/>
          <p:nvPr/>
        </p:nvSpPr>
        <p:spPr>
          <a:xfrm>
            <a:off x="4543500" y="3057751"/>
            <a:ext cx="5838750" cy="2159999"/>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t"/>
          <a:lstStyle/>
          <a:p>
            <a:pPr defTabSz="342900"/>
            <a:r>
              <a:rPr lang="en-US" altLang="ja-JP" sz="1350" dirty="0">
                <a:solidFill>
                  <a:prstClr val="black"/>
                </a:solidFill>
                <a:latin typeface="Calibri" panose="020F0502020204030204"/>
                <a:ea typeface="游ゴシック" panose="020B0400000000000000" pitchFamily="50" charset="-128"/>
              </a:rPr>
              <a:t>Statistical corrector predictor (SC)</a:t>
            </a:r>
            <a:endParaRPr lang="ja-JP" altLang="en-US" sz="1350" dirty="0">
              <a:solidFill>
                <a:prstClr val="black"/>
              </a:solidFill>
              <a:latin typeface="Calibri" panose="020F0502020204030204"/>
              <a:ea typeface="游ゴシック" panose="020B0400000000000000" pitchFamily="50" charset="-128"/>
            </a:endParaRPr>
          </a:p>
        </p:txBody>
      </p:sp>
      <p:sp>
        <p:nvSpPr>
          <p:cNvPr id="259" name="正方形/長方形 258">
            <a:extLst>
              <a:ext uri="{FF2B5EF4-FFF2-40B4-BE49-F238E27FC236}">
                <a16:creationId xmlns:a16="http://schemas.microsoft.com/office/drawing/2014/main" id="{53C7C9D7-ED39-551D-4AF3-CBF9A89C6FB4}"/>
              </a:ext>
            </a:extLst>
          </p:cNvPr>
          <p:cNvSpPr/>
          <p:nvPr/>
        </p:nvSpPr>
        <p:spPr>
          <a:xfrm>
            <a:off x="1809750" y="3057751"/>
            <a:ext cx="2531250" cy="2159999"/>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t"/>
          <a:lstStyle/>
          <a:p>
            <a:pPr defTabSz="342900"/>
            <a:r>
              <a:rPr lang="en-US" altLang="ja-JP" sz="1350" dirty="0">
                <a:solidFill>
                  <a:prstClr val="black"/>
                </a:solidFill>
                <a:latin typeface="Calibri" panose="020F0502020204030204"/>
                <a:ea typeface="游ゴシック" panose="020B0400000000000000" pitchFamily="50" charset="-128"/>
              </a:rPr>
              <a:t>Table predictor</a:t>
            </a:r>
            <a:endParaRPr lang="ja-JP" altLang="en-US" sz="1350" dirty="0">
              <a:solidFill>
                <a:prstClr val="black"/>
              </a:solidFill>
              <a:latin typeface="Calibri" panose="020F0502020204030204"/>
              <a:ea typeface="游ゴシック" panose="020B0400000000000000" pitchFamily="50" charset="-128"/>
            </a:endParaRPr>
          </a:p>
        </p:txBody>
      </p:sp>
      <p:sp>
        <p:nvSpPr>
          <p:cNvPr id="140" name="Freeform 10">
            <a:extLst>
              <a:ext uri="{FF2B5EF4-FFF2-40B4-BE49-F238E27FC236}">
                <a16:creationId xmlns:a16="http://schemas.microsoft.com/office/drawing/2014/main" id="{8F07BF9A-D5BA-0BE3-9A4B-C20A499CA3DA}"/>
              </a:ext>
            </a:extLst>
          </p:cNvPr>
          <p:cNvSpPr>
            <a:spLocks/>
          </p:cNvSpPr>
          <p:nvPr/>
        </p:nvSpPr>
        <p:spPr bwMode="auto">
          <a:xfrm>
            <a:off x="2181000" y="4103999"/>
            <a:ext cx="371224" cy="10125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41" name="正方形/長方形 140">
            <a:extLst>
              <a:ext uri="{FF2B5EF4-FFF2-40B4-BE49-F238E27FC236}">
                <a16:creationId xmlns:a16="http://schemas.microsoft.com/office/drawing/2014/main" id="{72311D96-7E86-2073-B66E-1E49526C408F}"/>
              </a:ext>
            </a:extLst>
          </p:cNvPr>
          <p:cNvSpPr/>
          <p:nvPr/>
        </p:nvSpPr>
        <p:spPr>
          <a:xfrm>
            <a:off x="1944750" y="3732749"/>
            <a:ext cx="472508" cy="371250"/>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Bimodal</a:t>
            </a:r>
          </a:p>
        </p:txBody>
      </p:sp>
      <p:sp>
        <p:nvSpPr>
          <p:cNvPr id="142" name="正方形/長方形 141">
            <a:extLst>
              <a:ext uri="{FF2B5EF4-FFF2-40B4-BE49-F238E27FC236}">
                <a16:creationId xmlns:a16="http://schemas.microsoft.com/office/drawing/2014/main" id="{81472155-8763-1486-9F16-827BABD57A20}"/>
              </a:ext>
            </a:extLst>
          </p:cNvPr>
          <p:cNvSpPr/>
          <p:nvPr/>
        </p:nvSpPr>
        <p:spPr>
          <a:xfrm>
            <a:off x="1911000" y="336149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43" name="直線矢印コネクタ 142">
            <a:extLst>
              <a:ext uri="{FF2B5EF4-FFF2-40B4-BE49-F238E27FC236}">
                <a16:creationId xmlns:a16="http://schemas.microsoft.com/office/drawing/2014/main" id="{3C951A0E-74B6-BDDE-1A91-1520BC7167E7}"/>
              </a:ext>
            </a:extLst>
          </p:cNvPr>
          <p:cNvCxnSpPr>
            <a:cxnSpLocks/>
            <a:stCxn id="142" idx="2"/>
            <a:endCxn id="141" idx="0"/>
          </p:cNvCxnSpPr>
          <p:nvPr/>
        </p:nvCxnSpPr>
        <p:spPr>
          <a:xfrm>
            <a:off x="2181004" y="3496501"/>
            <a:ext cx="1" cy="236249"/>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44" name="台形 143">
            <a:extLst>
              <a:ext uri="{FF2B5EF4-FFF2-40B4-BE49-F238E27FC236}">
                <a16:creationId xmlns:a16="http://schemas.microsoft.com/office/drawing/2014/main" id="{A13D0BE4-4990-85D1-6000-ECA0B8E83874}"/>
              </a:ext>
            </a:extLst>
          </p:cNvPr>
          <p:cNvSpPr/>
          <p:nvPr/>
        </p:nvSpPr>
        <p:spPr>
          <a:xfrm flipV="1">
            <a:off x="2484724" y="4306498"/>
            <a:ext cx="270003" cy="67502"/>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45" name="直線コネクタ 144">
            <a:extLst>
              <a:ext uri="{FF2B5EF4-FFF2-40B4-BE49-F238E27FC236}">
                <a16:creationId xmlns:a16="http://schemas.microsoft.com/office/drawing/2014/main" id="{F5D03A6A-7879-3202-F6DF-5F8F9C3B9CBD}"/>
              </a:ext>
            </a:extLst>
          </p:cNvPr>
          <p:cNvCxnSpPr>
            <a:cxnSpLocks/>
          </p:cNvCxnSpPr>
          <p:nvPr/>
        </p:nvCxnSpPr>
        <p:spPr>
          <a:xfrm>
            <a:off x="2687225" y="4103998"/>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46" name="直線コネクタ 145">
            <a:extLst>
              <a:ext uri="{FF2B5EF4-FFF2-40B4-BE49-F238E27FC236}">
                <a16:creationId xmlns:a16="http://schemas.microsoft.com/office/drawing/2014/main" id="{73620010-2877-1B7F-9086-0CF5392B6BBC}"/>
              </a:ext>
            </a:extLst>
          </p:cNvPr>
          <p:cNvCxnSpPr>
            <a:cxnSpLocks/>
          </p:cNvCxnSpPr>
          <p:nvPr/>
        </p:nvCxnSpPr>
        <p:spPr>
          <a:xfrm>
            <a:off x="2552224" y="4205250"/>
            <a:ext cx="0" cy="10125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47" name="Freeform 10">
            <a:extLst>
              <a:ext uri="{FF2B5EF4-FFF2-40B4-BE49-F238E27FC236}">
                <a16:creationId xmlns:a16="http://schemas.microsoft.com/office/drawing/2014/main" id="{D83A9C4D-4913-CD67-BDE8-CF81A303026B}"/>
              </a:ext>
            </a:extLst>
          </p:cNvPr>
          <p:cNvSpPr>
            <a:spLocks/>
          </p:cNvSpPr>
          <p:nvPr/>
        </p:nvSpPr>
        <p:spPr bwMode="auto">
          <a:xfrm>
            <a:off x="2619725" y="4374001"/>
            <a:ext cx="405005"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48" name="台形 147">
            <a:extLst>
              <a:ext uri="{FF2B5EF4-FFF2-40B4-BE49-F238E27FC236}">
                <a16:creationId xmlns:a16="http://schemas.microsoft.com/office/drawing/2014/main" id="{7F475CD8-9E95-9BD5-EDB7-22331E49EB48}"/>
              </a:ext>
            </a:extLst>
          </p:cNvPr>
          <p:cNvSpPr/>
          <p:nvPr/>
        </p:nvSpPr>
        <p:spPr>
          <a:xfrm flipV="1">
            <a:off x="2957229" y="4509002"/>
            <a:ext cx="270003"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49" name="直線コネクタ 148">
            <a:extLst>
              <a:ext uri="{FF2B5EF4-FFF2-40B4-BE49-F238E27FC236}">
                <a16:creationId xmlns:a16="http://schemas.microsoft.com/office/drawing/2014/main" id="{36BA481A-613B-A05A-4E17-7CD643D95694}"/>
              </a:ext>
            </a:extLst>
          </p:cNvPr>
          <p:cNvCxnSpPr>
            <a:cxnSpLocks/>
          </p:cNvCxnSpPr>
          <p:nvPr/>
        </p:nvCxnSpPr>
        <p:spPr>
          <a:xfrm>
            <a:off x="3024729" y="4441502"/>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50" name="直線コネクタ 149">
            <a:extLst>
              <a:ext uri="{FF2B5EF4-FFF2-40B4-BE49-F238E27FC236}">
                <a16:creationId xmlns:a16="http://schemas.microsoft.com/office/drawing/2014/main" id="{758202AE-33B5-CB5B-379D-2270D5E3FDDB}"/>
              </a:ext>
            </a:extLst>
          </p:cNvPr>
          <p:cNvCxnSpPr>
            <a:cxnSpLocks/>
          </p:cNvCxnSpPr>
          <p:nvPr/>
        </p:nvCxnSpPr>
        <p:spPr>
          <a:xfrm>
            <a:off x="3159731" y="4104000"/>
            <a:ext cx="0" cy="405003"/>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51" name="正方形/長方形 150">
            <a:extLst>
              <a:ext uri="{FF2B5EF4-FFF2-40B4-BE49-F238E27FC236}">
                <a16:creationId xmlns:a16="http://schemas.microsoft.com/office/drawing/2014/main" id="{A5EC6D91-90AE-B241-8F5E-67C2EE42E807}"/>
              </a:ext>
            </a:extLst>
          </p:cNvPr>
          <p:cNvSpPr/>
          <p:nvPr/>
        </p:nvSpPr>
        <p:spPr>
          <a:xfrm>
            <a:off x="2484748" y="3361491"/>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  GHR[5:0]</a:t>
            </a:r>
            <a:endParaRPr lang="en-US" sz="825" dirty="0">
              <a:solidFill>
                <a:prstClr val="black"/>
              </a:solidFill>
              <a:latin typeface="Times New Roman" panose="02020603050405020304" pitchFamily="18" charset="0"/>
              <a:cs typeface="Times New Roman" panose="02020603050405020304" pitchFamily="18" charset="0"/>
            </a:endParaRPr>
          </a:p>
        </p:txBody>
      </p:sp>
      <p:sp>
        <p:nvSpPr>
          <p:cNvPr id="152" name="Freeform 10">
            <a:extLst>
              <a:ext uri="{FF2B5EF4-FFF2-40B4-BE49-F238E27FC236}">
                <a16:creationId xmlns:a16="http://schemas.microsoft.com/office/drawing/2014/main" id="{3D3356D0-4062-0D32-CF52-B23457FD3A06}"/>
              </a:ext>
            </a:extLst>
          </p:cNvPr>
          <p:cNvSpPr>
            <a:spLocks/>
          </p:cNvSpPr>
          <p:nvPr/>
        </p:nvSpPr>
        <p:spPr bwMode="auto">
          <a:xfrm>
            <a:off x="2552250" y="3496493"/>
            <a:ext cx="67501" cy="135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3" name="Freeform 10">
            <a:extLst>
              <a:ext uri="{FF2B5EF4-FFF2-40B4-BE49-F238E27FC236}">
                <a16:creationId xmlns:a16="http://schemas.microsoft.com/office/drawing/2014/main" id="{4BE43900-F816-2A34-E1EA-99F37D56A1F5}"/>
              </a:ext>
            </a:extLst>
          </p:cNvPr>
          <p:cNvSpPr>
            <a:spLocks/>
          </p:cNvSpPr>
          <p:nvPr/>
        </p:nvSpPr>
        <p:spPr bwMode="auto">
          <a:xfrm flipH="1">
            <a:off x="2754751" y="3496493"/>
            <a:ext cx="67501" cy="135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4" name="四角形: 角を丸くする 153">
            <a:extLst>
              <a:ext uri="{FF2B5EF4-FFF2-40B4-BE49-F238E27FC236}">
                <a16:creationId xmlns:a16="http://schemas.microsoft.com/office/drawing/2014/main" id="{281ADE9F-33B7-D4CE-E5FC-0792B2C32FC5}"/>
              </a:ext>
            </a:extLst>
          </p:cNvPr>
          <p:cNvSpPr/>
          <p:nvPr/>
        </p:nvSpPr>
        <p:spPr>
          <a:xfrm>
            <a:off x="2619750" y="3563993"/>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h1</a:t>
            </a:r>
          </a:p>
        </p:txBody>
      </p:sp>
      <p:cxnSp>
        <p:nvCxnSpPr>
          <p:cNvPr id="155" name="直線コネクタ 154">
            <a:extLst>
              <a:ext uri="{FF2B5EF4-FFF2-40B4-BE49-F238E27FC236}">
                <a16:creationId xmlns:a16="http://schemas.microsoft.com/office/drawing/2014/main" id="{A698C5DA-F1C8-3D44-BAA6-F93E14066CCF}"/>
              </a:ext>
            </a:extLst>
          </p:cNvPr>
          <p:cNvCxnSpPr>
            <a:cxnSpLocks/>
          </p:cNvCxnSpPr>
          <p:nvPr/>
        </p:nvCxnSpPr>
        <p:spPr>
          <a:xfrm>
            <a:off x="26872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56" name="正方形/長方形 155">
            <a:extLst>
              <a:ext uri="{FF2B5EF4-FFF2-40B4-BE49-F238E27FC236}">
                <a16:creationId xmlns:a16="http://schemas.microsoft.com/office/drawing/2014/main" id="{F13495BB-2F56-76CB-FA5A-16C22404E388}"/>
              </a:ext>
            </a:extLst>
          </p:cNvPr>
          <p:cNvSpPr/>
          <p:nvPr/>
        </p:nvSpPr>
        <p:spPr>
          <a:xfrm>
            <a:off x="3497251" y="450899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57" name="Freeform 10">
            <a:extLst>
              <a:ext uri="{FF2B5EF4-FFF2-40B4-BE49-F238E27FC236}">
                <a16:creationId xmlns:a16="http://schemas.microsoft.com/office/drawing/2014/main" id="{1A255DC8-8586-18F3-2A37-540A7EF5CD73}"/>
              </a:ext>
            </a:extLst>
          </p:cNvPr>
          <p:cNvSpPr>
            <a:spLocks/>
          </p:cNvSpPr>
          <p:nvPr/>
        </p:nvSpPr>
        <p:spPr bwMode="auto">
          <a:xfrm>
            <a:off x="3092246" y="4576495"/>
            <a:ext cx="337505" cy="675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8" name="台形 157">
            <a:extLst>
              <a:ext uri="{FF2B5EF4-FFF2-40B4-BE49-F238E27FC236}">
                <a16:creationId xmlns:a16="http://schemas.microsoft.com/office/drawing/2014/main" id="{A85D5CAC-FAE6-0BC7-7FEB-B591020BEEFA}"/>
              </a:ext>
            </a:extLst>
          </p:cNvPr>
          <p:cNvSpPr/>
          <p:nvPr/>
        </p:nvSpPr>
        <p:spPr>
          <a:xfrm flipV="1">
            <a:off x="3767253" y="4711497"/>
            <a:ext cx="270003"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59" name="直線コネクタ 158">
            <a:extLst>
              <a:ext uri="{FF2B5EF4-FFF2-40B4-BE49-F238E27FC236}">
                <a16:creationId xmlns:a16="http://schemas.microsoft.com/office/drawing/2014/main" id="{6203D419-64CE-F11A-9E85-785F9B34DF08}"/>
              </a:ext>
            </a:extLst>
          </p:cNvPr>
          <p:cNvCxnSpPr>
            <a:cxnSpLocks/>
          </p:cNvCxnSpPr>
          <p:nvPr/>
        </p:nvCxnSpPr>
        <p:spPr>
          <a:xfrm>
            <a:off x="3834753" y="4643997"/>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0" name="直線コネクタ 159">
            <a:extLst>
              <a:ext uri="{FF2B5EF4-FFF2-40B4-BE49-F238E27FC236}">
                <a16:creationId xmlns:a16="http://schemas.microsoft.com/office/drawing/2014/main" id="{B4B27E7A-3148-6C71-EEF0-7C2D9B488402}"/>
              </a:ext>
            </a:extLst>
          </p:cNvPr>
          <p:cNvCxnSpPr>
            <a:cxnSpLocks/>
          </p:cNvCxnSpPr>
          <p:nvPr/>
        </p:nvCxnSpPr>
        <p:spPr>
          <a:xfrm>
            <a:off x="3969755" y="4103999"/>
            <a:ext cx="0" cy="607498"/>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1" name="直線コネクタ 160">
            <a:extLst>
              <a:ext uri="{FF2B5EF4-FFF2-40B4-BE49-F238E27FC236}">
                <a16:creationId xmlns:a16="http://schemas.microsoft.com/office/drawing/2014/main" id="{0DF1C8AE-C19F-E904-EAE0-5A8A0E033B89}"/>
              </a:ext>
            </a:extLst>
          </p:cNvPr>
          <p:cNvCxnSpPr>
            <a:cxnSpLocks/>
          </p:cNvCxnSpPr>
          <p:nvPr/>
        </p:nvCxnSpPr>
        <p:spPr>
          <a:xfrm>
            <a:off x="3699751" y="4643996"/>
            <a:ext cx="135002" cy="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sp>
        <p:nvSpPr>
          <p:cNvPr id="162" name="四角形: 角を丸くする 161">
            <a:extLst>
              <a:ext uri="{FF2B5EF4-FFF2-40B4-BE49-F238E27FC236}">
                <a16:creationId xmlns:a16="http://schemas.microsoft.com/office/drawing/2014/main" id="{1D891A7A-E2BF-4DEF-22F0-D717C7934114}"/>
              </a:ext>
            </a:extLst>
          </p:cNvPr>
          <p:cNvSpPr/>
          <p:nvPr/>
        </p:nvSpPr>
        <p:spPr>
          <a:xfrm>
            <a:off x="3092246" y="3563997"/>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h2</a:t>
            </a:r>
          </a:p>
        </p:txBody>
      </p:sp>
      <p:cxnSp>
        <p:nvCxnSpPr>
          <p:cNvPr id="163" name="直線コネクタ 162">
            <a:extLst>
              <a:ext uri="{FF2B5EF4-FFF2-40B4-BE49-F238E27FC236}">
                <a16:creationId xmlns:a16="http://schemas.microsoft.com/office/drawing/2014/main" id="{0EBFB757-9511-CC52-95D0-5D2E0400B5BF}"/>
              </a:ext>
            </a:extLst>
          </p:cNvPr>
          <p:cNvCxnSpPr>
            <a:cxnSpLocks/>
          </p:cNvCxnSpPr>
          <p:nvPr/>
        </p:nvCxnSpPr>
        <p:spPr>
          <a:xfrm>
            <a:off x="31597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64" name="台形 163">
            <a:extLst>
              <a:ext uri="{FF2B5EF4-FFF2-40B4-BE49-F238E27FC236}">
                <a16:creationId xmlns:a16="http://schemas.microsoft.com/office/drawing/2014/main" id="{639AEF4A-D3E8-6DA8-8635-A9E152D5A7DE}"/>
              </a:ext>
            </a:extLst>
          </p:cNvPr>
          <p:cNvSpPr/>
          <p:nvPr/>
        </p:nvSpPr>
        <p:spPr>
          <a:xfrm flipV="1">
            <a:off x="3564751" y="4981499"/>
            <a:ext cx="405005" cy="67500"/>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65" name="直線コネクタ 164">
            <a:extLst>
              <a:ext uri="{FF2B5EF4-FFF2-40B4-BE49-F238E27FC236}">
                <a16:creationId xmlns:a16="http://schemas.microsoft.com/office/drawing/2014/main" id="{021F666C-48FD-CE28-5C24-EA7FB7D48940}"/>
              </a:ext>
            </a:extLst>
          </p:cNvPr>
          <p:cNvCxnSpPr>
            <a:cxnSpLocks/>
          </p:cNvCxnSpPr>
          <p:nvPr/>
        </p:nvCxnSpPr>
        <p:spPr>
          <a:xfrm>
            <a:off x="3632251" y="4914000"/>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6" name="直線コネクタ 165">
            <a:extLst>
              <a:ext uri="{FF2B5EF4-FFF2-40B4-BE49-F238E27FC236}">
                <a16:creationId xmlns:a16="http://schemas.microsoft.com/office/drawing/2014/main" id="{9718FD81-3910-6315-8ECC-AFD1C5F2AFDB}"/>
              </a:ext>
            </a:extLst>
          </p:cNvPr>
          <p:cNvCxnSpPr>
            <a:cxnSpLocks/>
          </p:cNvCxnSpPr>
          <p:nvPr/>
        </p:nvCxnSpPr>
        <p:spPr>
          <a:xfrm>
            <a:off x="3902254" y="4778998"/>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7" name="直線コネクタ 166">
            <a:extLst>
              <a:ext uri="{FF2B5EF4-FFF2-40B4-BE49-F238E27FC236}">
                <a16:creationId xmlns:a16="http://schemas.microsoft.com/office/drawing/2014/main" id="{58B7BB25-3142-6490-2119-A31E30FFAA26}"/>
              </a:ext>
            </a:extLst>
          </p:cNvPr>
          <p:cNvCxnSpPr>
            <a:cxnSpLocks/>
          </p:cNvCxnSpPr>
          <p:nvPr/>
        </p:nvCxnSpPr>
        <p:spPr>
          <a:xfrm>
            <a:off x="3429747" y="4913999"/>
            <a:ext cx="202504" cy="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sp>
        <p:nvSpPr>
          <p:cNvPr id="168" name="正方形/長方形 167">
            <a:extLst>
              <a:ext uri="{FF2B5EF4-FFF2-40B4-BE49-F238E27FC236}">
                <a16:creationId xmlns:a16="http://schemas.microsoft.com/office/drawing/2014/main" id="{963388B5-119A-FFA9-840C-70A6C0E35E74}"/>
              </a:ext>
            </a:extLst>
          </p:cNvPr>
          <p:cNvSpPr/>
          <p:nvPr/>
        </p:nvSpPr>
        <p:spPr>
          <a:xfrm>
            <a:off x="3497249" y="4778997"/>
            <a:ext cx="135002"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alt</a:t>
            </a:r>
            <a:endParaRPr lang="en-US" sz="750" dirty="0">
              <a:solidFill>
                <a:prstClr val="black"/>
              </a:solidFill>
              <a:latin typeface="Times New Roman" panose="02020603050405020304" pitchFamily="18" charset="0"/>
              <a:cs typeface="Times New Roman" panose="02020603050405020304" pitchFamily="18" charset="0"/>
            </a:endParaRPr>
          </a:p>
        </p:txBody>
      </p:sp>
      <p:sp>
        <p:nvSpPr>
          <p:cNvPr id="169" name="四角形: 角を丸くする 168">
            <a:extLst>
              <a:ext uri="{FF2B5EF4-FFF2-40B4-BE49-F238E27FC236}">
                <a16:creationId xmlns:a16="http://schemas.microsoft.com/office/drawing/2014/main" id="{60D8E690-09D3-E739-8CA3-A088D9753CD1}"/>
              </a:ext>
            </a:extLst>
          </p:cNvPr>
          <p:cNvSpPr/>
          <p:nvPr/>
        </p:nvSpPr>
        <p:spPr>
          <a:xfrm>
            <a:off x="3868501" y="3563995"/>
            <a:ext cx="2025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h23</a:t>
            </a:r>
          </a:p>
        </p:txBody>
      </p:sp>
      <p:cxnSp>
        <p:nvCxnSpPr>
          <p:cNvPr id="170" name="直線コネクタ 169">
            <a:extLst>
              <a:ext uri="{FF2B5EF4-FFF2-40B4-BE49-F238E27FC236}">
                <a16:creationId xmlns:a16="http://schemas.microsoft.com/office/drawing/2014/main" id="{3DB0C9A4-5CB6-D9B0-9489-CB6F05B452DD}"/>
              </a:ext>
            </a:extLst>
          </p:cNvPr>
          <p:cNvCxnSpPr>
            <a:cxnSpLocks/>
          </p:cNvCxnSpPr>
          <p:nvPr/>
        </p:nvCxnSpPr>
        <p:spPr>
          <a:xfrm>
            <a:off x="39697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1" name="正方形/長方形 170">
            <a:extLst>
              <a:ext uri="{FF2B5EF4-FFF2-40B4-BE49-F238E27FC236}">
                <a16:creationId xmlns:a16="http://schemas.microsoft.com/office/drawing/2014/main" id="{6466072F-4A8F-3D2D-5ABB-6EC6EF9575A1}"/>
              </a:ext>
            </a:extLst>
          </p:cNvPr>
          <p:cNvSpPr/>
          <p:nvPr/>
        </p:nvSpPr>
        <p:spPr>
          <a:xfrm>
            <a:off x="3429750" y="353024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72" name="直線コネクタ 171">
            <a:extLst>
              <a:ext uri="{FF2B5EF4-FFF2-40B4-BE49-F238E27FC236}">
                <a16:creationId xmlns:a16="http://schemas.microsoft.com/office/drawing/2014/main" id="{205CA371-A39C-D9FA-2CCB-66F754FF6688}"/>
              </a:ext>
            </a:extLst>
          </p:cNvPr>
          <p:cNvCxnSpPr>
            <a:cxnSpLocks/>
          </p:cNvCxnSpPr>
          <p:nvPr/>
        </p:nvCxnSpPr>
        <p:spPr>
          <a:xfrm>
            <a:off x="3767252" y="5049001"/>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3" name="正方形/長方形 172">
            <a:extLst>
              <a:ext uri="{FF2B5EF4-FFF2-40B4-BE49-F238E27FC236}">
                <a16:creationId xmlns:a16="http://schemas.microsoft.com/office/drawing/2014/main" id="{3A714261-311F-786A-5121-95E8A2A221D2}"/>
              </a:ext>
            </a:extLst>
          </p:cNvPr>
          <p:cNvSpPr/>
          <p:nvPr/>
        </p:nvSpPr>
        <p:spPr>
          <a:xfrm>
            <a:off x="3969755" y="4778997"/>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longest</a:t>
            </a:r>
            <a:endParaRPr lang="en-US" sz="750" dirty="0">
              <a:solidFill>
                <a:prstClr val="black"/>
              </a:solidFill>
              <a:latin typeface="Times New Roman" panose="02020603050405020304" pitchFamily="18" charset="0"/>
              <a:cs typeface="Times New Roman" panose="02020603050405020304" pitchFamily="18" charset="0"/>
            </a:endParaRPr>
          </a:p>
        </p:txBody>
      </p:sp>
      <p:sp>
        <p:nvSpPr>
          <p:cNvPr id="174" name="正方形/長方形 173">
            <a:extLst>
              <a:ext uri="{FF2B5EF4-FFF2-40B4-BE49-F238E27FC236}">
                <a16:creationId xmlns:a16="http://schemas.microsoft.com/office/drawing/2014/main" id="{C7C31A1A-1272-2827-E7F2-4455DD1253F2}"/>
              </a:ext>
            </a:extLst>
          </p:cNvPr>
          <p:cNvSpPr/>
          <p:nvPr/>
        </p:nvSpPr>
        <p:spPr>
          <a:xfrm>
            <a:off x="3294750" y="508274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Table out</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175" name="正方形/長方形 174">
            <a:extLst>
              <a:ext uri="{FF2B5EF4-FFF2-40B4-BE49-F238E27FC236}">
                <a16:creationId xmlns:a16="http://schemas.microsoft.com/office/drawing/2014/main" id="{F351066B-1B57-F3E9-C26C-8AB5F5DDDCE2}"/>
              </a:ext>
            </a:extLst>
          </p:cNvPr>
          <p:cNvSpPr/>
          <p:nvPr/>
        </p:nvSpPr>
        <p:spPr>
          <a:xfrm>
            <a:off x="3024750" y="336149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[13:0]</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76" name="直線コネクタ 175">
            <a:extLst>
              <a:ext uri="{FF2B5EF4-FFF2-40B4-BE49-F238E27FC236}">
                <a16:creationId xmlns:a16="http://schemas.microsoft.com/office/drawing/2014/main" id="{1303E782-89CD-D45A-9027-DA2E0437B749}"/>
              </a:ext>
            </a:extLst>
          </p:cNvPr>
          <p:cNvCxnSpPr>
            <a:cxnSpLocks/>
            <a:endCxn id="144" idx="3"/>
          </p:cNvCxnSpPr>
          <p:nvPr/>
        </p:nvCxnSpPr>
        <p:spPr>
          <a:xfrm flipH="1">
            <a:off x="2746288" y="4340249"/>
            <a:ext cx="143462"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7" name="Freeform 10">
            <a:extLst>
              <a:ext uri="{FF2B5EF4-FFF2-40B4-BE49-F238E27FC236}">
                <a16:creationId xmlns:a16="http://schemas.microsoft.com/office/drawing/2014/main" id="{006BF587-CE95-09F7-D143-E5B68FB1C8C1}"/>
              </a:ext>
            </a:extLst>
          </p:cNvPr>
          <p:cNvSpPr>
            <a:spLocks/>
          </p:cNvSpPr>
          <p:nvPr/>
        </p:nvSpPr>
        <p:spPr bwMode="auto">
          <a:xfrm rot="5400000" flipV="1">
            <a:off x="2720991" y="4171487"/>
            <a:ext cx="134998" cy="20252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78" name="Freeform 10">
            <a:extLst>
              <a:ext uri="{FF2B5EF4-FFF2-40B4-BE49-F238E27FC236}">
                <a16:creationId xmlns:a16="http://schemas.microsoft.com/office/drawing/2014/main" id="{EA2F939D-67F9-05EA-0862-F4B24E65FD1F}"/>
              </a:ext>
            </a:extLst>
          </p:cNvPr>
          <p:cNvSpPr>
            <a:spLocks/>
          </p:cNvSpPr>
          <p:nvPr/>
        </p:nvSpPr>
        <p:spPr bwMode="auto">
          <a:xfrm rot="5400000" flipV="1">
            <a:off x="3193493" y="4373988"/>
            <a:ext cx="134999" cy="2025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79" name="Freeform 10">
            <a:extLst>
              <a:ext uri="{FF2B5EF4-FFF2-40B4-BE49-F238E27FC236}">
                <a16:creationId xmlns:a16="http://schemas.microsoft.com/office/drawing/2014/main" id="{ABB26FA8-DC6B-15EF-9A32-67D2BBEF9910}"/>
              </a:ext>
            </a:extLst>
          </p:cNvPr>
          <p:cNvSpPr>
            <a:spLocks/>
          </p:cNvSpPr>
          <p:nvPr/>
        </p:nvSpPr>
        <p:spPr bwMode="auto">
          <a:xfrm rot="5400000" flipV="1">
            <a:off x="4003504" y="4576502"/>
            <a:ext cx="134996" cy="20249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180" name="直線コネクタ 179">
            <a:extLst>
              <a:ext uri="{FF2B5EF4-FFF2-40B4-BE49-F238E27FC236}">
                <a16:creationId xmlns:a16="http://schemas.microsoft.com/office/drawing/2014/main" id="{3740F24A-C90A-60A5-E39D-563616EDDDC9}"/>
              </a:ext>
            </a:extLst>
          </p:cNvPr>
          <p:cNvCxnSpPr>
            <a:cxnSpLocks/>
          </p:cNvCxnSpPr>
          <p:nvPr/>
        </p:nvCxnSpPr>
        <p:spPr>
          <a:xfrm flipH="1">
            <a:off x="4037257" y="4745246"/>
            <a:ext cx="134993"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1" name="正方形/長方形 180">
            <a:extLst>
              <a:ext uri="{FF2B5EF4-FFF2-40B4-BE49-F238E27FC236}">
                <a16:creationId xmlns:a16="http://schemas.microsoft.com/office/drawing/2014/main" id="{3E9D8510-B1F1-1D75-8DDB-50D541AD43CA}"/>
              </a:ext>
            </a:extLst>
          </p:cNvPr>
          <p:cNvSpPr/>
          <p:nvPr/>
        </p:nvSpPr>
        <p:spPr>
          <a:xfrm>
            <a:off x="3024747" y="4880233"/>
            <a:ext cx="135002"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Use alt</a:t>
            </a:r>
            <a:endParaRPr lang="en-US" sz="750" dirty="0">
              <a:solidFill>
                <a:prstClr val="black"/>
              </a:solidFill>
              <a:latin typeface="Times New Roman" panose="02020603050405020304" pitchFamily="18" charset="0"/>
              <a:cs typeface="Times New Roman" panose="02020603050405020304" pitchFamily="18" charset="0"/>
            </a:endParaRPr>
          </a:p>
        </p:txBody>
      </p:sp>
      <p:cxnSp>
        <p:nvCxnSpPr>
          <p:cNvPr id="182" name="直線コネクタ 181">
            <a:extLst>
              <a:ext uri="{FF2B5EF4-FFF2-40B4-BE49-F238E27FC236}">
                <a16:creationId xmlns:a16="http://schemas.microsoft.com/office/drawing/2014/main" id="{9476EE21-ECED-554B-B7C5-10070EB66C58}"/>
              </a:ext>
            </a:extLst>
          </p:cNvPr>
          <p:cNvCxnSpPr>
            <a:cxnSpLocks/>
          </p:cNvCxnSpPr>
          <p:nvPr/>
        </p:nvCxnSpPr>
        <p:spPr>
          <a:xfrm>
            <a:off x="3227248" y="5015234"/>
            <a:ext cx="345939" cy="18"/>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3" name="正方形/長方形 182">
            <a:extLst>
              <a:ext uri="{FF2B5EF4-FFF2-40B4-BE49-F238E27FC236}">
                <a16:creationId xmlns:a16="http://schemas.microsoft.com/office/drawing/2014/main" id="{DF593F2B-3892-A6BB-8281-0C74CDAF9F77}"/>
              </a:ext>
            </a:extLst>
          </p:cNvPr>
          <p:cNvSpPr/>
          <p:nvPr/>
        </p:nvSpPr>
        <p:spPr>
          <a:xfrm>
            <a:off x="3703724" y="3361492"/>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[4</a:t>
            </a: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315</a:t>
            </a:r>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:0]</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84" name="直線コネクタ 183">
            <a:extLst>
              <a:ext uri="{FF2B5EF4-FFF2-40B4-BE49-F238E27FC236}">
                <a16:creationId xmlns:a16="http://schemas.microsoft.com/office/drawing/2014/main" id="{EE4C44E6-5C47-9C11-57E0-63EA434870C7}"/>
              </a:ext>
            </a:extLst>
          </p:cNvPr>
          <p:cNvCxnSpPr>
            <a:cxnSpLocks/>
          </p:cNvCxnSpPr>
          <p:nvPr/>
        </p:nvCxnSpPr>
        <p:spPr>
          <a:xfrm flipH="1">
            <a:off x="3227250" y="4542749"/>
            <a:ext cx="135000"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5" name="正方形/長方形 184">
            <a:extLst>
              <a:ext uri="{FF2B5EF4-FFF2-40B4-BE49-F238E27FC236}">
                <a16:creationId xmlns:a16="http://schemas.microsoft.com/office/drawing/2014/main" id="{685A0972-6705-922A-64DE-CCD2A361EFA5}"/>
              </a:ext>
            </a:extLst>
          </p:cNvPr>
          <p:cNvSpPr/>
          <p:nvPr/>
        </p:nvSpPr>
        <p:spPr>
          <a:xfrm>
            <a:off x="24847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6" name="正方形/長方形 185">
            <a:extLst>
              <a:ext uri="{FF2B5EF4-FFF2-40B4-BE49-F238E27FC236}">
                <a16:creationId xmlns:a16="http://schemas.microsoft.com/office/drawing/2014/main" id="{C744C5B7-443A-65FA-DCFF-3D0CB4A8996A}"/>
              </a:ext>
            </a:extLst>
          </p:cNvPr>
          <p:cNvSpPr/>
          <p:nvPr/>
        </p:nvSpPr>
        <p:spPr>
          <a:xfrm>
            <a:off x="29572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7" name="正方形/長方形 186">
            <a:extLst>
              <a:ext uri="{FF2B5EF4-FFF2-40B4-BE49-F238E27FC236}">
                <a16:creationId xmlns:a16="http://schemas.microsoft.com/office/drawing/2014/main" id="{FDAF47B6-E2C3-6484-A6E8-160F4088E6AD}"/>
              </a:ext>
            </a:extLst>
          </p:cNvPr>
          <p:cNvSpPr/>
          <p:nvPr/>
        </p:nvSpPr>
        <p:spPr>
          <a:xfrm>
            <a:off x="37672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8" name="正方形/長方形 187">
            <a:extLst>
              <a:ext uri="{FF2B5EF4-FFF2-40B4-BE49-F238E27FC236}">
                <a16:creationId xmlns:a16="http://schemas.microsoft.com/office/drawing/2014/main" id="{58218F4A-4BCF-EBA4-F015-BE31BE4483F8}"/>
              </a:ext>
            </a:extLst>
          </p:cNvPr>
          <p:cNvSpPr/>
          <p:nvPr/>
        </p:nvSpPr>
        <p:spPr>
          <a:xfrm>
            <a:off x="3497251" y="383399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89" name="正方形/長方形 188">
            <a:extLst>
              <a:ext uri="{FF2B5EF4-FFF2-40B4-BE49-F238E27FC236}">
                <a16:creationId xmlns:a16="http://schemas.microsoft.com/office/drawing/2014/main" id="{7D1F7A39-313B-061A-04B8-D43B2B4E9F4F}"/>
              </a:ext>
            </a:extLst>
          </p:cNvPr>
          <p:cNvSpPr/>
          <p:nvPr/>
        </p:nvSpPr>
        <p:spPr>
          <a:xfrm>
            <a:off x="4678492" y="3563986"/>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90" name="直線矢印コネクタ 189">
            <a:extLst>
              <a:ext uri="{FF2B5EF4-FFF2-40B4-BE49-F238E27FC236}">
                <a16:creationId xmlns:a16="http://schemas.microsoft.com/office/drawing/2014/main" id="{6815EE92-43C6-A0EA-5723-0D3A6A4E22AF}"/>
              </a:ext>
            </a:extLst>
          </p:cNvPr>
          <p:cNvCxnSpPr>
            <a:cxnSpLocks/>
          </p:cNvCxnSpPr>
          <p:nvPr/>
        </p:nvCxnSpPr>
        <p:spPr>
          <a:xfrm>
            <a:off x="5556002" y="4373995"/>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1" name="正方形/長方形 190">
            <a:extLst>
              <a:ext uri="{FF2B5EF4-FFF2-40B4-BE49-F238E27FC236}">
                <a16:creationId xmlns:a16="http://schemas.microsoft.com/office/drawing/2014/main" id="{3631DAC4-A0FB-7388-0836-FF69B85BB499}"/>
              </a:ext>
            </a:extLst>
          </p:cNvPr>
          <p:cNvSpPr/>
          <p:nvPr/>
        </p:nvSpPr>
        <p:spPr>
          <a:xfrm>
            <a:off x="5353500" y="4508997"/>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x1 or </a:t>
            </a:r>
            <a:r>
              <a:rPr kumimoji="0" lang="en-US" altLang="ja-JP" sz="750" dirty="0" err="1">
                <a:solidFill>
                  <a:prstClr val="black"/>
                </a:solidFill>
                <a:latin typeface="Arial" panose="020B0604020202020204" pitchFamily="34" charset="0"/>
                <a:ea typeface="游ゴシック" panose="020B0400000000000000" pitchFamily="50" charset="-128"/>
                <a:cs typeface="Arial" panose="020B0604020202020204" pitchFamily="34" charset="0"/>
              </a:rPr>
              <a:t>x</a:t>
            </a:r>
            <a:r>
              <a:rPr kumimoji="0" lang="en-US" altLang="ja-JP" sz="750" u="sng" dirty="0" err="1">
                <a:solidFill>
                  <a:prstClr val="black"/>
                </a:solidFill>
                <a:latin typeface="Arial" panose="020B0604020202020204" pitchFamily="34" charset="0"/>
                <a:ea typeface="游ゴシック" panose="020B0400000000000000" pitchFamily="50" charset="-128"/>
                <a:cs typeface="Arial" panose="020B0604020202020204" pitchFamily="34" charset="0"/>
              </a:rPr>
              <a:t>M</a:t>
            </a: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56" name="正方形/長方形 255">
            <a:extLst>
              <a:ext uri="{FF2B5EF4-FFF2-40B4-BE49-F238E27FC236}">
                <a16:creationId xmlns:a16="http://schemas.microsoft.com/office/drawing/2014/main" id="{26E1C8D2-32D8-FD35-BC51-3574817CC999}"/>
              </a:ext>
            </a:extLst>
          </p:cNvPr>
          <p:cNvSpPr/>
          <p:nvPr/>
        </p:nvSpPr>
        <p:spPr>
          <a:xfrm>
            <a:off x="4610991" y="3833991"/>
            <a:ext cx="40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UT</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57" name="Freeform 10">
            <a:extLst>
              <a:ext uri="{FF2B5EF4-FFF2-40B4-BE49-F238E27FC236}">
                <a16:creationId xmlns:a16="http://schemas.microsoft.com/office/drawing/2014/main" id="{67CBCB58-76E2-CCD2-36D5-B796E41B1629}"/>
              </a:ext>
            </a:extLst>
          </p:cNvPr>
          <p:cNvSpPr>
            <a:spLocks/>
          </p:cNvSpPr>
          <p:nvPr/>
        </p:nvSpPr>
        <p:spPr bwMode="auto">
          <a:xfrm>
            <a:off x="4813494" y="4103994"/>
            <a:ext cx="540007"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58" name="直線矢印コネクタ 257">
            <a:extLst>
              <a:ext uri="{FF2B5EF4-FFF2-40B4-BE49-F238E27FC236}">
                <a16:creationId xmlns:a16="http://schemas.microsoft.com/office/drawing/2014/main" id="{5EC9EB57-D64E-7254-3AF0-C5777842A33E}"/>
              </a:ext>
            </a:extLst>
          </p:cNvPr>
          <p:cNvCxnSpPr>
            <a:cxnSpLocks/>
          </p:cNvCxnSpPr>
          <p:nvPr/>
        </p:nvCxnSpPr>
        <p:spPr>
          <a:xfrm>
            <a:off x="6973500" y="508274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61" name="正方形/長方形 260">
            <a:extLst>
              <a:ext uri="{FF2B5EF4-FFF2-40B4-BE49-F238E27FC236}">
                <a16:creationId xmlns:a16="http://schemas.microsoft.com/office/drawing/2014/main" id="{2B96A664-E3CE-DA69-4505-F0DB55F70FB1}"/>
              </a:ext>
            </a:extLst>
          </p:cNvPr>
          <p:cNvSpPr/>
          <p:nvPr/>
        </p:nvSpPr>
        <p:spPr>
          <a:xfrm>
            <a:off x="4813493" y="4441496"/>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Useful</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262" name="直線矢印コネクタ 261">
            <a:extLst>
              <a:ext uri="{FF2B5EF4-FFF2-40B4-BE49-F238E27FC236}">
                <a16:creationId xmlns:a16="http://schemas.microsoft.com/office/drawing/2014/main" id="{AE1F306D-C93E-0BE2-5BAB-331E39F884D2}"/>
              </a:ext>
            </a:extLst>
          </p:cNvPr>
          <p:cNvCxnSpPr>
            <a:cxnSpLocks/>
          </p:cNvCxnSpPr>
          <p:nvPr/>
        </p:nvCxnSpPr>
        <p:spPr>
          <a:xfrm>
            <a:off x="4813493"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63" name="正方形/長方形 262">
            <a:extLst>
              <a:ext uri="{FF2B5EF4-FFF2-40B4-BE49-F238E27FC236}">
                <a16:creationId xmlns:a16="http://schemas.microsoft.com/office/drawing/2014/main" id="{5D2E6AEA-4208-1D8A-299A-A321E063E91D}"/>
              </a:ext>
            </a:extLst>
          </p:cNvPr>
          <p:cNvSpPr/>
          <p:nvPr/>
        </p:nvSpPr>
        <p:spPr>
          <a:xfrm>
            <a:off x="5083497" y="3833991"/>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WT0</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4" name="正方形/長方形 263">
            <a:extLst>
              <a:ext uri="{FF2B5EF4-FFF2-40B4-BE49-F238E27FC236}">
                <a16:creationId xmlns:a16="http://schemas.microsoft.com/office/drawing/2014/main" id="{9139F120-0FC0-9A97-5BCB-81BA3B081FD4}"/>
              </a:ext>
            </a:extLst>
          </p:cNvPr>
          <p:cNvSpPr/>
          <p:nvPr/>
        </p:nvSpPr>
        <p:spPr>
          <a:xfrm>
            <a:off x="5421001" y="3833991"/>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WT1</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5" name="正方形/長方形 264">
            <a:extLst>
              <a:ext uri="{FF2B5EF4-FFF2-40B4-BE49-F238E27FC236}">
                <a16:creationId xmlns:a16="http://schemas.microsoft.com/office/drawing/2014/main" id="{4B859FC2-76D6-FEBD-DFE3-E57940FB3AE1}"/>
              </a:ext>
            </a:extLst>
          </p:cNvPr>
          <p:cNvSpPr/>
          <p:nvPr/>
        </p:nvSpPr>
        <p:spPr>
          <a:xfrm>
            <a:off x="5961006" y="3833991"/>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a:t>
            </a:r>
            <a:r>
              <a:rPr kumimoji="0" lang="en-US" altLang="ja-JP" sz="750" u="sng" dirty="0">
                <a:solidFill>
                  <a:prstClr val="black"/>
                </a:solidFill>
                <a:latin typeface="Arial" panose="020B0604020202020204" pitchFamily="34" charset="0"/>
                <a:ea typeface="游ゴシック" panose="020B0400000000000000" pitchFamily="50" charset="-128"/>
                <a:cs typeface="Arial" panose="020B0604020202020204" pitchFamily="34" charset="0"/>
              </a:rPr>
              <a:t>N</a:t>
            </a: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6" name="四角形: 角を丸くする 265">
            <a:extLst>
              <a:ext uri="{FF2B5EF4-FFF2-40B4-BE49-F238E27FC236}">
                <a16:creationId xmlns:a16="http://schemas.microsoft.com/office/drawing/2014/main" id="{9AE0EABD-181A-1A98-5B63-DEC750F39F92}"/>
              </a:ext>
            </a:extLst>
          </p:cNvPr>
          <p:cNvSpPr/>
          <p:nvPr/>
        </p:nvSpPr>
        <p:spPr>
          <a:xfrm>
            <a:off x="5421001" y="4238994"/>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67" name="Freeform 10">
            <a:extLst>
              <a:ext uri="{FF2B5EF4-FFF2-40B4-BE49-F238E27FC236}">
                <a16:creationId xmlns:a16="http://schemas.microsoft.com/office/drawing/2014/main" id="{C732D85C-DB49-5C19-86BB-3C202C3E2907}"/>
              </a:ext>
            </a:extLst>
          </p:cNvPr>
          <p:cNvSpPr>
            <a:spLocks/>
          </p:cNvSpPr>
          <p:nvPr/>
        </p:nvSpPr>
        <p:spPr bwMode="auto">
          <a:xfrm>
            <a:off x="5218497" y="4103994"/>
            <a:ext cx="270004"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68" name="直線矢印コネクタ 267">
            <a:extLst>
              <a:ext uri="{FF2B5EF4-FFF2-40B4-BE49-F238E27FC236}">
                <a16:creationId xmlns:a16="http://schemas.microsoft.com/office/drawing/2014/main" id="{3348AB6D-CC95-B9AE-0982-F4701F60A21C}"/>
              </a:ext>
            </a:extLst>
          </p:cNvPr>
          <p:cNvCxnSpPr>
            <a:cxnSpLocks/>
          </p:cNvCxnSpPr>
          <p:nvPr/>
        </p:nvCxnSpPr>
        <p:spPr>
          <a:xfrm>
            <a:off x="5488501"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69" name="直線矢印コネクタ 268">
            <a:extLst>
              <a:ext uri="{FF2B5EF4-FFF2-40B4-BE49-F238E27FC236}">
                <a16:creationId xmlns:a16="http://schemas.microsoft.com/office/drawing/2014/main" id="{584589EE-6568-9EEF-B132-081E81AC1B35}"/>
              </a:ext>
            </a:extLst>
          </p:cNvPr>
          <p:cNvCxnSpPr>
            <a:cxnSpLocks/>
            <a:endCxn id="266" idx="0"/>
          </p:cNvCxnSpPr>
          <p:nvPr/>
        </p:nvCxnSpPr>
        <p:spPr>
          <a:xfrm>
            <a:off x="5556002" y="4103992"/>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70" name="Freeform 10">
            <a:extLst>
              <a:ext uri="{FF2B5EF4-FFF2-40B4-BE49-F238E27FC236}">
                <a16:creationId xmlns:a16="http://schemas.microsoft.com/office/drawing/2014/main" id="{1D58274E-4EAE-4D59-508B-6AC0FB950787}"/>
              </a:ext>
            </a:extLst>
          </p:cNvPr>
          <p:cNvSpPr>
            <a:spLocks/>
          </p:cNvSpPr>
          <p:nvPr/>
        </p:nvSpPr>
        <p:spPr bwMode="auto">
          <a:xfrm flipH="1">
            <a:off x="5623502" y="4103994"/>
            <a:ext cx="472505"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192" name="直線矢印コネクタ 191">
            <a:extLst>
              <a:ext uri="{FF2B5EF4-FFF2-40B4-BE49-F238E27FC236}">
                <a16:creationId xmlns:a16="http://schemas.microsoft.com/office/drawing/2014/main" id="{923F1ECD-D21C-517D-4A59-C478A2133B47}"/>
              </a:ext>
            </a:extLst>
          </p:cNvPr>
          <p:cNvCxnSpPr>
            <a:cxnSpLocks/>
          </p:cNvCxnSpPr>
          <p:nvPr/>
        </p:nvCxnSpPr>
        <p:spPr>
          <a:xfrm>
            <a:off x="5623502"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93" name="直線矢印コネクタ 192">
            <a:extLst>
              <a:ext uri="{FF2B5EF4-FFF2-40B4-BE49-F238E27FC236}">
                <a16:creationId xmlns:a16="http://schemas.microsoft.com/office/drawing/2014/main" id="{CA7271CA-E064-E19B-2D4D-5FB1731C6770}"/>
              </a:ext>
            </a:extLst>
          </p:cNvPr>
          <p:cNvCxnSpPr>
            <a:cxnSpLocks/>
          </p:cNvCxnSpPr>
          <p:nvPr/>
        </p:nvCxnSpPr>
        <p:spPr>
          <a:xfrm>
            <a:off x="5218497"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4" name="四角形: 角を丸くする 193">
            <a:extLst>
              <a:ext uri="{FF2B5EF4-FFF2-40B4-BE49-F238E27FC236}">
                <a16:creationId xmlns:a16="http://schemas.microsoft.com/office/drawing/2014/main" id="{CCAD3A09-AD47-5A8E-4EE1-CFFCB6005203}"/>
              </a:ext>
            </a:extLst>
          </p:cNvPr>
          <p:cNvSpPr/>
          <p:nvPr/>
        </p:nvSpPr>
        <p:spPr>
          <a:xfrm>
            <a:off x="5150996"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h0</a:t>
            </a:r>
          </a:p>
        </p:txBody>
      </p:sp>
      <p:cxnSp>
        <p:nvCxnSpPr>
          <p:cNvPr id="195" name="直線矢印コネクタ 194">
            <a:extLst>
              <a:ext uri="{FF2B5EF4-FFF2-40B4-BE49-F238E27FC236}">
                <a16:creationId xmlns:a16="http://schemas.microsoft.com/office/drawing/2014/main" id="{9D73AFAC-59F8-D05D-AB7E-3FEBAC81537D}"/>
              </a:ext>
            </a:extLst>
          </p:cNvPr>
          <p:cNvCxnSpPr>
            <a:cxnSpLocks/>
          </p:cNvCxnSpPr>
          <p:nvPr/>
        </p:nvCxnSpPr>
        <p:spPr>
          <a:xfrm>
            <a:off x="5556001"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6" name="四角形: 角を丸くする 195">
            <a:extLst>
              <a:ext uri="{FF2B5EF4-FFF2-40B4-BE49-F238E27FC236}">
                <a16:creationId xmlns:a16="http://schemas.microsoft.com/office/drawing/2014/main" id="{E4A2FDA2-9E0D-52E4-9864-06D9DC867725}"/>
              </a:ext>
            </a:extLst>
          </p:cNvPr>
          <p:cNvSpPr/>
          <p:nvPr/>
        </p:nvSpPr>
        <p:spPr>
          <a:xfrm>
            <a:off x="5488500"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h1</a:t>
            </a:r>
          </a:p>
        </p:txBody>
      </p:sp>
      <p:sp>
        <p:nvSpPr>
          <p:cNvPr id="197" name="正方形/長方形 196">
            <a:extLst>
              <a:ext uri="{FF2B5EF4-FFF2-40B4-BE49-F238E27FC236}">
                <a16:creationId xmlns:a16="http://schemas.microsoft.com/office/drawing/2014/main" id="{759D6D52-EC64-74AA-045A-4E6391715CC5}"/>
              </a:ext>
            </a:extLst>
          </p:cNvPr>
          <p:cNvSpPr/>
          <p:nvPr/>
        </p:nvSpPr>
        <p:spPr>
          <a:xfrm>
            <a:off x="5691002" y="3833989"/>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98" name="四角形: 角を丸くする 197">
            <a:extLst>
              <a:ext uri="{FF2B5EF4-FFF2-40B4-BE49-F238E27FC236}">
                <a16:creationId xmlns:a16="http://schemas.microsoft.com/office/drawing/2014/main" id="{70B9CA27-74F4-6A68-5E0E-F6D2565BAEF1}"/>
              </a:ext>
            </a:extLst>
          </p:cNvPr>
          <p:cNvSpPr/>
          <p:nvPr/>
        </p:nvSpPr>
        <p:spPr>
          <a:xfrm>
            <a:off x="6028506"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750" dirty="0" err="1">
                <a:solidFill>
                  <a:prstClr val="black"/>
                </a:solidFill>
                <a:latin typeface="Arial" panose="020B0604020202020204" pitchFamily="34" charset="0"/>
                <a:cs typeface="Arial" panose="020B0604020202020204" pitchFamily="34" charset="0"/>
              </a:rPr>
              <a:t>h</a:t>
            </a:r>
            <a:r>
              <a:rPr lang="en-US" sz="750" u="sng" dirty="0" err="1">
                <a:solidFill>
                  <a:prstClr val="black"/>
                </a:solidFill>
                <a:latin typeface="Arial" panose="020B0604020202020204" pitchFamily="34" charset="0"/>
                <a:cs typeface="Arial" panose="020B0604020202020204" pitchFamily="34" charset="0"/>
              </a:rPr>
              <a:t>N</a:t>
            </a:r>
            <a:endParaRPr lang="en-US" sz="750" u="sng" dirty="0">
              <a:solidFill>
                <a:prstClr val="black"/>
              </a:solidFill>
              <a:latin typeface="Arial" panose="020B0604020202020204" pitchFamily="34" charset="0"/>
              <a:cs typeface="Arial" panose="020B0604020202020204" pitchFamily="34" charset="0"/>
            </a:endParaRPr>
          </a:p>
        </p:txBody>
      </p:sp>
      <p:cxnSp>
        <p:nvCxnSpPr>
          <p:cNvPr id="199" name="直線矢印コネクタ 198">
            <a:extLst>
              <a:ext uri="{FF2B5EF4-FFF2-40B4-BE49-F238E27FC236}">
                <a16:creationId xmlns:a16="http://schemas.microsoft.com/office/drawing/2014/main" id="{9445DADC-60E7-A3DC-03B2-EF2E95D802E3}"/>
              </a:ext>
            </a:extLst>
          </p:cNvPr>
          <p:cNvCxnSpPr>
            <a:cxnSpLocks/>
          </p:cNvCxnSpPr>
          <p:nvPr/>
        </p:nvCxnSpPr>
        <p:spPr>
          <a:xfrm>
            <a:off x="6096007"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0" name="正方形/長方形 199">
            <a:extLst>
              <a:ext uri="{FF2B5EF4-FFF2-40B4-BE49-F238E27FC236}">
                <a16:creationId xmlns:a16="http://schemas.microsoft.com/office/drawing/2014/main" id="{9705F9D8-793A-3DA6-9204-B7E3E586C500}"/>
              </a:ext>
            </a:extLst>
          </p:cNvPr>
          <p:cNvSpPr/>
          <p:nvPr/>
        </p:nvSpPr>
        <p:spPr>
          <a:xfrm>
            <a:off x="5049751" y="339524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 Table out, histories</a:t>
            </a:r>
            <a:endParaRPr lang="en-US" sz="825" dirty="0">
              <a:solidFill>
                <a:prstClr val="black"/>
              </a:solidFill>
              <a:latin typeface="Times New Roman" panose="02020603050405020304" pitchFamily="18" charset="0"/>
              <a:cs typeface="Times New Roman" panose="02020603050405020304" pitchFamily="18" charset="0"/>
            </a:endParaRPr>
          </a:p>
        </p:txBody>
      </p:sp>
      <p:sp>
        <p:nvSpPr>
          <p:cNvPr id="201" name="台形 200">
            <a:extLst>
              <a:ext uri="{FF2B5EF4-FFF2-40B4-BE49-F238E27FC236}">
                <a16:creationId xmlns:a16="http://schemas.microsoft.com/office/drawing/2014/main" id="{470FE165-0D72-6864-0127-4BD175112C0D}"/>
              </a:ext>
            </a:extLst>
          </p:cNvPr>
          <p:cNvSpPr/>
          <p:nvPr/>
        </p:nvSpPr>
        <p:spPr>
          <a:xfrm flipV="1">
            <a:off x="6197250" y="5420250"/>
            <a:ext cx="675008"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02" name="直線コネクタ 201">
            <a:extLst>
              <a:ext uri="{FF2B5EF4-FFF2-40B4-BE49-F238E27FC236}">
                <a16:creationId xmlns:a16="http://schemas.microsoft.com/office/drawing/2014/main" id="{D00F3572-49A7-545E-F599-B42ADBD7E005}"/>
              </a:ext>
            </a:extLst>
          </p:cNvPr>
          <p:cNvCxnSpPr>
            <a:cxnSpLocks/>
          </p:cNvCxnSpPr>
          <p:nvPr/>
        </p:nvCxnSpPr>
        <p:spPr>
          <a:xfrm>
            <a:off x="6534750" y="5487749"/>
            <a:ext cx="0" cy="1687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3" name="正方形/長方形 202">
            <a:extLst>
              <a:ext uri="{FF2B5EF4-FFF2-40B4-BE49-F238E27FC236}">
                <a16:creationId xmlns:a16="http://schemas.microsoft.com/office/drawing/2014/main" id="{54BE6768-3D52-9BC1-7F8E-457C44E27953}"/>
              </a:ext>
            </a:extLst>
          </p:cNvPr>
          <p:cNvSpPr/>
          <p:nvPr/>
        </p:nvSpPr>
        <p:spPr>
          <a:xfrm>
            <a:off x="5758500" y="552149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Final Prediction</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204" name="Freeform 10">
            <a:extLst>
              <a:ext uri="{FF2B5EF4-FFF2-40B4-BE49-F238E27FC236}">
                <a16:creationId xmlns:a16="http://schemas.microsoft.com/office/drawing/2014/main" id="{8DB91F96-23B6-4026-4097-B8A6EEBA64FA}"/>
              </a:ext>
            </a:extLst>
          </p:cNvPr>
          <p:cNvSpPr>
            <a:spLocks/>
          </p:cNvSpPr>
          <p:nvPr/>
        </p:nvSpPr>
        <p:spPr bwMode="auto">
          <a:xfrm>
            <a:off x="3767250" y="5251501"/>
            <a:ext cx="2565000" cy="6749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05" name="直線コネクタ 204">
            <a:extLst>
              <a:ext uri="{FF2B5EF4-FFF2-40B4-BE49-F238E27FC236}">
                <a16:creationId xmlns:a16="http://schemas.microsoft.com/office/drawing/2014/main" id="{42833906-7E12-0E07-18E9-0A49EEA2C8C5}"/>
              </a:ext>
            </a:extLst>
          </p:cNvPr>
          <p:cNvCxnSpPr>
            <a:cxnSpLocks/>
          </p:cNvCxnSpPr>
          <p:nvPr/>
        </p:nvCxnSpPr>
        <p:spPr>
          <a:xfrm>
            <a:off x="6332250" y="5318999"/>
            <a:ext cx="0" cy="1012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9" name="Freeform 10">
            <a:extLst>
              <a:ext uri="{FF2B5EF4-FFF2-40B4-BE49-F238E27FC236}">
                <a16:creationId xmlns:a16="http://schemas.microsoft.com/office/drawing/2014/main" id="{4B3A3463-2EC9-A2C5-994A-1618F9853B4A}"/>
              </a:ext>
            </a:extLst>
          </p:cNvPr>
          <p:cNvSpPr>
            <a:spLocks/>
          </p:cNvSpPr>
          <p:nvPr/>
        </p:nvSpPr>
        <p:spPr bwMode="auto">
          <a:xfrm flipH="1">
            <a:off x="6737250" y="5183999"/>
            <a:ext cx="236250" cy="135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10" name="直線コネクタ 209">
            <a:extLst>
              <a:ext uri="{FF2B5EF4-FFF2-40B4-BE49-F238E27FC236}">
                <a16:creationId xmlns:a16="http://schemas.microsoft.com/office/drawing/2014/main" id="{4E82C83A-4E5B-28C7-4977-D6D6AF62712B}"/>
              </a:ext>
            </a:extLst>
          </p:cNvPr>
          <p:cNvCxnSpPr>
            <a:cxnSpLocks/>
          </p:cNvCxnSpPr>
          <p:nvPr/>
        </p:nvCxnSpPr>
        <p:spPr>
          <a:xfrm>
            <a:off x="6737250" y="5318999"/>
            <a:ext cx="0" cy="1012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11" name="正方形/長方形 210">
            <a:extLst>
              <a:ext uri="{FF2B5EF4-FFF2-40B4-BE49-F238E27FC236}">
                <a16:creationId xmlns:a16="http://schemas.microsoft.com/office/drawing/2014/main" id="{AEB67A6B-7B68-9A75-B7CC-E2ADC4D82EF0}"/>
              </a:ext>
            </a:extLst>
          </p:cNvPr>
          <p:cNvSpPr/>
          <p:nvPr/>
        </p:nvSpPr>
        <p:spPr>
          <a:xfrm>
            <a:off x="7041000" y="508274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SC out</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212" name="四角形: 角を丸くする 211">
            <a:extLst>
              <a:ext uri="{FF2B5EF4-FFF2-40B4-BE49-F238E27FC236}">
                <a16:creationId xmlns:a16="http://schemas.microsoft.com/office/drawing/2014/main" id="{021DBD1E-B2CC-B15D-2E52-88C7B340C901}"/>
              </a:ext>
            </a:extLst>
          </p:cNvPr>
          <p:cNvSpPr/>
          <p:nvPr/>
        </p:nvSpPr>
        <p:spPr>
          <a:xfrm>
            <a:off x="6838501" y="4947748"/>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cxnSp>
        <p:nvCxnSpPr>
          <p:cNvPr id="214" name="直線矢印コネクタ 213">
            <a:extLst>
              <a:ext uri="{FF2B5EF4-FFF2-40B4-BE49-F238E27FC236}">
                <a16:creationId xmlns:a16="http://schemas.microsoft.com/office/drawing/2014/main" id="{7357CC90-2558-A897-BD1E-6DBAC0504939}"/>
              </a:ext>
            </a:extLst>
          </p:cNvPr>
          <p:cNvCxnSpPr>
            <a:cxnSpLocks/>
          </p:cNvCxnSpPr>
          <p:nvPr/>
        </p:nvCxnSpPr>
        <p:spPr>
          <a:xfrm>
            <a:off x="6973502" y="4373997"/>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15" name="正方形/長方形 214">
            <a:extLst>
              <a:ext uri="{FF2B5EF4-FFF2-40B4-BE49-F238E27FC236}">
                <a16:creationId xmlns:a16="http://schemas.microsoft.com/office/drawing/2014/main" id="{A27E723E-68E3-84E3-F76A-5A7EB21BB014}"/>
              </a:ext>
            </a:extLst>
          </p:cNvPr>
          <p:cNvSpPr/>
          <p:nvPr/>
        </p:nvSpPr>
        <p:spPr>
          <a:xfrm>
            <a:off x="6771000" y="4508998"/>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a:t>
            </a:r>
          </a:p>
        </p:txBody>
      </p:sp>
      <p:sp>
        <p:nvSpPr>
          <p:cNvPr id="216" name="正方形/長方形 215">
            <a:extLst>
              <a:ext uri="{FF2B5EF4-FFF2-40B4-BE49-F238E27FC236}">
                <a16:creationId xmlns:a16="http://schemas.microsoft.com/office/drawing/2014/main" id="{8F803C52-1450-5E88-9162-CA0BE14C8746}"/>
              </a:ext>
            </a:extLst>
          </p:cNvPr>
          <p:cNvSpPr/>
          <p:nvPr/>
        </p:nvSpPr>
        <p:spPr>
          <a:xfrm>
            <a:off x="6399750" y="3833997"/>
            <a:ext cx="2025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17" name="Freeform 10">
            <a:extLst>
              <a:ext uri="{FF2B5EF4-FFF2-40B4-BE49-F238E27FC236}">
                <a16:creationId xmlns:a16="http://schemas.microsoft.com/office/drawing/2014/main" id="{D9AF9B6A-8017-C41D-7D56-5CF2BF056967}"/>
              </a:ext>
            </a:extLst>
          </p:cNvPr>
          <p:cNvSpPr>
            <a:spLocks/>
          </p:cNvSpPr>
          <p:nvPr/>
        </p:nvSpPr>
        <p:spPr bwMode="auto">
          <a:xfrm>
            <a:off x="6501002" y="4103996"/>
            <a:ext cx="269999"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20" name="正方形/長方形 219">
            <a:extLst>
              <a:ext uri="{FF2B5EF4-FFF2-40B4-BE49-F238E27FC236}">
                <a16:creationId xmlns:a16="http://schemas.microsoft.com/office/drawing/2014/main" id="{C210402D-9EAD-FF0F-F234-FE57D3BBF60D}"/>
              </a:ext>
            </a:extLst>
          </p:cNvPr>
          <p:cNvSpPr/>
          <p:nvPr/>
        </p:nvSpPr>
        <p:spPr>
          <a:xfrm>
            <a:off x="6737251" y="3833997"/>
            <a:ext cx="13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1" name="正方形/長方形 220">
            <a:extLst>
              <a:ext uri="{FF2B5EF4-FFF2-40B4-BE49-F238E27FC236}">
                <a16:creationId xmlns:a16="http://schemas.microsoft.com/office/drawing/2014/main" id="{98DD337B-6D1F-8BD1-D11B-A1FD37C7DCF7}"/>
              </a:ext>
            </a:extLst>
          </p:cNvPr>
          <p:cNvSpPr/>
          <p:nvPr/>
        </p:nvSpPr>
        <p:spPr>
          <a:xfrm>
            <a:off x="6906000"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2" name="正方形/長方形 221">
            <a:extLst>
              <a:ext uri="{FF2B5EF4-FFF2-40B4-BE49-F238E27FC236}">
                <a16:creationId xmlns:a16="http://schemas.microsoft.com/office/drawing/2014/main" id="{BE130F61-040D-2764-DC37-A93EA7D55A30}"/>
              </a:ext>
            </a:extLst>
          </p:cNvPr>
          <p:cNvSpPr/>
          <p:nvPr/>
        </p:nvSpPr>
        <p:spPr>
          <a:xfrm>
            <a:off x="7243500"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3" name="四角形: 角を丸くする 222">
            <a:extLst>
              <a:ext uri="{FF2B5EF4-FFF2-40B4-BE49-F238E27FC236}">
                <a16:creationId xmlns:a16="http://schemas.microsoft.com/office/drawing/2014/main" id="{824B03BE-F060-F34F-D8B2-0FD19253249E}"/>
              </a:ext>
            </a:extLst>
          </p:cNvPr>
          <p:cNvSpPr/>
          <p:nvPr/>
        </p:nvSpPr>
        <p:spPr>
          <a:xfrm>
            <a:off x="6838501" y="4238995"/>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24" name="Freeform 10">
            <a:extLst>
              <a:ext uri="{FF2B5EF4-FFF2-40B4-BE49-F238E27FC236}">
                <a16:creationId xmlns:a16="http://schemas.microsoft.com/office/drawing/2014/main" id="{526B2135-5591-FA01-6EBF-E8833B2AF0F9}"/>
              </a:ext>
            </a:extLst>
          </p:cNvPr>
          <p:cNvSpPr>
            <a:spLocks/>
          </p:cNvSpPr>
          <p:nvPr/>
        </p:nvSpPr>
        <p:spPr bwMode="auto">
          <a:xfrm>
            <a:off x="6804751" y="4103997"/>
            <a:ext cx="101250"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25" name="直線矢印コネクタ 224">
            <a:extLst>
              <a:ext uri="{FF2B5EF4-FFF2-40B4-BE49-F238E27FC236}">
                <a16:creationId xmlns:a16="http://schemas.microsoft.com/office/drawing/2014/main" id="{70030A0C-BB6E-4F09-03ED-72D639C62FD1}"/>
              </a:ext>
            </a:extLst>
          </p:cNvPr>
          <p:cNvCxnSpPr>
            <a:cxnSpLocks/>
          </p:cNvCxnSpPr>
          <p:nvPr/>
        </p:nvCxnSpPr>
        <p:spPr>
          <a:xfrm>
            <a:off x="6906001"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26" name="直線矢印コネクタ 225">
            <a:extLst>
              <a:ext uri="{FF2B5EF4-FFF2-40B4-BE49-F238E27FC236}">
                <a16:creationId xmlns:a16="http://schemas.microsoft.com/office/drawing/2014/main" id="{601C9BF8-15B3-9B8E-E260-1AAC698081DF}"/>
              </a:ext>
            </a:extLst>
          </p:cNvPr>
          <p:cNvCxnSpPr>
            <a:cxnSpLocks/>
            <a:endCxn id="223" idx="0"/>
          </p:cNvCxnSpPr>
          <p:nvPr/>
        </p:nvCxnSpPr>
        <p:spPr>
          <a:xfrm>
            <a:off x="6973502" y="4103994"/>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27" name="Freeform 10">
            <a:extLst>
              <a:ext uri="{FF2B5EF4-FFF2-40B4-BE49-F238E27FC236}">
                <a16:creationId xmlns:a16="http://schemas.microsoft.com/office/drawing/2014/main" id="{8C588948-A009-5220-BFFE-46CD622AD14B}"/>
              </a:ext>
            </a:extLst>
          </p:cNvPr>
          <p:cNvSpPr>
            <a:spLocks/>
          </p:cNvSpPr>
          <p:nvPr/>
        </p:nvSpPr>
        <p:spPr bwMode="auto">
          <a:xfrm flipH="1">
            <a:off x="7041002" y="4103995"/>
            <a:ext cx="269999"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28" name="直線矢印コネクタ 227">
            <a:extLst>
              <a:ext uri="{FF2B5EF4-FFF2-40B4-BE49-F238E27FC236}">
                <a16:creationId xmlns:a16="http://schemas.microsoft.com/office/drawing/2014/main" id="{4BEFF42C-16D2-2DC8-218C-FB7F1A35981F}"/>
              </a:ext>
            </a:extLst>
          </p:cNvPr>
          <p:cNvCxnSpPr>
            <a:cxnSpLocks/>
          </p:cNvCxnSpPr>
          <p:nvPr/>
        </p:nvCxnSpPr>
        <p:spPr>
          <a:xfrm>
            <a:off x="7041002"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33" name="正方形/長方形 232">
            <a:extLst>
              <a:ext uri="{FF2B5EF4-FFF2-40B4-BE49-F238E27FC236}">
                <a16:creationId xmlns:a16="http://schemas.microsoft.com/office/drawing/2014/main" id="{A3F8CDCE-E667-93B9-824E-6077495BDBD5}"/>
              </a:ext>
            </a:extLst>
          </p:cNvPr>
          <p:cNvSpPr/>
          <p:nvPr/>
        </p:nvSpPr>
        <p:spPr>
          <a:xfrm>
            <a:off x="7007250" y="383399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37" name="直線矢印コネクタ 236">
            <a:extLst>
              <a:ext uri="{FF2B5EF4-FFF2-40B4-BE49-F238E27FC236}">
                <a16:creationId xmlns:a16="http://schemas.microsoft.com/office/drawing/2014/main" id="{6FD93F03-98C8-EDF2-DDEF-7A428ADF053B}"/>
              </a:ext>
            </a:extLst>
          </p:cNvPr>
          <p:cNvCxnSpPr>
            <a:cxnSpLocks/>
          </p:cNvCxnSpPr>
          <p:nvPr/>
        </p:nvCxnSpPr>
        <p:spPr>
          <a:xfrm>
            <a:off x="8154746" y="4373997"/>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38" name="正方形/長方形 237">
            <a:extLst>
              <a:ext uri="{FF2B5EF4-FFF2-40B4-BE49-F238E27FC236}">
                <a16:creationId xmlns:a16="http://schemas.microsoft.com/office/drawing/2014/main" id="{A936A88E-EED7-A0A0-A9D2-25CD0AFFB9E7}"/>
              </a:ext>
            </a:extLst>
          </p:cNvPr>
          <p:cNvSpPr/>
          <p:nvPr/>
        </p:nvSpPr>
        <p:spPr>
          <a:xfrm>
            <a:off x="7952244" y="4508998"/>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a:t>
            </a:r>
          </a:p>
        </p:txBody>
      </p:sp>
      <p:sp>
        <p:nvSpPr>
          <p:cNvPr id="239" name="正方形/長方形 238">
            <a:extLst>
              <a:ext uri="{FF2B5EF4-FFF2-40B4-BE49-F238E27FC236}">
                <a16:creationId xmlns:a16="http://schemas.microsoft.com/office/drawing/2014/main" id="{9CDA0CF2-4C1D-A4BD-A2E4-B281A380BDCD}"/>
              </a:ext>
            </a:extLst>
          </p:cNvPr>
          <p:cNvSpPr/>
          <p:nvPr/>
        </p:nvSpPr>
        <p:spPr>
          <a:xfrm>
            <a:off x="7580994" y="3833997"/>
            <a:ext cx="2025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0" name="Freeform 10">
            <a:extLst>
              <a:ext uri="{FF2B5EF4-FFF2-40B4-BE49-F238E27FC236}">
                <a16:creationId xmlns:a16="http://schemas.microsoft.com/office/drawing/2014/main" id="{F87212B7-1FC2-E62D-8C55-4735499FC469}"/>
              </a:ext>
            </a:extLst>
          </p:cNvPr>
          <p:cNvSpPr>
            <a:spLocks/>
          </p:cNvSpPr>
          <p:nvPr/>
        </p:nvSpPr>
        <p:spPr bwMode="auto">
          <a:xfrm>
            <a:off x="7682246" y="4103996"/>
            <a:ext cx="269999"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41" name="正方形/長方形 240">
            <a:extLst>
              <a:ext uri="{FF2B5EF4-FFF2-40B4-BE49-F238E27FC236}">
                <a16:creationId xmlns:a16="http://schemas.microsoft.com/office/drawing/2014/main" id="{D61108B4-E55F-C962-EDA0-14FF73F631F9}"/>
              </a:ext>
            </a:extLst>
          </p:cNvPr>
          <p:cNvSpPr/>
          <p:nvPr/>
        </p:nvSpPr>
        <p:spPr>
          <a:xfrm>
            <a:off x="7918495" y="3833997"/>
            <a:ext cx="13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2" name="正方形/長方形 241">
            <a:extLst>
              <a:ext uri="{FF2B5EF4-FFF2-40B4-BE49-F238E27FC236}">
                <a16:creationId xmlns:a16="http://schemas.microsoft.com/office/drawing/2014/main" id="{B9AAEA07-66DD-23E3-F80D-266D10834E48}"/>
              </a:ext>
            </a:extLst>
          </p:cNvPr>
          <p:cNvSpPr/>
          <p:nvPr/>
        </p:nvSpPr>
        <p:spPr>
          <a:xfrm>
            <a:off x="8087244"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3" name="正方形/長方形 242">
            <a:extLst>
              <a:ext uri="{FF2B5EF4-FFF2-40B4-BE49-F238E27FC236}">
                <a16:creationId xmlns:a16="http://schemas.microsoft.com/office/drawing/2014/main" id="{5EE2683B-EFF7-8AD2-E740-947862119A06}"/>
              </a:ext>
            </a:extLst>
          </p:cNvPr>
          <p:cNvSpPr/>
          <p:nvPr/>
        </p:nvSpPr>
        <p:spPr>
          <a:xfrm>
            <a:off x="8424744"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4" name="四角形: 角を丸くする 243">
            <a:extLst>
              <a:ext uri="{FF2B5EF4-FFF2-40B4-BE49-F238E27FC236}">
                <a16:creationId xmlns:a16="http://schemas.microsoft.com/office/drawing/2014/main" id="{88D66EAA-EF32-76D3-98B3-C4B2950E7131}"/>
              </a:ext>
            </a:extLst>
          </p:cNvPr>
          <p:cNvSpPr/>
          <p:nvPr/>
        </p:nvSpPr>
        <p:spPr>
          <a:xfrm>
            <a:off x="8019745" y="4238995"/>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45" name="Freeform 10">
            <a:extLst>
              <a:ext uri="{FF2B5EF4-FFF2-40B4-BE49-F238E27FC236}">
                <a16:creationId xmlns:a16="http://schemas.microsoft.com/office/drawing/2014/main" id="{B25E7648-D8CF-B7E9-2D30-295999C783EF}"/>
              </a:ext>
            </a:extLst>
          </p:cNvPr>
          <p:cNvSpPr>
            <a:spLocks/>
          </p:cNvSpPr>
          <p:nvPr/>
        </p:nvSpPr>
        <p:spPr bwMode="auto">
          <a:xfrm>
            <a:off x="7985995" y="4103997"/>
            <a:ext cx="101250"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46" name="直線矢印コネクタ 245">
            <a:extLst>
              <a:ext uri="{FF2B5EF4-FFF2-40B4-BE49-F238E27FC236}">
                <a16:creationId xmlns:a16="http://schemas.microsoft.com/office/drawing/2014/main" id="{7A692883-F45D-C867-F371-BE747D626C24}"/>
              </a:ext>
            </a:extLst>
          </p:cNvPr>
          <p:cNvCxnSpPr>
            <a:cxnSpLocks/>
          </p:cNvCxnSpPr>
          <p:nvPr/>
        </p:nvCxnSpPr>
        <p:spPr>
          <a:xfrm>
            <a:off x="8087245"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47" name="直線矢印コネクタ 246">
            <a:extLst>
              <a:ext uri="{FF2B5EF4-FFF2-40B4-BE49-F238E27FC236}">
                <a16:creationId xmlns:a16="http://schemas.microsoft.com/office/drawing/2014/main" id="{4F222C99-8A26-0E8F-BBD3-D69FBDC34507}"/>
              </a:ext>
            </a:extLst>
          </p:cNvPr>
          <p:cNvCxnSpPr>
            <a:cxnSpLocks/>
            <a:endCxn id="244" idx="0"/>
          </p:cNvCxnSpPr>
          <p:nvPr/>
        </p:nvCxnSpPr>
        <p:spPr>
          <a:xfrm>
            <a:off x="8154746" y="4103994"/>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48" name="Freeform 10">
            <a:extLst>
              <a:ext uri="{FF2B5EF4-FFF2-40B4-BE49-F238E27FC236}">
                <a16:creationId xmlns:a16="http://schemas.microsoft.com/office/drawing/2014/main" id="{5BE17E9C-1884-9B96-67D0-9DC246EEFE43}"/>
              </a:ext>
            </a:extLst>
          </p:cNvPr>
          <p:cNvSpPr>
            <a:spLocks/>
          </p:cNvSpPr>
          <p:nvPr/>
        </p:nvSpPr>
        <p:spPr bwMode="auto">
          <a:xfrm flipH="1">
            <a:off x="8222246" y="4103995"/>
            <a:ext cx="269999"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49" name="直線矢印コネクタ 248">
            <a:extLst>
              <a:ext uri="{FF2B5EF4-FFF2-40B4-BE49-F238E27FC236}">
                <a16:creationId xmlns:a16="http://schemas.microsoft.com/office/drawing/2014/main" id="{7E367F46-DDB6-2B10-577C-DCC98A786B67}"/>
              </a:ext>
            </a:extLst>
          </p:cNvPr>
          <p:cNvCxnSpPr>
            <a:cxnSpLocks/>
          </p:cNvCxnSpPr>
          <p:nvPr/>
        </p:nvCxnSpPr>
        <p:spPr>
          <a:xfrm>
            <a:off x="8222246"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50" name="正方形/長方形 249">
            <a:extLst>
              <a:ext uri="{FF2B5EF4-FFF2-40B4-BE49-F238E27FC236}">
                <a16:creationId xmlns:a16="http://schemas.microsoft.com/office/drawing/2014/main" id="{0516CA1C-D31A-9AED-5543-14AE40F4D608}"/>
              </a:ext>
            </a:extLst>
          </p:cNvPr>
          <p:cNvSpPr/>
          <p:nvPr/>
        </p:nvSpPr>
        <p:spPr>
          <a:xfrm>
            <a:off x="8188494" y="383399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253" name="Freeform 10">
            <a:extLst>
              <a:ext uri="{FF2B5EF4-FFF2-40B4-BE49-F238E27FC236}">
                <a16:creationId xmlns:a16="http://schemas.microsoft.com/office/drawing/2014/main" id="{1045A486-2E7A-EA24-E64D-D4AFC3C47168}"/>
              </a:ext>
            </a:extLst>
          </p:cNvPr>
          <p:cNvSpPr>
            <a:spLocks/>
          </p:cNvSpPr>
          <p:nvPr/>
        </p:nvSpPr>
        <p:spPr bwMode="auto">
          <a:xfrm>
            <a:off x="5556000" y="4644000"/>
            <a:ext cx="1316250" cy="16875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54" name="直線矢印コネクタ 253">
            <a:extLst>
              <a:ext uri="{FF2B5EF4-FFF2-40B4-BE49-F238E27FC236}">
                <a16:creationId xmlns:a16="http://schemas.microsoft.com/office/drawing/2014/main" id="{5CFE9ABB-F6AA-3DB9-6AB5-2A2408A1E3EA}"/>
              </a:ext>
            </a:extLst>
          </p:cNvPr>
          <p:cNvCxnSpPr>
            <a:cxnSpLocks/>
          </p:cNvCxnSpPr>
          <p:nvPr/>
        </p:nvCxnSpPr>
        <p:spPr>
          <a:xfrm>
            <a:off x="6872250" y="4812750"/>
            <a:ext cx="0" cy="1350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71" name="直線矢印コネクタ 270">
            <a:extLst>
              <a:ext uri="{FF2B5EF4-FFF2-40B4-BE49-F238E27FC236}">
                <a16:creationId xmlns:a16="http://schemas.microsoft.com/office/drawing/2014/main" id="{59E64831-B18C-02E7-582B-699F5E24EE35}"/>
              </a:ext>
            </a:extLst>
          </p:cNvPr>
          <p:cNvCxnSpPr>
            <a:cxnSpLocks/>
          </p:cNvCxnSpPr>
          <p:nvPr/>
        </p:nvCxnSpPr>
        <p:spPr>
          <a:xfrm>
            <a:off x="7007250" y="4778999"/>
            <a:ext cx="0" cy="168750"/>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72" name="Freeform 10">
            <a:extLst>
              <a:ext uri="{FF2B5EF4-FFF2-40B4-BE49-F238E27FC236}">
                <a16:creationId xmlns:a16="http://schemas.microsoft.com/office/drawing/2014/main" id="{F42821C4-2E9C-ECFD-F9ED-09B861F19E86}"/>
              </a:ext>
            </a:extLst>
          </p:cNvPr>
          <p:cNvSpPr>
            <a:spLocks/>
          </p:cNvSpPr>
          <p:nvPr/>
        </p:nvSpPr>
        <p:spPr bwMode="auto">
          <a:xfrm flipH="1">
            <a:off x="7007250" y="4643999"/>
            <a:ext cx="1113750" cy="135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73" name="正方形/長方形 272">
            <a:extLst>
              <a:ext uri="{FF2B5EF4-FFF2-40B4-BE49-F238E27FC236}">
                <a16:creationId xmlns:a16="http://schemas.microsoft.com/office/drawing/2014/main" id="{F90C0378-B2FC-FEB1-193A-5F840D466EE8}"/>
              </a:ext>
            </a:extLst>
          </p:cNvPr>
          <p:cNvSpPr/>
          <p:nvPr/>
        </p:nvSpPr>
        <p:spPr>
          <a:xfrm>
            <a:off x="7311000" y="434024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76" name="直線コネクタ 275">
            <a:extLst>
              <a:ext uri="{FF2B5EF4-FFF2-40B4-BE49-F238E27FC236}">
                <a16:creationId xmlns:a16="http://schemas.microsoft.com/office/drawing/2014/main" id="{4AD53ECC-5659-888C-D00A-F7DAC035934C}"/>
              </a:ext>
            </a:extLst>
          </p:cNvPr>
          <p:cNvCxnSpPr>
            <a:cxnSpLocks/>
          </p:cNvCxnSpPr>
          <p:nvPr/>
        </p:nvCxnSpPr>
        <p:spPr>
          <a:xfrm>
            <a:off x="6973500" y="5318999"/>
            <a:ext cx="0" cy="13500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cxnSp>
        <p:nvCxnSpPr>
          <p:cNvPr id="277" name="直線矢印コネクタ 276">
            <a:extLst>
              <a:ext uri="{FF2B5EF4-FFF2-40B4-BE49-F238E27FC236}">
                <a16:creationId xmlns:a16="http://schemas.microsoft.com/office/drawing/2014/main" id="{1BB6138F-A9D4-3E5B-F009-9A82E3E0F6A0}"/>
              </a:ext>
            </a:extLst>
          </p:cNvPr>
          <p:cNvCxnSpPr>
            <a:cxnSpLocks/>
            <a:endCxn id="201" idx="3"/>
          </p:cNvCxnSpPr>
          <p:nvPr/>
        </p:nvCxnSpPr>
        <p:spPr>
          <a:xfrm flipH="1">
            <a:off x="6863820" y="5453999"/>
            <a:ext cx="109680" cy="0"/>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81" name="直線コネクタ 280">
            <a:extLst>
              <a:ext uri="{FF2B5EF4-FFF2-40B4-BE49-F238E27FC236}">
                <a16:creationId xmlns:a16="http://schemas.microsoft.com/office/drawing/2014/main" id="{665D468B-ABA4-2191-2CD9-3A7B0433031B}"/>
              </a:ext>
            </a:extLst>
          </p:cNvPr>
          <p:cNvCxnSpPr>
            <a:cxnSpLocks/>
          </p:cNvCxnSpPr>
          <p:nvPr/>
        </p:nvCxnSpPr>
        <p:spPr>
          <a:xfrm>
            <a:off x="6939750" y="4643999"/>
            <a:ext cx="0" cy="3037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300" name="直線矢印コネクタ 299">
            <a:extLst>
              <a:ext uri="{FF2B5EF4-FFF2-40B4-BE49-F238E27FC236}">
                <a16:creationId xmlns:a16="http://schemas.microsoft.com/office/drawing/2014/main" id="{5D41BAFF-51AF-8636-EA37-EF9FC357F24B}"/>
              </a:ext>
            </a:extLst>
          </p:cNvPr>
          <p:cNvCxnSpPr>
            <a:cxnSpLocks/>
          </p:cNvCxnSpPr>
          <p:nvPr/>
        </p:nvCxnSpPr>
        <p:spPr>
          <a:xfrm>
            <a:off x="7074750" y="4846500"/>
            <a:ext cx="0" cy="10125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303" name="Freeform 10">
            <a:extLst>
              <a:ext uri="{FF2B5EF4-FFF2-40B4-BE49-F238E27FC236}">
                <a16:creationId xmlns:a16="http://schemas.microsoft.com/office/drawing/2014/main" id="{5A972FEC-516F-376E-8040-FF500E4214DD}"/>
              </a:ext>
            </a:extLst>
          </p:cNvPr>
          <p:cNvSpPr>
            <a:spLocks/>
          </p:cNvSpPr>
          <p:nvPr/>
        </p:nvSpPr>
        <p:spPr bwMode="auto">
          <a:xfrm flipH="1">
            <a:off x="7074750" y="4745249"/>
            <a:ext cx="2430000" cy="10125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304" name="正方形/長方形 303">
            <a:extLst>
              <a:ext uri="{FF2B5EF4-FFF2-40B4-BE49-F238E27FC236}">
                <a16:creationId xmlns:a16="http://schemas.microsoft.com/office/drawing/2014/main" id="{D1598358-14B8-C850-7013-3388D04018B9}"/>
              </a:ext>
            </a:extLst>
          </p:cNvPr>
          <p:cNvSpPr/>
          <p:nvPr/>
        </p:nvSpPr>
        <p:spPr>
          <a:xfrm>
            <a:off x="8829750" y="3766499"/>
            <a:ext cx="1350000" cy="978750"/>
          </a:xfrm>
          <a:prstGeom prst="rect">
            <a:avLst/>
          </a:prstGeom>
          <a:solidFill>
            <a:schemeClr val="accent6">
              <a:lumMod val="20000"/>
              <a:lumOff val="8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defTabSz="342900"/>
            <a:r>
              <a:rPr lang="en-US" altLang="ja-JP" sz="1350" dirty="0">
                <a:solidFill>
                  <a:prstClr val="black"/>
                </a:solidFill>
                <a:latin typeface="Calibri" panose="020F0502020204030204"/>
                <a:ea typeface="游ゴシック" panose="020B0400000000000000" pitchFamily="50" charset="-128"/>
              </a:rPr>
              <a:t>Register-value component</a:t>
            </a:r>
            <a:endParaRPr lang="ja-JP" altLang="en-US" sz="1350" dirty="0">
              <a:solidFill>
                <a:prstClr val="black"/>
              </a:solidFill>
              <a:latin typeface="Calibri" panose="020F0502020204030204"/>
              <a:ea typeface="游ゴシック" panose="020B0400000000000000" pitchFamily="50" charset="-128"/>
            </a:endParaRPr>
          </a:p>
        </p:txBody>
      </p:sp>
      <p:sp>
        <p:nvSpPr>
          <p:cNvPr id="305" name="正方形/長方形 304">
            <a:extLst>
              <a:ext uri="{FF2B5EF4-FFF2-40B4-BE49-F238E27FC236}">
                <a16:creationId xmlns:a16="http://schemas.microsoft.com/office/drawing/2014/main" id="{806C2916-62C0-837C-DCB7-F37F631236AD}"/>
              </a:ext>
            </a:extLst>
          </p:cNvPr>
          <p:cNvSpPr/>
          <p:nvPr/>
        </p:nvSpPr>
        <p:spPr>
          <a:xfrm>
            <a:off x="9369750" y="3496497"/>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1050" dirty="0">
                <a:solidFill>
                  <a:prstClr val="black"/>
                </a:solidFill>
                <a:latin typeface="Arial" panose="020B0604020202020204" pitchFamily="34" charset="0"/>
                <a:ea typeface="游ゴシック" panose="020B0400000000000000" pitchFamily="50" charset="-128"/>
                <a:cs typeface="Arial" panose="020B0604020202020204" pitchFamily="34" charset="0"/>
              </a:rPr>
              <a:t>PC, register values</a:t>
            </a:r>
            <a:endParaRPr lang="en-US" sz="1050" dirty="0">
              <a:solidFill>
                <a:prstClr val="black"/>
              </a:solidFill>
              <a:latin typeface="Times New Roman" panose="02020603050405020304" pitchFamily="18" charset="0"/>
              <a:cs typeface="Times New Roman" panose="02020603050405020304" pitchFamily="18" charset="0"/>
            </a:endParaRPr>
          </a:p>
        </p:txBody>
      </p:sp>
      <p:cxnSp>
        <p:nvCxnSpPr>
          <p:cNvPr id="306" name="直線矢印コネクタ 305">
            <a:extLst>
              <a:ext uri="{FF2B5EF4-FFF2-40B4-BE49-F238E27FC236}">
                <a16:creationId xmlns:a16="http://schemas.microsoft.com/office/drawing/2014/main" id="{1306462D-5BFD-848C-5F42-8130E61859AD}"/>
              </a:ext>
            </a:extLst>
          </p:cNvPr>
          <p:cNvCxnSpPr>
            <a:cxnSpLocks/>
          </p:cNvCxnSpPr>
          <p:nvPr/>
        </p:nvCxnSpPr>
        <p:spPr>
          <a:xfrm>
            <a:off x="9504750" y="363149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74" name="直線コネクタ 273">
            <a:extLst>
              <a:ext uri="{FF2B5EF4-FFF2-40B4-BE49-F238E27FC236}">
                <a16:creationId xmlns:a16="http://schemas.microsoft.com/office/drawing/2014/main" id="{1E787BEC-2402-21DE-ECA5-5D2C7FB2068A}"/>
              </a:ext>
            </a:extLst>
          </p:cNvPr>
          <p:cNvCxnSpPr>
            <a:cxnSpLocks/>
          </p:cNvCxnSpPr>
          <p:nvPr/>
        </p:nvCxnSpPr>
        <p:spPr>
          <a:xfrm>
            <a:off x="4442250" y="3462750"/>
            <a:ext cx="641250"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80" name="直線コネクタ 279">
            <a:extLst>
              <a:ext uri="{FF2B5EF4-FFF2-40B4-BE49-F238E27FC236}">
                <a16:creationId xmlns:a16="http://schemas.microsoft.com/office/drawing/2014/main" id="{5D488E0F-E4E5-7604-65D4-946EAD362353}"/>
              </a:ext>
            </a:extLst>
          </p:cNvPr>
          <p:cNvCxnSpPr>
            <a:cxnSpLocks/>
          </p:cNvCxnSpPr>
          <p:nvPr/>
        </p:nvCxnSpPr>
        <p:spPr>
          <a:xfrm>
            <a:off x="4442250" y="3462750"/>
            <a:ext cx="0" cy="18562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 name="コンテンツ プレースホルダー 2">
            <a:extLst>
              <a:ext uri="{FF2B5EF4-FFF2-40B4-BE49-F238E27FC236}">
                <a16:creationId xmlns:a16="http://schemas.microsoft.com/office/drawing/2014/main" id="{3EBE4C98-57C3-A8A2-BBC9-874EB56A7737}"/>
              </a:ext>
            </a:extLst>
          </p:cNvPr>
          <p:cNvSpPr txBox="1">
            <a:spLocks/>
          </p:cNvSpPr>
          <p:nvPr/>
        </p:nvSpPr>
        <p:spPr>
          <a:xfrm>
            <a:off x="2135956" y="1448979"/>
            <a:ext cx="7886700" cy="883367"/>
          </a:xfrm>
          <a:prstGeom prst="rect">
            <a:avLst/>
          </a:prstGeom>
        </p:spPr>
        <p:txBody>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ja-JP" altLang="en-US" kern="0" dirty="0"/>
              <a:t>基本的には </a:t>
            </a:r>
            <a:r>
              <a:rPr lang="en-US" altLang="ja-JP" kern="0" dirty="0"/>
              <a:t>TAGE </a:t>
            </a:r>
            <a:r>
              <a:rPr lang="ja-JP" altLang="en-US" kern="0" dirty="0"/>
              <a:t>予測器の構造を踏襲</a:t>
            </a:r>
            <a:endParaRPr lang="en-US" altLang="ja-JP" kern="0" dirty="0"/>
          </a:p>
          <a:p>
            <a:r>
              <a:rPr lang="ja-JP" altLang="en-US" kern="0" dirty="0"/>
              <a:t>レジスタの値と分岐の方向の相関を拾う方式を新しく提案</a:t>
            </a:r>
            <a:endParaRPr lang="en-US" altLang="ja-JP" kern="0" dirty="0"/>
          </a:p>
        </p:txBody>
      </p:sp>
    </p:spTree>
    <p:extLst>
      <p:ext uri="{BB962C8B-B14F-4D97-AF65-F5344CB8AC3E}">
        <p14:creationId xmlns:p14="http://schemas.microsoft.com/office/powerpoint/2010/main" val="13674393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分岐命令の処理と制御ハザード</a:t>
            </a:r>
          </a:p>
        </p:txBody>
      </p:sp>
      <p:sp>
        <p:nvSpPr>
          <p:cNvPr id="58" name="コンテンツ プレースホルダー 57"/>
          <p:cNvSpPr>
            <a:spLocks noGrp="1"/>
          </p:cNvSpPr>
          <p:nvPr>
            <p:ph idx="4294967295"/>
          </p:nvPr>
        </p:nvSpPr>
        <p:spPr>
          <a:xfrm>
            <a:off x="1651205" y="4329011"/>
            <a:ext cx="9000100" cy="2250025"/>
          </a:xfrm>
          <a:prstGeom prst="rect">
            <a:avLst/>
          </a:prstGeom>
        </p:spPr>
        <p:txBody>
          <a:bodyPr/>
          <a:lstStyle/>
          <a:p>
            <a:r>
              <a:rPr lang="ja-JP" altLang="en-US" dirty="0"/>
              <a:t>「</a:t>
            </a:r>
            <a:r>
              <a:rPr lang="en-US" altLang="ja-JP" dirty="0">
                <a:solidFill>
                  <a:schemeClr val="accent5"/>
                </a:solidFill>
              </a:rPr>
              <a:t>if a &gt; 0</a:t>
            </a:r>
            <a:r>
              <a:rPr lang="ja-JP" altLang="en-US" dirty="0"/>
              <a:t>」の結果は</a:t>
            </a:r>
            <a:r>
              <a:rPr lang="ja-JP" altLang="en-US" dirty="0">
                <a:solidFill>
                  <a:schemeClr val="accent4"/>
                </a:solidFill>
              </a:rPr>
              <a:t>最終段の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の人まで反映出来ない</a:t>
            </a:r>
            <a:endParaRPr lang="en-US" altLang="ja-JP" sz="1800" dirty="0"/>
          </a:p>
          <a:p>
            <a:pPr lvl="1"/>
            <a:r>
              <a:rPr lang="ja-JP" altLang="en-US" dirty="0"/>
              <a:t>先頭は次に </a:t>
            </a:r>
            <a:r>
              <a:rPr lang="en-US" altLang="ja-JP" dirty="0">
                <a:solidFill>
                  <a:schemeClr val="accent5"/>
                </a:solidFill>
              </a:rPr>
              <a:t>a=a+1 </a:t>
            </a:r>
            <a:r>
              <a:rPr lang="ja-JP" altLang="en-US" dirty="0"/>
              <a:t>と </a:t>
            </a:r>
            <a:r>
              <a:rPr lang="en-US" altLang="ja-JP" dirty="0">
                <a:solidFill>
                  <a:schemeClr val="accent5"/>
                </a:solidFill>
              </a:rPr>
              <a:t>a=a-1</a:t>
            </a:r>
            <a:r>
              <a:rPr lang="en-US" altLang="ja-JP" dirty="0"/>
              <a:t> </a:t>
            </a:r>
            <a:r>
              <a:rPr lang="ja-JP" altLang="en-US" dirty="0"/>
              <a:t>のどちらを取り込めばいいのかわからない</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命令メモリ</a:t>
            </a:r>
          </a:p>
        </p:txBody>
      </p:sp>
      <p:sp>
        <p:nvSpPr>
          <p:cNvPr id="24" name="角丸四角形吹き出し 23"/>
          <p:cNvSpPr/>
          <p:nvPr/>
        </p:nvSpPr>
        <p:spPr bwMode="auto">
          <a:xfrm>
            <a:off x="3665973" y="1718981"/>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次どう</a:t>
            </a:r>
            <a:r>
              <a:rPr lang="ja-JP" altLang="en-US" sz="1400" dirty="0" err="1">
                <a:solidFill>
                  <a:schemeClr val="tx1">
                    <a:lumMod val="65000"/>
                    <a:lumOff val="35000"/>
                  </a:schemeClr>
                </a:solidFill>
                <a:latin typeface="Arial Narrow" panose="020B0606020202030204" pitchFamily="34" charset="0"/>
              </a:rPr>
              <a:t>すんねん</a:t>
            </a:r>
            <a:endParaRPr lang="ja-JP" altLang="en-US" sz="1400"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8484018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1658179"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ｲｹﾙﾃﾞ</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 ｺﾚﾊ </a:t>
            </a:r>
          </a:p>
        </p:txBody>
      </p:sp>
      <p:sp>
        <p:nvSpPr>
          <p:cNvPr id="36" name="正方形/長方形 35"/>
          <p:cNvSpPr/>
          <p:nvPr/>
        </p:nvSpPr>
        <p:spPr>
          <a:xfrm>
            <a:off x="4527966" y="2294454"/>
            <a:ext cx="1478033"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ｷﾘｶｴｶﾞ</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ﾀﾞｲｼﾞ</a:t>
            </a:r>
          </a:p>
        </p:txBody>
      </p:sp>
      <p:sp>
        <p:nvSpPr>
          <p:cNvPr id="49" name="正方形/長方形 48"/>
          <p:cNvSpPr/>
          <p:nvPr/>
        </p:nvSpPr>
        <p:spPr>
          <a:xfrm>
            <a:off x="5970013" y="2313038"/>
            <a:ext cx="1296000"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ﾔﾚﾔﾚ（つ   つ</a:t>
            </a:r>
          </a:p>
        </p:txBody>
      </p:sp>
      <p:sp>
        <p:nvSpPr>
          <p:cNvPr id="55" name="正方形/長方形 54"/>
          <p:cNvSpPr/>
          <p:nvPr/>
        </p:nvSpPr>
        <p:spPr>
          <a:xfrm>
            <a:off x="7410174" y="2313038"/>
            <a:ext cx="1925863"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ﾏﾀﾏﾁｶﾞｯﾃﾙ</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en-US" altLang="ja-JP" dirty="0"/>
              <a:t>RUNLTS </a:t>
            </a:r>
            <a:r>
              <a:rPr lang="ja-JP" altLang="en-US" dirty="0"/>
              <a:t>のやりかた</a:t>
            </a:r>
            <a:endParaRPr kumimoji="1" lang="ja-JP" altLang="en-US" dirty="0"/>
          </a:p>
        </p:txBody>
      </p:sp>
      <p:sp>
        <p:nvSpPr>
          <p:cNvPr id="58" name="コンテンツ プレースホルダー 57"/>
          <p:cNvSpPr>
            <a:spLocks noGrp="1"/>
          </p:cNvSpPr>
          <p:nvPr>
            <p:ph idx="4294967295"/>
          </p:nvPr>
        </p:nvSpPr>
        <p:spPr>
          <a:xfrm>
            <a:off x="1651205" y="4329011"/>
            <a:ext cx="9000100" cy="2250025"/>
          </a:xfrm>
          <a:prstGeom prst="rect">
            <a:avLst/>
          </a:prstGeom>
        </p:spPr>
        <p:txBody>
          <a:bodyPr/>
          <a:lstStyle/>
          <a:p>
            <a:r>
              <a:rPr lang="ja-JP" altLang="en-US" dirty="0"/>
              <a:t>連続した分岐の１個目（「</a:t>
            </a:r>
            <a:r>
              <a:rPr lang="en-US" altLang="ja-JP" dirty="0">
                <a:solidFill>
                  <a:schemeClr val="accent5"/>
                </a:solidFill>
              </a:rPr>
              <a:t>if z==0</a:t>
            </a:r>
            <a:r>
              <a:rPr lang="ja-JP" altLang="en-US" dirty="0"/>
              <a:t>」）でミスがあった場合を考える</a:t>
            </a:r>
            <a:endParaRPr lang="en-US" altLang="ja-JP" dirty="0"/>
          </a:p>
          <a:p>
            <a:pPr lvl="1"/>
            <a:r>
              <a:rPr lang="ja-JP" altLang="en-US" dirty="0"/>
              <a:t>「</a:t>
            </a:r>
            <a:r>
              <a:rPr lang="en-US" altLang="ja-JP" dirty="0">
                <a:solidFill>
                  <a:schemeClr val="accent5"/>
                </a:solidFill>
              </a:rPr>
              <a:t>If z==0</a:t>
            </a:r>
            <a:r>
              <a:rPr lang="ja-JP" altLang="en-US" dirty="0"/>
              <a:t>」の後は一旦取り消される</a:t>
            </a:r>
            <a:endParaRPr lang="en-US" altLang="ja-JP" dirty="0"/>
          </a:p>
          <a:p>
            <a:pPr lvl="1"/>
            <a:r>
              <a:rPr lang="ja-JP" altLang="en-US" dirty="0"/>
              <a:t>このときしかし，その前に決定された値「</a:t>
            </a:r>
            <a:r>
              <a:rPr lang="en-US" altLang="ja-JP" dirty="0"/>
              <a:t>a=1</a:t>
            </a:r>
            <a:r>
              <a:rPr lang="ja-JP" altLang="en-US" dirty="0"/>
              <a:t>」が観測可能</a:t>
            </a:r>
            <a:endParaRPr lang="en-US" altLang="ja-JP" dirty="0"/>
          </a:p>
          <a:p>
            <a:pPr lvl="2"/>
            <a:r>
              <a:rPr lang="ja-JP" altLang="en-US" dirty="0"/>
              <a:t>これを使う</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7896020"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accent2">
                    <a:lumMod val="60000"/>
                    <a:lumOff val="40000"/>
                  </a:schemeClr>
                </a:solidFill>
                <a:latin typeface="Arial Narrow" panose="020B0606020202030204" pitchFamily="34" charset="0"/>
              </a:rPr>
              <a:t>if z == 0</a:t>
            </a:r>
            <a:endParaRPr lang="ja-JP" altLang="en-US" b="1" dirty="0">
              <a:solidFill>
                <a:schemeClr val="accent2">
                  <a:lumMod val="60000"/>
                  <a:lumOff val="40000"/>
                </a:schemeClr>
              </a:solidFill>
              <a:latin typeface="Arial Narrow" panose="020B0606020202030204" pitchFamily="34" charset="0"/>
            </a:endParaRPr>
          </a:p>
        </p:txBody>
      </p:sp>
      <p:sp>
        <p:nvSpPr>
          <p:cNvPr id="96" name="正方形/長方形 95"/>
          <p:cNvSpPr/>
          <p:nvPr/>
        </p:nvSpPr>
        <p:spPr bwMode="auto">
          <a:xfrm>
            <a:off x="1775952" y="1628981"/>
            <a:ext cx="1152128" cy="2520028"/>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a = 1</a:t>
            </a:r>
            <a:br>
              <a:rPr lang="en-US" altLang="ja-JP" sz="2400" b="1" dirty="0">
                <a:solidFill>
                  <a:schemeClr val="tx2"/>
                </a:solidFill>
                <a:latin typeface="Arial Narrow" panose="020B0606020202030204" pitchFamily="34" charset="0"/>
              </a:rPr>
            </a:br>
            <a:r>
              <a:rPr lang="en-US" altLang="ja-JP" sz="2400" b="1" dirty="0">
                <a:solidFill>
                  <a:schemeClr val="accent2">
                    <a:lumMod val="60000"/>
                    <a:lumOff val="40000"/>
                  </a:schemeClr>
                </a:solidFill>
                <a:latin typeface="Arial Narrow" panose="020B0606020202030204" pitchFamily="34" charset="0"/>
              </a:rPr>
              <a:t>if z==0: </a:t>
            </a:r>
            <a:br>
              <a:rPr lang="en-US" altLang="ja-JP" sz="2400" b="1" dirty="0">
                <a:solidFill>
                  <a:schemeClr val="tx2"/>
                </a:solidFill>
                <a:latin typeface="Arial Narrow" panose="020B0606020202030204" pitchFamily="34" charset="0"/>
              </a:rPr>
            </a:br>
            <a:r>
              <a:rPr lang="en-US" altLang="ja-JP" sz="2400" b="1" dirty="0">
                <a:solidFill>
                  <a:schemeClr val="tx2"/>
                </a:solidFill>
                <a:latin typeface="Arial Narrow" panose="020B0606020202030204" pitchFamily="34" charset="0"/>
              </a:rPr>
              <a:t>    …</a:t>
            </a:r>
            <a:br>
              <a:rPr lang="en-US" altLang="ja-JP" sz="2400" b="1" dirty="0">
                <a:solidFill>
                  <a:schemeClr val="tx2"/>
                </a:solidFill>
                <a:latin typeface="Arial Narrow" panose="020B0606020202030204" pitchFamily="34" charset="0"/>
              </a:rPr>
            </a:b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24" name="角丸四角形吹き出し 23"/>
          <p:cNvSpPr/>
          <p:nvPr/>
        </p:nvSpPr>
        <p:spPr bwMode="auto">
          <a:xfrm>
            <a:off x="3575973" y="1448978"/>
            <a:ext cx="2250025" cy="612648"/>
          </a:xfrm>
          <a:prstGeom prst="wedgeRoundRectCallout">
            <a:avLst>
              <a:gd name="adj1" fmla="val -44492"/>
              <a:gd name="adj2" fmla="val 108781"/>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65000"/>
                    <a:lumOff val="35000"/>
                  </a:schemeClr>
                </a:solidFill>
                <a:latin typeface="Arial Narrow" panose="020B0606020202030204" pitchFamily="34" charset="0"/>
              </a:rPr>
              <a:t>…</a:t>
            </a:r>
            <a:r>
              <a:rPr lang="ja-JP" altLang="en-US" sz="1400" dirty="0">
                <a:solidFill>
                  <a:schemeClr val="tx1">
                    <a:lumMod val="65000"/>
                    <a:lumOff val="35000"/>
                  </a:schemeClr>
                </a:solidFill>
                <a:latin typeface="Arial Narrow" panose="020B0606020202030204" pitchFamily="34" charset="0"/>
              </a:rPr>
              <a:t>それはそれとして，</a:t>
            </a:r>
            <a:br>
              <a:rPr lang="en-US" altLang="ja-JP" sz="1400" dirty="0">
                <a:solidFill>
                  <a:schemeClr val="tx1">
                    <a:lumMod val="65000"/>
                    <a:lumOff val="35000"/>
                  </a:schemeClr>
                </a:solidFill>
                <a:latin typeface="Arial Narrow" panose="020B0606020202030204" pitchFamily="34" charset="0"/>
              </a:rPr>
            </a:br>
            <a:r>
              <a:rPr lang="en-US" altLang="ja-JP" sz="1400" dirty="0">
                <a:solidFill>
                  <a:schemeClr val="tx1">
                    <a:lumMod val="65000"/>
                    <a:lumOff val="35000"/>
                  </a:schemeClr>
                </a:solidFill>
                <a:latin typeface="Arial Narrow" panose="020B0606020202030204" pitchFamily="34" charset="0"/>
              </a:rPr>
              <a:t>a </a:t>
            </a:r>
            <a:r>
              <a:rPr lang="ja-JP" altLang="en-US" sz="1400" dirty="0">
                <a:solidFill>
                  <a:schemeClr val="tx1">
                    <a:lumMod val="65000"/>
                    <a:lumOff val="35000"/>
                  </a:schemeClr>
                </a:solidFill>
                <a:latin typeface="Arial Narrow" panose="020B0606020202030204" pitchFamily="34" charset="0"/>
              </a:rPr>
              <a:t>の結果もう出てるやん</a:t>
            </a:r>
          </a:p>
        </p:txBody>
      </p:sp>
      <p:sp>
        <p:nvSpPr>
          <p:cNvPr id="4" name="角丸四角形 89">
            <a:extLst>
              <a:ext uri="{FF2B5EF4-FFF2-40B4-BE49-F238E27FC236}">
                <a16:creationId xmlns:a16="http://schemas.microsoft.com/office/drawing/2014/main" id="{F76920FC-DEFC-0BFB-3781-F74EA8E9C75E}"/>
              </a:ext>
            </a:extLst>
          </p:cNvPr>
          <p:cNvSpPr/>
          <p:nvPr/>
        </p:nvSpPr>
        <p:spPr bwMode="auto">
          <a:xfrm>
            <a:off x="9336036"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Arial Narrow" panose="020B0606020202030204" pitchFamily="34" charset="0"/>
              </a:rPr>
              <a:t>a =1</a:t>
            </a:r>
            <a:endParaRPr lang="ja-JP" altLang="en-US" b="1" dirty="0">
              <a:latin typeface="Arial Narrow" panose="020B0606020202030204" pitchFamily="34" charset="0"/>
            </a:endParaRPr>
          </a:p>
        </p:txBody>
      </p:sp>
    </p:spTree>
    <p:extLst>
      <p:ext uri="{BB962C8B-B14F-4D97-AF65-F5344CB8AC3E}">
        <p14:creationId xmlns:p14="http://schemas.microsoft.com/office/powerpoint/2010/main" val="3335763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パイプライン化の限界</a:t>
            </a:r>
          </a:p>
        </p:txBody>
      </p:sp>
      <p:sp>
        <p:nvSpPr>
          <p:cNvPr id="3" name="テキスト プレースホルダー 2"/>
          <p:cNvSpPr>
            <a:spLocks noGrp="1"/>
          </p:cNvSpPr>
          <p:nvPr>
            <p:ph type="body" sz="quarter" idx="10"/>
          </p:nvPr>
        </p:nvSpPr>
        <p:spPr/>
        <p:txBody>
          <a:bodyPr/>
          <a:lstStyle/>
          <a:p>
            <a:r>
              <a:rPr lang="ja-JP" altLang="en-US" dirty="0"/>
              <a:t>速度が上がらなくなる理由：</a:t>
            </a:r>
            <a:endParaRPr lang="en-US" altLang="ja-JP" dirty="0"/>
          </a:p>
          <a:p>
            <a:pPr marL="817200" lvl="1" indent="-457200">
              <a:buFont typeface="+mj-lt"/>
              <a:buAutoNum type="arabicPeriod"/>
            </a:pPr>
            <a:r>
              <a:rPr lang="ja-JP" altLang="en-US" dirty="0"/>
              <a:t>回路的な理由による周波数向上の限界（前回の講義）</a:t>
            </a:r>
            <a:endParaRPr lang="en-US" altLang="ja-JP" dirty="0"/>
          </a:p>
          <a:p>
            <a:pPr marL="817200" lvl="1" indent="-457200">
              <a:buFont typeface="+mj-lt"/>
              <a:buAutoNum type="arabicPeriod"/>
            </a:pPr>
            <a:r>
              <a:rPr lang="ja-JP" altLang="en-US" b="1" dirty="0">
                <a:solidFill>
                  <a:schemeClr val="accent5"/>
                </a:solidFill>
              </a:rPr>
              <a:t>アーキテクチャ的な理由（ハザード）による実効性能の限界</a:t>
            </a:r>
            <a:endParaRPr kumimoji="1" lang="ja-JP" altLang="en-US" b="1" dirty="0">
              <a:solidFill>
                <a:schemeClr val="accent5"/>
              </a:solidFill>
            </a:endParaRPr>
          </a:p>
        </p:txBody>
      </p:sp>
    </p:spTree>
    <p:extLst>
      <p:ext uri="{BB962C8B-B14F-4D97-AF65-F5344CB8AC3E}">
        <p14:creationId xmlns:p14="http://schemas.microsoft.com/office/powerpoint/2010/main" val="318916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アーキテクチャ的な理由による実効性能の限界</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バックエッジがないパイプライン</a:t>
            </a:r>
            <a:endParaRPr kumimoji="1" lang="en-US" altLang="ja-JP" dirty="0"/>
          </a:p>
          <a:p>
            <a:pPr lvl="1"/>
            <a:r>
              <a:rPr kumimoji="1" lang="ja-JP" altLang="en-US" dirty="0"/>
              <a:t>（回路的な限界にあたるまでは</a:t>
            </a:r>
            <a:endParaRPr kumimoji="1" lang="en-US" altLang="ja-JP" dirty="0"/>
          </a:p>
          <a:p>
            <a:pPr lvl="1"/>
            <a:r>
              <a:rPr kumimoji="1" lang="ja-JP" altLang="en-US" dirty="0"/>
              <a:t>パイプライン段数を増やせば増やすほど性能（周波数）が上がる</a:t>
            </a:r>
            <a:endParaRPr kumimoji="1" lang="en-US" altLang="ja-JP" dirty="0"/>
          </a:p>
          <a:p>
            <a:r>
              <a:rPr kumimoji="1" lang="ja-JP" altLang="en-US" dirty="0"/>
              <a:t>バックエッジがあるパイプライン</a:t>
            </a:r>
            <a:endParaRPr kumimoji="1" lang="en-US" altLang="ja-JP" dirty="0"/>
          </a:p>
          <a:p>
            <a:pPr lvl="1"/>
            <a:r>
              <a:rPr kumimoji="1" lang="ja-JP" altLang="en-US" dirty="0"/>
              <a:t>パイプライン段数を増やすと，</a:t>
            </a:r>
            <a:endParaRPr kumimoji="1" lang="en-US" altLang="ja-JP" dirty="0"/>
          </a:p>
          <a:p>
            <a:pPr lvl="2"/>
            <a:r>
              <a:rPr lang="ja-JP" altLang="en-US" dirty="0"/>
              <a:t>周波数そのものは上がる・・・が，</a:t>
            </a:r>
            <a:endParaRPr lang="en-US" altLang="ja-JP" dirty="0"/>
          </a:p>
          <a:p>
            <a:pPr lvl="2"/>
            <a:r>
              <a:rPr kumimoji="1" lang="ja-JP" altLang="en-US" dirty="0"/>
              <a:t>場合によって，命令を処理できる実効的な速度が落ちる</a:t>
            </a:r>
            <a:endParaRPr kumimoji="1" lang="en-US" altLang="ja-JP" dirty="0"/>
          </a:p>
          <a:p>
            <a:pPr lvl="2"/>
            <a:r>
              <a:rPr kumimoji="1" lang="ja-JP" altLang="en-US" dirty="0">
                <a:solidFill>
                  <a:schemeClr val="accent5"/>
                </a:solidFill>
              </a:rPr>
              <a:t>特に分岐予測ミス・ペナルティによる性能低下が大きい</a:t>
            </a:r>
          </a:p>
        </p:txBody>
      </p:sp>
    </p:spTree>
    <p:extLst>
      <p:ext uri="{BB962C8B-B14F-4D97-AF65-F5344CB8AC3E}">
        <p14:creationId xmlns:p14="http://schemas.microsoft.com/office/powerpoint/2010/main" val="9098369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余談：実際の </a:t>
            </a:r>
            <a:r>
              <a:rPr lang="en-US" altLang="ja-JP" dirty="0"/>
              <a:t>CPU </a:t>
            </a:r>
            <a:r>
              <a:rPr lang="ja-JP" altLang="en-US" dirty="0"/>
              <a:t>のパイプライン段数</a:t>
            </a:r>
            <a:endParaRPr lang="en-US" altLang="ja-JP" dirty="0"/>
          </a:p>
        </p:txBody>
      </p:sp>
      <p:sp>
        <p:nvSpPr>
          <p:cNvPr id="3" name="テキスト プレースホルダー 2"/>
          <p:cNvSpPr>
            <a:spLocks noGrp="1"/>
          </p:cNvSpPr>
          <p:nvPr>
            <p:ph type="body" sz="quarter" idx="10"/>
          </p:nvPr>
        </p:nvSpPr>
        <p:spPr/>
        <p:txBody>
          <a:bodyPr/>
          <a:lstStyle/>
          <a:p>
            <a:r>
              <a:rPr lang="ja-JP" altLang="en-US" dirty="0"/>
              <a:t>現在は大体１５～２０段</a:t>
            </a:r>
            <a:endParaRPr lang="en-US" altLang="ja-JP" dirty="0"/>
          </a:p>
          <a:p>
            <a:r>
              <a:rPr lang="en-US" altLang="ja-JP" dirty="0"/>
              <a:t>Intel Pentium4 </a:t>
            </a:r>
            <a:r>
              <a:rPr lang="ja-JP" altLang="en-US" dirty="0"/>
              <a:t>（</a:t>
            </a:r>
            <a:r>
              <a:rPr lang="en-US" altLang="ja-JP" dirty="0"/>
              <a:t>Prescott</a:t>
            </a:r>
            <a:r>
              <a:rPr lang="ja-JP" altLang="en-US" dirty="0"/>
              <a:t>）３１段</a:t>
            </a:r>
            <a:endParaRPr lang="en-US" altLang="ja-JP" dirty="0"/>
          </a:p>
          <a:p>
            <a:pPr lvl="1"/>
            <a:r>
              <a:rPr lang="en-US" altLang="ja-JP" dirty="0"/>
              <a:t>2004</a:t>
            </a:r>
            <a:r>
              <a:rPr lang="ja-JP" altLang="en-US" dirty="0"/>
              <a:t>年発売で </a:t>
            </a:r>
            <a:r>
              <a:rPr lang="en-US" altLang="ja-JP" dirty="0"/>
              <a:t>3.8 GHz</a:t>
            </a:r>
          </a:p>
          <a:p>
            <a:pPr lvl="1"/>
            <a:r>
              <a:rPr lang="ja-JP" altLang="en-US" dirty="0"/>
              <a:t>おそらく，歴史上最大の段数</a:t>
            </a:r>
            <a:endParaRPr lang="en-US" altLang="ja-JP" dirty="0"/>
          </a:p>
          <a:p>
            <a:pPr lvl="2"/>
            <a:r>
              <a:rPr lang="ja-JP" altLang="en-US" dirty="0"/>
              <a:t>熱くなりすぎ </a:t>
            </a:r>
            <a:r>
              <a:rPr lang="en-US" altLang="ja-JP" dirty="0"/>
              <a:t>&amp; </a:t>
            </a:r>
            <a:r>
              <a:rPr lang="ja-JP" altLang="en-US" dirty="0"/>
              <a:t>性能が出ずで，この後ステージ数は減少</a:t>
            </a:r>
            <a:endParaRPr lang="en-US" altLang="ja-JP" dirty="0"/>
          </a:p>
          <a:p>
            <a:r>
              <a:rPr lang="en-US" altLang="ja-JP" dirty="0"/>
              <a:t>AMD Zen</a:t>
            </a:r>
            <a:r>
              <a:rPr lang="ja-JP" altLang="en-US" dirty="0"/>
              <a:t>：１９段</a:t>
            </a:r>
            <a:endParaRPr lang="en-US" altLang="ja-JP" dirty="0"/>
          </a:p>
          <a:p>
            <a:pPr lvl="1"/>
            <a:r>
              <a:rPr lang="en-US" altLang="ja-JP" dirty="0"/>
              <a:t>2017</a:t>
            </a:r>
            <a:r>
              <a:rPr lang="ja-JP" altLang="en-US" dirty="0"/>
              <a:t>年発売で </a:t>
            </a:r>
            <a:r>
              <a:rPr lang="en-US" altLang="ja-JP" dirty="0"/>
              <a:t>4.2GHz</a:t>
            </a:r>
            <a:endParaRPr lang="ja-JP" altLang="en-US" dirty="0"/>
          </a:p>
        </p:txBody>
      </p:sp>
    </p:spTree>
    <p:extLst>
      <p:ext uri="{BB962C8B-B14F-4D97-AF65-F5344CB8AC3E}">
        <p14:creationId xmlns:p14="http://schemas.microsoft.com/office/powerpoint/2010/main" val="19415294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Sony/IBM/</a:t>
            </a:r>
            <a:r>
              <a:rPr lang="ja-JP" altLang="en-US" dirty="0"/>
              <a:t>東芝 </a:t>
            </a:r>
            <a:r>
              <a:rPr lang="en-US" altLang="ja-JP" dirty="0"/>
              <a:t>Cell (SPE)</a:t>
            </a:r>
            <a:br>
              <a:rPr lang="en-US" altLang="ja-JP" dirty="0"/>
            </a:br>
            <a:r>
              <a:rPr lang="en-US" altLang="ja-JP" sz="1400" dirty="0"/>
              <a:t>Cell Broadband Engine Architecture and its first implementation—A performance view </a:t>
            </a:r>
            <a:r>
              <a:rPr lang="ja-JP" altLang="en-US" sz="1400" dirty="0"/>
              <a:t>より</a:t>
            </a:r>
            <a:endParaRPr lang="ja-JP" altLang="en-US" sz="1600" dirty="0"/>
          </a:p>
        </p:txBody>
      </p:sp>
      <p:pic>
        <p:nvPicPr>
          <p:cNvPr id="4" name="図 3"/>
          <p:cNvPicPr>
            <a:picLocks noChangeAspect="1"/>
          </p:cNvPicPr>
          <p:nvPr/>
        </p:nvPicPr>
        <p:blipFill>
          <a:blip r:embed="rId2"/>
          <a:stretch>
            <a:fillRect/>
          </a:stretch>
        </p:blipFill>
        <p:spPr>
          <a:xfrm>
            <a:off x="1955954" y="1808982"/>
            <a:ext cx="8352042" cy="3689818"/>
          </a:xfrm>
          <a:prstGeom prst="rect">
            <a:avLst/>
          </a:prstGeom>
        </p:spPr>
      </p:pic>
    </p:spTree>
    <p:extLst>
      <p:ext uri="{BB962C8B-B14F-4D97-AF65-F5344CB8AC3E}">
        <p14:creationId xmlns:p14="http://schemas.microsoft.com/office/powerpoint/2010/main" val="27424156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sz="2400" dirty="0"/>
              <a:t>AMD JAGUAR</a:t>
            </a:r>
            <a:br>
              <a:rPr lang="en-US" altLang="ja-JP" sz="1800" dirty="0"/>
            </a:br>
            <a:r>
              <a:rPr lang="en-US" altLang="ja-JP" sz="1800" dirty="0"/>
              <a:t>"JAGUAR” AMD’s Next Generation Low Power x86 Core </a:t>
            </a:r>
            <a:r>
              <a:rPr lang="ja-JP" altLang="en-US" sz="1800" dirty="0"/>
              <a:t>より</a:t>
            </a:r>
          </a:p>
        </p:txBody>
      </p:sp>
      <p:pic>
        <p:nvPicPr>
          <p:cNvPr id="4" name="図 3"/>
          <p:cNvPicPr>
            <a:picLocks noChangeAspect="1"/>
          </p:cNvPicPr>
          <p:nvPr/>
        </p:nvPicPr>
        <p:blipFill>
          <a:blip r:embed="rId2"/>
          <a:stretch>
            <a:fillRect/>
          </a:stretch>
        </p:blipFill>
        <p:spPr>
          <a:xfrm>
            <a:off x="1865953" y="1808983"/>
            <a:ext cx="8532044" cy="3564315"/>
          </a:xfrm>
          <a:prstGeom prst="rect">
            <a:avLst/>
          </a:prstGeom>
        </p:spPr>
      </p:pic>
    </p:spTree>
    <p:extLst>
      <p:ext uri="{BB962C8B-B14F-4D97-AF65-F5344CB8AC3E}">
        <p14:creationId xmlns:p14="http://schemas.microsoft.com/office/powerpoint/2010/main" val="322094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ARM Cortex-A15 </a:t>
            </a:r>
            <a:br>
              <a:rPr lang="en-US" altLang="ja-JP" dirty="0"/>
            </a:br>
            <a:r>
              <a:rPr lang="en-US" altLang="ja-JP" sz="1600" dirty="0"/>
              <a:t>Exploring the Design of the Cortex-A15 Processor</a:t>
            </a:r>
            <a:br>
              <a:rPr lang="en-US" altLang="ja-JP" sz="1600" dirty="0"/>
            </a:br>
            <a:r>
              <a:rPr lang="en-US" altLang="ja-JP" sz="1600" dirty="0"/>
              <a:t>ARM’s next generation mobile applications processor </a:t>
            </a:r>
            <a:r>
              <a:rPr lang="ja-JP" altLang="en-US" sz="1600" dirty="0"/>
              <a:t>より</a:t>
            </a:r>
          </a:p>
        </p:txBody>
      </p:sp>
      <p:pic>
        <p:nvPicPr>
          <p:cNvPr id="4" name="図 3"/>
          <p:cNvPicPr>
            <a:picLocks noChangeAspect="1"/>
          </p:cNvPicPr>
          <p:nvPr/>
        </p:nvPicPr>
        <p:blipFill>
          <a:blip r:embed="rId2"/>
          <a:stretch>
            <a:fillRect/>
          </a:stretch>
        </p:blipFill>
        <p:spPr>
          <a:xfrm>
            <a:off x="2135956" y="972524"/>
            <a:ext cx="7857758" cy="5859027"/>
          </a:xfrm>
          <a:prstGeom prst="rect">
            <a:avLst/>
          </a:prstGeom>
        </p:spPr>
      </p:pic>
    </p:spTree>
    <p:extLst>
      <p:ext uri="{BB962C8B-B14F-4D97-AF65-F5344CB8AC3E}">
        <p14:creationId xmlns:p14="http://schemas.microsoft.com/office/powerpoint/2010/main" val="19706505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pPr marL="385200" indent="-457200">
              <a:buFont typeface="+mj-lt"/>
              <a:buAutoNum type="arabicPeriod"/>
            </a:pPr>
            <a:r>
              <a:rPr lang="ja-JP" altLang="en-US" dirty="0"/>
              <a:t>構造ハザード：ハード資源の不足に起因</a:t>
            </a:r>
            <a:endParaRPr lang="en-US" altLang="ja-JP" dirty="0"/>
          </a:p>
          <a:p>
            <a:pPr marL="745200" lvl="1" indent="-457200">
              <a:buFont typeface="+mj-lt"/>
              <a:buAutoNum type="arabicPeriod"/>
            </a:pPr>
            <a:r>
              <a:rPr lang="ja-JP" altLang="en-US" dirty="0"/>
              <a:t>構造ハザードとはなにか？</a:t>
            </a:r>
            <a:endParaRPr lang="en-US" altLang="ja-JP" dirty="0"/>
          </a:p>
          <a:p>
            <a:pPr marL="745200" lvl="1" indent="-457200">
              <a:buFont typeface="+mj-lt"/>
              <a:buAutoNum type="arabicPeriod"/>
            </a:pPr>
            <a:r>
              <a:rPr lang="ja-JP" altLang="en-US" dirty="0"/>
              <a:t>その解決方法</a:t>
            </a:r>
          </a:p>
          <a:p>
            <a:pPr marL="385200" indent="-457200">
              <a:buFont typeface="+mj-lt"/>
              <a:buAutoNum type="arabicPeriod"/>
            </a:pPr>
            <a:r>
              <a:rPr lang="ja-JP" altLang="en-US" dirty="0"/>
              <a:t>非構造ハザード：バックエッジに由来</a:t>
            </a:r>
            <a:endParaRPr lang="en-US" altLang="ja-JP"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dirty="0"/>
              <a:t>制御ハザード</a:t>
            </a:r>
            <a:endParaRPr lang="en-US" altLang="ja-JP" dirty="0"/>
          </a:p>
        </p:txBody>
      </p:sp>
    </p:spTree>
    <p:extLst>
      <p:ext uri="{BB962C8B-B14F-4D97-AF65-F5344CB8AC3E}">
        <p14:creationId xmlns:p14="http://schemas.microsoft.com/office/powerpoint/2010/main" val="4664882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6</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p:txBody>
          <a:bodyPr/>
          <a:lstStyle/>
          <a:p>
            <a:r>
              <a:rPr lang="en-US" altLang="ja-JP" dirty="0"/>
              <a:t>RISC-V </a:t>
            </a:r>
            <a:r>
              <a:rPr lang="ja-JP" altLang="en-US" dirty="0"/>
              <a:t>の「</a:t>
            </a:r>
            <a:r>
              <a:rPr lang="en-US" altLang="ja-JP" dirty="0"/>
              <a:t>add x1</a:t>
            </a:r>
            <a:r>
              <a:rPr lang="ja-JP" altLang="en-US" dirty="0"/>
              <a:t>←</a:t>
            </a:r>
            <a:r>
              <a:rPr lang="en-US" altLang="ja-JP" dirty="0"/>
              <a:t>x2,x3</a:t>
            </a:r>
            <a:r>
              <a:rPr lang="ja-JP" altLang="en-US" dirty="0"/>
              <a:t>」命令を２進数で表記すると以下の通りとなる</a:t>
            </a:r>
            <a:br>
              <a:rPr lang="en-US" altLang="ja-JP" dirty="0"/>
            </a:br>
            <a:r>
              <a:rPr lang="en-US" altLang="ja-JP" dirty="0"/>
              <a:t>0000000 00011 00010 000 00001 0110011 </a:t>
            </a:r>
            <a:br>
              <a:rPr lang="en-US" altLang="ja-JP" dirty="0"/>
            </a:br>
            <a:r>
              <a:rPr lang="ja-JP" altLang="en-US" dirty="0"/>
              <a:t>（</a:t>
            </a:r>
            <a:r>
              <a:rPr lang="en-US" altLang="ja-JP" dirty="0" err="1"/>
              <a:t>rd</a:t>
            </a:r>
            <a:r>
              <a:rPr lang="ja-JP" altLang="en-US" dirty="0"/>
              <a:t>←</a:t>
            </a:r>
            <a:r>
              <a:rPr lang="en-US" altLang="ja-JP" dirty="0"/>
              <a:t>rs1,rs2 </a:t>
            </a:r>
            <a:r>
              <a:rPr lang="ja-JP" altLang="en-US" dirty="0"/>
              <a:t>として考える）</a:t>
            </a:r>
            <a:endParaRPr lang="en-US" altLang="ja-JP" dirty="0"/>
          </a:p>
          <a:p>
            <a:pPr lvl="1"/>
            <a:r>
              <a:rPr lang="en-US" altLang="ja-JP" dirty="0"/>
              <a:t>(1) </a:t>
            </a:r>
            <a:r>
              <a:rPr lang="ja-JP" altLang="en-US" dirty="0"/>
              <a:t>上記を </a:t>
            </a:r>
            <a:r>
              <a:rPr lang="en-US" altLang="ja-JP" dirty="0"/>
              <a:t>sub x1</a:t>
            </a:r>
            <a:r>
              <a:rPr lang="ja-JP" altLang="en-US" dirty="0"/>
              <a:t>←</a:t>
            </a:r>
            <a:r>
              <a:rPr lang="en-US" altLang="ja-JP" dirty="0"/>
              <a:t>x2,x3 </a:t>
            </a:r>
            <a:r>
              <a:rPr lang="ja-JP" altLang="en-US" dirty="0"/>
              <a:t>に書き換え，２進数と１６進数の双方で表記せよ</a:t>
            </a:r>
            <a:endParaRPr lang="en-US" altLang="ja-JP" dirty="0"/>
          </a:p>
          <a:p>
            <a:pPr lvl="1"/>
            <a:r>
              <a:rPr lang="en-US" altLang="ja-JP" dirty="0"/>
              <a:t>(2) </a:t>
            </a:r>
            <a:r>
              <a:rPr lang="ja-JP" altLang="en-US" dirty="0"/>
              <a:t>上記を </a:t>
            </a:r>
            <a:r>
              <a:rPr lang="en-US" altLang="ja-JP" dirty="0"/>
              <a:t>add x2</a:t>
            </a:r>
            <a:r>
              <a:rPr lang="ja-JP" altLang="en-US" dirty="0"/>
              <a:t>←</a:t>
            </a:r>
            <a:r>
              <a:rPr lang="en-US" altLang="ja-JP" dirty="0"/>
              <a:t>x3,x4 </a:t>
            </a:r>
            <a:r>
              <a:rPr lang="ja-JP" altLang="en-US" dirty="0"/>
              <a:t>に書き換え，２進数と１６進数の双方で表記せよ</a:t>
            </a:r>
            <a:endParaRPr lang="en-US" altLang="ja-JP" dirty="0"/>
          </a:p>
          <a:p>
            <a:pPr lvl="1"/>
            <a:r>
              <a:rPr lang="en-US" altLang="ja-JP" dirty="0"/>
              <a:t>(3) </a:t>
            </a:r>
            <a:r>
              <a:rPr lang="ja-JP" altLang="en-US" dirty="0"/>
              <a:t>上記を </a:t>
            </a:r>
            <a:r>
              <a:rPr lang="en-US" altLang="ja-JP" dirty="0" err="1"/>
              <a:t>addi</a:t>
            </a:r>
            <a:r>
              <a:rPr lang="en-US" altLang="ja-JP" dirty="0"/>
              <a:t> x1</a:t>
            </a:r>
            <a:r>
              <a:rPr lang="ja-JP" altLang="en-US" dirty="0"/>
              <a:t>←</a:t>
            </a:r>
            <a:r>
              <a:rPr lang="en-US" altLang="ja-JP" dirty="0"/>
              <a:t>x2,16 </a:t>
            </a:r>
            <a:r>
              <a:rPr lang="ja-JP" altLang="en-US" dirty="0"/>
              <a:t>に書き換え，２進数と１６進数の双方で表記せよ</a:t>
            </a:r>
            <a:endParaRPr lang="en-US" altLang="ja-JP" dirty="0"/>
          </a:p>
          <a:p>
            <a:r>
              <a:rPr lang="ja-JP" altLang="en-US" dirty="0"/>
              <a:t>第３回目の講義および次のページの仕様を参考にすると良い</a:t>
            </a:r>
            <a:endParaRPr lang="en-US" altLang="ja-JP"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85</a:t>
            </a:fld>
            <a:endParaRPr kumimoji="1" lang="ja-JP" altLang="en-US" dirty="0"/>
          </a:p>
        </p:txBody>
      </p:sp>
    </p:spTree>
    <p:extLst>
      <p:ext uri="{BB962C8B-B14F-4D97-AF65-F5344CB8AC3E}">
        <p14:creationId xmlns:p14="http://schemas.microsoft.com/office/powerpoint/2010/main" val="11042040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の 基本整数命令</a:t>
            </a:r>
          </a:p>
        </p:txBody>
      </p:sp>
      <p:sp>
        <p:nvSpPr>
          <p:cNvPr id="3" name="テキスト プレースホルダー 2"/>
          <p:cNvSpPr>
            <a:spLocks noGrp="1"/>
          </p:cNvSpPr>
          <p:nvPr>
            <p:ph type="body" sz="quarter" idx="10"/>
          </p:nvPr>
        </p:nvSpPr>
        <p:spPr>
          <a:xfrm>
            <a:off x="1775952" y="1088975"/>
            <a:ext cx="8730097" cy="1260014"/>
          </a:xfrm>
        </p:spPr>
        <p:txBody>
          <a:bodyPr anchor="t"/>
          <a:lstStyle/>
          <a:p>
            <a:r>
              <a:rPr kumimoji="1" lang="ja-JP" altLang="en-US" dirty="0"/>
              <a:t>概要</a:t>
            </a:r>
            <a:endParaRPr kumimoji="1" lang="en-US" altLang="ja-JP" dirty="0"/>
          </a:p>
          <a:p>
            <a:pPr lvl="1"/>
            <a:r>
              <a:rPr kumimoji="1" lang="ja-JP" altLang="en-US" dirty="0"/>
              <a:t>加減算，論理演算，</a:t>
            </a:r>
            <a:br>
              <a:rPr kumimoji="1" lang="en-US" altLang="ja-JP" dirty="0"/>
            </a:br>
            <a:r>
              <a:rPr kumimoji="1" lang="ja-JP" altLang="en-US" dirty="0"/>
              <a:t>ロード・ストア，</a:t>
            </a:r>
            <a:br>
              <a:rPr kumimoji="1" lang="en-US" altLang="ja-JP" dirty="0"/>
            </a:br>
            <a:r>
              <a:rPr kumimoji="1" lang="ja-JP" altLang="en-US" dirty="0"/>
              <a:t>即値，分岐とジャンプなど</a:t>
            </a:r>
            <a:endParaRPr kumimoji="1" lang="en-US" altLang="ja-JP" dirty="0"/>
          </a:p>
          <a:p>
            <a:pPr lvl="1"/>
            <a:r>
              <a:rPr kumimoji="1" lang="ja-JP" altLang="en-US" dirty="0"/>
              <a:t>各命令は </a:t>
            </a:r>
            <a:r>
              <a:rPr kumimoji="1" lang="en-US" altLang="ja-JP" dirty="0"/>
              <a:t>32bit </a:t>
            </a:r>
            <a:r>
              <a:rPr kumimoji="1" lang="ja-JP" altLang="en-US" dirty="0"/>
              <a:t>幅</a:t>
            </a:r>
            <a:endParaRPr lang="en-US" altLang="ja-JP" dirty="0"/>
          </a:p>
        </p:txBody>
      </p:sp>
      <p:sp>
        <p:nvSpPr>
          <p:cNvPr id="6" name="テキスト プレースホルダー 2"/>
          <p:cNvSpPr txBox="1">
            <a:spLocks/>
          </p:cNvSpPr>
          <p:nvPr/>
        </p:nvSpPr>
        <p:spPr bwMode="auto">
          <a:xfrm>
            <a:off x="1775952" y="6317994"/>
            <a:ext cx="8280092" cy="5400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000" kern="0" dirty="0"/>
              <a:t>画像は下記より</a:t>
            </a:r>
            <a:br>
              <a:rPr lang="en-US" altLang="ja-JP" sz="1000" kern="0" dirty="0"/>
            </a:br>
            <a:r>
              <a:rPr lang="en-US" altLang="ja-JP" sz="1000" dirty="0"/>
              <a:t>The RISC-V Instruction Set Manual Volume I: User-Level ISA Document Version 2.2 </a:t>
            </a:r>
            <a:endParaRPr lang="ja-JP" altLang="en-US" sz="1000" kern="0" dirty="0"/>
          </a:p>
        </p:txBody>
      </p:sp>
      <p:pic>
        <p:nvPicPr>
          <p:cNvPr id="7" name="図 6"/>
          <p:cNvPicPr>
            <a:picLocks noChangeAspect="1"/>
          </p:cNvPicPr>
          <p:nvPr/>
        </p:nvPicPr>
        <p:blipFill>
          <a:blip r:embed="rId2"/>
          <a:stretch>
            <a:fillRect/>
          </a:stretch>
        </p:blipFill>
        <p:spPr>
          <a:xfrm>
            <a:off x="5915998" y="908972"/>
            <a:ext cx="4149780" cy="5564478"/>
          </a:xfrm>
          <a:prstGeom prst="rect">
            <a:avLst/>
          </a:prstGeom>
        </p:spPr>
      </p:pic>
      <p:sp>
        <p:nvSpPr>
          <p:cNvPr id="5" name="矢印: 右 4">
            <a:extLst>
              <a:ext uri="{FF2B5EF4-FFF2-40B4-BE49-F238E27FC236}">
                <a16:creationId xmlns:a16="http://schemas.microsoft.com/office/drawing/2014/main" id="{DB257B52-C8EA-BF6C-57E9-DF70B0149A2F}"/>
              </a:ext>
            </a:extLst>
          </p:cNvPr>
          <p:cNvSpPr/>
          <p:nvPr/>
        </p:nvSpPr>
        <p:spPr bwMode="auto">
          <a:xfrm flipH="1">
            <a:off x="9876043" y="4059008"/>
            <a:ext cx="521955" cy="270003"/>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4" name="矢印: 右 3">
            <a:extLst>
              <a:ext uri="{FF2B5EF4-FFF2-40B4-BE49-F238E27FC236}">
                <a16:creationId xmlns:a16="http://schemas.microsoft.com/office/drawing/2014/main" id="{F5CDB554-BA7F-2424-E71B-604579F08DF8}"/>
              </a:ext>
            </a:extLst>
          </p:cNvPr>
          <p:cNvSpPr/>
          <p:nvPr/>
        </p:nvSpPr>
        <p:spPr bwMode="auto">
          <a:xfrm flipH="1">
            <a:off x="9911614" y="3022540"/>
            <a:ext cx="521955" cy="270003"/>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Tree>
    <p:extLst>
      <p:ext uri="{BB962C8B-B14F-4D97-AF65-F5344CB8AC3E}">
        <p14:creationId xmlns:p14="http://schemas.microsoft.com/office/powerpoint/2010/main" val="34554786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type="body" sz="quarter" idx="10"/>
          </p:nvPr>
        </p:nvSpPr>
        <p:spPr/>
        <p:txBody>
          <a:bodyPr/>
          <a:lstStyle/>
          <a:p>
            <a:r>
              <a:rPr lang="ja-JP" altLang="en-US" sz="1800" dirty="0"/>
              <a:t>以下を提出：</a:t>
            </a:r>
            <a:endParaRPr lang="en-US" altLang="ja-JP" sz="1800" dirty="0"/>
          </a:p>
          <a:p>
            <a:pPr lvl="1">
              <a:buFont typeface="+mj-lt"/>
              <a:buAutoNum type="arabicPeriod"/>
            </a:pPr>
            <a:r>
              <a:rPr lang="ja-JP" altLang="en-US" sz="1800" dirty="0"/>
              <a:t>課題５</a:t>
            </a:r>
            <a:endParaRPr lang="en-US" altLang="ja-JP" sz="1800" dirty="0"/>
          </a:p>
          <a:p>
            <a:pPr lvl="2"/>
            <a:r>
              <a:rPr lang="ja-JP" altLang="en-US" sz="1800" dirty="0"/>
              <a:t>提出は </a:t>
            </a:r>
            <a:r>
              <a:rPr lang="en-US" altLang="ja-JP" sz="1800" dirty="0"/>
              <a:t>Moodle</a:t>
            </a:r>
            <a:r>
              <a:rPr lang="ja-JP" altLang="en-US" sz="1800" dirty="0"/>
              <a:t>からお願いします</a:t>
            </a:r>
            <a:endParaRPr lang="en-US" altLang="ja-JP" sz="1800" dirty="0"/>
          </a:p>
          <a:p>
            <a:pPr lvl="2"/>
            <a:r>
              <a:rPr lang="ja-JP" altLang="en-US" sz="1800" dirty="0"/>
              <a:t>画像（紙に書いてスマホで写真でもよし）で提出してください</a:t>
            </a:r>
            <a:endParaRPr lang="en-US" altLang="ja-JP" sz="1800" dirty="0"/>
          </a:p>
          <a:p>
            <a:pPr lvl="1">
              <a:buFont typeface="+mj-lt"/>
              <a:buAutoNum type="arabicPeriod"/>
            </a:pPr>
            <a:r>
              <a:rPr lang="ja-JP" altLang="en-US" sz="1800" dirty="0"/>
              <a:t>感想や質問：　</a:t>
            </a:r>
            <a:endParaRPr lang="en-US" altLang="ja-JP" sz="1800" dirty="0"/>
          </a:p>
          <a:p>
            <a:pPr lvl="2"/>
            <a:r>
              <a:rPr lang="ja-JP" altLang="en-US" sz="1800" dirty="0"/>
              <a:t>「感想や質問」のところに投稿してください</a:t>
            </a:r>
            <a:endParaRPr lang="en-US" altLang="ja-JP" sz="1800" dirty="0"/>
          </a:p>
          <a:p>
            <a:pPr lvl="2"/>
            <a:r>
              <a:rPr lang="ja-JP" altLang="en-US" sz="1800" dirty="0"/>
              <a:t>わからない場所がある場合，具体的に書いてもらえると良いです</a:t>
            </a:r>
            <a:endParaRPr lang="en-US" altLang="ja-JP" sz="1800" dirty="0"/>
          </a:p>
          <a:p>
            <a:r>
              <a:rPr lang="ja-JP" altLang="en-US" sz="1800" dirty="0"/>
              <a:t>提出締め切り</a:t>
            </a:r>
            <a:endParaRPr lang="en-US" altLang="ja-JP" sz="1800" dirty="0"/>
          </a:p>
          <a:p>
            <a:pPr lvl="1"/>
            <a:r>
              <a:rPr lang="ja-JP" altLang="en-US" sz="1800" dirty="0"/>
              <a:t>来週の講義開始まで</a:t>
            </a:r>
            <a:endParaRPr lang="en-US" altLang="ja-JP" sz="1800" dirty="0"/>
          </a:p>
          <a:p>
            <a:r>
              <a:rPr lang="ja-JP" altLang="en-US" sz="1800" dirty="0"/>
              <a:t>注意：</a:t>
            </a:r>
            <a:endParaRPr lang="en-US" altLang="ja-JP" sz="1800" dirty="0"/>
          </a:p>
          <a:p>
            <a:pPr lvl="1"/>
            <a:r>
              <a:rPr lang="ja-JP" altLang="en-US" sz="1800" dirty="0"/>
              <a:t>課題の出来は，ある程度努力したあとがあれば良しです</a:t>
            </a:r>
            <a:endParaRPr lang="en-US" altLang="ja-JP" sz="1800" dirty="0"/>
          </a:p>
          <a:p>
            <a:pPr lvl="1"/>
            <a:r>
              <a:rPr lang="ja-JP" altLang="en-US" sz="1800" dirty="0"/>
              <a:t>必ずしも正解していなくても良いです</a:t>
            </a:r>
            <a:endParaRPr lang="en-US" altLang="ja-JP" sz="1800" dirty="0"/>
          </a:p>
        </p:txBody>
      </p:sp>
    </p:spTree>
    <p:extLst>
      <p:ext uri="{BB962C8B-B14F-4D97-AF65-F5344CB8AC3E}">
        <p14:creationId xmlns:p14="http://schemas.microsoft.com/office/powerpoint/2010/main" val="29477320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366E3C0A-2958-3648-B442-236878A5786E}"/>
              </a:ext>
            </a:extLst>
          </p:cNvPr>
          <p:cNvSpPr>
            <a:spLocks noGrp="1"/>
          </p:cNvSpPr>
          <p:nvPr>
            <p:ph type="title"/>
          </p:nvPr>
        </p:nvSpPr>
        <p:spPr/>
        <p:txBody>
          <a:bodyPr/>
          <a:lstStyle/>
          <a:p>
            <a:r>
              <a:rPr lang="ja-JP" altLang="en-US" dirty="0"/>
              <a:t>質問や感想など</a:t>
            </a:r>
          </a:p>
        </p:txBody>
      </p:sp>
    </p:spTree>
    <p:extLst>
      <p:ext uri="{BB962C8B-B14F-4D97-AF65-F5344CB8AC3E}">
        <p14:creationId xmlns:p14="http://schemas.microsoft.com/office/powerpoint/2010/main" val="9867082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09B5DC-F8CA-C55F-BFBB-1B5752A4BFE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A5A566C-0471-B938-B941-0450ECF50318}"/>
              </a:ext>
            </a:extLst>
          </p:cNvPr>
          <p:cNvSpPr>
            <a:spLocks noGrp="1"/>
          </p:cNvSpPr>
          <p:nvPr>
            <p:ph type="body" sz="quarter" idx="10"/>
          </p:nvPr>
        </p:nvSpPr>
        <p:spPr/>
        <p:txBody>
          <a:bodyPr/>
          <a:lstStyle/>
          <a:p>
            <a:r>
              <a:rPr lang="ja-JP" altLang="en-US" dirty="0"/>
              <a:t>課題４で</a:t>
            </a:r>
            <a:r>
              <a:rPr lang="en-US" altLang="ja-JP" dirty="0"/>
              <a:t>j</a:t>
            </a:r>
            <a:r>
              <a:rPr lang="ja-JP" altLang="en-US" dirty="0"/>
              <a:t>（</a:t>
            </a:r>
            <a:r>
              <a:rPr lang="en-US" altLang="ja-JP" dirty="0"/>
              <a:t>jump</a:t>
            </a:r>
            <a:r>
              <a:rPr lang="ja-JP" altLang="en-US" dirty="0"/>
              <a:t>命令）を使ったのですが、効率悪いですか？</a:t>
            </a:r>
            <a:br>
              <a:rPr lang="ja-JP" altLang="en-US" dirty="0"/>
            </a:br>
            <a:r>
              <a:rPr lang="ja-JP" altLang="en-US" dirty="0"/>
              <a:t>今回の授業に遅刻してしまい、前回課題の解説を聞きそびれてしまったので既におっしゃっていたらすみません。</a:t>
            </a:r>
            <a:br>
              <a:rPr lang="ja-JP" altLang="en-US" dirty="0"/>
            </a:br>
            <a:r>
              <a:rPr lang="ja-JP" altLang="en-US" dirty="0"/>
              <a:t>＜自分の解答＞</a:t>
            </a:r>
            <a:endParaRPr lang="en-US" altLang="ja-JP" dirty="0"/>
          </a:p>
          <a:p>
            <a:r>
              <a:rPr lang="en-US" altLang="ja-JP" dirty="0"/>
              <a:t>li 10 → A</a:t>
            </a:r>
            <a:br>
              <a:rPr lang="en-US" altLang="ja-JP" dirty="0"/>
            </a:br>
            <a:r>
              <a:rPr lang="en-US" altLang="ja-JP" dirty="0"/>
              <a:t>LABEL1:</a:t>
            </a:r>
            <a:br>
              <a:rPr lang="en-US" altLang="ja-JP" dirty="0"/>
            </a:br>
            <a:r>
              <a:rPr lang="en-US" altLang="ja-JP" dirty="0"/>
              <a:t> b A&lt;=3, LABEL 2</a:t>
            </a:r>
            <a:br>
              <a:rPr lang="en-US" altLang="ja-JP" dirty="0"/>
            </a:br>
            <a:r>
              <a:rPr lang="en-US" altLang="ja-JP" dirty="0"/>
              <a:t> sub A ← A-1</a:t>
            </a:r>
            <a:br>
              <a:rPr lang="en-US" altLang="ja-JP" dirty="0"/>
            </a:br>
            <a:r>
              <a:rPr lang="en-US" altLang="ja-JP" dirty="0"/>
              <a:t> j LABEL1</a:t>
            </a:r>
            <a:br>
              <a:rPr lang="en-US" altLang="ja-JP" dirty="0"/>
            </a:br>
            <a:r>
              <a:rPr lang="en-US" altLang="ja-JP" dirty="0"/>
              <a:t>LABEL2:</a:t>
            </a:r>
          </a:p>
          <a:p>
            <a:r>
              <a:rPr lang="ja-JP" altLang="en-US" dirty="0"/>
              <a:t>そもそも合ってますか</a:t>
            </a:r>
            <a:r>
              <a:rPr lang="en-US" altLang="ja-JP" dirty="0"/>
              <a:t>...</a:t>
            </a:r>
            <a:r>
              <a:rPr lang="ja-JP" altLang="en-US" dirty="0"/>
              <a:t>？</a:t>
            </a:r>
          </a:p>
          <a:p>
            <a:endParaRPr kumimoji="1" lang="en-US" dirty="0"/>
          </a:p>
        </p:txBody>
      </p:sp>
    </p:spTree>
    <p:extLst>
      <p:ext uri="{BB962C8B-B14F-4D97-AF65-F5344CB8AC3E}">
        <p14:creationId xmlns:p14="http://schemas.microsoft.com/office/powerpoint/2010/main" val="12503903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2B0B3-3573-6233-5B96-10B19AD41B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28E7BD-82EF-830B-6088-36C63E276B32}"/>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A6714D84-07E8-4B2F-BA37-00C4255528F6}"/>
              </a:ext>
            </a:extLst>
          </p:cNvPr>
          <p:cNvSpPr>
            <a:spLocks noGrp="1"/>
          </p:cNvSpPr>
          <p:nvPr>
            <p:ph type="body" sz="quarter" idx="10"/>
          </p:nvPr>
        </p:nvSpPr>
        <p:spPr/>
        <p:txBody>
          <a:bodyPr/>
          <a:lstStyle/>
          <a:p>
            <a:r>
              <a:rPr lang="ja-JP" altLang="en-US" dirty="0"/>
              <a:t>課題をやっていて思ったのですが、</a:t>
            </a:r>
            <a:r>
              <a:rPr lang="en-US" altLang="ja-JP" dirty="0"/>
              <a:t>P</a:t>
            </a:r>
            <a:r>
              <a:rPr lang="ja-JP" altLang="en-US" dirty="0"/>
              <a:t>型のみ、もしくは</a:t>
            </a:r>
            <a:r>
              <a:rPr lang="en-US" altLang="ja-JP" dirty="0"/>
              <a:t>N</a:t>
            </a:r>
            <a:r>
              <a:rPr lang="ja-JP" altLang="en-US" dirty="0"/>
              <a:t>型のみを直列、並列に接続することで</a:t>
            </a:r>
            <a:r>
              <a:rPr lang="en-US" altLang="ja-JP" dirty="0"/>
              <a:t>NOT</a:t>
            </a:r>
            <a:r>
              <a:rPr lang="ja-JP" altLang="en-US" dirty="0"/>
              <a:t>、</a:t>
            </a:r>
            <a:r>
              <a:rPr lang="en-US" altLang="ja-JP" dirty="0"/>
              <a:t>AND</a:t>
            </a:r>
            <a:r>
              <a:rPr lang="ja-JP" altLang="en-US" dirty="0"/>
              <a:t>、</a:t>
            </a:r>
            <a:r>
              <a:rPr lang="en-US" altLang="ja-JP" dirty="0"/>
              <a:t>OR</a:t>
            </a:r>
            <a:r>
              <a:rPr lang="ja-JP" altLang="en-US" dirty="0"/>
              <a:t>回路を作ることは可能なのでしょうか。</a:t>
            </a:r>
            <a:endParaRPr kumimoji="1" lang="en-US" dirty="0"/>
          </a:p>
        </p:txBody>
      </p:sp>
    </p:spTree>
    <p:extLst>
      <p:ext uri="{BB962C8B-B14F-4D97-AF65-F5344CB8AC3E}">
        <p14:creationId xmlns:p14="http://schemas.microsoft.com/office/powerpoint/2010/main" val="40026386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9DDB-0FEF-5B51-5DE2-EA2464CAAD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E850B0F-9C89-96AF-1028-9386C1344DF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E0BA428B-731C-49B1-3D2F-B8FAF7982571}"/>
              </a:ext>
            </a:extLst>
          </p:cNvPr>
          <p:cNvSpPr>
            <a:spLocks noGrp="1"/>
          </p:cNvSpPr>
          <p:nvPr>
            <p:ph type="body" sz="quarter" idx="10"/>
          </p:nvPr>
        </p:nvSpPr>
        <p:spPr/>
        <p:txBody>
          <a:bodyPr/>
          <a:lstStyle/>
          <a:p>
            <a:r>
              <a:rPr lang="en-US" altLang="ja-JP" dirty="0"/>
              <a:t>D-FF</a:t>
            </a:r>
            <a:r>
              <a:rPr lang="ja-JP" altLang="en-US" dirty="0"/>
              <a:t>の回路の話で、</a:t>
            </a:r>
            <a:r>
              <a:rPr lang="en-US" altLang="ja-JP" dirty="0"/>
              <a:t>D</a:t>
            </a:r>
            <a:r>
              <a:rPr lang="ja-JP" altLang="en-US" dirty="0"/>
              <a:t>ラッチを２つ繋げていましたが、どうして右側はループの形になっているんですか？左側のループで</a:t>
            </a:r>
            <a:r>
              <a:rPr lang="en-US" altLang="ja-JP" dirty="0"/>
              <a:t>d</a:t>
            </a:r>
            <a:r>
              <a:rPr lang="ja-JP" altLang="en-US" dirty="0"/>
              <a:t>から得た値を反転させるだけなら右側はループの他に方法があるんじゃないかと思いました。</a:t>
            </a:r>
            <a:endParaRPr kumimoji="1" lang="en-US" dirty="0"/>
          </a:p>
        </p:txBody>
      </p:sp>
    </p:spTree>
    <p:extLst>
      <p:ext uri="{BB962C8B-B14F-4D97-AF65-F5344CB8AC3E}">
        <p14:creationId xmlns:p14="http://schemas.microsoft.com/office/powerpoint/2010/main" val="28355785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C7BA8-4315-86D4-E24F-3C0CB17C859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4431077-898B-4BBC-8DCC-F0C6B265815F}"/>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A94256B2-842F-1C0F-0847-45A6CE7FB868}"/>
              </a:ext>
            </a:extLst>
          </p:cNvPr>
          <p:cNvSpPr>
            <a:spLocks noGrp="1"/>
          </p:cNvSpPr>
          <p:nvPr>
            <p:ph type="body" sz="quarter" idx="10"/>
          </p:nvPr>
        </p:nvSpPr>
        <p:spPr/>
        <p:txBody>
          <a:bodyPr/>
          <a:lstStyle/>
          <a:p>
            <a:r>
              <a:rPr lang="ja-JP" altLang="en-US" dirty="0"/>
              <a:t>命令パイプラインのところに出てくる</a:t>
            </a:r>
            <a:br>
              <a:rPr lang="ja-JP" altLang="en-US" dirty="0"/>
            </a:br>
            <a:br>
              <a:rPr lang="en-US" altLang="ja-JP" dirty="0"/>
            </a:br>
            <a:br>
              <a:rPr lang="en-US" altLang="ja-JP" dirty="0"/>
            </a:br>
            <a:r>
              <a:rPr lang="ja-JP" altLang="en-US" dirty="0"/>
              <a:t>がかわいかったのでいつもより集中して講義資料を見られました！</a:t>
            </a:r>
            <a:endParaRPr kumimoji="1" lang="en-US" dirty="0"/>
          </a:p>
        </p:txBody>
      </p:sp>
      <p:sp>
        <p:nvSpPr>
          <p:cNvPr id="4" name="正方形/長方形 3">
            <a:extLst>
              <a:ext uri="{FF2B5EF4-FFF2-40B4-BE49-F238E27FC236}">
                <a16:creationId xmlns:a16="http://schemas.microsoft.com/office/drawing/2014/main" id="{71BB5812-470C-3B5A-E77D-10E866A7A8DA}"/>
              </a:ext>
            </a:extLst>
          </p:cNvPr>
          <p:cNvSpPr/>
          <p:nvPr/>
        </p:nvSpPr>
        <p:spPr>
          <a:xfrm>
            <a:off x="2135956" y="3429000"/>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2035433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C62B5-8754-38A9-B3AC-E27C4F69DBE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05E2243-EABC-4A81-CA67-D5A036E80E81}"/>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B58C3B43-6409-86C7-E7AE-87B30CC1D98E}"/>
              </a:ext>
            </a:extLst>
          </p:cNvPr>
          <p:cNvSpPr>
            <a:spLocks noGrp="1"/>
          </p:cNvSpPr>
          <p:nvPr>
            <p:ph type="body" sz="quarter" idx="10"/>
          </p:nvPr>
        </p:nvSpPr>
        <p:spPr/>
        <p:txBody>
          <a:bodyPr/>
          <a:lstStyle/>
          <a:p>
            <a:r>
              <a:rPr lang="ja-JP" altLang="en-US" dirty="0"/>
              <a:t>論理回路の図の描き方について教えてください。</a:t>
            </a:r>
            <a:r>
              <a:rPr lang="en-US" altLang="ja-JP" dirty="0"/>
              <a:t>P</a:t>
            </a:r>
            <a:r>
              <a:rPr lang="ja-JP" altLang="en-US" dirty="0"/>
              <a:t>型・</a:t>
            </a:r>
            <a:r>
              <a:rPr lang="en-US" altLang="ja-JP" dirty="0"/>
              <a:t>N</a:t>
            </a:r>
            <a:r>
              <a:rPr lang="ja-JP" altLang="en-US" dirty="0"/>
              <a:t>型のゲートを含む回路図を描く際、各スイッチを「繋がっている図」と「繋がっていない図」のどちらで描くべきかの区別がつきません。 入力によって</a:t>
            </a:r>
            <a:r>
              <a:rPr lang="en-US" altLang="ja-JP" dirty="0"/>
              <a:t>P</a:t>
            </a:r>
            <a:r>
              <a:rPr lang="ja-JP" altLang="en-US" dirty="0"/>
              <a:t>型・</a:t>
            </a:r>
            <a:r>
              <a:rPr lang="en-US" altLang="ja-JP" dirty="0"/>
              <a:t>N</a:t>
            </a:r>
            <a:r>
              <a:rPr lang="ja-JP" altLang="en-US" dirty="0"/>
              <a:t>型の</a:t>
            </a:r>
            <a:r>
              <a:rPr lang="en-US" altLang="ja-JP" dirty="0"/>
              <a:t>ON/OFF</a:t>
            </a:r>
            <a:r>
              <a:rPr lang="ja-JP" altLang="en-US" dirty="0"/>
              <a:t>が反転することは理解しているのですが、図として表す際にはどのような基準で繋ぐ・繋がないを判断すればよいのでしょうか？</a:t>
            </a:r>
            <a:endParaRPr kumimoji="1" lang="en-US" dirty="0"/>
          </a:p>
        </p:txBody>
      </p:sp>
    </p:spTree>
    <p:extLst>
      <p:ext uri="{BB962C8B-B14F-4D97-AF65-F5344CB8AC3E}">
        <p14:creationId xmlns:p14="http://schemas.microsoft.com/office/powerpoint/2010/main" val="8359416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554E8-AF9C-6ECF-7404-C3953D0433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DA7D20F-C6C2-9CE5-A96E-5F907A314D4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71B8A652-80E9-3335-FC95-DB8D0374BDDD}"/>
              </a:ext>
            </a:extLst>
          </p:cNvPr>
          <p:cNvSpPr>
            <a:spLocks noGrp="1"/>
          </p:cNvSpPr>
          <p:nvPr>
            <p:ph type="body" sz="quarter" idx="10"/>
          </p:nvPr>
        </p:nvSpPr>
        <p:spPr/>
        <p:txBody>
          <a:bodyPr/>
          <a:lstStyle/>
          <a:p>
            <a:r>
              <a:rPr lang="ja-JP" altLang="en-US" dirty="0"/>
              <a:t>工場の例が分かりやすく、パイプライン化することで、単位時間あたりに処理できる命令の数が増加することがよくわかりました。ただ、はじめ一人目が作業している間、</a:t>
            </a:r>
            <a:r>
              <a:rPr lang="en-US" altLang="ja-JP" dirty="0"/>
              <a:t>2</a:t>
            </a:r>
            <a:r>
              <a:rPr lang="ja-JP" altLang="en-US" dirty="0"/>
              <a:t>人目以降はヒマになってしまうため、全員が最初から同時に作業をし始め、その人数を増やすことで全体の作業スピードは上がると思ったのですが、それはできないのでしょうか。</a:t>
            </a:r>
            <a:endParaRPr kumimoji="1" lang="en-US" dirty="0"/>
          </a:p>
        </p:txBody>
      </p:sp>
    </p:spTree>
    <p:extLst>
      <p:ext uri="{BB962C8B-B14F-4D97-AF65-F5344CB8AC3E}">
        <p14:creationId xmlns:p14="http://schemas.microsoft.com/office/powerpoint/2010/main" val="1134441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C9D0D-4792-B7E7-F075-7265E3DBAC7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790F909-2B9B-ABDF-BB4A-321A0D577AF0}"/>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FC5081D6-5FA4-2D45-5473-D05E83907587}"/>
              </a:ext>
            </a:extLst>
          </p:cNvPr>
          <p:cNvSpPr>
            <a:spLocks noGrp="1"/>
          </p:cNvSpPr>
          <p:nvPr>
            <p:ph type="body" sz="quarter" idx="10"/>
          </p:nvPr>
        </p:nvSpPr>
        <p:spPr/>
        <p:txBody>
          <a:bodyPr/>
          <a:lstStyle/>
          <a:p>
            <a:r>
              <a:rPr lang="ja-JP" altLang="en-US" dirty="0"/>
              <a:t>今回の課題で、</a:t>
            </a:r>
            <a:r>
              <a:rPr lang="en-US" altLang="ja-JP" dirty="0"/>
              <a:t>P</a:t>
            </a:r>
            <a:r>
              <a:rPr lang="ja-JP" altLang="en-US" dirty="0"/>
              <a:t>型と</a:t>
            </a:r>
            <a:r>
              <a:rPr lang="en-US" altLang="ja-JP" dirty="0"/>
              <a:t>N</a:t>
            </a:r>
            <a:r>
              <a:rPr lang="ja-JP" altLang="en-US" dirty="0"/>
              <a:t>型を授業資料の通りに書いたのですが、もっと簡略化してすることはできますか？</a:t>
            </a:r>
            <a:endParaRPr kumimoji="1" lang="en-US" dirty="0"/>
          </a:p>
        </p:txBody>
      </p:sp>
    </p:spTree>
    <p:extLst>
      <p:ext uri="{BB962C8B-B14F-4D97-AF65-F5344CB8AC3E}">
        <p14:creationId xmlns:p14="http://schemas.microsoft.com/office/powerpoint/2010/main" val="6833472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9AEDE-62CC-DAEF-CB74-EA9C65603CE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FA63E8-71B2-0666-07EA-BDC4B2969B0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05E87C2-AFFC-4CEC-7196-5356915BFEFE}"/>
              </a:ext>
            </a:extLst>
          </p:cNvPr>
          <p:cNvSpPr>
            <a:spLocks noGrp="1"/>
          </p:cNvSpPr>
          <p:nvPr>
            <p:ph type="body" sz="quarter" idx="10"/>
          </p:nvPr>
        </p:nvSpPr>
        <p:spPr/>
        <p:txBody>
          <a:bodyPr/>
          <a:lstStyle/>
          <a:p>
            <a:r>
              <a:rPr lang="ja-JP" altLang="en-US" dirty="0"/>
              <a:t>最近課題が多すぎてキャパシティを超えている気がします。睡眠時間が真っ先に犠牲となった結果授業中眠くて課題の効率が悪くて睡眠時間が。。。という悪循環に陥っています。どうしたらもっと容量良く活動できるでしょうか。アドバイスを頂けたら嬉しいです。</a:t>
            </a:r>
            <a:endParaRPr kumimoji="1" lang="en-US" dirty="0"/>
          </a:p>
        </p:txBody>
      </p:sp>
    </p:spTree>
    <p:extLst>
      <p:ext uri="{BB962C8B-B14F-4D97-AF65-F5344CB8AC3E}">
        <p14:creationId xmlns:p14="http://schemas.microsoft.com/office/powerpoint/2010/main" val="14348011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EB172-74C6-3025-ED48-6EBBD6D50B4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B632C94-E699-BC72-73D6-33019650E0E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45004F0C-780A-B43E-4460-3A6F5833FBC7}"/>
              </a:ext>
            </a:extLst>
          </p:cNvPr>
          <p:cNvSpPr>
            <a:spLocks noGrp="1"/>
          </p:cNvSpPr>
          <p:nvPr>
            <p:ph type="body" sz="quarter" idx="10"/>
          </p:nvPr>
        </p:nvSpPr>
        <p:spPr/>
        <p:txBody>
          <a:bodyPr/>
          <a:lstStyle/>
          <a:p>
            <a:r>
              <a:rPr lang="en-US" altLang="ja-JP" dirty="0"/>
              <a:t>N</a:t>
            </a:r>
            <a:r>
              <a:rPr lang="ja-JP" altLang="en-US" dirty="0"/>
              <a:t>型リレーを</a:t>
            </a:r>
            <a:r>
              <a:rPr lang="en-US" altLang="ja-JP" dirty="0"/>
              <a:t>VDD</a:t>
            </a:r>
            <a:r>
              <a:rPr lang="ja-JP" altLang="en-US" dirty="0"/>
              <a:t>側に置いたり、</a:t>
            </a:r>
            <a:r>
              <a:rPr lang="en-US" altLang="ja-JP" dirty="0"/>
              <a:t>P</a:t>
            </a:r>
            <a:r>
              <a:rPr lang="ja-JP" altLang="en-US" dirty="0"/>
              <a:t>型リレーを</a:t>
            </a:r>
            <a:r>
              <a:rPr lang="en-US" altLang="ja-JP" dirty="0"/>
              <a:t>GND</a:t>
            </a:r>
            <a:r>
              <a:rPr lang="ja-JP" altLang="en-US" dirty="0"/>
              <a:t>側に置いたりするとどうなりますか？</a:t>
            </a:r>
            <a:endParaRPr kumimoji="1" lang="en-US" dirty="0"/>
          </a:p>
        </p:txBody>
      </p:sp>
    </p:spTree>
    <p:extLst>
      <p:ext uri="{BB962C8B-B14F-4D97-AF65-F5344CB8AC3E}">
        <p14:creationId xmlns:p14="http://schemas.microsoft.com/office/powerpoint/2010/main" val="32172767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F27D5-F49F-E578-FB06-F7F2E22F643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2ED8B32-0D2E-F1DB-77EE-DC6A8C4771FB}"/>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E8D9BAED-1815-28F5-8F35-9D0EF9E19C5F}"/>
              </a:ext>
            </a:extLst>
          </p:cNvPr>
          <p:cNvSpPr>
            <a:spLocks noGrp="1"/>
          </p:cNvSpPr>
          <p:nvPr>
            <p:ph type="body" sz="quarter" idx="10"/>
          </p:nvPr>
        </p:nvSpPr>
        <p:spPr/>
        <p:txBody>
          <a:bodyPr/>
          <a:lstStyle/>
          <a:p>
            <a:r>
              <a:rPr lang="ja-JP" altLang="en-US" dirty="0"/>
              <a:t>私は効率厨なので、一つのパイプラインの処理だけで見るとラッチが開くまで待たないといけないとのことでとても苦痛に感じましたが、全体的に見ると処理量が増えると知り嬉しくなりました。ありがとうございます。</a:t>
            </a:r>
            <a:endParaRPr kumimoji="1" lang="en-US" dirty="0"/>
          </a:p>
        </p:txBody>
      </p:sp>
    </p:spTree>
    <p:extLst>
      <p:ext uri="{BB962C8B-B14F-4D97-AF65-F5344CB8AC3E}">
        <p14:creationId xmlns:p14="http://schemas.microsoft.com/office/powerpoint/2010/main" val="10524404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5549E-7195-4CB1-2977-0FE6C14EE9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A00B00-6C64-F220-2062-10054508E11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7383420-7F91-919D-E41E-B24425BE98FA}"/>
              </a:ext>
            </a:extLst>
          </p:cNvPr>
          <p:cNvSpPr>
            <a:spLocks noGrp="1"/>
          </p:cNvSpPr>
          <p:nvPr>
            <p:ph type="body" sz="quarter" idx="10"/>
          </p:nvPr>
        </p:nvSpPr>
        <p:spPr/>
        <p:txBody>
          <a:bodyPr/>
          <a:lstStyle/>
          <a:p>
            <a:r>
              <a:rPr lang="ja-JP" altLang="en-US" dirty="0"/>
              <a:t>パイプライン化の話を聞いて、合宿で大人数で水をバケツリレーした時のことを思い出しました。</a:t>
            </a:r>
            <a:r>
              <a:rPr lang="en-US" altLang="ja-JP" dirty="0"/>
              <a:t>2</a:t>
            </a:r>
            <a:r>
              <a:rPr lang="ja-JP" altLang="en-US" dirty="0"/>
              <a:t>段、</a:t>
            </a:r>
            <a:r>
              <a:rPr lang="en-US" altLang="ja-JP" dirty="0"/>
              <a:t>4</a:t>
            </a:r>
            <a:r>
              <a:rPr lang="ja-JP" altLang="en-US" dirty="0"/>
              <a:t>段と段数を増やしても限界があるように、バケツリレーも人数を増やしすぎると、かえって受け渡しが非効率になり、逆に遅くなった経験があります。</a:t>
            </a:r>
            <a:endParaRPr kumimoji="1" lang="en-US" dirty="0"/>
          </a:p>
        </p:txBody>
      </p:sp>
    </p:spTree>
    <p:extLst>
      <p:ext uri="{BB962C8B-B14F-4D97-AF65-F5344CB8AC3E}">
        <p14:creationId xmlns:p14="http://schemas.microsoft.com/office/powerpoint/2010/main" val="35505784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BA8A0-FE0E-DE43-34AA-B205B8D877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74020B9-F442-3675-5F5F-EA043F8AD134}"/>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8E3FE2EF-6FF6-1C0E-51AA-B9918FC264A3}"/>
              </a:ext>
            </a:extLst>
          </p:cNvPr>
          <p:cNvSpPr>
            <a:spLocks noGrp="1"/>
          </p:cNvSpPr>
          <p:nvPr>
            <p:ph type="body" sz="quarter" idx="10"/>
          </p:nvPr>
        </p:nvSpPr>
        <p:spPr/>
        <p:txBody>
          <a:bodyPr/>
          <a:lstStyle/>
          <a:p>
            <a:r>
              <a:rPr lang="ja-JP" altLang="en-US" dirty="0"/>
              <a:t>また前回の授業のことになりますが、私はアルバイトで小学生にマインクラフトを使ったプログラミングを教えているのですが、その経験からも、子どもたちはマイクラの影響によって情報をより身近に感じていると実感しています。</a:t>
            </a:r>
            <a:endParaRPr kumimoji="1" lang="en-US" dirty="0"/>
          </a:p>
        </p:txBody>
      </p:sp>
    </p:spTree>
    <p:extLst>
      <p:ext uri="{BB962C8B-B14F-4D97-AF65-F5344CB8AC3E}">
        <p14:creationId xmlns:p14="http://schemas.microsoft.com/office/powerpoint/2010/main" val="34971775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AB9CC-E526-6D31-31FC-06A08CFE20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406206C-5433-CB42-8383-0C9E16851985}"/>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2F68FC3B-CB71-C59F-806A-615DC897F51A}"/>
              </a:ext>
            </a:extLst>
          </p:cNvPr>
          <p:cNvSpPr>
            <a:spLocks noGrp="1"/>
          </p:cNvSpPr>
          <p:nvPr>
            <p:ph type="body" sz="quarter" idx="10"/>
          </p:nvPr>
        </p:nvSpPr>
        <p:spPr/>
        <p:txBody>
          <a:bodyPr/>
          <a:lstStyle/>
          <a:p>
            <a:r>
              <a:rPr lang="ja-JP" altLang="en-US" dirty="0"/>
              <a:t>普通の</a:t>
            </a:r>
            <a:r>
              <a:rPr lang="en-US" altLang="ja-JP" dirty="0"/>
              <a:t>CPU</a:t>
            </a:r>
            <a:r>
              <a:rPr lang="ja-JP" altLang="en-US" dirty="0"/>
              <a:t>だとクロック周波数はどのくらいなのですか？</a:t>
            </a:r>
          </a:p>
          <a:p>
            <a:r>
              <a:rPr lang="ja-JP" altLang="en-US" dirty="0"/>
              <a:t>またパソコンが熱くなるのは主にこのパイプラインの放熱のせいだったりしますか。</a:t>
            </a:r>
          </a:p>
          <a:p>
            <a:endParaRPr kumimoji="1" lang="en-US" dirty="0"/>
          </a:p>
        </p:txBody>
      </p:sp>
    </p:spTree>
    <p:extLst>
      <p:ext uri="{BB962C8B-B14F-4D97-AF65-F5344CB8AC3E}">
        <p14:creationId xmlns:p14="http://schemas.microsoft.com/office/powerpoint/2010/main" val="975916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6034F-4C5B-5647-6046-3804CC1D176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4B37E0A-772D-CA74-02EB-602D007D5589}"/>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B619ADA-0ED3-435D-FFBA-612D5CE90354}"/>
              </a:ext>
            </a:extLst>
          </p:cNvPr>
          <p:cNvSpPr>
            <a:spLocks noGrp="1"/>
          </p:cNvSpPr>
          <p:nvPr>
            <p:ph type="body" sz="quarter" idx="10"/>
          </p:nvPr>
        </p:nvSpPr>
        <p:spPr/>
        <p:txBody>
          <a:bodyPr/>
          <a:lstStyle/>
          <a:p>
            <a:r>
              <a:rPr lang="ja-JP" altLang="en-US" dirty="0"/>
              <a:t>パイプラインの段数を増やすと速くなり、増やしすぎると限界が来るとありましたが、実際には最適な段数はどのように決めるのでしょうか。</a:t>
            </a:r>
            <a:endParaRPr kumimoji="1" lang="en-US" dirty="0"/>
          </a:p>
        </p:txBody>
      </p:sp>
    </p:spTree>
    <p:extLst>
      <p:ext uri="{BB962C8B-B14F-4D97-AF65-F5344CB8AC3E}">
        <p14:creationId xmlns:p14="http://schemas.microsoft.com/office/powerpoint/2010/main" val="12542827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33948-733C-DE7D-1213-117C936C05C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EE9004F-1E43-89B2-48F0-B569C4F51E7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2E850B7-EC4E-01FF-0F26-BCB940DFD87F}"/>
              </a:ext>
            </a:extLst>
          </p:cNvPr>
          <p:cNvSpPr>
            <a:spLocks noGrp="1"/>
          </p:cNvSpPr>
          <p:nvPr>
            <p:ph type="body" sz="quarter" idx="10"/>
          </p:nvPr>
        </p:nvSpPr>
        <p:spPr/>
        <p:txBody>
          <a:bodyPr/>
          <a:lstStyle/>
          <a:p>
            <a:r>
              <a:rPr lang="ja-JP" altLang="en-US" dirty="0"/>
              <a:t>パイプラインと聞いて一番最初に思い浮かんだのが</a:t>
            </a:r>
            <a:r>
              <a:rPr lang="en-US" altLang="ja-JP" dirty="0"/>
              <a:t>Linux</a:t>
            </a:r>
            <a:r>
              <a:rPr lang="ja-JP" altLang="en-US" dirty="0"/>
              <a:t>コマンドの’</a:t>
            </a:r>
            <a:r>
              <a:rPr lang="en-US" altLang="ja-JP" dirty="0"/>
              <a:t>|’</a:t>
            </a:r>
            <a:r>
              <a:rPr lang="ja-JP" altLang="en-US" dirty="0"/>
              <a:t>だったのですが、これは今回の講義と何か関係ありますか？</a:t>
            </a:r>
            <a:endParaRPr kumimoji="1" lang="en-US" dirty="0"/>
          </a:p>
        </p:txBody>
      </p:sp>
    </p:spTree>
    <p:extLst>
      <p:ext uri="{BB962C8B-B14F-4D97-AF65-F5344CB8AC3E}">
        <p14:creationId xmlns:p14="http://schemas.microsoft.com/office/powerpoint/2010/main" val="12379601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B42C6-EFDA-BD1F-0E69-46E924C82C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78A5693-6762-E835-3048-758F25DA2E94}"/>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5DE14AB-4DA1-8A2D-0EF4-467B40E5A315}"/>
              </a:ext>
            </a:extLst>
          </p:cNvPr>
          <p:cNvSpPr>
            <a:spLocks noGrp="1"/>
          </p:cNvSpPr>
          <p:nvPr>
            <p:ph type="body" sz="quarter" idx="10"/>
          </p:nvPr>
        </p:nvSpPr>
        <p:spPr/>
        <p:txBody>
          <a:bodyPr/>
          <a:lstStyle/>
          <a:p>
            <a:r>
              <a:rPr lang="ja-JP" altLang="en-US" dirty="0"/>
              <a:t>ループする論理回路はあまりみたことがなかったため新鮮だった。アスキーアートみたいな猫可愛かったです。</a:t>
            </a:r>
            <a:endParaRPr kumimoji="1" lang="en-US" dirty="0"/>
          </a:p>
        </p:txBody>
      </p:sp>
    </p:spTree>
    <p:extLst>
      <p:ext uri="{BB962C8B-B14F-4D97-AF65-F5344CB8AC3E}">
        <p14:creationId xmlns:p14="http://schemas.microsoft.com/office/powerpoint/2010/main" val="14120867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557F7-9749-A3AE-21A0-A2E86DA9FDB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C1A88D6-FF14-766E-43B0-E6F9512960F0}"/>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72DA417F-D291-F70E-53E5-4A0E2D9EB9A2}"/>
              </a:ext>
            </a:extLst>
          </p:cNvPr>
          <p:cNvSpPr>
            <a:spLocks noGrp="1"/>
          </p:cNvSpPr>
          <p:nvPr>
            <p:ph type="body" sz="quarter" idx="10"/>
          </p:nvPr>
        </p:nvSpPr>
        <p:spPr/>
        <p:txBody>
          <a:bodyPr/>
          <a:lstStyle/>
          <a:p>
            <a:r>
              <a:rPr lang="ja-JP" altLang="en-US" dirty="0"/>
              <a:t>スマートフォンなどのバッテリー容量や排熱に厳しい制限がある機器の</a:t>
            </a:r>
            <a:r>
              <a:rPr lang="en-US" altLang="ja-JP" dirty="0"/>
              <a:t>CPU</a:t>
            </a:r>
            <a:r>
              <a:rPr lang="ja-JP" altLang="en-US" dirty="0"/>
              <a:t>では、パソコン用の</a:t>
            </a:r>
            <a:r>
              <a:rPr lang="en-US" altLang="ja-JP" dirty="0"/>
              <a:t>CPU</a:t>
            </a:r>
            <a:r>
              <a:rPr lang="ja-JP" altLang="en-US" dirty="0"/>
              <a:t>などと比べて、意図的にパイプラインの段数を減らすような設計がされる傾向にあったりするのでしょうか</a:t>
            </a:r>
            <a:endParaRPr kumimoji="1" lang="en-US" dirty="0"/>
          </a:p>
        </p:txBody>
      </p:sp>
    </p:spTree>
    <p:extLst>
      <p:ext uri="{BB962C8B-B14F-4D97-AF65-F5344CB8AC3E}">
        <p14:creationId xmlns:p14="http://schemas.microsoft.com/office/powerpoint/2010/main" val="40235629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1D71A-E6E6-4E74-28B9-C987CF169E6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6739C0C-7FA0-3E6C-2601-14D1CC3E8483}"/>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346DCB6-C535-DB90-06A7-0EFA9261D1DE}"/>
              </a:ext>
            </a:extLst>
          </p:cNvPr>
          <p:cNvSpPr>
            <a:spLocks noGrp="1"/>
          </p:cNvSpPr>
          <p:nvPr>
            <p:ph type="body" sz="quarter" idx="10"/>
          </p:nvPr>
        </p:nvSpPr>
        <p:spPr/>
        <p:txBody>
          <a:bodyPr/>
          <a:lstStyle/>
          <a:p>
            <a:r>
              <a:rPr lang="ja-JP" altLang="en-US" dirty="0"/>
              <a:t>第</a:t>
            </a:r>
            <a:r>
              <a:rPr lang="en-US" altLang="ja-JP" dirty="0"/>
              <a:t>4</a:t>
            </a:r>
            <a:r>
              <a:rPr lang="ja-JP" altLang="en-US" dirty="0"/>
              <a:t>回までのアセンブリ言語の課題について、値をレジスタ</a:t>
            </a:r>
            <a:r>
              <a:rPr lang="en-US" altLang="ja-JP" dirty="0"/>
              <a:t>B</a:t>
            </a:r>
            <a:r>
              <a:rPr lang="ja-JP" altLang="en-US" dirty="0"/>
              <a:t>に入れてから計算している時（第</a:t>
            </a:r>
            <a:r>
              <a:rPr lang="en-US" altLang="ja-JP" dirty="0"/>
              <a:t>4</a:t>
            </a:r>
            <a:r>
              <a:rPr lang="ja-JP" altLang="en-US" dirty="0"/>
              <a:t>回課題）と入れずにそのまま計算している時（第</a:t>
            </a:r>
            <a:r>
              <a:rPr lang="en-US" altLang="ja-JP" dirty="0"/>
              <a:t>2</a:t>
            </a:r>
            <a:r>
              <a:rPr lang="ja-JP" altLang="en-US" dirty="0"/>
              <a:t>回課題）では何か違いがありますか？</a:t>
            </a:r>
            <a:endParaRPr kumimoji="1" lang="en-US" dirty="0"/>
          </a:p>
        </p:txBody>
      </p:sp>
    </p:spTree>
    <p:extLst>
      <p:ext uri="{BB962C8B-B14F-4D97-AF65-F5344CB8AC3E}">
        <p14:creationId xmlns:p14="http://schemas.microsoft.com/office/powerpoint/2010/main" val="20591136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F9200-F0E2-C683-81C4-D008F263B14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18FE73-338F-A36D-5D30-0E7EC5E591F9}"/>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9045FDB1-3ED4-ABE7-D4FF-C22575BA6543}"/>
              </a:ext>
            </a:extLst>
          </p:cNvPr>
          <p:cNvSpPr>
            <a:spLocks noGrp="1"/>
          </p:cNvSpPr>
          <p:nvPr>
            <p:ph type="body" sz="quarter" idx="10"/>
          </p:nvPr>
        </p:nvSpPr>
        <p:spPr/>
        <p:txBody>
          <a:bodyPr/>
          <a:lstStyle/>
          <a:p>
            <a:r>
              <a:rPr lang="ja-JP" altLang="en-US" dirty="0"/>
              <a:t>未だに</a:t>
            </a:r>
            <a:r>
              <a:rPr lang="en-US" altLang="ja-JP" dirty="0"/>
              <a:t>CPU</a:t>
            </a:r>
            <a:r>
              <a:rPr lang="ja-JP" altLang="en-US" dirty="0"/>
              <a:t>のポインタとかアドレスとかが分かっていないので、大事そうだしもう一回説明してほしい。</a:t>
            </a:r>
            <a:endParaRPr kumimoji="1" lang="en-US" dirty="0"/>
          </a:p>
        </p:txBody>
      </p:sp>
    </p:spTree>
    <p:extLst>
      <p:ext uri="{BB962C8B-B14F-4D97-AF65-F5344CB8AC3E}">
        <p14:creationId xmlns:p14="http://schemas.microsoft.com/office/powerpoint/2010/main" val="31078036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E2DF6-18A8-B56C-4C35-B7408327C5F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9D95A15-7425-1559-5517-1582039B1F76}"/>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E108C566-6425-575D-1E98-9D703D68ADDC}"/>
              </a:ext>
            </a:extLst>
          </p:cNvPr>
          <p:cNvSpPr>
            <a:spLocks noGrp="1"/>
          </p:cNvSpPr>
          <p:nvPr>
            <p:ph type="body" sz="quarter" idx="10"/>
          </p:nvPr>
        </p:nvSpPr>
        <p:spPr/>
        <p:txBody>
          <a:bodyPr/>
          <a:lstStyle/>
          <a:p>
            <a:r>
              <a:rPr lang="ja-JP" altLang="en-US" dirty="0"/>
              <a:t>ちょっと今回の授業には関係ないんですけど、アセンブリ言語って</a:t>
            </a:r>
            <a:r>
              <a:rPr lang="en-US" altLang="ja-JP" dirty="0"/>
              <a:t>C</a:t>
            </a:r>
            <a:r>
              <a:rPr lang="ja-JP" altLang="en-US" dirty="0"/>
              <a:t>言語とかとはそもそも何が違うんですか？何に多く使われているんですか？</a:t>
            </a:r>
            <a:endParaRPr kumimoji="1" lang="en-US" dirty="0"/>
          </a:p>
        </p:txBody>
      </p:sp>
    </p:spTree>
    <p:extLst>
      <p:ext uri="{BB962C8B-B14F-4D97-AF65-F5344CB8AC3E}">
        <p14:creationId xmlns:p14="http://schemas.microsoft.com/office/powerpoint/2010/main" val="32969057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A5E79-E195-7FF6-6463-E184D1E85F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2798EDE-C0ED-E0E4-14CA-4B35B49095D2}"/>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DA648F9-66AF-07F4-D31C-3867AE445FFE}"/>
              </a:ext>
            </a:extLst>
          </p:cNvPr>
          <p:cNvSpPr>
            <a:spLocks noGrp="1"/>
          </p:cNvSpPr>
          <p:nvPr>
            <p:ph type="body" sz="quarter" idx="10"/>
          </p:nvPr>
        </p:nvSpPr>
        <p:spPr/>
        <p:txBody>
          <a:bodyPr/>
          <a:lstStyle/>
          <a:p>
            <a:r>
              <a:rPr lang="ja-JP" altLang="en-US" dirty="0"/>
              <a:t>課題についての質問です。</a:t>
            </a:r>
            <a:r>
              <a:rPr lang="en-US" altLang="ja-JP" dirty="0"/>
              <a:t>2</a:t>
            </a:r>
            <a:r>
              <a:rPr lang="ja-JP" altLang="en-US" dirty="0"/>
              <a:t>入力</a:t>
            </a:r>
            <a:r>
              <a:rPr lang="en-US" altLang="ja-JP" dirty="0"/>
              <a:t>OR</a:t>
            </a:r>
            <a:r>
              <a:rPr lang="ja-JP" altLang="en-US" dirty="0"/>
              <a:t>を</a:t>
            </a:r>
            <a:r>
              <a:rPr lang="en-US" altLang="ja-JP" dirty="0"/>
              <a:t>NAND</a:t>
            </a:r>
            <a:r>
              <a:rPr lang="ja-JP" altLang="en-US" dirty="0"/>
              <a:t>の入力に</a:t>
            </a:r>
            <a:r>
              <a:rPr lang="en-US" altLang="ja-JP" dirty="0"/>
              <a:t>NOT</a:t>
            </a:r>
            <a:r>
              <a:rPr lang="ja-JP" altLang="en-US" dirty="0"/>
              <a:t>をつける形で作ったのですが、</a:t>
            </a:r>
            <a:r>
              <a:rPr lang="en-US" altLang="ja-JP" dirty="0"/>
              <a:t>VDD</a:t>
            </a:r>
            <a:r>
              <a:rPr lang="ja-JP" altLang="en-US" dirty="0"/>
              <a:t>と</a:t>
            </a:r>
            <a:r>
              <a:rPr lang="en-US" altLang="ja-JP" dirty="0"/>
              <a:t>GND</a:t>
            </a:r>
            <a:r>
              <a:rPr lang="ja-JP" altLang="en-US" dirty="0"/>
              <a:t>がいくつも発生し、回路全体でみると</a:t>
            </a:r>
            <a:r>
              <a:rPr lang="en-US" altLang="ja-JP" dirty="0"/>
              <a:t>GND</a:t>
            </a:r>
            <a:r>
              <a:rPr lang="ja-JP" altLang="en-US" dirty="0"/>
              <a:t>の下に</a:t>
            </a:r>
            <a:r>
              <a:rPr lang="en-US" altLang="ja-JP" dirty="0"/>
              <a:t>VDD</a:t>
            </a:r>
            <a:r>
              <a:rPr lang="ja-JP" altLang="en-US" dirty="0"/>
              <a:t>があるという事例が起きています。</a:t>
            </a:r>
            <a:r>
              <a:rPr lang="en-US" altLang="ja-JP" dirty="0"/>
              <a:t>VDD</a:t>
            </a:r>
            <a:r>
              <a:rPr lang="ja-JP" altLang="en-US" dirty="0"/>
              <a:t>と</a:t>
            </a:r>
            <a:r>
              <a:rPr lang="en-US" altLang="ja-JP" dirty="0"/>
              <a:t>GND</a:t>
            </a:r>
            <a:r>
              <a:rPr lang="ja-JP" altLang="en-US" dirty="0"/>
              <a:t>の間に別の</a:t>
            </a:r>
            <a:r>
              <a:rPr lang="en-US" altLang="ja-JP" dirty="0"/>
              <a:t>VDD</a:t>
            </a:r>
            <a:r>
              <a:rPr lang="ja-JP" altLang="en-US" dirty="0"/>
              <a:t>、</a:t>
            </a:r>
            <a:r>
              <a:rPr lang="en-US" altLang="ja-JP" dirty="0"/>
              <a:t>GND</a:t>
            </a:r>
            <a:r>
              <a:rPr lang="ja-JP" altLang="en-US" dirty="0"/>
              <a:t>を置いても大丈夫なのでしょうか？もし既に回答済みでしたら申し訳ありません。</a:t>
            </a:r>
            <a:endParaRPr kumimoji="1" lang="en-US" dirty="0"/>
          </a:p>
        </p:txBody>
      </p:sp>
    </p:spTree>
    <p:extLst>
      <p:ext uri="{BB962C8B-B14F-4D97-AF65-F5344CB8AC3E}">
        <p14:creationId xmlns:p14="http://schemas.microsoft.com/office/powerpoint/2010/main" val="40254657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C6F5F-88F0-97D0-9182-2E0462AF02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D5B361-E14A-88AD-DD81-238538956A6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B96CA630-F1D4-3890-7968-1D8693A3D989}"/>
              </a:ext>
            </a:extLst>
          </p:cNvPr>
          <p:cNvSpPr>
            <a:spLocks noGrp="1"/>
          </p:cNvSpPr>
          <p:nvPr>
            <p:ph type="body" sz="quarter" idx="10"/>
          </p:nvPr>
        </p:nvSpPr>
        <p:spPr/>
        <p:txBody>
          <a:bodyPr/>
          <a:lstStyle/>
          <a:p>
            <a:r>
              <a:rPr lang="ja-JP" altLang="en-US" dirty="0"/>
              <a:t>アセンブリ言語のラベルについて、関数のようなものだと誤解していました。</a:t>
            </a:r>
            <a:r>
              <a:rPr lang="en-US" altLang="ja-JP" dirty="0"/>
              <a:t>LABEL: </a:t>
            </a:r>
            <a:r>
              <a:rPr lang="ja-JP" altLang="en-US" dirty="0"/>
              <a:t>以降で字下げされている命令文を一括りにし、</a:t>
            </a:r>
            <a:r>
              <a:rPr lang="en-US" altLang="ja-JP" dirty="0"/>
              <a:t>b LABEL </a:t>
            </a:r>
            <a:r>
              <a:rPr lang="ja-JP" altLang="en-US" dirty="0"/>
              <a:t>で呼び出されるようなイメージでした。講義内で付箋のようなものという説明があり、認識を改めることができました。</a:t>
            </a:r>
            <a:endParaRPr kumimoji="1" lang="en-US" dirty="0"/>
          </a:p>
        </p:txBody>
      </p:sp>
    </p:spTree>
    <p:extLst>
      <p:ext uri="{BB962C8B-B14F-4D97-AF65-F5344CB8AC3E}">
        <p14:creationId xmlns:p14="http://schemas.microsoft.com/office/powerpoint/2010/main" val="24761051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0B38E-9EC9-6C4C-8D8F-6575184B25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4D6F8BA-733C-04DB-F1C3-B541000DBF2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E4D6F549-27C9-0802-9B47-87298CA48F3D}"/>
              </a:ext>
            </a:extLst>
          </p:cNvPr>
          <p:cNvSpPr>
            <a:spLocks noGrp="1"/>
          </p:cNvSpPr>
          <p:nvPr>
            <p:ph type="body" sz="quarter" idx="10"/>
          </p:nvPr>
        </p:nvSpPr>
        <p:spPr/>
        <p:txBody>
          <a:bodyPr/>
          <a:lstStyle/>
          <a:p>
            <a:r>
              <a:rPr lang="ja-JP" altLang="en-US" dirty="0"/>
              <a:t>まず前回の課題で、出てきている数字が</a:t>
            </a:r>
            <a:r>
              <a:rPr lang="en-US" altLang="ja-JP" dirty="0"/>
              <a:t>10</a:t>
            </a:r>
            <a:r>
              <a:rPr lang="ja-JP" altLang="en-US" dirty="0"/>
              <a:t>と</a:t>
            </a:r>
            <a:r>
              <a:rPr lang="en-US" altLang="ja-JP" dirty="0"/>
              <a:t>1</a:t>
            </a:r>
            <a:r>
              <a:rPr lang="ja-JP" altLang="en-US" dirty="0"/>
              <a:t>と</a:t>
            </a:r>
            <a:r>
              <a:rPr lang="en-US" altLang="ja-JP" dirty="0"/>
              <a:t>3</a:t>
            </a:r>
            <a:r>
              <a:rPr lang="ja-JP" altLang="en-US" dirty="0"/>
              <a:t>だが</a:t>
            </a:r>
            <a:r>
              <a:rPr lang="en-US" altLang="ja-JP" dirty="0"/>
              <a:t>10</a:t>
            </a:r>
            <a:r>
              <a:rPr lang="ja-JP" altLang="en-US" dirty="0"/>
              <a:t>と</a:t>
            </a:r>
            <a:r>
              <a:rPr lang="en-US" altLang="ja-JP" dirty="0"/>
              <a:t>3</a:t>
            </a:r>
            <a:r>
              <a:rPr lang="ja-JP" altLang="en-US" dirty="0"/>
              <a:t>だけ</a:t>
            </a:r>
            <a:r>
              <a:rPr lang="en-US" altLang="ja-JP" dirty="0"/>
              <a:t>A</a:t>
            </a:r>
            <a:r>
              <a:rPr lang="ja-JP" altLang="en-US" dirty="0"/>
              <a:t>と</a:t>
            </a:r>
            <a:r>
              <a:rPr lang="en-US" altLang="ja-JP" dirty="0"/>
              <a:t>B</a:t>
            </a:r>
            <a:r>
              <a:rPr lang="ja-JP" altLang="en-US" dirty="0"/>
              <a:t>に格納していて、</a:t>
            </a:r>
            <a:r>
              <a:rPr lang="en-US" altLang="ja-JP" dirty="0"/>
              <a:t>1</a:t>
            </a:r>
            <a:r>
              <a:rPr lang="ja-JP" altLang="en-US" dirty="0"/>
              <a:t>は数字のまま扱っているのがなぜなのかわからなかった。</a:t>
            </a:r>
          </a:p>
          <a:p>
            <a:r>
              <a:rPr lang="ja-JP" altLang="en-US" dirty="0"/>
              <a:t>また、今回の課題の</a:t>
            </a:r>
            <a:r>
              <a:rPr lang="en-US" altLang="ja-JP" dirty="0"/>
              <a:t>2</a:t>
            </a:r>
            <a:r>
              <a:rPr lang="ja-JP" altLang="en-US" dirty="0"/>
              <a:t>入力</a:t>
            </a:r>
            <a:r>
              <a:rPr lang="en-US" altLang="ja-JP" dirty="0"/>
              <a:t>OR</a:t>
            </a:r>
            <a:r>
              <a:rPr lang="ja-JP" altLang="en-US" dirty="0"/>
              <a:t>ゲートでは、前回の資料に</a:t>
            </a:r>
            <a:r>
              <a:rPr lang="en-US" altLang="ja-JP" dirty="0"/>
              <a:t>AND</a:t>
            </a:r>
            <a:r>
              <a:rPr lang="ja-JP" altLang="en-US" dirty="0"/>
              <a:t>の入力と出力に</a:t>
            </a:r>
            <a:r>
              <a:rPr lang="en-US" altLang="ja-JP" dirty="0"/>
              <a:t>NOT</a:t>
            </a:r>
            <a:r>
              <a:rPr lang="ja-JP" altLang="en-US" dirty="0"/>
              <a:t>をつけると</a:t>
            </a:r>
            <a:r>
              <a:rPr lang="en-US" altLang="ja-JP" dirty="0"/>
              <a:t>OR</a:t>
            </a:r>
            <a:r>
              <a:rPr lang="ja-JP" altLang="en-US" dirty="0"/>
              <a:t>が作れると書いてあるが、</a:t>
            </a:r>
            <a:r>
              <a:rPr lang="en-US" altLang="ja-JP" dirty="0"/>
              <a:t>N</a:t>
            </a:r>
            <a:r>
              <a:rPr lang="ja-JP" altLang="en-US" dirty="0"/>
              <a:t>型</a:t>
            </a:r>
            <a:r>
              <a:rPr lang="en-US" altLang="ja-JP" dirty="0"/>
              <a:t>2</a:t>
            </a:r>
            <a:r>
              <a:rPr lang="ja-JP" altLang="en-US" dirty="0"/>
              <a:t>つを並列接続するだけではできないのか気になった。</a:t>
            </a:r>
          </a:p>
          <a:p>
            <a:endParaRPr kumimoji="1" lang="en-US" dirty="0"/>
          </a:p>
        </p:txBody>
      </p:sp>
    </p:spTree>
    <p:extLst>
      <p:ext uri="{BB962C8B-B14F-4D97-AF65-F5344CB8AC3E}">
        <p14:creationId xmlns:p14="http://schemas.microsoft.com/office/powerpoint/2010/main" val="25392206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2B7FF-676B-1FEA-8189-7DE3251CEF2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02C243F-82D8-B762-A8B8-B687BCAF223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13BC16FC-ABC6-8262-597D-5F7457958072}"/>
              </a:ext>
            </a:extLst>
          </p:cNvPr>
          <p:cNvSpPr>
            <a:spLocks noGrp="1"/>
          </p:cNvSpPr>
          <p:nvPr>
            <p:ph type="body" sz="quarter" idx="10"/>
          </p:nvPr>
        </p:nvSpPr>
        <p:spPr/>
        <p:txBody>
          <a:bodyPr/>
          <a:lstStyle/>
          <a:p>
            <a:r>
              <a:rPr lang="ja-JP" altLang="en-US" dirty="0"/>
              <a:t>授業の最初に、課題の解説をしていただいてますが、自分が書いたものと微妙に表現が違うなと思うことがたまにあって、それが間違いなのか、気にしなくてもいい程度の違いなのかがわからず不安です。</a:t>
            </a:r>
            <a:endParaRPr kumimoji="1" lang="en-US" dirty="0"/>
          </a:p>
        </p:txBody>
      </p:sp>
    </p:spTree>
    <p:extLst>
      <p:ext uri="{BB962C8B-B14F-4D97-AF65-F5344CB8AC3E}">
        <p14:creationId xmlns:p14="http://schemas.microsoft.com/office/powerpoint/2010/main" val="29393644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5B10B-17FC-E7DA-15EB-D54C4E9A1B1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FACD97-8F59-63BD-CFBE-A459834A139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8E82B15A-B1AF-9FA8-F8CF-9E6C4BFD5B86}"/>
              </a:ext>
            </a:extLst>
          </p:cNvPr>
          <p:cNvSpPr>
            <a:spLocks noGrp="1"/>
          </p:cNvSpPr>
          <p:nvPr>
            <p:ph type="body" sz="quarter" idx="10"/>
          </p:nvPr>
        </p:nvSpPr>
        <p:spPr>
          <a:xfrm>
            <a:off x="335936" y="1088974"/>
            <a:ext cx="10080112" cy="5490061"/>
          </a:xfrm>
        </p:spPr>
        <p:txBody>
          <a:bodyPr/>
          <a:lstStyle/>
          <a:p>
            <a:r>
              <a:rPr lang="ja-JP" altLang="en-US" sz="1400" dirty="0"/>
              <a:t>　本日の講義では、命令パイプラインについてと、そのメリット、仕組みについて学習した。その中で、私はカフェでアルバイトをしているのだが、「パイプライン化により実行時間の短縮（スループットの向上）が実現する」ということが、カフェでの頭の中でのレシピの工程の組み立て方にかなり近しいものがあると感じた。例えば、複数の注文（①カプチーノ②キャラメルマキアート③ラテの順番）が一度に入ったとき、なるべく早くご提供するために、</a:t>
            </a:r>
            <a:br>
              <a:rPr lang="ja-JP" altLang="en-US" sz="1400" dirty="0"/>
            </a:br>
            <a:r>
              <a:rPr lang="ja-JP" altLang="en-US" sz="1400" dirty="0"/>
              <a:t> ①ミルクのスチーム→エスプレッソショットを落とす</a:t>
            </a:r>
            <a:br>
              <a:rPr lang="ja-JP" altLang="en-US" sz="1400" dirty="0"/>
            </a:br>
            <a:r>
              <a:rPr lang="ja-JP" altLang="en-US" sz="1400" dirty="0"/>
              <a:t> 　　　　　　　　②ミルクのスチーム→シロップを入れる</a:t>
            </a:r>
            <a:br>
              <a:rPr lang="ja-JP" altLang="en-US" sz="1400" dirty="0"/>
            </a:br>
            <a:r>
              <a:rPr lang="ja-JP" altLang="en-US" sz="1400" dirty="0"/>
              <a:t> 　　　　　　　　　　　　　　　　　　　　　①を仕上げる</a:t>
            </a:r>
            <a:br>
              <a:rPr lang="ja-JP" altLang="en-US" sz="1400" dirty="0"/>
            </a:br>
            <a:r>
              <a:rPr lang="ja-JP" altLang="en-US" sz="1400" dirty="0"/>
              <a:t> 　　　　　　　　　　　　　　　　　　　　　　　　　　②→エスプレッソショットを落とす</a:t>
            </a:r>
            <a:br>
              <a:rPr lang="ja-JP" altLang="en-US" sz="1400" dirty="0"/>
            </a:br>
            <a:r>
              <a:rPr lang="ja-JP" altLang="en-US" sz="1400" dirty="0"/>
              <a:t> 　　　　　　　　　　　　　　　　　　　　　　　　　　　　　　　　　　　　　　③ミルクのスチーム→</a:t>
            </a:r>
            <a:r>
              <a:rPr lang="en-US" altLang="ja-JP" sz="1400" dirty="0"/>
              <a:t>……</a:t>
            </a:r>
            <a:br>
              <a:rPr lang="ja-JP" altLang="en-US" sz="1400" dirty="0"/>
            </a:br>
            <a:r>
              <a:rPr lang="ja-JP" altLang="en-US" sz="1400" dirty="0"/>
              <a:t>というように、少しずつ工程をずらしつつ、少ない機具（ショットを落とすものやミルクをスチームする設備）を常に止めることなく無駄なく稼働させるような流れにするために、時折いくつかの作成を止めておくなどして全体の歩調を合わせながら、効率的に作るようにしている。今回のパイプラインの流れは、この経験と似ており、自分が普段やっている思考の仕方が、コンピュータの基盤の世界でも行われているというのが興味深く、親近感さえ湧いた。</a:t>
            </a:r>
            <a:br>
              <a:rPr lang="ja-JP" altLang="en-US" sz="1400" dirty="0"/>
            </a:br>
            <a:r>
              <a:rPr lang="ja-JP" altLang="en-US" sz="1400" dirty="0"/>
              <a:t> 　加えて、仕事がすぐに終わったとしてもパプライン・ラッチで時間をかけさせるような仕組みは、通信の信号を自動車として信号機を設置し、赤信号の間は動きをとめさせるようなイメージもわいた。複数ステージ間で信号が混じるのを防ぐためのこのような工夫は初めて知るものであり、新鮮に感じた。</a:t>
            </a:r>
            <a:endParaRPr kumimoji="1" lang="en-US" sz="1400" dirty="0"/>
          </a:p>
        </p:txBody>
      </p:sp>
    </p:spTree>
    <p:extLst>
      <p:ext uri="{BB962C8B-B14F-4D97-AF65-F5344CB8AC3E}">
        <p14:creationId xmlns:p14="http://schemas.microsoft.com/office/powerpoint/2010/main" val="15540357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B73ED-ABE0-B728-2E6F-DA4D2A30E4B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6774112-010B-4465-C4DD-CAD1C7E2152B}"/>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F8E08D9-300A-D332-4469-C55C75B8CD5B}"/>
              </a:ext>
            </a:extLst>
          </p:cNvPr>
          <p:cNvSpPr>
            <a:spLocks noGrp="1"/>
          </p:cNvSpPr>
          <p:nvPr>
            <p:ph type="body" sz="quarter" idx="10"/>
          </p:nvPr>
        </p:nvSpPr>
        <p:spPr/>
        <p:txBody>
          <a:bodyPr/>
          <a:lstStyle/>
          <a:p>
            <a:r>
              <a:rPr lang="ja-JP" altLang="en-US" dirty="0"/>
              <a:t>質問です。期末テストは具体的に７月の何日に実施予定でしょうか。昨年度の資料から、全</a:t>
            </a:r>
            <a:r>
              <a:rPr lang="en-US" altLang="ja-JP" dirty="0"/>
              <a:t>13</a:t>
            </a:r>
            <a:r>
              <a:rPr lang="ja-JP" altLang="en-US" dirty="0"/>
              <a:t>回の講義で</a:t>
            </a:r>
            <a:r>
              <a:rPr lang="en-US" altLang="ja-JP" dirty="0"/>
              <a:t>13</a:t>
            </a:r>
            <a:r>
              <a:rPr lang="ja-JP" altLang="en-US" dirty="0"/>
              <a:t>回目に試験という流れだと解釈しましたが、合っていますでしょうか。ご教示いただけますと幸いです。</a:t>
            </a:r>
            <a:endParaRPr kumimoji="1" lang="en-US" dirty="0"/>
          </a:p>
        </p:txBody>
      </p:sp>
    </p:spTree>
    <p:extLst>
      <p:ext uri="{BB962C8B-B14F-4D97-AF65-F5344CB8AC3E}">
        <p14:creationId xmlns:p14="http://schemas.microsoft.com/office/powerpoint/2010/main" val="3168596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B1E0D-FA3F-E869-42E1-AFC5CAFDE43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0C1698-2D1B-BAB7-70DC-CD8FB908BED5}"/>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1A51584A-5603-61FA-7DD5-3E70F86DBFDF}"/>
              </a:ext>
            </a:extLst>
          </p:cNvPr>
          <p:cNvSpPr>
            <a:spLocks noGrp="1"/>
          </p:cNvSpPr>
          <p:nvPr>
            <p:ph type="body" sz="quarter" idx="10"/>
          </p:nvPr>
        </p:nvSpPr>
        <p:spPr/>
        <p:txBody>
          <a:bodyPr/>
          <a:lstStyle/>
          <a:p>
            <a:r>
              <a:rPr lang="ja-JP" altLang="en-US" dirty="0"/>
              <a:t> 質問：パイプライン化によって</a:t>
            </a:r>
            <a:r>
              <a:rPr lang="en-US" altLang="ja-JP" dirty="0"/>
              <a:t>CPU</a:t>
            </a:r>
            <a:r>
              <a:rPr lang="ja-JP" altLang="en-US" dirty="0"/>
              <a:t>を高速化できることを学びましたが、もし理論上無限に細かくステージを分けられた場合、最終的にはどのような問題が最も大きなボトルネックになるのでしょうか？</a:t>
            </a:r>
            <a:endParaRPr kumimoji="1" lang="en-US" dirty="0"/>
          </a:p>
        </p:txBody>
      </p:sp>
    </p:spTree>
    <p:extLst>
      <p:ext uri="{BB962C8B-B14F-4D97-AF65-F5344CB8AC3E}">
        <p14:creationId xmlns:p14="http://schemas.microsoft.com/office/powerpoint/2010/main" val="3296661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88050-3B32-EF9C-E8A9-9F8579571B6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D8ADB73-D4F0-C969-6C35-30E3CDBDDD46}"/>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92B2993-F3B5-8B4F-D463-3B52F825787B}"/>
              </a:ext>
            </a:extLst>
          </p:cNvPr>
          <p:cNvSpPr>
            <a:spLocks noGrp="1"/>
          </p:cNvSpPr>
          <p:nvPr>
            <p:ph type="body" sz="quarter" idx="10"/>
          </p:nvPr>
        </p:nvSpPr>
        <p:spPr/>
        <p:txBody>
          <a:bodyPr/>
          <a:lstStyle/>
          <a:p>
            <a:r>
              <a:rPr lang="ja-JP" altLang="en-US" dirty="0"/>
              <a:t>講義でパイプライン化の例として、工場の分業が挙げられていたが、</a:t>
            </a:r>
            <a:r>
              <a:rPr lang="en-US" altLang="ja-JP" dirty="0"/>
              <a:t>4</a:t>
            </a:r>
            <a:r>
              <a:rPr lang="ja-JP" altLang="en-US" dirty="0"/>
              <a:t>人が同時に最初から最後まで完全に並列で作業を行うのと、パイプラインとでは、なぜ後者の方が優れているのか、という疑問を持った。各命令の階層（</a:t>
            </a:r>
            <a:r>
              <a:rPr lang="en-US" altLang="ja-JP" dirty="0"/>
              <a:t>I0,I1</a:t>
            </a:r>
            <a:r>
              <a:rPr lang="ja-JP" altLang="en-US" dirty="0"/>
              <a:t>など）ごとに得意な作業が異なり、１つの作業に特化することで作業効率が得られるということかなと考えたが、どうなのでしょうか？</a:t>
            </a:r>
            <a:endParaRPr kumimoji="1" lang="en-US" dirty="0"/>
          </a:p>
        </p:txBody>
      </p:sp>
    </p:spTree>
    <p:extLst>
      <p:ext uri="{BB962C8B-B14F-4D97-AF65-F5344CB8AC3E}">
        <p14:creationId xmlns:p14="http://schemas.microsoft.com/office/powerpoint/2010/main" val="17451909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cai-shioya-04</Template>
  <TotalTime>0</TotalTime>
  <Words>8398</Words>
  <Application>Microsoft Office PowerPoint</Application>
  <PresentationFormat>ワイド画面</PresentationFormat>
  <Paragraphs>1624</Paragraphs>
  <Slides>116</Slides>
  <Notes>20</Notes>
  <HiddenSlides>0</HiddenSlides>
  <MMClips>0</MMClips>
  <ScaleCrop>false</ScaleCrop>
  <HeadingPairs>
    <vt:vector size="6" baseType="variant">
      <vt:variant>
        <vt:lpstr>使用されているフォント</vt:lpstr>
      </vt:variant>
      <vt:variant>
        <vt:i4>14</vt:i4>
      </vt:variant>
      <vt:variant>
        <vt:lpstr>テーマ</vt:lpstr>
      </vt:variant>
      <vt:variant>
        <vt:i4>1</vt:i4>
      </vt:variant>
      <vt:variant>
        <vt:lpstr>スライド タイトル</vt:lpstr>
      </vt:variant>
      <vt:variant>
        <vt:i4>116</vt:i4>
      </vt:variant>
    </vt:vector>
  </HeadingPairs>
  <TitlesOfParts>
    <vt:vector size="131" baseType="lpstr">
      <vt:lpstr>HG丸ｺﾞｼｯｸM-PRO</vt:lpstr>
      <vt:lpstr>MeiryoKe_PGothic</vt:lpstr>
      <vt:lpstr>ＭＳ Ｐゴシック</vt:lpstr>
      <vt:lpstr>メイリオ</vt:lpstr>
      <vt:lpstr>游ゴシック</vt:lpstr>
      <vt:lpstr>Arial</vt:lpstr>
      <vt:lpstr>Arial Narrow</vt:lpstr>
      <vt:lpstr>Calibri</vt:lpstr>
      <vt:lpstr>Consolas</vt:lpstr>
      <vt:lpstr>Courier New</vt:lpstr>
      <vt:lpstr>Segoe UI</vt:lpstr>
      <vt:lpstr>Times New Roman</vt:lpstr>
      <vt:lpstr>Verdana</vt:lpstr>
      <vt:lpstr>Wingdings</vt:lpstr>
      <vt:lpstr>cerulean</vt:lpstr>
      <vt:lpstr>塩谷 亮太 (shioya@ci.i.u-tokyo.ac.jp) 東京大学大学院情報理工学系研究科 創造情報学専攻</vt:lpstr>
      <vt:lpstr>課題の解説</vt:lpstr>
      <vt:lpstr>課題 5</vt:lpstr>
      <vt:lpstr>方針</vt:lpstr>
      <vt:lpstr>NOR （上が直列，下が並列）</vt:lpstr>
      <vt:lpstr>NOR の後ろに NOT を接続</vt:lpstr>
      <vt:lpstr>3入力NOR</vt:lpstr>
      <vt:lpstr>前回の振り返り</vt:lpstr>
      <vt:lpstr>記憶素子の原理</vt:lpstr>
      <vt:lpstr>D ラッチの回路</vt:lpstr>
      <vt:lpstr>D-FF の回路</vt:lpstr>
      <vt:lpstr>工場のラインを考える（再）</vt:lpstr>
      <vt:lpstr>パイプライン・ラッチのイメージ</vt:lpstr>
      <vt:lpstr>パイプライン化（オーバーラップ）の実現方法</vt:lpstr>
      <vt:lpstr>パイプライン化による性能（スループット）向上</vt:lpstr>
      <vt:lpstr>パイプライン化の意味</vt:lpstr>
      <vt:lpstr>パイプライン化の限界</vt:lpstr>
      <vt:lpstr>ハザード</vt:lpstr>
      <vt:lpstr>ハザード（hazard）</vt:lpstr>
      <vt:lpstr>もくじ</vt:lpstr>
      <vt:lpstr>構造ハザード</vt:lpstr>
      <vt:lpstr>構造ハザード</vt:lpstr>
      <vt:lpstr>工場のラインをまた考える</vt:lpstr>
      <vt:lpstr>釘の本数の変更</vt:lpstr>
      <vt:lpstr>釘打ちの人のところで構造ハザード</vt:lpstr>
      <vt:lpstr>増員による構造ハザードの解消</vt:lpstr>
      <vt:lpstr>コンピュータにおける構造ハザード</vt:lpstr>
      <vt:lpstr>構造ハザードの例１：メモリ間 mov</vt:lpstr>
      <vt:lpstr>mov [rs1]→[rs2] // [rs1]→[rs2] へのコピー</vt:lpstr>
      <vt:lpstr>構造ハザードの例２：push/pop</vt:lpstr>
      <vt:lpstr>pop：[rs1]→rd, rs1+1→rs1</vt:lpstr>
      <vt:lpstr>構造ハザードの例３</vt:lpstr>
      <vt:lpstr>構造ハザードの例３</vt:lpstr>
      <vt:lpstr>ld_inc [rs1]+1→rd  と add が連続した場合</vt:lpstr>
      <vt:lpstr>構造ハザードの解決方法</vt:lpstr>
      <vt:lpstr>解決方法１：ハードウェアの増強</vt:lpstr>
      <vt:lpstr>解決方法１：ハードウェアの増強</vt:lpstr>
      <vt:lpstr>構造ハザードの解決方法</vt:lpstr>
      <vt:lpstr>解決方法２：時分割で処理</vt:lpstr>
      <vt:lpstr>なぜパイプラインを止めるのか</vt:lpstr>
      <vt:lpstr>パイプラインを止めること</vt:lpstr>
      <vt:lpstr>ストールの動作</vt:lpstr>
      <vt:lpstr>ストールの実現方法</vt:lpstr>
      <vt:lpstr>WE つき D-FF の実現方法</vt:lpstr>
      <vt:lpstr>非構造ハザード</vt:lpstr>
      <vt:lpstr>もくじ</vt:lpstr>
      <vt:lpstr>バックエッジとは：逆方向（右から左）にいく信号</vt:lpstr>
      <vt:lpstr>データ・ハザード</vt:lpstr>
      <vt:lpstr>データ・ハザード</vt:lpstr>
      <vt:lpstr>データ・ハザード</vt:lpstr>
      <vt:lpstr>データ・ハザードの解消方法</vt:lpstr>
      <vt:lpstr>１．ストール</vt:lpstr>
      <vt:lpstr>１．ストールさせる</vt:lpstr>
      <vt:lpstr>2. 遅延スロット（なにもしない）</vt:lpstr>
      <vt:lpstr>2. 遅延スロット（なにもしない）</vt:lpstr>
      <vt:lpstr>NOP の挿入</vt:lpstr>
      <vt:lpstr>遅延スロットの利点</vt:lpstr>
      <vt:lpstr>遅延スロットの欠点</vt:lpstr>
      <vt:lpstr>遅延スロットの欠点２</vt:lpstr>
      <vt:lpstr>データ・ハザードの解消方法</vt:lpstr>
      <vt:lpstr>フォワーディング</vt:lpstr>
      <vt:lpstr>フォワーディングの回路</vt:lpstr>
      <vt:lpstr>フォワーディングの利点</vt:lpstr>
      <vt:lpstr>ロードについては，完全に解決はできない</vt:lpstr>
      <vt:lpstr>制御ハザード</vt:lpstr>
      <vt:lpstr>分岐命令の処理と制御ハザード</vt:lpstr>
      <vt:lpstr>制御ハザードの解消方法</vt:lpstr>
      <vt:lpstr>分岐予測</vt:lpstr>
      <vt:lpstr>分岐予測ペナルティ</vt:lpstr>
      <vt:lpstr>大規模な高性能プロセッサの場合</vt:lpstr>
      <vt:lpstr>予測アルゴリズムの基本</vt:lpstr>
      <vt:lpstr>分岐予測のアルゴリズムの発展</vt:lpstr>
      <vt:lpstr>PowerPoint プレゼンテーション</vt:lpstr>
      <vt:lpstr>去年はうちが優勝</vt:lpstr>
      <vt:lpstr>RUNLTS Predictor 我々の世界最強の分岐予測器（2025年6月現在）</vt:lpstr>
      <vt:lpstr>分岐命令の処理と制御ハザード</vt:lpstr>
      <vt:lpstr>RUNLTS のやりかた</vt:lpstr>
      <vt:lpstr>パイプライン化の限界</vt:lpstr>
      <vt:lpstr>アーキテクチャ的な理由による実効性能の限界</vt:lpstr>
      <vt:lpstr>余談：実際の CPU のパイプライン段数</vt:lpstr>
      <vt:lpstr>Sony/IBM/東芝 Cell (SPE) Cell Broadband Engine Architecture and its first implementation—A performance view より</vt:lpstr>
      <vt:lpstr>AMD JAGUAR "JAGUAR” AMD’s Next Generation Low Power x86 Core より</vt:lpstr>
      <vt:lpstr>ARM Cortex-A15  Exploring the Design of the Cortex-A15 Processor ARM’s next generation mobile applications processor より</vt:lpstr>
      <vt:lpstr>まとめ</vt:lpstr>
      <vt:lpstr>課題 6</vt:lpstr>
      <vt:lpstr>RISC-V の 基本整数命令</vt:lpstr>
      <vt:lpstr>提出方法</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2026-06-02T05:33:04Z</dcterms:modified>
</cp:coreProperties>
</file>