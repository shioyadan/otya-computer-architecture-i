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4" r:id="rId1"/>
  </p:sldMasterIdLst>
  <p:notesMasterIdLst>
    <p:notesMasterId r:id="rId113"/>
  </p:notesMasterIdLst>
  <p:sldIdLst>
    <p:sldId id="455" r:id="rId2"/>
    <p:sldId id="805" r:id="rId3"/>
    <p:sldId id="810" r:id="rId4"/>
    <p:sldId id="887" r:id="rId5"/>
    <p:sldId id="886" r:id="rId6"/>
    <p:sldId id="880" r:id="rId7"/>
    <p:sldId id="828" r:id="rId8"/>
    <p:sldId id="266" r:id="rId9"/>
    <p:sldId id="453" r:id="rId10"/>
    <p:sldId id="523" r:id="rId11"/>
    <p:sldId id="878" r:id="rId12"/>
    <p:sldId id="820" r:id="rId13"/>
    <p:sldId id="821" r:id="rId14"/>
    <p:sldId id="822" r:id="rId15"/>
    <p:sldId id="823" r:id="rId16"/>
    <p:sldId id="824" r:id="rId17"/>
    <p:sldId id="825" r:id="rId18"/>
    <p:sldId id="613" r:id="rId19"/>
    <p:sldId id="829" r:id="rId20"/>
    <p:sldId id="501" r:id="rId21"/>
    <p:sldId id="849" r:id="rId22"/>
    <p:sldId id="530" r:id="rId23"/>
    <p:sldId id="813" r:id="rId24"/>
    <p:sldId id="830" r:id="rId25"/>
    <p:sldId id="831" r:id="rId26"/>
    <p:sldId id="832" r:id="rId27"/>
    <p:sldId id="833" r:id="rId28"/>
    <p:sldId id="543" r:id="rId29"/>
    <p:sldId id="534" r:id="rId30"/>
    <p:sldId id="535" r:id="rId31"/>
    <p:sldId id="536" r:id="rId32"/>
    <p:sldId id="542" r:id="rId33"/>
    <p:sldId id="540" r:id="rId34"/>
    <p:sldId id="541" r:id="rId35"/>
    <p:sldId id="539" r:id="rId36"/>
    <p:sldId id="544" r:id="rId37"/>
    <p:sldId id="538" r:id="rId38"/>
    <p:sldId id="552" r:id="rId39"/>
    <p:sldId id="533" r:id="rId40"/>
    <p:sldId id="545" r:id="rId41"/>
    <p:sldId id="551" r:id="rId42"/>
    <p:sldId id="549" r:id="rId43"/>
    <p:sldId id="548" r:id="rId44"/>
    <p:sldId id="550" r:id="rId45"/>
    <p:sldId id="851" r:id="rId46"/>
    <p:sldId id="850" r:id="rId47"/>
    <p:sldId id="579" r:id="rId48"/>
    <p:sldId id="580" r:id="rId49"/>
    <p:sldId id="581" r:id="rId50"/>
    <p:sldId id="582" r:id="rId51"/>
    <p:sldId id="583" r:id="rId52"/>
    <p:sldId id="852" r:id="rId53"/>
    <p:sldId id="584" r:id="rId54"/>
    <p:sldId id="853" r:id="rId55"/>
    <p:sldId id="586" r:id="rId56"/>
    <p:sldId id="835" r:id="rId57"/>
    <p:sldId id="588" r:id="rId58"/>
    <p:sldId id="589" r:id="rId59"/>
    <p:sldId id="590" r:id="rId60"/>
    <p:sldId id="591" r:id="rId61"/>
    <p:sldId id="592" r:id="rId62"/>
    <p:sldId id="593" r:id="rId63"/>
    <p:sldId id="594" r:id="rId64"/>
    <p:sldId id="597" r:id="rId65"/>
    <p:sldId id="603" r:id="rId66"/>
    <p:sldId id="604" r:id="rId67"/>
    <p:sldId id="605" r:id="rId68"/>
    <p:sldId id="606" r:id="rId69"/>
    <p:sldId id="607" r:id="rId70"/>
    <p:sldId id="608" r:id="rId71"/>
    <p:sldId id="911" r:id="rId72"/>
    <p:sldId id="836" r:id="rId73"/>
    <p:sldId id="531" r:id="rId74"/>
    <p:sldId id="847" r:id="rId75"/>
    <p:sldId id="546" r:id="rId76"/>
    <p:sldId id="547" r:id="rId77"/>
    <p:sldId id="848" r:id="rId78"/>
    <p:sldId id="882" r:id="rId79"/>
    <p:sldId id="883" r:id="rId80"/>
    <p:sldId id="341" r:id="rId81"/>
    <p:sldId id="696" r:id="rId82"/>
    <p:sldId id="909" r:id="rId83"/>
    <p:sldId id="915" r:id="rId84"/>
    <p:sldId id="937" r:id="rId85"/>
    <p:sldId id="876" r:id="rId86"/>
    <p:sldId id="912" r:id="rId87"/>
    <p:sldId id="913" r:id="rId88"/>
    <p:sldId id="916" r:id="rId89"/>
    <p:sldId id="917" r:id="rId90"/>
    <p:sldId id="918" r:id="rId91"/>
    <p:sldId id="919" r:id="rId92"/>
    <p:sldId id="920" r:id="rId93"/>
    <p:sldId id="921" r:id="rId94"/>
    <p:sldId id="922" r:id="rId95"/>
    <p:sldId id="923" r:id="rId96"/>
    <p:sldId id="924" r:id="rId97"/>
    <p:sldId id="925" r:id="rId98"/>
    <p:sldId id="926" r:id="rId99"/>
    <p:sldId id="927" r:id="rId100"/>
    <p:sldId id="928" r:id="rId101"/>
    <p:sldId id="930" r:id="rId102"/>
    <p:sldId id="931" r:id="rId103"/>
    <p:sldId id="932" r:id="rId104"/>
    <p:sldId id="933" r:id="rId105"/>
    <p:sldId id="934" r:id="rId106"/>
    <p:sldId id="935" r:id="rId107"/>
    <p:sldId id="496" r:id="rId108"/>
    <p:sldId id="936" r:id="rId109"/>
    <p:sldId id="938" r:id="rId110"/>
    <p:sldId id="929" r:id="rId111"/>
    <p:sldId id="914" r:id="rId112"/>
  </p:sldIdLst>
  <p:sldSz cx="9144000" cy="6858000" type="screen4x3"/>
  <p:notesSz cx="6858000" cy="9144000"/>
  <p:custDataLst>
    <p:tags r:id="rId114"/>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67" autoAdjust="0"/>
    <p:restoredTop sz="96889" autoAdjust="0"/>
  </p:normalViewPr>
  <p:slideViewPr>
    <p:cSldViewPr>
      <p:cViewPr varScale="1">
        <p:scale>
          <a:sx n="157" d="100"/>
          <a:sy n="157" d="100"/>
        </p:scale>
        <p:origin x="928" y="96"/>
      </p:cViewPr>
      <p:guideLst>
        <p:guide orient="horz" pos="2160"/>
        <p:guide pos="2880"/>
      </p:guideLst>
    </p:cSldViewPr>
  </p:slideViewPr>
  <p:notesTextViewPr>
    <p:cViewPr>
      <p:scale>
        <a:sx n="100" d="100"/>
        <a:sy n="100" d="100"/>
      </p:scale>
      <p:origin x="0" y="0"/>
    </p:cViewPr>
  </p:notesText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2025/6/10</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879E0F-6B73-4EF4-851E-289B8D795FF2}" type="slidenum">
              <a:rPr lang="en-US" altLang="ja-JP"/>
              <a:pPr/>
              <a:t>9</a:t>
            </a:fld>
            <a:endParaRPr lang="en-US" altLang="ja-JP"/>
          </a:p>
        </p:txBody>
      </p:sp>
      <p:sp>
        <p:nvSpPr>
          <p:cNvPr id="717826" name="Rectangle 2"/>
          <p:cNvSpPr>
            <a:spLocks noGrp="1" noRot="1" noChangeAspect="1" noChangeArrowheads="1" noTextEdit="1"/>
          </p:cNvSpPr>
          <p:nvPr>
            <p:ph type="sldImg"/>
          </p:nvPr>
        </p:nvSpPr>
        <p:spPr>
          <a:xfrm>
            <a:off x="819150" y="161925"/>
            <a:ext cx="5219700" cy="3914775"/>
          </a:xfrm>
          <a:ln/>
        </p:spPr>
      </p:sp>
      <p:sp>
        <p:nvSpPr>
          <p:cNvPr id="71782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005727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10</a:t>
            </a:fld>
            <a:endParaRPr lang="en-US" altLang="ja-JP"/>
          </a:p>
        </p:txBody>
      </p:sp>
      <p:sp>
        <p:nvSpPr>
          <p:cNvPr id="709634" name="Rectangle 2"/>
          <p:cNvSpPr>
            <a:spLocks noGrp="1" noRot="1" noChangeAspect="1" noChangeArrowheads="1" noTextEdit="1"/>
          </p:cNvSpPr>
          <p:nvPr>
            <p:ph type="sldImg"/>
          </p:nvPr>
        </p:nvSpPr>
        <p:spPr>
          <a:xfrm>
            <a:off x="819150" y="161925"/>
            <a:ext cx="52197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400781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11</a:t>
            </a:fld>
            <a:endParaRPr lang="en-US" altLang="ja-JP"/>
          </a:p>
        </p:txBody>
      </p:sp>
      <p:sp>
        <p:nvSpPr>
          <p:cNvPr id="709634" name="Rectangle 2"/>
          <p:cNvSpPr>
            <a:spLocks noGrp="1" noRot="1" noChangeAspect="1" noChangeArrowheads="1" noTextEdit="1"/>
          </p:cNvSpPr>
          <p:nvPr>
            <p:ph type="sldImg"/>
          </p:nvPr>
        </p:nvSpPr>
        <p:spPr>
          <a:xfrm>
            <a:off x="819150" y="161925"/>
            <a:ext cx="52197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14003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12</a:t>
            </a:fld>
            <a:endParaRPr kumimoji="1" lang="ja-JP" altLang="en-US"/>
          </a:p>
        </p:txBody>
      </p:sp>
    </p:spTree>
    <p:extLst>
      <p:ext uri="{BB962C8B-B14F-4D97-AF65-F5344CB8AC3E}">
        <p14:creationId xmlns:p14="http://schemas.microsoft.com/office/powerpoint/2010/main" val="2827766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13</a:t>
            </a:fld>
            <a:endParaRPr kumimoji="1" lang="ja-JP" altLang="en-US"/>
          </a:p>
        </p:txBody>
      </p:sp>
    </p:spTree>
    <p:extLst>
      <p:ext uri="{BB962C8B-B14F-4D97-AF65-F5344CB8AC3E}">
        <p14:creationId xmlns:p14="http://schemas.microsoft.com/office/powerpoint/2010/main" val="2596254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23</a:t>
            </a:fld>
            <a:endParaRPr kumimoji="1" lang="ja-JP" altLang="en-US"/>
          </a:p>
        </p:txBody>
      </p:sp>
    </p:spTree>
    <p:extLst>
      <p:ext uri="{BB962C8B-B14F-4D97-AF65-F5344CB8AC3E}">
        <p14:creationId xmlns:p14="http://schemas.microsoft.com/office/powerpoint/2010/main" val="2827766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24</a:t>
            </a:fld>
            <a:endParaRPr kumimoji="1" lang="ja-JP" altLang="en-US"/>
          </a:p>
        </p:txBody>
      </p:sp>
    </p:spTree>
    <p:extLst>
      <p:ext uri="{BB962C8B-B14F-4D97-AF65-F5344CB8AC3E}">
        <p14:creationId xmlns:p14="http://schemas.microsoft.com/office/powerpoint/2010/main" val="2176350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25</a:t>
            </a:fld>
            <a:endParaRPr kumimoji="1" lang="ja-JP" altLang="en-US"/>
          </a:p>
        </p:txBody>
      </p:sp>
    </p:spTree>
    <p:extLst>
      <p:ext uri="{BB962C8B-B14F-4D97-AF65-F5344CB8AC3E}">
        <p14:creationId xmlns:p14="http://schemas.microsoft.com/office/powerpoint/2010/main" val="3556683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26</a:t>
            </a:fld>
            <a:endParaRPr kumimoji="1" lang="ja-JP" altLang="en-US"/>
          </a:p>
        </p:txBody>
      </p:sp>
    </p:spTree>
    <p:extLst>
      <p:ext uri="{BB962C8B-B14F-4D97-AF65-F5344CB8AC3E}">
        <p14:creationId xmlns:p14="http://schemas.microsoft.com/office/powerpoint/2010/main" val="3881346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48</a:t>
            </a:fld>
            <a:endParaRPr kumimoji="1" lang="ja-JP" altLang="en-US"/>
          </a:p>
        </p:txBody>
      </p:sp>
    </p:spTree>
    <p:extLst>
      <p:ext uri="{BB962C8B-B14F-4D97-AF65-F5344CB8AC3E}">
        <p14:creationId xmlns:p14="http://schemas.microsoft.com/office/powerpoint/2010/main" val="2181631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49</a:t>
            </a:fld>
            <a:endParaRPr kumimoji="1" lang="ja-JP" altLang="en-US"/>
          </a:p>
        </p:txBody>
      </p:sp>
    </p:spTree>
    <p:extLst>
      <p:ext uri="{BB962C8B-B14F-4D97-AF65-F5344CB8AC3E}">
        <p14:creationId xmlns:p14="http://schemas.microsoft.com/office/powerpoint/2010/main" val="3994003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52</a:t>
            </a:fld>
            <a:endParaRPr kumimoji="1" lang="ja-JP" altLang="en-US"/>
          </a:p>
        </p:txBody>
      </p:sp>
    </p:spTree>
    <p:extLst>
      <p:ext uri="{BB962C8B-B14F-4D97-AF65-F5344CB8AC3E}">
        <p14:creationId xmlns:p14="http://schemas.microsoft.com/office/powerpoint/2010/main" val="2995726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54</a:t>
            </a:fld>
            <a:endParaRPr kumimoji="1" lang="ja-JP" altLang="en-US"/>
          </a:p>
        </p:txBody>
      </p:sp>
    </p:spTree>
    <p:extLst>
      <p:ext uri="{BB962C8B-B14F-4D97-AF65-F5344CB8AC3E}">
        <p14:creationId xmlns:p14="http://schemas.microsoft.com/office/powerpoint/2010/main" val="1233509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61</a:t>
            </a:fld>
            <a:endParaRPr kumimoji="1" lang="ja-JP" altLang="en-US"/>
          </a:p>
        </p:txBody>
      </p:sp>
    </p:spTree>
    <p:extLst>
      <p:ext uri="{BB962C8B-B14F-4D97-AF65-F5344CB8AC3E}">
        <p14:creationId xmlns:p14="http://schemas.microsoft.com/office/powerpoint/2010/main" val="436349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66</a:t>
            </a:fld>
            <a:endParaRPr kumimoji="1" lang="ja-JP" altLang="en-US"/>
          </a:p>
        </p:txBody>
      </p:sp>
    </p:spTree>
    <p:extLst>
      <p:ext uri="{BB962C8B-B14F-4D97-AF65-F5344CB8AC3E}">
        <p14:creationId xmlns:p14="http://schemas.microsoft.com/office/powerpoint/2010/main" val="3386553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68</a:t>
            </a:fld>
            <a:endParaRPr kumimoji="1" lang="ja-JP" altLang="en-US"/>
          </a:p>
        </p:txBody>
      </p:sp>
    </p:spTree>
    <p:extLst>
      <p:ext uri="{BB962C8B-B14F-4D97-AF65-F5344CB8AC3E}">
        <p14:creationId xmlns:p14="http://schemas.microsoft.com/office/powerpoint/2010/main" val="688850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19150" y="161925"/>
            <a:ext cx="52197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69</a:t>
            </a:fld>
            <a:endParaRPr kumimoji="1" lang="ja-JP" altLang="en-US"/>
          </a:p>
        </p:txBody>
      </p:sp>
    </p:spTree>
    <p:extLst>
      <p:ext uri="{BB962C8B-B14F-4D97-AF65-F5344CB8AC3E}">
        <p14:creationId xmlns:p14="http://schemas.microsoft.com/office/powerpoint/2010/main" val="3676700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accent4"/>
        </a:solidFill>
        <a:effectLst/>
      </p:bgPr>
    </p:bg>
    <p:spTree>
      <p:nvGrpSpPr>
        <p:cNvPr id="1" name=""/>
        <p:cNvGrpSpPr/>
        <p:nvPr/>
      </p:nvGrpSpPr>
      <p:grpSpPr>
        <a:xfrm>
          <a:off x="0" y="0"/>
          <a:ext cx="0" cy="0"/>
          <a:chOff x="0" y="0"/>
          <a:chExt cx="0" cy="0"/>
        </a:xfrm>
      </p:grpSpPr>
      <p:sp>
        <p:nvSpPr>
          <p:cNvPr id="21" name="正方形/長方形 20"/>
          <p:cNvSpPr/>
          <p:nvPr/>
        </p:nvSpPr>
        <p:spPr bwMode="auto">
          <a:xfrm>
            <a:off x="0" y="0"/>
            <a:ext cx="9144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b="1">
              <a:solidFill>
                <a:schemeClr val="bg1"/>
              </a:solidFill>
            </a:endParaRPr>
          </a:p>
        </p:txBody>
      </p:sp>
      <p:sp>
        <p:nvSpPr>
          <p:cNvPr id="7170" name="Rectangle 2"/>
          <p:cNvSpPr>
            <a:spLocks noGrp="1" noChangeArrowheads="1"/>
          </p:cNvSpPr>
          <p:nvPr>
            <p:ph type="ctrTitle"/>
          </p:nvPr>
        </p:nvSpPr>
        <p:spPr>
          <a:xfrm>
            <a:off x="701958" y="278965"/>
            <a:ext cx="7920088" cy="2340026"/>
          </a:xfrm>
          <a:prstGeom prst="rect">
            <a:avLst/>
          </a:prstGeom>
        </p:spPr>
        <p:txBody>
          <a:bodyPr anchor="ctr"/>
          <a:lstStyle>
            <a:lvl1pPr algn="ctr">
              <a:defRPr sz="2400" b="1">
                <a:solidFill>
                  <a:schemeClr val="bg1"/>
                </a:solidFill>
              </a:defRPr>
            </a:lvl1pPr>
          </a:lstStyle>
          <a:p>
            <a:r>
              <a:rPr lang="ja-JP" altLang="en-US"/>
              <a:t>マスター タイトルの書式設定</a:t>
            </a:r>
          </a:p>
        </p:txBody>
      </p:sp>
      <p:sp>
        <p:nvSpPr>
          <p:cNvPr id="7171" name="Rectangle 3"/>
          <p:cNvSpPr>
            <a:spLocks noGrp="1" noChangeArrowheads="1"/>
          </p:cNvSpPr>
          <p:nvPr>
            <p:ph type="subTitle" idx="1"/>
          </p:nvPr>
        </p:nvSpPr>
        <p:spPr>
          <a:xfrm>
            <a:off x="1691968" y="4149009"/>
            <a:ext cx="7200080"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p>
        </p:txBody>
      </p:sp>
      <p:cxnSp>
        <p:nvCxnSpPr>
          <p:cNvPr id="6" name="直線コネクタ 5"/>
          <p:cNvCxnSpPr>
            <a:cxnSpLocks/>
          </p:cNvCxnSpPr>
          <p:nvPr/>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21028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11956" y="0"/>
            <a:ext cx="8532044"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8172040" y="6309032"/>
            <a:ext cx="720008"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611956" y="1088974"/>
            <a:ext cx="8280092"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7" name="Rectangle 20"/>
          <p:cNvSpPr>
            <a:spLocks noGrp="1" noChangeArrowheads="1"/>
          </p:cNvSpPr>
          <p:nvPr>
            <p:ph type="sldNum" sz="quarter" idx="4"/>
          </p:nvPr>
        </p:nvSpPr>
        <p:spPr bwMode="auto">
          <a:xfrm>
            <a:off x="8532044" y="6309032"/>
            <a:ext cx="611956"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428276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611956" y="2078985"/>
            <a:ext cx="7920088" cy="990011"/>
          </a:xfrm>
        </p:spPr>
        <p:txBody>
          <a:bodyPr anchor="b"/>
          <a:lstStyle>
            <a:lvl1pPr algn="ctr">
              <a:defRPr sz="3200" b="1"/>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4BFA6771-4A43-A7D9-54D9-CCBD4E6DE8B7}"/>
              </a:ext>
            </a:extLst>
          </p:cNvPr>
          <p:cNvCxnSpPr>
            <a:cxnSpLocks/>
          </p:cNvCxnSpPr>
          <p:nvPr userDrawn="1"/>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40970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66330124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611956" y="1088974"/>
            <a:ext cx="8280092"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159763313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4" name="フッター プレースホルダー 3"/>
          <p:cNvSpPr>
            <a:spLocks noGrp="1"/>
          </p:cNvSpPr>
          <p:nvPr>
            <p:ph type="ftr" sz="quarter" idx="11"/>
          </p:nvPr>
        </p:nvSpPr>
        <p:spPr>
          <a:xfrm>
            <a:off x="6732288" y="1"/>
            <a:ext cx="2411712" cy="278579"/>
          </a:xfrm>
          <a:prstGeom prst="rect">
            <a:avLst/>
          </a:prstGeom>
        </p:spPr>
        <p:txBody>
          <a:bodyPr/>
          <a:lstStyle/>
          <a:p>
            <a:r>
              <a:rPr lang="ja-JP" altLang="en-US"/>
              <a:t>ディジタル回路</a:t>
            </a:r>
            <a:endParaRPr lang="ja-JP" altLang="ja-JP"/>
          </a:p>
        </p:txBody>
      </p:sp>
      <p:sp>
        <p:nvSpPr>
          <p:cNvPr id="5" name="スライド番号プレースホルダー 4"/>
          <p:cNvSpPr>
            <a:spLocks noGrp="1"/>
          </p:cNvSpPr>
          <p:nvPr>
            <p:ph type="sldNum" sz="quarter" idx="12"/>
          </p:nvPr>
        </p:nvSpPr>
        <p:spPr>
          <a:xfrm>
            <a:off x="8783952" y="6482651"/>
            <a:ext cx="360048" cy="360048"/>
          </a:xfrm>
          <a:prstGeom prst="rect">
            <a:avLst/>
          </a:prstGeom>
        </p:spPr>
        <p:txBody>
          <a:bodyPr/>
          <a:lstStyle/>
          <a:p>
            <a:endParaRPr lang="ja-JP" altLang="ja-JP"/>
          </a:p>
        </p:txBody>
      </p:sp>
      <p:sp>
        <p:nvSpPr>
          <p:cNvPr id="8" name="コンテンツ プレースホルダー 7"/>
          <p:cNvSpPr>
            <a:spLocks noGrp="1"/>
          </p:cNvSpPr>
          <p:nvPr>
            <p:ph sz="quarter" idx="13"/>
          </p:nvPr>
        </p:nvSpPr>
        <p:spPr>
          <a:xfrm>
            <a:off x="251424" y="1268712"/>
            <a:ext cx="8641152"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36076702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611956" y="1088974"/>
            <a:ext cx="8280092" cy="52200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9144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22"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a:t>マスタ タイトルの書式設定</a:t>
            </a:r>
          </a:p>
        </p:txBody>
      </p:sp>
      <p:sp>
        <p:nvSpPr>
          <p:cNvPr id="6164" name="Rectangle 20"/>
          <p:cNvSpPr>
            <a:spLocks noGrp="1" noChangeArrowheads="1"/>
          </p:cNvSpPr>
          <p:nvPr>
            <p:ph type="sldNum" sz="quarter" idx="4"/>
          </p:nvPr>
        </p:nvSpPr>
        <p:spPr bwMode="auto">
          <a:xfrm>
            <a:off x="8172041" y="6309033"/>
            <a:ext cx="720008"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6" name="正方形/長方形 5"/>
          <p:cNvSpPr/>
          <p:nvPr/>
        </p:nvSpPr>
        <p:spPr bwMode="auto">
          <a:xfrm>
            <a:off x="0" y="0"/>
            <a:ext cx="9144000" cy="908972"/>
          </a:xfrm>
          <a:prstGeom prst="rect">
            <a:avLst/>
          </a:prstGeom>
          <a:solidFill>
            <a:srgbClr val="505B80"/>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2AF63CA2-9471-8B7B-FC2C-3C5E975D06B8}"/>
              </a:ext>
            </a:extLst>
          </p:cNvPr>
          <p:cNvSpPr/>
          <p:nvPr userDrawn="1"/>
        </p:nvSpPr>
        <p:spPr bwMode="auto">
          <a:xfrm>
            <a:off x="0" y="0"/>
            <a:ext cx="9144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18063063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71" r:id="rId5"/>
    <p:sldLayoutId id="2147483672" r:id="rId6"/>
    <p:sldLayoutId id="2147483673" r:id="rId7"/>
  </p:sldLayoutIdLst>
  <p:hf hdr="0" ftr="0" dt="0"/>
  <p:txStyles>
    <p:titleStyle>
      <a:lvl1pPr algn="l" rtl="0" eaLnBrk="1" fontAlgn="base" hangingPunct="1">
        <a:spcBef>
          <a:spcPct val="0"/>
        </a:spcBef>
        <a:spcAft>
          <a:spcPct val="0"/>
        </a:spcAft>
        <a:defRPr kumimoji="1" sz="21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team.inria.fr/pacap/members/andre-seznec/"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hyperlink" Target="https://github.com/shioya-lab/cpu-exercise"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ithub.com/shioyadan/Konata"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956" y="3969006"/>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kumimoji="1" lang="ja-JP" altLang="en-US" sz="3200" b="0" dirty="0"/>
          </a:p>
        </p:txBody>
      </p:sp>
      <p:sp>
        <p:nvSpPr>
          <p:cNvPr id="5" name="スライド番号プレースホルダー 4"/>
          <p:cNvSpPr>
            <a:spLocks noGrp="1"/>
          </p:cNvSpPr>
          <p:nvPr>
            <p:ph type="sldNum" sz="quarter" idx="4294967295"/>
          </p:nvPr>
        </p:nvSpPr>
        <p:spPr>
          <a:xfrm>
            <a:off x="8172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791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第６回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 </a:t>
            </a:r>
            <a:r>
              <a:rPr kumimoji="1" lang="en-US" altLang="ja-JP" dirty="0"/>
              <a:t>5</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sz="quarter" idx="10"/>
          </p:nvPr>
        </p:nvSpPr>
        <p:spPr>
          <a:xfrm>
            <a:off x="611956" y="1088975"/>
            <a:ext cx="8280092" cy="1800020"/>
          </a:xfrm>
        </p:spPr>
        <p:txBody>
          <a:bodyPr/>
          <a:lstStyle/>
          <a:p>
            <a:r>
              <a:rPr kumimoji="1" lang="ja-JP" altLang="en-US" dirty="0"/>
              <a:t>第４回の講義資料を参考に，</a:t>
            </a:r>
            <a:r>
              <a:rPr kumimoji="1" lang="en-US" altLang="ja-JP" dirty="0"/>
              <a:t>P</a:t>
            </a:r>
            <a:r>
              <a:rPr kumimoji="1" lang="ja-JP" altLang="en-US" dirty="0"/>
              <a:t>型</a:t>
            </a:r>
            <a:r>
              <a:rPr kumimoji="1" lang="en-US" altLang="ja-JP" dirty="0"/>
              <a:t>/N</a:t>
            </a:r>
            <a:r>
              <a:rPr kumimoji="1" lang="ja-JP" altLang="en-US" dirty="0"/>
              <a:t>型リレーを使って以下を構成せよ</a:t>
            </a:r>
            <a:endParaRPr kumimoji="1" lang="en-US" altLang="ja-JP" dirty="0"/>
          </a:p>
          <a:p>
            <a:pPr lvl="1"/>
            <a:r>
              <a:rPr kumimoji="1" lang="en-US" altLang="ja-JP" dirty="0"/>
              <a:t>2</a:t>
            </a:r>
            <a:r>
              <a:rPr kumimoji="1" lang="ja-JP" altLang="en-US" dirty="0"/>
              <a:t>入力 </a:t>
            </a:r>
            <a:r>
              <a:rPr kumimoji="1" lang="en-US" altLang="ja-JP" dirty="0"/>
              <a:t>OR </a:t>
            </a:r>
            <a:r>
              <a:rPr kumimoji="1" lang="ja-JP" altLang="en-US" dirty="0"/>
              <a:t>ゲート</a:t>
            </a:r>
            <a:endParaRPr kumimoji="1" lang="en-US" altLang="ja-JP" dirty="0"/>
          </a:p>
          <a:p>
            <a:pPr lvl="1"/>
            <a:r>
              <a:rPr kumimoji="1" lang="en-US" altLang="ja-JP" dirty="0"/>
              <a:t>3</a:t>
            </a:r>
            <a:r>
              <a:rPr kumimoji="1" lang="ja-JP" altLang="en-US" dirty="0"/>
              <a:t>入力 </a:t>
            </a:r>
            <a:r>
              <a:rPr kumimoji="1" lang="en-US" altLang="ja-JP" dirty="0"/>
              <a:t>NOR </a:t>
            </a:r>
            <a:r>
              <a:rPr kumimoji="1" lang="ja-JP" altLang="en-US" dirty="0"/>
              <a:t>ゲート</a:t>
            </a:r>
            <a:endParaRPr kumimoji="1" lang="en-US" dirty="0"/>
          </a:p>
        </p:txBody>
      </p:sp>
      <p:graphicFrame>
        <p:nvGraphicFramePr>
          <p:cNvPr id="5" name="Group 383">
            <a:extLst>
              <a:ext uri="{FF2B5EF4-FFF2-40B4-BE49-F238E27FC236}">
                <a16:creationId xmlns:a16="http://schemas.microsoft.com/office/drawing/2014/main" id="{C6EE2DA2-0FA7-FF62-3614-1F67927AD834}"/>
              </a:ext>
            </a:extLst>
          </p:cNvPr>
          <p:cNvGraphicFramePr>
            <a:graphicFrameLocks/>
          </p:cNvGraphicFramePr>
          <p:nvPr/>
        </p:nvGraphicFramePr>
        <p:xfrm>
          <a:off x="1691968" y="4149008"/>
          <a:ext cx="1439862" cy="212630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 name="Group 383">
            <a:extLst>
              <a:ext uri="{FF2B5EF4-FFF2-40B4-BE49-F238E27FC236}">
                <a16:creationId xmlns:a16="http://schemas.microsoft.com/office/drawing/2014/main" id="{21747D23-985E-B08A-6B51-C5177AD71F02}"/>
              </a:ext>
            </a:extLst>
          </p:cNvPr>
          <p:cNvGraphicFramePr>
            <a:graphicFrameLocks/>
          </p:cNvGraphicFramePr>
          <p:nvPr/>
        </p:nvGraphicFramePr>
        <p:xfrm>
          <a:off x="5292008" y="2438989"/>
          <a:ext cx="1800020" cy="3827340"/>
        </p:xfrm>
        <a:graphic>
          <a:graphicData uri="http://schemas.openxmlformats.org/drawingml/2006/table">
            <a:tbl>
              <a:tblPr/>
              <a:tblGrid>
                <a:gridCol w="449633">
                  <a:extLst>
                    <a:ext uri="{9D8B030D-6E8A-4147-A177-3AD203B41FA5}">
                      <a16:colId xmlns:a16="http://schemas.microsoft.com/office/drawing/2014/main" val="20000"/>
                    </a:ext>
                  </a:extLst>
                </a:gridCol>
                <a:gridCol w="449633">
                  <a:extLst>
                    <a:ext uri="{9D8B030D-6E8A-4147-A177-3AD203B41FA5}">
                      <a16:colId xmlns:a16="http://schemas.microsoft.com/office/drawing/2014/main" val="3764275717"/>
                    </a:ext>
                  </a:extLst>
                </a:gridCol>
                <a:gridCol w="451121">
                  <a:extLst>
                    <a:ext uri="{9D8B030D-6E8A-4147-A177-3AD203B41FA5}">
                      <a16:colId xmlns:a16="http://schemas.microsoft.com/office/drawing/2014/main" val="20001"/>
                    </a:ext>
                  </a:extLst>
                </a:gridCol>
                <a:gridCol w="449633">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c</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394704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6861046"/>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5953619"/>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3049196"/>
                  </a:ext>
                </a:extLst>
              </a:tr>
            </a:tbl>
          </a:graphicData>
        </a:graphic>
      </p:graphicFrame>
      <p:sp>
        <p:nvSpPr>
          <p:cNvPr id="7" name="Rectangle 93">
            <a:extLst>
              <a:ext uri="{FF2B5EF4-FFF2-40B4-BE49-F238E27FC236}">
                <a16:creationId xmlns:a16="http://schemas.microsoft.com/office/drawing/2014/main" id="{9D4AC7B8-F185-B842-708D-D6D181FC2F91}"/>
              </a:ext>
            </a:extLst>
          </p:cNvPr>
          <p:cNvSpPr>
            <a:spLocks noChangeArrowheads="1"/>
          </p:cNvSpPr>
          <p:nvPr/>
        </p:nvSpPr>
        <p:spPr bwMode="auto">
          <a:xfrm>
            <a:off x="1691968" y="3789004"/>
            <a:ext cx="1440016"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2</a:t>
            </a:r>
            <a:r>
              <a:rPr lang="ja-JP" altLang="en-US" b="0" i="0" dirty="0">
                <a:latin typeface="+mj-lt"/>
              </a:rPr>
              <a:t>入力 </a:t>
            </a:r>
            <a:r>
              <a:rPr lang="en-US" altLang="ja-JP" b="0" i="0" dirty="0">
                <a:latin typeface="+mj-lt"/>
              </a:rPr>
              <a:t>OR </a:t>
            </a:r>
            <a:r>
              <a:rPr lang="ja-JP" altLang="en-US" b="0" i="0" dirty="0">
                <a:latin typeface="+mj-lt"/>
              </a:rPr>
              <a:t>の真理値表</a:t>
            </a:r>
            <a:endParaRPr lang="en-US" altLang="ja-JP" dirty="0"/>
          </a:p>
        </p:txBody>
      </p:sp>
      <p:sp>
        <p:nvSpPr>
          <p:cNvPr id="8" name="Rectangle 93">
            <a:extLst>
              <a:ext uri="{FF2B5EF4-FFF2-40B4-BE49-F238E27FC236}">
                <a16:creationId xmlns:a16="http://schemas.microsoft.com/office/drawing/2014/main" id="{5CDE7D0B-84AB-7D41-1134-05AA7A12AA11}"/>
              </a:ext>
            </a:extLst>
          </p:cNvPr>
          <p:cNvSpPr>
            <a:spLocks noChangeArrowheads="1"/>
          </p:cNvSpPr>
          <p:nvPr/>
        </p:nvSpPr>
        <p:spPr bwMode="auto">
          <a:xfrm>
            <a:off x="5292008" y="2078985"/>
            <a:ext cx="1440016"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3</a:t>
            </a:r>
            <a:r>
              <a:rPr lang="ja-JP" altLang="en-US" b="0" i="0" dirty="0">
                <a:latin typeface="+mj-lt"/>
              </a:rPr>
              <a:t>入力 </a:t>
            </a:r>
            <a:r>
              <a:rPr lang="en-US" altLang="ja-JP" b="0" i="0" dirty="0">
                <a:latin typeface="+mj-lt"/>
              </a:rPr>
              <a:t>NOR </a:t>
            </a:r>
            <a:r>
              <a:rPr lang="ja-JP" altLang="en-US" b="0" i="0" dirty="0">
                <a:latin typeface="+mj-lt"/>
              </a:rPr>
              <a:t>の真理値表</a:t>
            </a:r>
            <a:endParaRPr lang="en-US" altLang="ja-JP" dirty="0"/>
          </a:p>
        </p:txBody>
      </p:sp>
    </p:spTree>
    <p:extLst>
      <p:ext uri="{BB962C8B-B14F-4D97-AF65-F5344CB8AC3E}">
        <p14:creationId xmlns:p14="http://schemas.microsoft.com/office/powerpoint/2010/main" val="1254323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9B63F4-296E-C976-103D-CD09F83B6EFB}"/>
              </a:ext>
            </a:extLst>
          </p:cNvPr>
          <p:cNvSpPr>
            <a:spLocks noGrp="1"/>
          </p:cNvSpPr>
          <p:nvPr>
            <p:ph type="title"/>
          </p:nvPr>
        </p:nvSpPr>
        <p:spPr/>
        <p:txBody>
          <a:bodyPr/>
          <a:lstStyle/>
          <a:p>
            <a:r>
              <a:rPr kumimoji="1" lang="en-US" altLang="ja-JP" dirty="0"/>
              <a:t>OR </a:t>
            </a:r>
            <a:r>
              <a:rPr kumimoji="1" lang="ja-JP" altLang="en-US" dirty="0"/>
              <a:t>の作り方</a:t>
            </a:r>
          </a:p>
        </p:txBody>
      </p:sp>
      <p:sp>
        <p:nvSpPr>
          <p:cNvPr id="3" name="コンテンツ プレースホルダー 2">
            <a:extLst>
              <a:ext uri="{FF2B5EF4-FFF2-40B4-BE49-F238E27FC236}">
                <a16:creationId xmlns:a16="http://schemas.microsoft.com/office/drawing/2014/main" id="{36B3688E-31A0-ADC1-326B-F7753E1363B4}"/>
              </a:ext>
            </a:extLst>
          </p:cNvPr>
          <p:cNvSpPr>
            <a:spLocks noGrp="1"/>
          </p:cNvSpPr>
          <p:nvPr>
            <p:ph sz="quarter" idx="10"/>
          </p:nvPr>
        </p:nvSpPr>
        <p:spPr/>
        <p:txBody>
          <a:bodyPr/>
          <a:lstStyle/>
          <a:p>
            <a:r>
              <a:rPr kumimoji="1" lang="en-US" altLang="ja-JP" dirty="0"/>
              <a:t>NOR </a:t>
            </a:r>
            <a:r>
              <a:rPr kumimoji="1" lang="ja-JP" altLang="en-US" dirty="0"/>
              <a:t>を作って </a:t>
            </a:r>
            <a:r>
              <a:rPr kumimoji="1" lang="en-US" altLang="ja-JP" dirty="0"/>
              <a:t>NOT </a:t>
            </a:r>
            <a:r>
              <a:rPr kumimoji="1" lang="ja-JP" altLang="en-US" dirty="0"/>
              <a:t>で反転する</a:t>
            </a:r>
            <a:endParaRPr kumimoji="1" lang="en-US" altLang="ja-JP" dirty="0"/>
          </a:p>
          <a:p>
            <a:pPr lvl="1"/>
            <a:r>
              <a:rPr lang="en-US" altLang="ja-JP" dirty="0"/>
              <a:t>NAND </a:t>
            </a:r>
            <a:r>
              <a:rPr lang="ja-JP" altLang="en-US" dirty="0"/>
              <a:t>を作って </a:t>
            </a:r>
            <a:r>
              <a:rPr lang="en-US" altLang="ja-JP" dirty="0"/>
              <a:t>NOT </a:t>
            </a:r>
            <a:r>
              <a:rPr lang="ja-JP" altLang="en-US" dirty="0"/>
              <a:t>で反転して </a:t>
            </a:r>
            <a:r>
              <a:rPr lang="en-US" altLang="ja-JP" dirty="0"/>
              <a:t>AND </a:t>
            </a:r>
            <a:r>
              <a:rPr lang="ja-JP" altLang="en-US" dirty="0"/>
              <a:t>を作ってたのと同じ</a:t>
            </a:r>
            <a:endParaRPr kumimoji="1" lang="ja-JP" altLang="en-US" dirty="0"/>
          </a:p>
        </p:txBody>
      </p:sp>
    </p:spTree>
    <p:extLst>
      <p:ext uri="{BB962C8B-B14F-4D97-AF65-F5344CB8AC3E}">
        <p14:creationId xmlns:p14="http://schemas.microsoft.com/office/powerpoint/2010/main" val="3038768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p:txBody>
          <a:bodyPr/>
          <a:lstStyle/>
          <a:p>
            <a:r>
              <a:rPr lang="en-US" altLang="ja-JP" sz="2400" dirty="0"/>
              <a:t>NOR</a:t>
            </a:r>
            <a:br>
              <a:rPr lang="en-US" altLang="ja-JP" sz="2400" dirty="0"/>
            </a:br>
            <a:r>
              <a:rPr lang="ja-JP" altLang="en-US" sz="2400" dirty="0"/>
              <a:t>（上が直列，下が並列）</a:t>
            </a:r>
            <a:endParaRPr lang="en-US" sz="2400"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1961971" y="3789004"/>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4121995" y="3789004"/>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a:stCxn id="215" idx="1"/>
          </p:cNvCxnSpPr>
          <p:nvPr/>
        </p:nvCxnSpPr>
        <p:spPr>
          <a:xfrm flipH="1">
            <a:off x="3491988" y="3429179"/>
            <a:ext cx="252002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3491988" y="3429000"/>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3491988" y="4869016"/>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4572000"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4572000" y="3068996"/>
            <a:ext cx="0" cy="360004"/>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2681979" y="108897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2771980"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1691968" y="432901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3851992" y="432901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6012016" y="324899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o</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4211996"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4301997" y="98963"/>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VDD</a:t>
              </a:r>
              <a:endParaRPr lang="en-US" altLang="ja-JP" dirty="0"/>
            </a:p>
          </p:txBody>
        </p:sp>
      </p:grpSp>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4573075" y="1628980"/>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40" name="グループ化 239">
            <a:extLst>
              <a:ext uri="{FF2B5EF4-FFF2-40B4-BE49-F238E27FC236}">
                <a16:creationId xmlns:a16="http://schemas.microsoft.com/office/drawing/2014/main" id="{64DC05BE-F391-47A1-1C07-B7685C59B819}"/>
              </a:ext>
            </a:extLst>
          </p:cNvPr>
          <p:cNvGrpSpPr/>
          <p:nvPr/>
        </p:nvGrpSpPr>
        <p:grpSpPr>
          <a:xfrm>
            <a:off x="3041983" y="548968"/>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3041983" y="1988984"/>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cxnSp>
        <p:nvCxnSpPr>
          <p:cNvPr id="9" name="直線コネクタ 8">
            <a:extLst>
              <a:ext uri="{FF2B5EF4-FFF2-40B4-BE49-F238E27FC236}">
                <a16:creationId xmlns:a16="http://schemas.microsoft.com/office/drawing/2014/main" id="{BE626DDC-E1E6-1491-C06E-3A2D48D944E1}"/>
              </a:ext>
            </a:extLst>
          </p:cNvPr>
          <p:cNvCxnSpPr>
            <a:cxnSpLocks/>
          </p:cNvCxnSpPr>
          <p:nvPr/>
        </p:nvCxnSpPr>
        <p:spPr>
          <a:xfrm flipV="1">
            <a:off x="5652012" y="4869016"/>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7250FBB7-7AE9-28D9-000E-39D8529F6537}"/>
              </a:ext>
            </a:extLst>
          </p:cNvPr>
          <p:cNvCxnSpPr>
            <a:cxnSpLocks/>
          </p:cNvCxnSpPr>
          <p:nvPr/>
        </p:nvCxnSpPr>
        <p:spPr>
          <a:xfrm flipH="1">
            <a:off x="3491988" y="5589024"/>
            <a:ext cx="216002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8A01C456-DA11-8D37-079A-1F3EF23CF96E}"/>
              </a:ext>
            </a:extLst>
          </p:cNvPr>
          <p:cNvCxnSpPr>
            <a:cxnSpLocks/>
          </p:cNvCxnSpPr>
          <p:nvPr/>
        </p:nvCxnSpPr>
        <p:spPr>
          <a:xfrm>
            <a:off x="5652012" y="3429000"/>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graphicFrame>
        <p:nvGraphicFramePr>
          <p:cNvPr id="19" name="Group 383">
            <a:extLst>
              <a:ext uri="{FF2B5EF4-FFF2-40B4-BE49-F238E27FC236}">
                <a16:creationId xmlns:a16="http://schemas.microsoft.com/office/drawing/2014/main" id="{62ECB2AE-E83D-EFD2-137A-C5A39C410F46}"/>
              </a:ext>
            </a:extLst>
          </p:cNvPr>
          <p:cNvGraphicFramePr>
            <a:graphicFrameLocks/>
          </p:cNvGraphicFramePr>
          <p:nvPr/>
        </p:nvGraphicFramePr>
        <p:xfrm>
          <a:off x="6012016" y="548968"/>
          <a:ext cx="1439862" cy="212630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0" name="Rectangle 93">
            <a:extLst>
              <a:ext uri="{FF2B5EF4-FFF2-40B4-BE49-F238E27FC236}">
                <a16:creationId xmlns:a16="http://schemas.microsoft.com/office/drawing/2014/main" id="{3CDA0251-3A2F-176D-4640-459A02B2C3FC}"/>
              </a:ext>
            </a:extLst>
          </p:cNvPr>
          <p:cNvSpPr>
            <a:spLocks noChangeArrowheads="1"/>
          </p:cNvSpPr>
          <p:nvPr/>
        </p:nvSpPr>
        <p:spPr bwMode="auto">
          <a:xfrm>
            <a:off x="6012016" y="188964"/>
            <a:ext cx="1440016"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2</a:t>
            </a:r>
            <a:r>
              <a:rPr lang="ja-JP" altLang="en-US" b="0" i="0" dirty="0">
                <a:latin typeface="+mj-lt"/>
              </a:rPr>
              <a:t>入力 </a:t>
            </a:r>
            <a:r>
              <a:rPr lang="en-US" altLang="ja-JP" b="0" i="0" dirty="0">
                <a:latin typeface="+mj-lt"/>
              </a:rPr>
              <a:t>NOR </a:t>
            </a:r>
            <a:r>
              <a:rPr lang="ja-JP" altLang="en-US" b="0" i="0" dirty="0">
                <a:latin typeface="+mj-lt"/>
              </a:rPr>
              <a:t>の真理値表</a:t>
            </a:r>
            <a:endParaRPr lang="en-US" altLang="ja-JP" dirty="0"/>
          </a:p>
        </p:txBody>
      </p:sp>
    </p:spTree>
    <p:extLst>
      <p:ext uri="{BB962C8B-B14F-4D97-AF65-F5344CB8AC3E}">
        <p14:creationId xmlns:p14="http://schemas.microsoft.com/office/powerpoint/2010/main" val="4202592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a:xfrm>
            <a:off x="3761991" y="0"/>
            <a:ext cx="5382010" cy="908972"/>
          </a:xfrm>
        </p:spPr>
        <p:txBody>
          <a:bodyPr/>
          <a:lstStyle/>
          <a:p>
            <a:r>
              <a:rPr lang="en-US" sz="2400" dirty="0"/>
              <a:t>NOR </a:t>
            </a:r>
            <a:r>
              <a:rPr lang="ja-JP" altLang="en-US" sz="2400" dirty="0"/>
              <a:t>の後ろに </a:t>
            </a:r>
            <a:r>
              <a:rPr lang="en-US" altLang="ja-JP" sz="2400" dirty="0"/>
              <a:t>NOT </a:t>
            </a:r>
            <a:r>
              <a:rPr lang="ja-JP" altLang="en-US" sz="2400" dirty="0"/>
              <a:t>を接続</a:t>
            </a:r>
            <a:endParaRPr lang="en-US" sz="2400"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521955" y="3789004"/>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2681979" y="3789004"/>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2051972" y="3429000"/>
            <a:ext cx="2520028" cy="0"/>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2051972" y="3429000"/>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2051972" y="4869016"/>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3131984"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3131984" y="3068996"/>
            <a:ext cx="0" cy="360004"/>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1241963" y="108897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1331964"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251952" y="432901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2411976" y="432901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6642023" y="324899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o</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2771980"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2861981" y="98963"/>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VDD</a:t>
              </a:r>
              <a:endParaRPr lang="en-US" altLang="ja-JP" dirty="0"/>
            </a:p>
          </p:txBody>
        </p:sp>
      </p:grpSp>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3133059" y="1628980"/>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40" name="グループ化 239">
            <a:extLst>
              <a:ext uri="{FF2B5EF4-FFF2-40B4-BE49-F238E27FC236}">
                <a16:creationId xmlns:a16="http://schemas.microsoft.com/office/drawing/2014/main" id="{64DC05BE-F391-47A1-1C07-B7685C59B819}"/>
              </a:ext>
            </a:extLst>
          </p:cNvPr>
          <p:cNvGrpSpPr/>
          <p:nvPr/>
        </p:nvGrpSpPr>
        <p:grpSpPr>
          <a:xfrm>
            <a:off x="1601967" y="548968"/>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1601967" y="1988984"/>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cxnSp>
        <p:nvCxnSpPr>
          <p:cNvPr id="9" name="直線コネクタ 8">
            <a:extLst>
              <a:ext uri="{FF2B5EF4-FFF2-40B4-BE49-F238E27FC236}">
                <a16:creationId xmlns:a16="http://schemas.microsoft.com/office/drawing/2014/main" id="{BE626DDC-E1E6-1491-C06E-3A2D48D944E1}"/>
              </a:ext>
            </a:extLst>
          </p:cNvPr>
          <p:cNvCxnSpPr>
            <a:cxnSpLocks/>
          </p:cNvCxnSpPr>
          <p:nvPr/>
        </p:nvCxnSpPr>
        <p:spPr>
          <a:xfrm flipV="1">
            <a:off x="4211996" y="4869016"/>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7250FBB7-7AE9-28D9-000E-39D8529F6537}"/>
              </a:ext>
            </a:extLst>
          </p:cNvPr>
          <p:cNvCxnSpPr>
            <a:cxnSpLocks/>
          </p:cNvCxnSpPr>
          <p:nvPr/>
        </p:nvCxnSpPr>
        <p:spPr>
          <a:xfrm flipH="1">
            <a:off x="2051972" y="5589024"/>
            <a:ext cx="216002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8A01C456-DA11-8D37-079A-1F3EF23CF96E}"/>
              </a:ext>
            </a:extLst>
          </p:cNvPr>
          <p:cNvCxnSpPr>
            <a:cxnSpLocks/>
          </p:cNvCxnSpPr>
          <p:nvPr/>
        </p:nvCxnSpPr>
        <p:spPr>
          <a:xfrm>
            <a:off x="4211996" y="3429000"/>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graphicFrame>
        <p:nvGraphicFramePr>
          <p:cNvPr id="19" name="Group 383">
            <a:extLst>
              <a:ext uri="{FF2B5EF4-FFF2-40B4-BE49-F238E27FC236}">
                <a16:creationId xmlns:a16="http://schemas.microsoft.com/office/drawing/2014/main" id="{62ECB2AE-E83D-EFD2-137A-C5A39C410F46}"/>
              </a:ext>
            </a:extLst>
          </p:cNvPr>
          <p:cNvGraphicFramePr>
            <a:graphicFrameLocks/>
          </p:cNvGraphicFramePr>
          <p:nvPr>
            <p:extLst>
              <p:ext uri="{D42A27DB-BD31-4B8C-83A1-F6EECF244321}">
                <p14:modId xmlns:p14="http://schemas.microsoft.com/office/powerpoint/2010/main" val="728172136"/>
              </p:ext>
            </p:extLst>
          </p:nvPr>
        </p:nvGraphicFramePr>
        <p:xfrm>
          <a:off x="6732024" y="4509012"/>
          <a:ext cx="1439862" cy="212630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0" name="Rectangle 93">
            <a:extLst>
              <a:ext uri="{FF2B5EF4-FFF2-40B4-BE49-F238E27FC236}">
                <a16:creationId xmlns:a16="http://schemas.microsoft.com/office/drawing/2014/main" id="{3CDA0251-3A2F-176D-4640-459A02B2C3FC}"/>
              </a:ext>
            </a:extLst>
          </p:cNvPr>
          <p:cNvSpPr>
            <a:spLocks noChangeArrowheads="1"/>
          </p:cNvSpPr>
          <p:nvPr/>
        </p:nvSpPr>
        <p:spPr bwMode="auto">
          <a:xfrm>
            <a:off x="6732024" y="4149008"/>
            <a:ext cx="1440016"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2</a:t>
            </a:r>
            <a:r>
              <a:rPr lang="ja-JP" altLang="en-US" b="0" i="0" dirty="0">
                <a:latin typeface="+mj-lt"/>
              </a:rPr>
              <a:t>入力 </a:t>
            </a:r>
            <a:r>
              <a:rPr lang="en-US" altLang="ja-JP" b="0" i="0" dirty="0">
                <a:latin typeface="+mj-lt"/>
              </a:rPr>
              <a:t>OR </a:t>
            </a:r>
            <a:r>
              <a:rPr lang="ja-JP" altLang="en-US" b="0" i="0" dirty="0">
                <a:latin typeface="+mj-lt"/>
              </a:rPr>
              <a:t>の真理値表</a:t>
            </a:r>
            <a:endParaRPr lang="en-US" altLang="ja-JP" dirty="0"/>
          </a:p>
        </p:txBody>
      </p:sp>
      <p:grpSp>
        <p:nvGrpSpPr>
          <p:cNvPr id="5" name="グループ化 4">
            <a:extLst>
              <a:ext uri="{FF2B5EF4-FFF2-40B4-BE49-F238E27FC236}">
                <a16:creationId xmlns:a16="http://schemas.microsoft.com/office/drawing/2014/main" id="{2E8847E4-79EF-FD88-3196-7410422A4F57}"/>
              </a:ext>
            </a:extLst>
          </p:cNvPr>
          <p:cNvGrpSpPr/>
          <p:nvPr/>
        </p:nvGrpSpPr>
        <p:grpSpPr>
          <a:xfrm>
            <a:off x="4481999" y="3789004"/>
            <a:ext cx="1531092" cy="1440374"/>
            <a:chOff x="5202007" y="3068996"/>
            <a:chExt cx="1531092" cy="1440374"/>
          </a:xfrm>
        </p:grpSpPr>
        <p:sp>
          <p:nvSpPr>
            <p:cNvPr id="6" name="正方形/長方形 5">
              <a:extLst>
                <a:ext uri="{FF2B5EF4-FFF2-40B4-BE49-F238E27FC236}">
                  <a16:creationId xmlns:a16="http://schemas.microsoft.com/office/drawing/2014/main" id="{568877B9-0BD5-312E-FFD5-D7B9FB86F6B2}"/>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7" name="円/楕円 69">
              <a:extLst>
                <a:ext uri="{FF2B5EF4-FFF2-40B4-BE49-F238E27FC236}">
                  <a16:creationId xmlns:a16="http://schemas.microsoft.com/office/drawing/2014/main" id="{9AC8BBF2-243F-58FE-0E89-F68F801A508F}"/>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8" name="直線コネクタ 7">
              <a:extLst>
                <a:ext uri="{FF2B5EF4-FFF2-40B4-BE49-F238E27FC236}">
                  <a16:creationId xmlns:a16="http://schemas.microsoft.com/office/drawing/2014/main" id="{ADAF55C4-0782-0184-7535-7099EE534EE6}"/>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AC578396-A651-EC2E-49C7-25E368404990}"/>
                </a:ext>
              </a:extLst>
            </p:cNvPr>
            <p:cNvCxnSpPr>
              <a:cxnSpLocks/>
              <a:endCxn id="12"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2" name="円/楕円 68">
              <a:extLst>
                <a:ext uri="{FF2B5EF4-FFF2-40B4-BE49-F238E27FC236}">
                  <a16:creationId xmlns:a16="http://schemas.microsoft.com/office/drawing/2014/main" id="{D6372B10-DACC-E36B-67FD-38EDF88AB07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4" name="直線コネクタ 13">
              <a:extLst>
                <a:ext uri="{FF2B5EF4-FFF2-40B4-BE49-F238E27FC236}">
                  <a16:creationId xmlns:a16="http://schemas.microsoft.com/office/drawing/2014/main" id="{0CD695D6-0F13-4A7D-8B2E-8036DC84E5BF}"/>
                </a:ext>
              </a:extLst>
            </p:cNvPr>
            <p:cNvCxnSpPr>
              <a:cxnSpLocks/>
              <a:endCxn id="7"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247A7B8-5A56-C0C8-ED63-0D938A478507}"/>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6" name="Rectangle 93">
              <a:extLst>
                <a:ext uri="{FF2B5EF4-FFF2-40B4-BE49-F238E27FC236}">
                  <a16:creationId xmlns:a16="http://schemas.microsoft.com/office/drawing/2014/main" id="{BCADEE99-84B7-B006-B902-8A66CB90CA12}"/>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7" name="Rectangle 93">
              <a:extLst>
                <a:ext uri="{FF2B5EF4-FFF2-40B4-BE49-F238E27FC236}">
                  <a16:creationId xmlns:a16="http://schemas.microsoft.com/office/drawing/2014/main" id="{479E7F62-7270-C922-736C-B99FA33DAB9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8" name="Rectangle 93">
              <a:extLst>
                <a:ext uri="{FF2B5EF4-FFF2-40B4-BE49-F238E27FC236}">
                  <a16:creationId xmlns:a16="http://schemas.microsoft.com/office/drawing/2014/main" id="{F8B5BB63-A13A-26CC-7334-DCD64899BB9C}"/>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21" name="直線コネクタ 20">
              <a:extLst>
                <a:ext uri="{FF2B5EF4-FFF2-40B4-BE49-F238E27FC236}">
                  <a16:creationId xmlns:a16="http://schemas.microsoft.com/office/drawing/2014/main" id="{50F4D593-8132-CCEC-B04C-8F28323268FD}"/>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2808E7C-630A-008F-B3BD-80B156B2C6F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4" name="グループ化 23">
            <a:extLst>
              <a:ext uri="{FF2B5EF4-FFF2-40B4-BE49-F238E27FC236}">
                <a16:creationId xmlns:a16="http://schemas.microsoft.com/office/drawing/2014/main" id="{BC0787B9-840F-2899-AA0B-1ED03ABEF98A}"/>
              </a:ext>
            </a:extLst>
          </p:cNvPr>
          <p:cNvGrpSpPr/>
          <p:nvPr/>
        </p:nvGrpSpPr>
        <p:grpSpPr>
          <a:xfrm>
            <a:off x="4481999" y="1628980"/>
            <a:ext cx="1531092" cy="1440374"/>
            <a:chOff x="5202007" y="2708992"/>
            <a:chExt cx="1531092" cy="1440374"/>
          </a:xfrm>
        </p:grpSpPr>
        <p:grpSp>
          <p:nvGrpSpPr>
            <p:cNvPr id="26" name="グループ化 25">
              <a:extLst>
                <a:ext uri="{FF2B5EF4-FFF2-40B4-BE49-F238E27FC236}">
                  <a16:creationId xmlns:a16="http://schemas.microsoft.com/office/drawing/2014/main" id="{1ACEC345-DD7F-CF48-9F3B-1C32E50B3158}"/>
                </a:ext>
              </a:extLst>
            </p:cNvPr>
            <p:cNvGrpSpPr/>
            <p:nvPr/>
          </p:nvGrpSpPr>
          <p:grpSpPr>
            <a:xfrm>
              <a:off x="5202007" y="2708992"/>
              <a:ext cx="1531092" cy="1440374"/>
              <a:chOff x="5202007" y="3068996"/>
              <a:chExt cx="1531092" cy="1440374"/>
            </a:xfrm>
          </p:grpSpPr>
          <p:sp>
            <p:nvSpPr>
              <p:cNvPr id="31" name="正方形/長方形 30">
                <a:extLst>
                  <a:ext uri="{FF2B5EF4-FFF2-40B4-BE49-F238E27FC236}">
                    <a16:creationId xmlns:a16="http://schemas.microsoft.com/office/drawing/2014/main" id="{123A6700-5217-5E1C-7507-9A5789C7EFB3}"/>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32" name="円/楕円 69">
                <a:extLst>
                  <a:ext uri="{FF2B5EF4-FFF2-40B4-BE49-F238E27FC236}">
                    <a16:creationId xmlns:a16="http://schemas.microsoft.com/office/drawing/2014/main" id="{6E638B25-0FD8-A40C-3D66-406C6F10706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33" name="直線コネクタ 32">
                <a:extLst>
                  <a:ext uri="{FF2B5EF4-FFF2-40B4-BE49-F238E27FC236}">
                    <a16:creationId xmlns:a16="http://schemas.microsoft.com/office/drawing/2014/main" id="{8B30FBFC-CB7C-F9F9-B40D-151FF7121327}"/>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82430F28-B909-095C-176B-BEE890699589}"/>
                  </a:ext>
                </a:extLst>
              </p:cNvPr>
              <p:cNvCxnSpPr>
                <a:cxnSpLocks/>
                <a:endCxn id="35"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5" name="円/楕円 68">
                <a:extLst>
                  <a:ext uri="{FF2B5EF4-FFF2-40B4-BE49-F238E27FC236}">
                    <a16:creationId xmlns:a16="http://schemas.microsoft.com/office/drawing/2014/main" id="{9EBCAF84-4F81-4EAD-C3DB-457E22373E06}"/>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36" name="直線コネクタ 35">
                <a:extLst>
                  <a:ext uri="{FF2B5EF4-FFF2-40B4-BE49-F238E27FC236}">
                    <a16:creationId xmlns:a16="http://schemas.microsoft.com/office/drawing/2014/main" id="{EB48BE00-845E-DB65-8B7A-889C0AE316E4}"/>
                  </a:ext>
                </a:extLst>
              </p:cNvPr>
              <p:cNvCxnSpPr>
                <a:cxnSpLocks/>
                <a:endCxn id="3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3C2B0795-7FF0-1E00-4FAB-DE108B0697B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8" name="Rectangle 93">
                <a:extLst>
                  <a:ext uri="{FF2B5EF4-FFF2-40B4-BE49-F238E27FC236}">
                    <a16:creationId xmlns:a16="http://schemas.microsoft.com/office/drawing/2014/main" id="{2519FA81-0CDB-72F9-0EDD-60E320DDAFFE}"/>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9" name="Rectangle 93">
                <a:extLst>
                  <a:ext uri="{FF2B5EF4-FFF2-40B4-BE49-F238E27FC236}">
                    <a16:creationId xmlns:a16="http://schemas.microsoft.com/office/drawing/2014/main" id="{95080C57-AE6A-9407-DB7A-13DDD15DB0A3}"/>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40" name="Rectangle 93">
                <a:extLst>
                  <a:ext uri="{FF2B5EF4-FFF2-40B4-BE49-F238E27FC236}">
                    <a16:creationId xmlns:a16="http://schemas.microsoft.com/office/drawing/2014/main" id="{8E4E4A41-F714-ED0B-5225-31C9C58608F5}"/>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41" name="直線コネクタ 40">
                <a:extLst>
                  <a:ext uri="{FF2B5EF4-FFF2-40B4-BE49-F238E27FC236}">
                    <a16:creationId xmlns:a16="http://schemas.microsoft.com/office/drawing/2014/main" id="{426031EC-8AB3-CBB1-A43C-F9161F51EFD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0648C677-080E-2E40-9117-3DF02767285D}"/>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30" name="円/楕円 69">
              <a:extLst>
                <a:ext uri="{FF2B5EF4-FFF2-40B4-BE49-F238E27FC236}">
                  <a16:creationId xmlns:a16="http://schemas.microsoft.com/office/drawing/2014/main" id="{C279BC8E-6E16-292D-371B-7972BEAADA8F}"/>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cxnSp>
        <p:nvCxnSpPr>
          <p:cNvPr id="43" name="直線コネクタ 42">
            <a:extLst>
              <a:ext uri="{FF2B5EF4-FFF2-40B4-BE49-F238E27FC236}">
                <a16:creationId xmlns:a16="http://schemas.microsoft.com/office/drawing/2014/main" id="{653B72C1-0BAC-3A75-B255-06762DC1DC20}"/>
              </a:ext>
            </a:extLst>
          </p:cNvPr>
          <p:cNvCxnSpPr>
            <a:cxnSpLocks/>
          </p:cNvCxnSpPr>
          <p:nvPr/>
        </p:nvCxnSpPr>
        <p:spPr>
          <a:xfrm>
            <a:off x="4572000" y="2348988"/>
            <a:ext cx="0" cy="2160024"/>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67899A2F-344B-09E5-78A7-7153FF6D87BD}"/>
              </a:ext>
            </a:extLst>
          </p:cNvPr>
          <p:cNvCxnSpPr>
            <a:cxnSpLocks/>
          </p:cNvCxnSpPr>
          <p:nvPr/>
        </p:nvCxnSpPr>
        <p:spPr>
          <a:xfrm>
            <a:off x="6012016" y="2708992"/>
            <a:ext cx="0" cy="144001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178FAA0-80EE-AF21-E433-35628491A475}"/>
              </a:ext>
            </a:extLst>
          </p:cNvPr>
          <p:cNvCxnSpPr>
            <a:cxnSpLocks/>
          </p:cNvCxnSpPr>
          <p:nvPr/>
        </p:nvCxnSpPr>
        <p:spPr>
          <a:xfrm flipH="1">
            <a:off x="6012016" y="3429000"/>
            <a:ext cx="720008" cy="0"/>
          </a:xfrm>
          <a:prstGeom prst="line">
            <a:avLst/>
          </a:prstGeom>
          <a:ln w="6350" cap="rnd">
            <a:solidFill>
              <a:srgbClr val="000000"/>
            </a:solidFill>
            <a:headEnd type="none" w="sm" len="sm"/>
            <a:tailEnd type="oval"/>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57D1CCA9-3659-5916-6D20-0D13EAB638F8}"/>
              </a:ext>
            </a:extLst>
          </p:cNvPr>
          <p:cNvGrpSpPr/>
          <p:nvPr/>
        </p:nvGrpSpPr>
        <p:grpSpPr>
          <a:xfrm>
            <a:off x="5742013" y="1178975"/>
            <a:ext cx="450049" cy="810009"/>
            <a:chOff x="7362031" y="2528632"/>
            <a:chExt cx="450049" cy="810009"/>
          </a:xfrm>
        </p:grpSpPr>
        <p:cxnSp>
          <p:nvCxnSpPr>
            <p:cNvPr id="51" name="直線コネクタ 50">
              <a:extLst>
                <a:ext uri="{FF2B5EF4-FFF2-40B4-BE49-F238E27FC236}">
                  <a16:creationId xmlns:a16="http://schemas.microsoft.com/office/drawing/2014/main" id="{7B0D0A2A-D309-4902-0BE5-D8838278EB7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BB65BF67-D005-1F2D-9DB0-8AC780A9669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53" name="Rectangle 93">
              <a:extLst>
                <a:ext uri="{FF2B5EF4-FFF2-40B4-BE49-F238E27FC236}">
                  <a16:creationId xmlns:a16="http://schemas.microsoft.com/office/drawing/2014/main" id="{9B52DC1E-4C0C-2F3A-C951-A24DD69847C8}"/>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VDD</a:t>
              </a:r>
              <a:endParaRPr lang="en-US" altLang="ja-JP" dirty="0"/>
            </a:p>
          </p:txBody>
        </p:sp>
      </p:grpSp>
      <p:grpSp>
        <p:nvGrpSpPr>
          <p:cNvPr id="54" name="グループ化 53">
            <a:extLst>
              <a:ext uri="{FF2B5EF4-FFF2-40B4-BE49-F238E27FC236}">
                <a16:creationId xmlns:a16="http://schemas.microsoft.com/office/drawing/2014/main" id="{5C88E42F-7328-C611-BBAD-2E5B1B7555B0}"/>
              </a:ext>
            </a:extLst>
          </p:cNvPr>
          <p:cNvGrpSpPr/>
          <p:nvPr/>
        </p:nvGrpSpPr>
        <p:grpSpPr>
          <a:xfrm>
            <a:off x="5652012" y="4869016"/>
            <a:ext cx="450005" cy="900368"/>
            <a:chOff x="7272030" y="5768668"/>
            <a:chExt cx="450005" cy="900368"/>
          </a:xfrm>
        </p:grpSpPr>
        <p:grpSp>
          <p:nvGrpSpPr>
            <p:cNvPr id="55" name="グループ化 152">
              <a:extLst>
                <a:ext uri="{FF2B5EF4-FFF2-40B4-BE49-F238E27FC236}">
                  <a16:creationId xmlns:a16="http://schemas.microsoft.com/office/drawing/2014/main" id="{12D53C54-DAAD-D812-852A-90812EAEA6D5}"/>
                </a:ext>
              </a:extLst>
            </p:cNvPr>
            <p:cNvGrpSpPr/>
            <p:nvPr/>
          </p:nvGrpSpPr>
          <p:grpSpPr>
            <a:xfrm>
              <a:off x="7542033" y="6218673"/>
              <a:ext cx="180002" cy="90001"/>
              <a:chOff x="3643306" y="4500570"/>
              <a:chExt cx="428628" cy="144464"/>
            </a:xfrm>
          </p:grpSpPr>
          <p:cxnSp>
            <p:nvCxnSpPr>
              <p:cNvPr id="58" name="直線コネクタ 57">
                <a:extLst>
                  <a:ext uri="{FF2B5EF4-FFF2-40B4-BE49-F238E27FC236}">
                    <a16:creationId xmlns:a16="http://schemas.microsoft.com/office/drawing/2014/main" id="{E8B97059-13F9-00BD-0046-DA222AC20607}"/>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59" name="直線コネクタ 58">
                <a:extLst>
                  <a:ext uri="{FF2B5EF4-FFF2-40B4-BE49-F238E27FC236}">
                    <a16:creationId xmlns:a16="http://schemas.microsoft.com/office/drawing/2014/main" id="{79C38C9D-0674-9C80-980F-21C70F82FB9C}"/>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60" name="直線コネクタ 59">
                <a:extLst>
                  <a:ext uri="{FF2B5EF4-FFF2-40B4-BE49-F238E27FC236}">
                    <a16:creationId xmlns:a16="http://schemas.microsoft.com/office/drawing/2014/main" id="{5C1C7909-A2B5-AEA8-A2FF-C087150D031E}"/>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56" name="直線コネクタ 55">
              <a:extLst>
                <a:ext uri="{FF2B5EF4-FFF2-40B4-BE49-F238E27FC236}">
                  <a16:creationId xmlns:a16="http://schemas.microsoft.com/office/drawing/2014/main" id="{889DD046-2861-5309-6A84-07E9F070296E}"/>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7" name="Rectangle 93">
              <a:extLst>
                <a:ext uri="{FF2B5EF4-FFF2-40B4-BE49-F238E27FC236}">
                  <a16:creationId xmlns:a16="http://schemas.microsoft.com/office/drawing/2014/main" id="{C775139E-0212-ED91-621A-71DE77A16354}"/>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spTree>
    <p:extLst>
      <p:ext uri="{BB962C8B-B14F-4D97-AF65-F5344CB8AC3E}">
        <p14:creationId xmlns:p14="http://schemas.microsoft.com/office/powerpoint/2010/main" val="537251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p:txBody>
          <a:bodyPr/>
          <a:lstStyle/>
          <a:p>
            <a:r>
              <a:rPr lang="en-US" altLang="ja-JP" sz="2400" dirty="0"/>
              <a:t>3</a:t>
            </a:r>
            <a:r>
              <a:rPr lang="ja-JP" altLang="en-US" sz="2400" dirty="0"/>
              <a:t>入力</a:t>
            </a:r>
            <a:r>
              <a:rPr lang="en-US" altLang="ja-JP" sz="2400" dirty="0"/>
              <a:t>NOR</a:t>
            </a:r>
            <a:endParaRPr lang="en-US" sz="2400" dirty="0"/>
          </a:p>
        </p:txBody>
      </p: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6372020" y="4069289"/>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4662001" y="739252"/>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4662001" y="2089267"/>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2861981" y="4879298"/>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4662001" y="4969299"/>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4301997" y="5509305"/>
            <a:ext cx="351390" cy="690990"/>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6155624" y="19244"/>
            <a:ext cx="351424" cy="621644"/>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VDD</a:t>
              </a:r>
              <a:endParaRPr lang="en-US" altLang="ja-JP" dirty="0"/>
            </a:p>
          </p:txBody>
        </p:sp>
      </p:grpSp>
      <p:sp>
        <p:nvSpPr>
          <p:cNvPr id="21" name="Rectangle 93">
            <a:extLst>
              <a:ext uri="{FF2B5EF4-FFF2-40B4-BE49-F238E27FC236}">
                <a16:creationId xmlns:a16="http://schemas.microsoft.com/office/drawing/2014/main" id="{5E578341-A058-93B0-8D57-5319D5324222}"/>
              </a:ext>
            </a:extLst>
          </p:cNvPr>
          <p:cNvSpPr>
            <a:spLocks noChangeArrowheads="1"/>
          </p:cNvSpPr>
          <p:nvPr/>
        </p:nvSpPr>
        <p:spPr bwMode="auto">
          <a:xfrm>
            <a:off x="6462021" y="4969299"/>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sp>
        <p:nvSpPr>
          <p:cNvPr id="24" name="Rectangle 93">
            <a:extLst>
              <a:ext uri="{FF2B5EF4-FFF2-40B4-BE49-F238E27FC236}">
                <a16:creationId xmlns:a16="http://schemas.microsoft.com/office/drawing/2014/main" id="{AADB9144-3066-515A-6A3D-E9426AD5E0A0}"/>
              </a:ext>
            </a:extLst>
          </p:cNvPr>
          <p:cNvSpPr>
            <a:spLocks noChangeArrowheads="1"/>
          </p:cNvSpPr>
          <p:nvPr/>
        </p:nvSpPr>
        <p:spPr bwMode="auto">
          <a:xfrm>
            <a:off x="4662001" y="3439282"/>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sp>
        <p:nvSpPr>
          <p:cNvPr id="49" name="Rectangle 93">
            <a:extLst>
              <a:ext uri="{FF2B5EF4-FFF2-40B4-BE49-F238E27FC236}">
                <a16:creationId xmlns:a16="http://schemas.microsoft.com/office/drawing/2014/main" id="{08FF4433-8BB8-E55A-62D8-92F81173BB99}"/>
              </a:ext>
            </a:extLst>
          </p:cNvPr>
          <p:cNvSpPr>
            <a:spLocks noChangeArrowheads="1"/>
          </p:cNvSpPr>
          <p:nvPr/>
        </p:nvSpPr>
        <p:spPr bwMode="auto">
          <a:xfrm>
            <a:off x="8622045" y="4239009"/>
            <a:ext cx="281951" cy="276561"/>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o</a:t>
            </a:r>
          </a:p>
        </p:txBody>
      </p:sp>
      <p:sp>
        <p:nvSpPr>
          <p:cNvPr id="53" name="Rectangle 93">
            <a:extLst>
              <a:ext uri="{FF2B5EF4-FFF2-40B4-BE49-F238E27FC236}">
                <a16:creationId xmlns:a16="http://schemas.microsoft.com/office/drawing/2014/main" id="{58C5CFBD-6016-F5F4-4E7A-93C461ACB0C2}"/>
              </a:ext>
            </a:extLst>
          </p:cNvPr>
          <p:cNvSpPr>
            <a:spLocks noChangeArrowheads="1"/>
          </p:cNvSpPr>
          <p:nvPr/>
        </p:nvSpPr>
        <p:spPr bwMode="auto">
          <a:xfrm>
            <a:off x="431954" y="2348988"/>
            <a:ext cx="1440016" cy="360362"/>
          </a:xfrm>
          <a:prstGeom prst="rect">
            <a:avLst/>
          </a:prstGeom>
          <a:noFill/>
          <a:ln w="12700" algn="ctr">
            <a:noFill/>
            <a:miter lim="800000"/>
            <a:headEnd/>
            <a:tailEnd/>
          </a:ln>
          <a:effectLst/>
        </p:spPr>
        <p:txBody>
          <a:bodyPr wrap="none" lIns="90000" tIns="46800" rIns="90000" bIns="46800" anchor="ctr"/>
          <a:lstStyle/>
          <a:p>
            <a:r>
              <a:rPr lang="en-US" altLang="ja-JP" b="0" i="0" dirty="0">
                <a:latin typeface="+mj-lt"/>
              </a:rPr>
              <a:t>3</a:t>
            </a:r>
            <a:r>
              <a:rPr lang="ja-JP" altLang="en-US" b="0" i="0" dirty="0">
                <a:latin typeface="+mj-lt"/>
              </a:rPr>
              <a:t>入力 </a:t>
            </a:r>
            <a:r>
              <a:rPr lang="en-US" altLang="ja-JP" b="0" i="0" dirty="0">
                <a:latin typeface="+mj-lt"/>
              </a:rPr>
              <a:t>NOR </a:t>
            </a:r>
            <a:r>
              <a:rPr lang="ja-JP" altLang="en-US" b="0" i="0" dirty="0">
                <a:latin typeface="+mj-lt"/>
              </a:rPr>
              <a:t>の真理値表</a:t>
            </a:r>
            <a:endParaRPr lang="en-US" altLang="ja-JP" dirty="0"/>
          </a:p>
        </p:txBody>
      </p:sp>
      <p:graphicFrame>
        <p:nvGraphicFramePr>
          <p:cNvPr id="5" name="Group 383">
            <a:extLst>
              <a:ext uri="{FF2B5EF4-FFF2-40B4-BE49-F238E27FC236}">
                <a16:creationId xmlns:a16="http://schemas.microsoft.com/office/drawing/2014/main" id="{8B1A9E73-B0D5-2793-87B3-F7DAAC482408}"/>
              </a:ext>
            </a:extLst>
          </p:cNvPr>
          <p:cNvGraphicFramePr>
            <a:graphicFrameLocks/>
          </p:cNvGraphicFramePr>
          <p:nvPr>
            <p:extLst>
              <p:ext uri="{D42A27DB-BD31-4B8C-83A1-F6EECF244321}">
                <p14:modId xmlns:p14="http://schemas.microsoft.com/office/powerpoint/2010/main" val="284626412"/>
              </p:ext>
            </p:extLst>
          </p:nvPr>
        </p:nvGraphicFramePr>
        <p:xfrm>
          <a:off x="521955" y="2798993"/>
          <a:ext cx="1800020" cy="3827340"/>
        </p:xfrm>
        <a:graphic>
          <a:graphicData uri="http://schemas.openxmlformats.org/drawingml/2006/table">
            <a:tbl>
              <a:tblPr/>
              <a:tblGrid>
                <a:gridCol w="449633">
                  <a:extLst>
                    <a:ext uri="{9D8B030D-6E8A-4147-A177-3AD203B41FA5}">
                      <a16:colId xmlns:a16="http://schemas.microsoft.com/office/drawing/2014/main" val="20000"/>
                    </a:ext>
                  </a:extLst>
                </a:gridCol>
                <a:gridCol w="449633">
                  <a:extLst>
                    <a:ext uri="{9D8B030D-6E8A-4147-A177-3AD203B41FA5}">
                      <a16:colId xmlns:a16="http://schemas.microsoft.com/office/drawing/2014/main" val="3764275717"/>
                    </a:ext>
                  </a:extLst>
                </a:gridCol>
                <a:gridCol w="451121">
                  <a:extLst>
                    <a:ext uri="{9D8B030D-6E8A-4147-A177-3AD203B41FA5}">
                      <a16:colId xmlns:a16="http://schemas.microsoft.com/office/drawing/2014/main" val="20001"/>
                    </a:ext>
                  </a:extLst>
                </a:gridCol>
                <a:gridCol w="449633">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c</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394704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6861046"/>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5953619"/>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3049196"/>
                  </a:ext>
                </a:extLst>
              </a:tr>
            </a:tbl>
          </a:graphicData>
        </a:graphic>
      </p:graphicFrame>
      <p:grpSp>
        <p:nvGrpSpPr>
          <p:cNvPr id="6" name="グループ化 5">
            <a:extLst>
              <a:ext uri="{FF2B5EF4-FFF2-40B4-BE49-F238E27FC236}">
                <a16:creationId xmlns:a16="http://schemas.microsoft.com/office/drawing/2014/main" id="{5BA27EC3-6491-4889-CF33-D736B36EFFB6}"/>
              </a:ext>
            </a:extLst>
          </p:cNvPr>
          <p:cNvGrpSpPr/>
          <p:nvPr/>
        </p:nvGrpSpPr>
        <p:grpSpPr>
          <a:xfrm>
            <a:off x="3041983" y="4429293"/>
            <a:ext cx="1531092" cy="1440374"/>
            <a:chOff x="5202007" y="3068996"/>
            <a:chExt cx="1531092" cy="1440374"/>
          </a:xfrm>
        </p:grpSpPr>
        <p:sp>
          <p:nvSpPr>
            <p:cNvPr id="48" name="正方形/長方形 47">
              <a:extLst>
                <a:ext uri="{FF2B5EF4-FFF2-40B4-BE49-F238E27FC236}">
                  <a16:creationId xmlns:a16="http://schemas.microsoft.com/office/drawing/2014/main" id="{3F94DC8F-18D7-C963-A5F7-95AC2862181D}"/>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50" name="円/楕円 69">
              <a:extLst>
                <a:ext uri="{FF2B5EF4-FFF2-40B4-BE49-F238E27FC236}">
                  <a16:creationId xmlns:a16="http://schemas.microsoft.com/office/drawing/2014/main" id="{3305ACE7-EF0B-C7B2-F17A-5675143A9675}"/>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51" name="直線コネクタ 50">
              <a:extLst>
                <a:ext uri="{FF2B5EF4-FFF2-40B4-BE49-F238E27FC236}">
                  <a16:creationId xmlns:a16="http://schemas.microsoft.com/office/drawing/2014/main" id="{9B4BF49C-2EBD-7475-0588-333BE879B499}"/>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FCF503E3-F3B6-681B-9EF8-36BC33BF4845}"/>
                </a:ext>
              </a:extLst>
            </p:cNvPr>
            <p:cNvCxnSpPr>
              <a:cxnSpLocks/>
              <a:endCxn id="55"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5" name="円/楕円 68">
              <a:extLst>
                <a:ext uri="{FF2B5EF4-FFF2-40B4-BE49-F238E27FC236}">
                  <a16:creationId xmlns:a16="http://schemas.microsoft.com/office/drawing/2014/main" id="{1B8183B8-E681-BE3A-C382-1BEBB0626973}"/>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56" name="直線コネクタ 55">
              <a:extLst>
                <a:ext uri="{FF2B5EF4-FFF2-40B4-BE49-F238E27FC236}">
                  <a16:creationId xmlns:a16="http://schemas.microsoft.com/office/drawing/2014/main" id="{63ED2686-1F40-9170-6A96-DFC686B89C2E}"/>
                </a:ext>
              </a:extLst>
            </p:cNvPr>
            <p:cNvCxnSpPr>
              <a:cxnSpLocks/>
              <a:endCxn id="50"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38DD9239-0294-B74A-4900-C8BD5EB7A90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8" name="Rectangle 93">
              <a:extLst>
                <a:ext uri="{FF2B5EF4-FFF2-40B4-BE49-F238E27FC236}">
                  <a16:creationId xmlns:a16="http://schemas.microsoft.com/office/drawing/2014/main" id="{46A7D33D-DD04-4C66-1CD1-6727E3362552}"/>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9" name="Rectangle 93">
              <a:extLst>
                <a:ext uri="{FF2B5EF4-FFF2-40B4-BE49-F238E27FC236}">
                  <a16:creationId xmlns:a16="http://schemas.microsoft.com/office/drawing/2014/main" id="{48E19650-DCEC-D8A4-E363-BA13A0AD7A7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60" name="Rectangle 93">
              <a:extLst>
                <a:ext uri="{FF2B5EF4-FFF2-40B4-BE49-F238E27FC236}">
                  <a16:creationId xmlns:a16="http://schemas.microsoft.com/office/drawing/2014/main" id="{1104A542-7748-06D9-2D46-7F5ACC64D5C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61" name="直線コネクタ 60">
              <a:extLst>
                <a:ext uri="{FF2B5EF4-FFF2-40B4-BE49-F238E27FC236}">
                  <a16:creationId xmlns:a16="http://schemas.microsoft.com/office/drawing/2014/main" id="{4FB5752B-BA29-8EC3-70ED-D3161C3C30E2}"/>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65097042-1801-6347-D197-5946AE8D6A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63" name="グループ化 62">
            <a:extLst>
              <a:ext uri="{FF2B5EF4-FFF2-40B4-BE49-F238E27FC236}">
                <a16:creationId xmlns:a16="http://schemas.microsoft.com/office/drawing/2014/main" id="{5FE9FCDE-CC46-716E-4A82-378DEBC44416}"/>
              </a:ext>
            </a:extLst>
          </p:cNvPr>
          <p:cNvGrpSpPr/>
          <p:nvPr/>
        </p:nvGrpSpPr>
        <p:grpSpPr>
          <a:xfrm>
            <a:off x="4842003" y="4429293"/>
            <a:ext cx="1531092" cy="1440374"/>
            <a:chOff x="5202007" y="3068996"/>
            <a:chExt cx="1531092" cy="1440374"/>
          </a:xfrm>
        </p:grpSpPr>
        <p:sp>
          <p:nvSpPr>
            <p:cNvPr id="128" name="正方形/長方形 127">
              <a:extLst>
                <a:ext uri="{FF2B5EF4-FFF2-40B4-BE49-F238E27FC236}">
                  <a16:creationId xmlns:a16="http://schemas.microsoft.com/office/drawing/2014/main" id="{5C2A73A8-1E30-292D-8D8E-0526C2700FAB}"/>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29" name="円/楕円 69">
              <a:extLst>
                <a:ext uri="{FF2B5EF4-FFF2-40B4-BE49-F238E27FC236}">
                  <a16:creationId xmlns:a16="http://schemas.microsoft.com/office/drawing/2014/main" id="{D8459585-8FDF-5CD6-02A8-5750933F258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30" name="直線コネクタ 129">
              <a:extLst>
                <a:ext uri="{FF2B5EF4-FFF2-40B4-BE49-F238E27FC236}">
                  <a16:creationId xmlns:a16="http://schemas.microsoft.com/office/drawing/2014/main" id="{F24036D7-0DA2-AA83-EDE6-92425971D89D}"/>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1" name="直線コネクタ 130">
              <a:extLst>
                <a:ext uri="{FF2B5EF4-FFF2-40B4-BE49-F238E27FC236}">
                  <a16:creationId xmlns:a16="http://schemas.microsoft.com/office/drawing/2014/main" id="{E5B051DF-9D64-1540-7F32-154CB825ED72}"/>
                </a:ext>
              </a:extLst>
            </p:cNvPr>
            <p:cNvCxnSpPr>
              <a:cxnSpLocks/>
              <a:endCxn id="132"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32" name="円/楕円 68">
              <a:extLst>
                <a:ext uri="{FF2B5EF4-FFF2-40B4-BE49-F238E27FC236}">
                  <a16:creationId xmlns:a16="http://schemas.microsoft.com/office/drawing/2014/main" id="{08DCE2AA-73B9-2BE7-B388-4BAEE5F03DAF}"/>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33" name="直線コネクタ 132">
              <a:extLst>
                <a:ext uri="{FF2B5EF4-FFF2-40B4-BE49-F238E27FC236}">
                  <a16:creationId xmlns:a16="http://schemas.microsoft.com/office/drawing/2014/main" id="{EA91BAF5-BA63-B6D6-D59E-CEEF06962AD3}"/>
                </a:ext>
              </a:extLst>
            </p:cNvPr>
            <p:cNvCxnSpPr>
              <a:cxnSpLocks/>
              <a:endCxn id="12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330B5253-610B-4DFB-B648-8D1ED616BF5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35" name="Rectangle 93">
              <a:extLst>
                <a:ext uri="{FF2B5EF4-FFF2-40B4-BE49-F238E27FC236}">
                  <a16:creationId xmlns:a16="http://schemas.microsoft.com/office/drawing/2014/main" id="{5B558C62-A81D-16F5-3CCC-947D68E3A05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37" name="Rectangle 93">
              <a:extLst>
                <a:ext uri="{FF2B5EF4-FFF2-40B4-BE49-F238E27FC236}">
                  <a16:creationId xmlns:a16="http://schemas.microsoft.com/office/drawing/2014/main" id="{DA19D288-AC36-DB45-FD3F-DD2C507BFF1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38" name="Rectangle 93">
              <a:extLst>
                <a:ext uri="{FF2B5EF4-FFF2-40B4-BE49-F238E27FC236}">
                  <a16:creationId xmlns:a16="http://schemas.microsoft.com/office/drawing/2014/main" id="{32A25A84-B51E-F316-8B9E-F0CCE7556715}"/>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39" name="直線コネクタ 138">
              <a:extLst>
                <a:ext uri="{FF2B5EF4-FFF2-40B4-BE49-F238E27FC236}">
                  <a16:creationId xmlns:a16="http://schemas.microsoft.com/office/drawing/2014/main" id="{CB7BA884-7AE6-337B-585A-A5151FE4E78D}"/>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0" name="直線コネクタ 139">
              <a:extLst>
                <a:ext uri="{FF2B5EF4-FFF2-40B4-BE49-F238E27FC236}">
                  <a16:creationId xmlns:a16="http://schemas.microsoft.com/office/drawing/2014/main" id="{9C143030-57AC-DB4E-884A-98437E5A1D31}"/>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41" name="グループ化 140">
            <a:extLst>
              <a:ext uri="{FF2B5EF4-FFF2-40B4-BE49-F238E27FC236}">
                <a16:creationId xmlns:a16="http://schemas.microsoft.com/office/drawing/2014/main" id="{626E2901-9894-17E9-3951-32B97088E9D0}"/>
              </a:ext>
            </a:extLst>
          </p:cNvPr>
          <p:cNvGrpSpPr/>
          <p:nvPr/>
        </p:nvGrpSpPr>
        <p:grpSpPr>
          <a:xfrm>
            <a:off x="6642023" y="4429293"/>
            <a:ext cx="1531092" cy="1440374"/>
            <a:chOff x="5202007" y="3068996"/>
            <a:chExt cx="1531092" cy="1440374"/>
          </a:xfrm>
        </p:grpSpPr>
        <p:sp>
          <p:nvSpPr>
            <p:cNvPr id="143" name="正方形/長方形 142">
              <a:extLst>
                <a:ext uri="{FF2B5EF4-FFF2-40B4-BE49-F238E27FC236}">
                  <a16:creationId xmlns:a16="http://schemas.microsoft.com/office/drawing/2014/main" id="{3A77BB4D-2E83-670D-3F1F-880DAC38BD19}"/>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46" name="円/楕円 69">
              <a:extLst>
                <a:ext uri="{FF2B5EF4-FFF2-40B4-BE49-F238E27FC236}">
                  <a16:creationId xmlns:a16="http://schemas.microsoft.com/office/drawing/2014/main" id="{721E2DD7-0B78-57CA-8B2C-132305CBADB8}"/>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47" name="直線コネクタ 146">
              <a:extLst>
                <a:ext uri="{FF2B5EF4-FFF2-40B4-BE49-F238E27FC236}">
                  <a16:creationId xmlns:a16="http://schemas.microsoft.com/office/drawing/2014/main" id="{A542C812-E80D-8D64-BC82-E9976D19860D}"/>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07B843FD-6C0F-4D6F-914D-A8FC0113ABC6}"/>
                </a:ext>
              </a:extLst>
            </p:cNvPr>
            <p:cNvCxnSpPr>
              <a:cxnSpLocks/>
              <a:endCxn id="151"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1" name="円/楕円 68">
              <a:extLst>
                <a:ext uri="{FF2B5EF4-FFF2-40B4-BE49-F238E27FC236}">
                  <a16:creationId xmlns:a16="http://schemas.microsoft.com/office/drawing/2014/main" id="{3455E437-C277-A3DF-3E57-6AEC4B55BB05}"/>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152" name="直線コネクタ 151">
              <a:extLst>
                <a:ext uri="{FF2B5EF4-FFF2-40B4-BE49-F238E27FC236}">
                  <a16:creationId xmlns:a16="http://schemas.microsoft.com/office/drawing/2014/main" id="{3ABC7D17-266A-FABB-DD32-5C3FA8D6CBC8}"/>
                </a:ext>
              </a:extLst>
            </p:cNvPr>
            <p:cNvCxnSpPr>
              <a:cxnSpLocks/>
              <a:endCxn id="146"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69B7929C-D549-CFC8-AE8C-D128BF3E511F}"/>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54" name="Rectangle 93">
              <a:extLst>
                <a:ext uri="{FF2B5EF4-FFF2-40B4-BE49-F238E27FC236}">
                  <a16:creationId xmlns:a16="http://schemas.microsoft.com/office/drawing/2014/main" id="{B7532ACE-B72A-63EA-F537-54D7ECD344F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55" name="Rectangle 93">
              <a:extLst>
                <a:ext uri="{FF2B5EF4-FFF2-40B4-BE49-F238E27FC236}">
                  <a16:creationId xmlns:a16="http://schemas.microsoft.com/office/drawing/2014/main" id="{3BB17B8E-506A-04E5-942D-A14FEEF18BF8}"/>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56" name="Rectangle 93">
              <a:extLst>
                <a:ext uri="{FF2B5EF4-FFF2-40B4-BE49-F238E27FC236}">
                  <a16:creationId xmlns:a16="http://schemas.microsoft.com/office/drawing/2014/main" id="{DAA5BB7C-5B84-F3E0-8D8C-7802E345DF62}"/>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57" name="直線コネクタ 156">
              <a:extLst>
                <a:ext uri="{FF2B5EF4-FFF2-40B4-BE49-F238E27FC236}">
                  <a16:creationId xmlns:a16="http://schemas.microsoft.com/office/drawing/2014/main" id="{5468E45F-C73E-BBD8-C592-FC339D6F7A72}"/>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9D2E6A61-76C9-8AE9-EA5B-F98EC2CF93D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60" name="グループ化 159">
            <a:extLst>
              <a:ext uri="{FF2B5EF4-FFF2-40B4-BE49-F238E27FC236}">
                <a16:creationId xmlns:a16="http://schemas.microsoft.com/office/drawing/2014/main" id="{0EA59EF7-AC8A-E3B2-BCBC-FBB8E095A4F8}"/>
              </a:ext>
            </a:extLst>
          </p:cNvPr>
          <p:cNvGrpSpPr/>
          <p:nvPr/>
        </p:nvGrpSpPr>
        <p:grpSpPr>
          <a:xfrm>
            <a:off x="6102017" y="5509305"/>
            <a:ext cx="351390" cy="690990"/>
            <a:chOff x="7272030" y="5768668"/>
            <a:chExt cx="450005" cy="900368"/>
          </a:xfrm>
        </p:grpSpPr>
        <p:grpSp>
          <p:nvGrpSpPr>
            <p:cNvPr id="161" name="グループ化 152">
              <a:extLst>
                <a:ext uri="{FF2B5EF4-FFF2-40B4-BE49-F238E27FC236}">
                  <a16:creationId xmlns:a16="http://schemas.microsoft.com/office/drawing/2014/main" id="{32F0C46B-1445-5321-AF6C-FBB101DE48D3}"/>
                </a:ext>
              </a:extLst>
            </p:cNvPr>
            <p:cNvGrpSpPr/>
            <p:nvPr/>
          </p:nvGrpSpPr>
          <p:grpSpPr>
            <a:xfrm>
              <a:off x="7542033" y="6218673"/>
              <a:ext cx="180002" cy="90001"/>
              <a:chOff x="3643306" y="4500570"/>
              <a:chExt cx="428628" cy="144464"/>
            </a:xfrm>
          </p:grpSpPr>
          <p:cxnSp>
            <p:nvCxnSpPr>
              <p:cNvPr id="164" name="直線コネクタ 163">
                <a:extLst>
                  <a:ext uri="{FF2B5EF4-FFF2-40B4-BE49-F238E27FC236}">
                    <a16:creationId xmlns:a16="http://schemas.microsoft.com/office/drawing/2014/main" id="{BC77371F-E17D-237C-7087-AAE16E8515A2}"/>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65" name="直線コネクタ 164">
                <a:extLst>
                  <a:ext uri="{FF2B5EF4-FFF2-40B4-BE49-F238E27FC236}">
                    <a16:creationId xmlns:a16="http://schemas.microsoft.com/office/drawing/2014/main" id="{D870F833-FC5F-94B7-0441-92571B7635D8}"/>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66" name="直線コネクタ 165">
                <a:extLst>
                  <a:ext uri="{FF2B5EF4-FFF2-40B4-BE49-F238E27FC236}">
                    <a16:creationId xmlns:a16="http://schemas.microsoft.com/office/drawing/2014/main" id="{970B407D-1F0A-3455-4E55-65196BB8E3AB}"/>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62" name="直線コネクタ 161">
              <a:extLst>
                <a:ext uri="{FF2B5EF4-FFF2-40B4-BE49-F238E27FC236}">
                  <a16:creationId xmlns:a16="http://schemas.microsoft.com/office/drawing/2014/main" id="{F8875495-D27D-F7B8-9F9C-3C16001C52C0}"/>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63" name="Rectangle 93">
              <a:extLst>
                <a:ext uri="{FF2B5EF4-FFF2-40B4-BE49-F238E27FC236}">
                  <a16:creationId xmlns:a16="http://schemas.microsoft.com/office/drawing/2014/main" id="{AC93BD7D-49BF-3BDE-EF54-437C96628774}"/>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167" name="グループ化 166">
            <a:extLst>
              <a:ext uri="{FF2B5EF4-FFF2-40B4-BE49-F238E27FC236}">
                <a16:creationId xmlns:a16="http://schemas.microsoft.com/office/drawing/2014/main" id="{788811CE-D8B3-A554-9880-7CEAC6BC661D}"/>
              </a:ext>
            </a:extLst>
          </p:cNvPr>
          <p:cNvGrpSpPr/>
          <p:nvPr/>
        </p:nvGrpSpPr>
        <p:grpSpPr>
          <a:xfrm>
            <a:off x="7902037" y="5509305"/>
            <a:ext cx="351390" cy="690990"/>
            <a:chOff x="7272030" y="5768668"/>
            <a:chExt cx="450005" cy="900368"/>
          </a:xfrm>
        </p:grpSpPr>
        <p:grpSp>
          <p:nvGrpSpPr>
            <p:cNvPr id="168" name="グループ化 152">
              <a:extLst>
                <a:ext uri="{FF2B5EF4-FFF2-40B4-BE49-F238E27FC236}">
                  <a16:creationId xmlns:a16="http://schemas.microsoft.com/office/drawing/2014/main" id="{E3E64443-FB10-6B23-51AD-CF7C8E291134}"/>
                </a:ext>
              </a:extLst>
            </p:cNvPr>
            <p:cNvGrpSpPr/>
            <p:nvPr/>
          </p:nvGrpSpPr>
          <p:grpSpPr>
            <a:xfrm>
              <a:off x="7542033" y="6218673"/>
              <a:ext cx="180002" cy="90001"/>
              <a:chOff x="3643306" y="4500570"/>
              <a:chExt cx="428628" cy="144464"/>
            </a:xfrm>
          </p:grpSpPr>
          <p:cxnSp>
            <p:nvCxnSpPr>
              <p:cNvPr id="171" name="直線コネクタ 170">
                <a:extLst>
                  <a:ext uri="{FF2B5EF4-FFF2-40B4-BE49-F238E27FC236}">
                    <a16:creationId xmlns:a16="http://schemas.microsoft.com/office/drawing/2014/main" id="{15ADCF8E-20FA-4DD3-2C47-B28B411E5BBA}"/>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72" name="直線コネクタ 171">
                <a:extLst>
                  <a:ext uri="{FF2B5EF4-FFF2-40B4-BE49-F238E27FC236}">
                    <a16:creationId xmlns:a16="http://schemas.microsoft.com/office/drawing/2014/main" id="{E35E03E0-76B9-841E-8698-728C9537880B}"/>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73" name="直線コネクタ 172">
                <a:extLst>
                  <a:ext uri="{FF2B5EF4-FFF2-40B4-BE49-F238E27FC236}">
                    <a16:creationId xmlns:a16="http://schemas.microsoft.com/office/drawing/2014/main" id="{F3366F22-5715-DEE2-D391-891108F446CE}"/>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69" name="直線コネクタ 168">
              <a:extLst>
                <a:ext uri="{FF2B5EF4-FFF2-40B4-BE49-F238E27FC236}">
                  <a16:creationId xmlns:a16="http://schemas.microsoft.com/office/drawing/2014/main" id="{F5049526-119D-7D9C-681A-42B01293AE2E}"/>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70" name="Rectangle 93">
              <a:extLst>
                <a:ext uri="{FF2B5EF4-FFF2-40B4-BE49-F238E27FC236}">
                  <a16:creationId xmlns:a16="http://schemas.microsoft.com/office/drawing/2014/main" id="{287F95AE-87EA-47CB-F8D6-620C91F96DF4}"/>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07" name="グループ化 206">
            <a:extLst>
              <a:ext uri="{FF2B5EF4-FFF2-40B4-BE49-F238E27FC236}">
                <a16:creationId xmlns:a16="http://schemas.microsoft.com/office/drawing/2014/main" id="{505F4805-2AB5-7A56-FDA8-11B702DF6C03}"/>
              </a:ext>
            </a:extLst>
          </p:cNvPr>
          <p:cNvGrpSpPr/>
          <p:nvPr/>
        </p:nvGrpSpPr>
        <p:grpSpPr>
          <a:xfrm>
            <a:off x="4842003" y="1639262"/>
            <a:ext cx="1531092" cy="1440374"/>
            <a:chOff x="5202007" y="2708992"/>
            <a:chExt cx="1531092" cy="1440374"/>
          </a:xfrm>
        </p:grpSpPr>
        <p:grpSp>
          <p:nvGrpSpPr>
            <p:cNvPr id="209" name="グループ化 208">
              <a:extLst>
                <a:ext uri="{FF2B5EF4-FFF2-40B4-BE49-F238E27FC236}">
                  <a16:creationId xmlns:a16="http://schemas.microsoft.com/office/drawing/2014/main" id="{C5A9FF81-B80A-2DD7-53A9-D8848F7D822F}"/>
                </a:ext>
              </a:extLst>
            </p:cNvPr>
            <p:cNvGrpSpPr/>
            <p:nvPr/>
          </p:nvGrpSpPr>
          <p:grpSpPr>
            <a:xfrm>
              <a:off x="5202007" y="2708992"/>
              <a:ext cx="1531092" cy="1440374"/>
              <a:chOff x="5202007" y="3068996"/>
              <a:chExt cx="1531092" cy="1440374"/>
            </a:xfrm>
          </p:grpSpPr>
          <p:sp>
            <p:nvSpPr>
              <p:cNvPr id="215" name="正方形/長方形 214">
                <a:extLst>
                  <a:ext uri="{FF2B5EF4-FFF2-40B4-BE49-F238E27FC236}">
                    <a16:creationId xmlns:a16="http://schemas.microsoft.com/office/drawing/2014/main" id="{E04D98CF-FE50-EFF8-CA1D-838B26699D11}"/>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16" name="円/楕円 69">
                <a:extLst>
                  <a:ext uri="{FF2B5EF4-FFF2-40B4-BE49-F238E27FC236}">
                    <a16:creationId xmlns:a16="http://schemas.microsoft.com/office/drawing/2014/main" id="{025B75EF-6505-4A03-AD65-714CAF82E42A}"/>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32" name="直線コネクタ 231">
                <a:extLst>
                  <a:ext uri="{FF2B5EF4-FFF2-40B4-BE49-F238E27FC236}">
                    <a16:creationId xmlns:a16="http://schemas.microsoft.com/office/drawing/2014/main" id="{D4BA63E9-BC8E-B811-90D0-7B2D1CF896B4}"/>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5AC16E11-6105-3075-1F90-BB69DBDB20D7}"/>
                  </a:ext>
                </a:extLst>
              </p:cNvPr>
              <p:cNvCxnSpPr>
                <a:cxnSpLocks/>
                <a:endCxn id="234"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34" name="円/楕円 68">
                <a:extLst>
                  <a:ext uri="{FF2B5EF4-FFF2-40B4-BE49-F238E27FC236}">
                    <a16:creationId xmlns:a16="http://schemas.microsoft.com/office/drawing/2014/main" id="{3FEFD9C0-8ECA-C513-6BED-7C807E17C7CA}"/>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235" name="直線コネクタ 234">
                <a:extLst>
                  <a:ext uri="{FF2B5EF4-FFF2-40B4-BE49-F238E27FC236}">
                    <a16:creationId xmlns:a16="http://schemas.microsoft.com/office/drawing/2014/main" id="{49CCF190-8148-8F50-4E97-76AD35A4163F}"/>
                  </a:ext>
                </a:extLst>
              </p:cNvPr>
              <p:cNvCxnSpPr>
                <a:cxnSpLocks/>
                <a:endCxn id="216"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6" name="直線コネクタ 235">
                <a:extLst>
                  <a:ext uri="{FF2B5EF4-FFF2-40B4-BE49-F238E27FC236}">
                    <a16:creationId xmlns:a16="http://schemas.microsoft.com/office/drawing/2014/main" id="{92B23298-A1AA-F8CF-CA39-687E5796327D}"/>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37" name="Rectangle 93">
                <a:extLst>
                  <a:ext uri="{FF2B5EF4-FFF2-40B4-BE49-F238E27FC236}">
                    <a16:creationId xmlns:a16="http://schemas.microsoft.com/office/drawing/2014/main" id="{CE86A193-9B31-B9E1-135F-110A2F126136}"/>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38" name="Rectangle 93">
                <a:extLst>
                  <a:ext uri="{FF2B5EF4-FFF2-40B4-BE49-F238E27FC236}">
                    <a16:creationId xmlns:a16="http://schemas.microsoft.com/office/drawing/2014/main" id="{08177E7C-8270-3210-1C97-D6331E2B82E7}"/>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39" name="Rectangle 93">
                <a:extLst>
                  <a:ext uri="{FF2B5EF4-FFF2-40B4-BE49-F238E27FC236}">
                    <a16:creationId xmlns:a16="http://schemas.microsoft.com/office/drawing/2014/main" id="{6CEB65FF-2199-3B7A-049B-55E8853808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70" name="直線コネクタ 269">
                <a:extLst>
                  <a:ext uri="{FF2B5EF4-FFF2-40B4-BE49-F238E27FC236}">
                    <a16:creationId xmlns:a16="http://schemas.microsoft.com/office/drawing/2014/main" id="{36DAB691-2C1B-FA72-9FB1-C4AC671E5182}"/>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1" name="直線コネクタ 270">
                <a:extLst>
                  <a:ext uri="{FF2B5EF4-FFF2-40B4-BE49-F238E27FC236}">
                    <a16:creationId xmlns:a16="http://schemas.microsoft.com/office/drawing/2014/main" id="{130A0B64-251E-F6CC-F838-6D52289FA8C7}"/>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10" name="円/楕円 69">
              <a:extLst>
                <a:ext uri="{FF2B5EF4-FFF2-40B4-BE49-F238E27FC236}">
                  <a16:creationId xmlns:a16="http://schemas.microsoft.com/office/drawing/2014/main" id="{39AB9B75-7764-0E99-945D-3DD07A08F660}"/>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cxnSp>
        <p:nvCxnSpPr>
          <p:cNvPr id="289" name="直線コネクタ 288">
            <a:extLst>
              <a:ext uri="{FF2B5EF4-FFF2-40B4-BE49-F238E27FC236}">
                <a16:creationId xmlns:a16="http://schemas.microsoft.com/office/drawing/2014/main" id="{7B3DBDAA-75A2-1E43-D353-116DCF0F6A5C}"/>
              </a:ext>
            </a:extLst>
          </p:cNvPr>
          <p:cNvCxnSpPr>
            <a:cxnSpLocks/>
          </p:cNvCxnSpPr>
          <p:nvPr/>
        </p:nvCxnSpPr>
        <p:spPr>
          <a:xfrm>
            <a:off x="4572000" y="4429293"/>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92" name="直線コネクタ 291">
            <a:extLst>
              <a:ext uri="{FF2B5EF4-FFF2-40B4-BE49-F238E27FC236}">
                <a16:creationId xmlns:a16="http://schemas.microsoft.com/office/drawing/2014/main" id="{9DF432A3-7AE2-795E-3411-9B2EE5D7E460}"/>
              </a:ext>
            </a:extLst>
          </p:cNvPr>
          <p:cNvCxnSpPr>
            <a:cxnSpLocks/>
          </p:cNvCxnSpPr>
          <p:nvPr/>
        </p:nvCxnSpPr>
        <p:spPr>
          <a:xfrm flipV="1">
            <a:off x="4572000" y="4429293"/>
            <a:ext cx="0" cy="360004"/>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94" name="直線コネクタ 293">
            <a:extLst>
              <a:ext uri="{FF2B5EF4-FFF2-40B4-BE49-F238E27FC236}">
                <a16:creationId xmlns:a16="http://schemas.microsoft.com/office/drawing/2014/main" id="{9B08B31E-A571-8B60-5DD2-B5C10A6DD255}"/>
              </a:ext>
            </a:extLst>
          </p:cNvPr>
          <p:cNvCxnSpPr>
            <a:cxnSpLocks/>
          </p:cNvCxnSpPr>
          <p:nvPr/>
        </p:nvCxnSpPr>
        <p:spPr>
          <a:xfrm flipV="1">
            <a:off x="8172040" y="4429293"/>
            <a:ext cx="0" cy="360004"/>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95" name="直線コネクタ 294">
            <a:extLst>
              <a:ext uri="{FF2B5EF4-FFF2-40B4-BE49-F238E27FC236}">
                <a16:creationId xmlns:a16="http://schemas.microsoft.com/office/drawing/2014/main" id="{5BC7BA58-36BA-8F90-AB2B-ED619014CE08}"/>
              </a:ext>
            </a:extLst>
          </p:cNvPr>
          <p:cNvCxnSpPr>
            <a:cxnSpLocks/>
          </p:cNvCxnSpPr>
          <p:nvPr/>
        </p:nvCxnSpPr>
        <p:spPr>
          <a:xfrm flipV="1">
            <a:off x="6372020" y="4429293"/>
            <a:ext cx="0" cy="360004"/>
          </a:xfrm>
          <a:prstGeom prst="line">
            <a:avLst/>
          </a:prstGeom>
          <a:ln w="6350"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96" name="直線コネクタ 295">
            <a:extLst>
              <a:ext uri="{FF2B5EF4-FFF2-40B4-BE49-F238E27FC236}">
                <a16:creationId xmlns:a16="http://schemas.microsoft.com/office/drawing/2014/main" id="{527D5C59-18C0-DC61-CB6F-CE7636CDB0B9}"/>
              </a:ext>
            </a:extLst>
          </p:cNvPr>
          <p:cNvCxnSpPr>
            <a:cxnSpLocks/>
          </p:cNvCxnSpPr>
          <p:nvPr/>
        </p:nvCxnSpPr>
        <p:spPr>
          <a:xfrm flipV="1">
            <a:off x="6372020" y="2719274"/>
            <a:ext cx="0" cy="63000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98" name="直線コネクタ 297">
            <a:extLst>
              <a:ext uri="{FF2B5EF4-FFF2-40B4-BE49-F238E27FC236}">
                <a16:creationId xmlns:a16="http://schemas.microsoft.com/office/drawing/2014/main" id="{02CFF93C-D039-6392-23A0-F7C5A01A8080}"/>
              </a:ext>
            </a:extLst>
          </p:cNvPr>
          <p:cNvCxnSpPr>
            <a:cxnSpLocks/>
          </p:cNvCxnSpPr>
          <p:nvPr/>
        </p:nvCxnSpPr>
        <p:spPr>
          <a:xfrm flipV="1">
            <a:off x="6372020" y="1369259"/>
            <a:ext cx="0" cy="630007"/>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99" name="グループ化 298">
            <a:extLst>
              <a:ext uri="{FF2B5EF4-FFF2-40B4-BE49-F238E27FC236}">
                <a16:creationId xmlns:a16="http://schemas.microsoft.com/office/drawing/2014/main" id="{E78DE0C6-E8E9-D3C4-F38F-4049E736D8E2}"/>
              </a:ext>
            </a:extLst>
          </p:cNvPr>
          <p:cNvGrpSpPr/>
          <p:nvPr/>
        </p:nvGrpSpPr>
        <p:grpSpPr>
          <a:xfrm>
            <a:off x="4842003" y="278965"/>
            <a:ext cx="1531092" cy="1440374"/>
            <a:chOff x="5202007" y="2708992"/>
            <a:chExt cx="1531092" cy="1440374"/>
          </a:xfrm>
        </p:grpSpPr>
        <p:grpSp>
          <p:nvGrpSpPr>
            <p:cNvPr id="300" name="グループ化 299">
              <a:extLst>
                <a:ext uri="{FF2B5EF4-FFF2-40B4-BE49-F238E27FC236}">
                  <a16:creationId xmlns:a16="http://schemas.microsoft.com/office/drawing/2014/main" id="{62D30EEB-55E8-0F35-9716-2AE77F259D6E}"/>
                </a:ext>
              </a:extLst>
            </p:cNvPr>
            <p:cNvGrpSpPr/>
            <p:nvPr/>
          </p:nvGrpSpPr>
          <p:grpSpPr>
            <a:xfrm>
              <a:off x="5202007" y="2708992"/>
              <a:ext cx="1531092" cy="1440374"/>
              <a:chOff x="5202007" y="3068996"/>
              <a:chExt cx="1531092" cy="1440374"/>
            </a:xfrm>
          </p:grpSpPr>
          <p:sp>
            <p:nvSpPr>
              <p:cNvPr id="302" name="正方形/長方形 301">
                <a:extLst>
                  <a:ext uri="{FF2B5EF4-FFF2-40B4-BE49-F238E27FC236}">
                    <a16:creationId xmlns:a16="http://schemas.microsoft.com/office/drawing/2014/main" id="{273295CD-E5DD-5475-AC0E-84176BD8BAF3}"/>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303" name="円/楕円 69">
                <a:extLst>
                  <a:ext uri="{FF2B5EF4-FFF2-40B4-BE49-F238E27FC236}">
                    <a16:creationId xmlns:a16="http://schemas.microsoft.com/office/drawing/2014/main" id="{F1B184C4-EB1D-67E8-16E3-15DD0DAB9D22}"/>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304" name="直線コネクタ 303">
                <a:extLst>
                  <a:ext uri="{FF2B5EF4-FFF2-40B4-BE49-F238E27FC236}">
                    <a16:creationId xmlns:a16="http://schemas.microsoft.com/office/drawing/2014/main" id="{48DC2ED7-60DD-736C-6224-ACBA9AE0393F}"/>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05" name="直線コネクタ 304">
                <a:extLst>
                  <a:ext uri="{FF2B5EF4-FFF2-40B4-BE49-F238E27FC236}">
                    <a16:creationId xmlns:a16="http://schemas.microsoft.com/office/drawing/2014/main" id="{717E9779-4485-E4F5-C957-462CA1F41937}"/>
                  </a:ext>
                </a:extLst>
              </p:cNvPr>
              <p:cNvCxnSpPr>
                <a:cxnSpLocks/>
                <a:endCxn id="306"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06" name="円/楕円 68">
                <a:extLst>
                  <a:ext uri="{FF2B5EF4-FFF2-40B4-BE49-F238E27FC236}">
                    <a16:creationId xmlns:a16="http://schemas.microsoft.com/office/drawing/2014/main" id="{AF7B7B63-CFBD-23FB-C50D-34077F1E12AF}"/>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307" name="直線コネクタ 306">
                <a:extLst>
                  <a:ext uri="{FF2B5EF4-FFF2-40B4-BE49-F238E27FC236}">
                    <a16:creationId xmlns:a16="http://schemas.microsoft.com/office/drawing/2014/main" id="{CCBA90A5-2B4C-9747-6330-307EFCD63782}"/>
                  </a:ext>
                </a:extLst>
              </p:cNvPr>
              <p:cNvCxnSpPr>
                <a:cxnSpLocks/>
                <a:endCxn id="30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08" name="直線コネクタ 307">
                <a:extLst>
                  <a:ext uri="{FF2B5EF4-FFF2-40B4-BE49-F238E27FC236}">
                    <a16:creationId xmlns:a16="http://schemas.microsoft.com/office/drawing/2014/main" id="{90F947DB-0DBF-64C5-A03A-6D16D6AB8722}"/>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09" name="Rectangle 93">
                <a:extLst>
                  <a:ext uri="{FF2B5EF4-FFF2-40B4-BE49-F238E27FC236}">
                    <a16:creationId xmlns:a16="http://schemas.microsoft.com/office/drawing/2014/main" id="{990A2A8A-EDD3-4497-F1F9-B4C18E47F6EB}"/>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10" name="Rectangle 93">
                <a:extLst>
                  <a:ext uri="{FF2B5EF4-FFF2-40B4-BE49-F238E27FC236}">
                    <a16:creationId xmlns:a16="http://schemas.microsoft.com/office/drawing/2014/main" id="{FFCC2048-BCBA-CF70-B277-E06F419881E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11" name="Rectangle 93">
                <a:extLst>
                  <a:ext uri="{FF2B5EF4-FFF2-40B4-BE49-F238E27FC236}">
                    <a16:creationId xmlns:a16="http://schemas.microsoft.com/office/drawing/2014/main" id="{FCB5059F-9A7F-96E7-BE64-06949A2B2585}"/>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312" name="直線コネクタ 311">
                <a:extLst>
                  <a:ext uri="{FF2B5EF4-FFF2-40B4-BE49-F238E27FC236}">
                    <a16:creationId xmlns:a16="http://schemas.microsoft.com/office/drawing/2014/main" id="{52801E2E-D5DC-ADEC-C23E-32B74D7E3BB5}"/>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13" name="直線コネクタ 312">
                <a:extLst>
                  <a:ext uri="{FF2B5EF4-FFF2-40B4-BE49-F238E27FC236}">
                    <a16:creationId xmlns:a16="http://schemas.microsoft.com/office/drawing/2014/main" id="{7A19A78F-3B7F-D13C-A83F-5FF199B39BC2}"/>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301" name="円/楕円 69">
              <a:extLst>
                <a:ext uri="{FF2B5EF4-FFF2-40B4-BE49-F238E27FC236}">
                  <a16:creationId xmlns:a16="http://schemas.microsoft.com/office/drawing/2014/main" id="{36D319B2-F023-FF56-5670-A60C84F984D7}"/>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314" name="グループ化 313">
            <a:extLst>
              <a:ext uri="{FF2B5EF4-FFF2-40B4-BE49-F238E27FC236}">
                <a16:creationId xmlns:a16="http://schemas.microsoft.com/office/drawing/2014/main" id="{5A9E5969-4BCA-2DDB-931E-1BDCC82CA07E}"/>
              </a:ext>
            </a:extLst>
          </p:cNvPr>
          <p:cNvGrpSpPr/>
          <p:nvPr/>
        </p:nvGrpSpPr>
        <p:grpSpPr>
          <a:xfrm>
            <a:off x="4842003" y="2978995"/>
            <a:ext cx="1531092" cy="1440374"/>
            <a:chOff x="5202007" y="2708992"/>
            <a:chExt cx="1531092" cy="1440374"/>
          </a:xfrm>
        </p:grpSpPr>
        <p:grpSp>
          <p:nvGrpSpPr>
            <p:cNvPr id="315" name="グループ化 314">
              <a:extLst>
                <a:ext uri="{FF2B5EF4-FFF2-40B4-BE49-F238E27FC236}">
                  <a16:creationId xmlns:a16="http://schemas.microsoft.com/office/drawing/2014/main" id="{954EA3F0-40E9-26DC-AC41-D5248DAAD253}"/>
                </a:ext>
              </a:extLst>
            </p:cNvPr>
            <p:cNvGrpSpPr/>
            <p:nvPr/>
          </p:nvGrpSpPr>
          <p:grpSpPr>
            <a:xfrm>
              <a:off x="5202007" y="2708992"/>
              <a:ext cx="1531092" cy="1440374"/>
              <a:chOff x="5202007" y="3068996"/>
              <a:chExt cx="1531092" cy="1440374"/>
            </a:xfrm>
          </p:grpSpPr>
          <p:sp>
            <p:nvSpPr>
              <p:cNvPr id="317" name="正方形/長方形 316">
                <a:extLst>
                  <a:ext uri="{FF2B5EF4-FFF2-40B4-BE49-F238E27FC236}">
                    <a16:creationId xmlns:a16="http://schemas.microsoft.com/office/drawing/2014/main" id="{13A6DDCA-B71F-9261-FF48-838922A42442}"/>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318" name="円/楕円 69">
                <a:extLst>
                  <a:ext uri="{FF2B5EF4-FFF2-40B4-BE49-F238E27FC236}">
                    <a16:creationId xmlns:a16="http://schemas.microsoft.com/office/drawing/2014/main" id="{06D5C8CC-1A31-8838-CB2E-7D17000AB466}"/>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319" name="直線コネクタ 318">
                <a:extLst>
                  <a:ext uri="{FF2B5EF4-FFF2-40B4-BE49-F238E27FC236}">
                    <a16:creationId xmlns:a16="http://schemas.microsoft.com/office/drawing/2014/main" id="{FC10D3DB-21AF-232D-9970-42DC966D4ACB}"/>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20" name="直線コネクタ 319">
                <a:extLst>
                  <a:ext uri="{FF2B5EF4-FFF2-40B4-BE49-F238E27FC236}">
                    <a16:creationId xmlns:a16="http://schemas.microsoft.com/office/drawing/2014/main" id="{EEEFDE41-B80D-96F0-F3EE-A70BB40A2F2F}"/>
                  </a:ext>
                </a:extLst>
              </p:cNvPr>
              <p:cNvCxnSpPr>
                <a:cxnSpLocks/>
                <a:endCxn id="321"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21" name="円/楕円 68">
                <a:extLst>
                  <a:ext uri="{FF2B5EF4-FFF2-40B4-BE49-F238E27FC236}">
                    <a16:creationId xmlns:a16="http://schemas.microsoft.com/office/drawing/2014/main" id="{97239893-1023-6896-D73B-E210E4DDB701}"/>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cxnSp>
            <p:nvCxnSpPr>
              <p:cNvPr id="322" name="直線コネクタ 321">
                <a:extLst>
                  <a:ext uri="{FF2B5EF4-FFF2-40B4-BE49-F238E27FC236}">
                    <a16:creationId xmlns:a16="http://schemas.microsoft.com/office/drawing/2014/main" id="{720337C2-89A4-3BEB-54B0-30450461FB48}"/>
                  </a:ext>
                </a:extLst>
              </p:cNvPr>
              <p:cNvCxnSpPr>
                <a:cxnSpLocks/>
                <a:endCxn id="318"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23" name="直線コネクタ 322">
                <a:extLst>
                  <a:ext uri="{FF2B5EF4-FFF2-40B4-BE49-F238E27FC236}">
                    <a16:creationId xmlns:a16="http://schemas.microsoft.com/office/drawing/2014/main" id="{C647AF43-58BE-B720-CA22-4E799613EC3F}"/>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24" name="Rectangle 93">
                <a:extLst>
                  <a:ext uri="{FF2B5EF4-FFF2-40B4-BE49-F238E27FC236}">
                    <a16:creationId xmlns:a16="http://schemas.microsoft.com/office/drawing/2014/main" id="{FEF6DA19-8D67-BD1F-0334-011B71E902FD}"/>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25" name="Rectangle 93">
                <a:extLst>
                  <a:ext uri="{FF2B5EF4-FFF2-40B4-BE49-F238E27FC236}">
                    <a16:creationId xmlns:a16="http://schemas.microsoft.com/office/drawing/2014/main" id="{7EA2CBB3-D2E3-A09C-ABA8-160424567030}"/>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26" name="Rectangle 93">
                <a:extLst>
                  <a:ext uri="{FF2B5EF4-FFF2-40B4-BE49-F238E27FC236}">
                    <a16:creationId xmlns:a16="http://schemas.microsoft.com/office/drawing/2014/main" id="{95396C87-E8F6-F953-B835-C695293037E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327" name="直線コネクタ 326">
                <a:extLst>
                  <a:ext uri="{FF2B5EF4-FFF2-40B4-BE49-F238E27FC236}">
                    <a16:creationId xmlns:a16="http://schemas.microsoft.com/office/drawing/2014/main" id="{2A4DC56C-DAA1-F0E7-110C-04CBE1D74EFD}"/>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28" name="直線コネクタ 327">
                <a:extLst>
                  <a:ext uri="{FF2B5EF4-FFF2-40B4-BE49-F238E27FC236}">
                    <a16:creationId xmlns:a16="http://schemas.microsoft.com/office/drawing/2014/main" id="{1766829E-6134-3F71-A2E4-F23A60DA8260}"/>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316" name="円/楕円 69">
              <a:extLst>
                <a:ext uri="{FF2B5EF4-FFF2-40B4-BE49-F238E27FC236}">
                  <a16:creationId xmlns:a16="http://schemas.microsoft.com/office/drawing/2014/main" id="{0395691D-DC49-B4C7-2873-4C3D9412B808}"/>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cxnSp>
        <p:nvCxnSpPr>
          <p:cNvPr id="329" name="直線コネクタ 328">
            <a:extLst>
              <a:ext uri="{FF2B5EF4-FFF2-40B4-BE49-F238E27FC236}">
                <a16:creationId xmlns:a16="http://schemas.microsoft.com/office/drawing/2014/main" id="{129FED01-B616-A940-3B40-417760D79A17}"/>
              </a:ext>
            </a:extLst>
          </p:cNvPr>
          <p:cNvCxnSpPr>
            <a:cxnSpLocks/>
          </p:cNvCxnSpPr>
          <p:nvPr/>
        </p:nvCxnSpPr>
        <p:spPr>
          <a:xfrm flipH="1">
            <a:off x="8172040" y="4419011"/>
            <a:ext cx="450005" cy="0"/>
          </a:xfrm>
          <a:prstGeom prst="line">
            <a:avLst/>
          </a:prstGeom>
          <a:ln w="6350"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766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b="1" dirty="0"/>
              <a:t>前回の振り返り</a:t>
            </a:r>
          </a:p>
        </p:txBody>
      </p:sp>
    </p:spTree>
    <p:extLst>
      <p:ext uri="{BB962C8B-B14F-4D97-AF65-F5344CB8AC3E}">
        <p14:creationId xmlns:p14="http://schemas.microsoft.com/office/powerpoint/2010/main" val="231793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r>
              <a:rPr lang="ja-JP" altLang="en-US" sz="2400" dirty="0"/>
              <a:t>記憶素子の原理</a:t>
            </a:r>
          </a:p>
        </p:txBody>
      </p:sp>
      <p:sp>
        <p:nvSpPr>
          <p:cNvPr id="715779" name="Rectangle 3"/>
          <p:cNvSpPr>
            <a:spLocks noGrp="1" noChangeArrowheads="1"/>
          </p:cNvSpPr>
          <p:nvPr>
            <p:ph sz="quarter" idx="13"/>
          </p:nvPr>
        </p:nvSpPr>
        <p:spPr>
          <a:xfrm>
            <a:off x="341953" y="1268976"/>
            <a:ext cx="8460622" cy="1350014"/>
          </a:xfrm>
        </p:spPr>
        <p:txBody>
          <a:bodyPr/>
          <a:lstStyle/>
          <a:p>
            <a:r>
              <a:rPr lang="ja-JP" altLang="en-US" dirty="0"/>
              <a:t>記憶の実現方法：</a:t>
            </a:r>
          </a:p>
          <a:p>
            <a:pPr lvl="1"/>
            <a:r>
              <a:rPr lang="ja-JP" altLang="en-US" dirty="0"/>
              <a:t>２つの </a:t>
            </a:r>
            <a:r>
              <a:rPr lang="en-US" altLang="ja-JP" dirty="0"/>
              <a:t>NOT </a:t>
            </a:r>
            <a:r>
              <a:rPr lang="ja-JP" altLang="en-US" dirty="0"/>
              <a:t>ゲート（インバータ）をループさせた回路により実現</a:t>
            </a:r>
            <a:endParaRPr lang="en-US" altLang="ja-JP" dirty="0"/>
          </a:p>
          <a:p>
            <a:pPr lvl="1"/>
            <a:r>
              <a:rPr lang="ja-JP" altLang="en-US" dirty="0"/>
              <a:t>以下の２通りの安定状態がある</a:t>
            </a:r>
            <a:endParaRPr lang="en-US" altLang="ja-JP" dirty="0"/>
          </a:p>
          <a:p>
            <a:pPr lvl="2"/>
            <a:r>
              <a:rPr lang="ja-JP" altLang="en-US" dirty="0"/>
              <a:t>これのどっちになっているによって，</a:t>
            </a:r>
            <a:r>
              <a:rPr lang="en-US" altLang="ja-JP" dirty="0"/>
              <a:t>1 bit </a:t>
            </a:r>
            <a:r>
              <a:rPr lang="ja-JP" altLang="en-US" dirty="0"/>
              <a:t>の情報を記憶</a:t>
            </a:r>
          </a:p>
        </p:txBody>
      </p:sp>
      <p:sp>
        <p:nvSpPr>
          <p:cNvPr id="715787" name="Freeform 11"/>
          <p:cNvSpPr>
            <a:spLocks/>
          </p:cNvSpPr>
          <p:nvPr/>
        </p:nvSpPr>
        <p:spPr bwMode="auto">
          <a:xfrm>
            <a:off x="2411387" y="4149008"/>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8" name="Freeform 12"/>
          <p:cNvSpPr>
            <a:spLocks/>
          </p:cNvSpPr>
          <p:nvPr/>
        </p:nvSpPr>
        <p:spPr bwMode="auto">
          <a:xfrm flipH="1">
            <a:off x="3401987" y="4149008"/>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9" name="Rectangle 13"/>
          <p:cNvSpPr>
            <a:spLocks noChangeArrowheads="1"/>
          </p:cNvSpPr>
          <p:nvPr/>
        </p:nvSpPr>
        <p:spPr bwMode="auto">
          <a:xfrm>
            <a:off x="2141973" y="4329010"/>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715790" name="Rectangle 14"/>
          <p:cNvSpPr>
            <a:spLocks noChangeArrowheads="1"/>
          </p:cNvSpPr>
          <p:nvPr/>
        </p:nvSpPr>
        <p:spPr bwMode="auto">
          <a:xfrm>
            <a:off x="3852837" y="4329983"/>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715791" name="Picture 15" descr="NOT"/>
          <p:cNvPicPr>
            <a:picLocks noChangeAspect="1" noChangeArrowheads="1"/>
          </p:cNvPicPr>
          <p:nvPr/>
        </p:nvPicPr>
        <p:blipFill>
          <a:blip r:embed="rId3" cstate="print"/>
          <a:srcRect/>
          <a:stretch>
            <a:fillRect/>
          </a:stretch>
        </p:blipFill>
        <p:spPr bwMode="auto">
          <a:xfrm>
            <a:off x="2771750" y="3790233"/>
            <a:ext cx="717550" cy="720725"/>
          </a:xfrm>
          <a:prstGeom prst="rect">
            <a:avLst/>
          </a:prstGeom>
          <a:noFill/>
        </p:spPr>
      </p:pic>
      <p:pic>
        <p:nvPicPr>
          <p:cNvPr id="715792" name="Picture 16" descr="NOT"/>
          <p:cNvPicPr>
            <a:picLocks noChangeAspect="1" noChangeArrowheads="1"/>
          </p:cNvPicPr>
          <p:nvPr/>
        </p:nvPicPr>
        <p:blipFill>
          <a:blip r:embed="rId3" cstate="print"/>
          <a:srcRect/>
          <a:stretch>
            <a:fillRect/>
          </a:stretch>
        </p:blipFill>
        <p:spPr bwMode="auto">
          <a:xfrm flipH="1">
            <a:off x="2771750" y="4509371"/>
            <a:ext cx="717550" cy="720725"/>
          </a:xfrm>
          <a:prstGeom prst="rect">
            <a:avLst/>
          </a:prstGeom>
          <a:noFill/>
        </p:spPr>
      </p:pic>
      <p:sp>
        <p:nvSpPr>
          <p:cNvPr id="52" name="Freeform 11"/>
          <p:cNvSpPr>
            <a:spLocks/>
          </p:cNvSpPr>
          <p:nvPr/>
        </p:nvSpPr>
        <p:spPr bwMode="auto">
          <a:xfrm>
            <a:off x="5291419" y="4149008"/>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53" name="Freeform 12"/>
          <p:cNvSpPr>
            <a:spLocks/>
          </p:cNvSpPr>
          <p:nvPr/>
        </p:nvSpPr>
        <p:spPr bwMode="auto">
          <a:xfrm flipH="1">
            <a:off x="6282019" y="4149008"/>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54" name="Rectangle 13"/>
          <p:cNvSpPr>
            <a:spLocks noChangeArrowheads="1"/>
          </p:cNvSpPr>
          <p:nvPr/>
        </p:nvSpPr>
        <p:spPr bwMode="auto">
          <a:xfrm>
            <a:off x="6821795" y="4330239"/>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55" name="Rectangle 14"/>
          <p:cNvSpPr>
            <a:spLocks noChangeArrowheads="1"/>
          </p:cNvSpPr>
          <p:nvPr/>
        </p:nvSpPr>
        <p:spPr bwMode="auto">
          <a:xfrm>
            <a:off x="4931774" y="4330239"/>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56" name="Picture 15" descr="NOT"/>
          <p:cNvPicPr>
            <a:picLocks noChangeAspect="1" noChangeArrowheads="1"/>
          </p:cNvPicPr>
          <p:nvPr/>
        </p:nvPicPr>
        <p:blipFill>
          <a:blip r:embed="rId3" cstate="print"/>
          <a:srcRect/>
          <a:stretch>
            <a:fillRect/>
          </a:stretch>
        </p:blipFill>
        <p:spPr bwMode="auto">
          <a:xfrm>
            <a:off x="5651782" y="3790233"/>
            <a:ext cx="717550" cy="720725"/>
          </a:xfrm>
          <a:prstGeom prst="rect">
            <a:avLst/>
          </a:prstGeom>
          <a:noFill/>
        </p:spPr>
      </p:pic>
      <p:pic>
        <p:nvPicPr>
          <p:cNvPr id="57" name="Picture 16" descr="NOT"/>
          <p:cNvPicPr>
            <a:picLocks noChangeAspect="1" noChangeArrowheads="1"/>
          </p:cNvPicPr>
          <p:nvPr/>
        </p:nvPicPr>
        <p:blipFill>
          <a:blip r:embed="rId3" cstate="print"/>
          <a:srcRect/>
          <a:stretch>
            <a:fillRect/>
          </a:stretch>
        </p:blipFill>
        <p:spPr bwMode="auto">
          <a:xfrm flipH="1">
            <a:off x="5651782" y="4509371"/>
            <a:ext cx="717550" cy="720725"/>
          </a:xfrm>
          <a:prstGeom prst="rect">
            <a:avLst/>
          </a:prstGeom>
          <a:noFill/>
        </p:spPr>
      </p:pic>
    </p:spTree>
    <p:extLst>
      <p:ext uri="{BB962C8B-B14F-4D97-AF65-F5344CB8AC3E}">
        <p14:creationId xmlns:p14="http://schemas.microsoft.com/office/powerpoint/2010/main" val="2083248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r>
              <a:rPr lang="en-US" altLang="ja-JP" sz="2400" dirty="0"/>
              <a:t>D </a:t>
            </a:r>
            <a:r>
              <a:rPr lang="ja-JP" altLang="en-US" sz="2400" dirty="0"/>
              <a:t>ラッチの回路</a:t>
            </a:r>
            <a:endParaRPr lang="en-US" altLang="ja-JP" sz="2400" dirty="0"/>
          </a:p>
        </p:txBody>
      </p:sp>
      <p:sp>
        <p:nvSpPr>
          <p:cNvPr id="700460" name="Freeform 44"/>
          <p:cNvSpPr>
            <a:spLocks/>
          </p:cNvSpPr>
          <p:nvPr/>
        </p:nvSpPr>
        <p:spPr bwMode="auto">
          <a:xfrm>
            <a:off x="6011658" y="1268617"/>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6372020" y="908255"/>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6372020" y="1628980"/>
            <a:ext cx="717550" cy="720725"/>
          </a:xfrm>
          <a:prstGeom prst="rect">
            <a:avLst/>
          </a:prstGeom>
          <a:noFill/>
        </p:spPr>
      </p:pic>
      <p:sp>
        <p:nvSpPr>
          <p:cNvPr id="700462" name="Line 46"/>
          <p:cNvSpPr>
            <a:spLocks noChangeShapeType="1"/>
          </p:cNvSpPr>
          <p:nvPr/>
        </p:nvSpPr>
        <p:spPr bwMode="auto">
          <a:xfrm>
            <a:off x="5292520" y="1989342"/>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5922758" y="1538492"/>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5562395" y="1898855"/>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7451828" y="1988881"/>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4932158" y="1809955"/>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7812036" y="1808982"/>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5562164" y="1911422"/>
            <a:ext cx="449493" cy="89847"/>
          </a:xfrm>
          <a:prstGeom prst="line">
            <a:avLst/>
          </a:prstGeom>
          <a:noFill/>
          <a:ln w="28575">
            <a:solidFill>
              <a:schemeClr val="accent5"/>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5922758" y="1898855"/>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8" name="Freeform 62"/>
          <p:cNvSpPr>
            <a:spLocks/>
          </p:cNvSpPr>
          <p:nvPr/>
        </p:nvSpPr>
        <p:spPr bwMode="auto">
          <a:xfrm>
            <a:off x="6012016" y="3068996"/>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6372378" y="2708633"/>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6372378" y="3429358"/>
            <a:ext cx="717550" cy="720725"/>
          </a:xfrm>
          <a:prstGeom prst="rect">
            <a:avLst/>
          </a:prstGeom>
          <a:noFill/>
        </p:spPr>
      </p:pic>
      <p:sp>
        <p:nvSpPr>
          <p:cNvPr id="700491" name="Line 75"/>
          <p:cNvSpPr>
            <a:spLocks noChangeShapeType="1"/>
          </p:cNvSpPr>
          <p:nvPr/>
        </p:nvSpPr>
        <p:spPr bwMode="auto">
          <a:xfrm>
            <a:off x="5292878" y="3789721"/>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5923116" y="3338871"/>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5562753" y="3699233"/>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452186" y="3789260"/>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4932516" y="3610333"/>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7812036" y="3519001"/>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5921528" y="3340458"/>
            <a:ext cx="90488" cy="449263"/>
          </a:xfrm>
          <a:prstGeom prst="line">
            <a:avLst/>
          </a:prstGeom>
          <a:noFill/>
          <a:ln w="28575">
            <a:solidFill>
              <a:schemeClr val="accent5"/>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5923116" y="3699233"/>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4" name="スライド番号プレースホルダー 3"/>
          <p:cNvSpPr>
            <a:spLocks noGrp="1"/>
          </p:cNvSpPr>
          <p:nvPr>
            <p:ph type="sldNum" sz="quarter" idx="4294967295"/>
          </p:nvPr>
        </p:nvSpPr>
        <p:spPr>
          <a:xfrm>
            <a:off x="8712552" y="6399396"/>
            <a:ext cx="360048" cy="360048"/>
          </a:xfrm>
          <a:prstGeom prst="rect">
            <a:avLst/>
          </a:prstGeom>
        </p:spPr>
        <p:txBody>
          <a:bodyPr/>
          <a:lstStyle/>
          <a:p>
            <a:fld id="{B99B8E25-FC55-4448-A609-32D724F2B374}" type="slidenum">
              <a:rPr lang="ja-JP" altLang="en-US" smtClean="0"/>
              <a:pPr/>
              <a:t>10</a:t>
            </a:fld>
            <a:endParaRPr lang="ja-JP" altLang="en-US"/>
          </a:p>
        </p:txBody>
      </p:sp>
      <p:sp>
        <p:nvSpPr>
          <p:cNvPr id="75" name="Rectangle 5"/>
          <p:cNvSpPr txBox="1">
            <a:spLocks noChangeArrowheads="1"/>
          </p:cNvSpPr>
          <p:nvPr/>
        </p:nvSpPr>
        <p:spPr>
          <a:xfrm>
            <a:off x="251951" y="1268976"/>
            <a:ext cx="4590051" cy="5040056"/>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構造：マルチプレクサが入ったインバータのループ</a:t>
            </a:r>
            <a:endParaRPr lang="en-US" altLang="ja-JP" kern="0" dirty="0"/>
          </a:p>
          <a:p>
            <a:pPr lvl="1"/>
            <a:r>
              <a:rPr lang="ja-JP" altLang="en-US" kern="0" dirty="0"/>
              <a:t>ここではマルチプレクサを切り替えスイッチとして説明</a:t>
            </a:r>
          </a:p>
          <a:p>
            <a:pPr lvl="1"/>
            <a:r>
              <a:rPr lang="ja-JP" altLang="en-US" kern="0" dirty="0"/>
              <a:t>クロックの立ち上がりのたびに，スイッチが切り替わる</a:t>
            </a:r>
            <a:br>
              <a:rPr lang="en-US" altLang="ja-JP" kern="0" dirty="0"/>
            </a:br>
            <a:endParaRPr lang="en-US" altLang="ja-JP" kern="0" dirty="0"/>
          </a:p>
          <a:p>
            <a:pPr lvl="1"/>
            <a:r>
              <a:rPr lang="en-US" altLang="ja-JP" i="1" kern="0" dirty="0"/>
              <a:t>d</a:t>
            </a:r>
            <a:r>
              <a:rPr lang="ja-JP" altLang="en-US" kern="0" dirty="0"/>
              <a:t> の値をループに取り入れ，取り入れた値が </a:t>
            </a:r>
            <a:r>
              <a:rPr lang="en-US" altLang="ja-JP" i="1" kern="0" dirty="0"/>
              <a:t>q</a:t>
            </a:r>
            <a:r>
              <a:rPr lang="ja-JP" altLang="en-US" kern="0" dirty="0"/>
              <a:t> から出力される</a:t>
            </a:r>
            <a:endParaRPr lang="en-US" altLang="ja-JP" kern="0" dirty="0"/>
          </a:p>
        </p:txBody>
      </p:sp>
      <p:sp>
        <p:nvSpPr>
          <p:cNvPr id="7" name="Rectangle 93">
            <a:extLst>
              <a:ext uri="{FF2B5EF4-FFF2-40B4-BE49-F238E27FC236}">
                <a16:creationId xmlns:a16="http://schemas.microsoft.com/office/drawing/2014/main" id="{BD8FB16A-14B3-67D5-45E4-C26E45586F63}"/>
              </a:ext>
            </a:extLst>
          </p:cNvPr>
          <p:cNvSpPr>
            <a:spLocks noChangeArrowheads="1"/>
          </p:cNvSpPr>
          <p:nvPr/>
        </p:nvSpPr>
        <p:spPr bwMode="auto">
          <a:xfrm>
            <a:off x="7182029" y="2258987"/>
            <a:ext cx="1081087" cy="360362"/>
          </a:xfrm>
          <a:prstGeom prst="rect">
            <a:avLst/>
          </a:prstGeom>
          <a:noFill/>
          <a:ln w="12700" algn="ctr">
            <a:noFill/>
            <a:miter lim="800000"/>
            <a:headEnd/>
            <a:tailEnd/>
          </a:ln>
          <a:effectLst/>
        </p:spPr>
        <p:txBody>
          <a:bodyPr wrap="none" lIns="90000" tIns="46800" rIns="90000" bIns="46800" anchor="ctr"/>
          <a:lstStyle/>
          <a:p>
            <a:r>
              <a:rPr lang="en-US" altLang="ja-JP" dirty="0"/>
              <a:t>d </a:t>
            </a:r>
            <a:r>
              <a:rPr lang="ja-JP" altLang="en-US" dirty="0"/>
              <a:t>に入った値</a:t>
            </a:r>
            <a:endParaRPr lang="en-US" altLang="ja-JP" dirty="0"/>
          </a:p>
          <a:p>
            <a:r>
              <a:rPr lang="ja-JP" altLang="en-US" dirty="0"/>
              <a:t>を反転して通す</a:t>
            </a:r>
            <a:endParaRPr lang="en-US" altLang="ja-JP" dirty="0"/>
          </a:p>
        </p:txBody>
      </p:sp>
      <p:sp>
        <p:nvSpPr>
          <p:cNvPr id="8" name="Rectangle 83">
            <a:extLst>
              <a:ext uri="{FF2B5EF4-FFF2-40B4-BE49-F238E27FC236}">
                <a16:creationId xmlns:a16="http://schemas.microsoft.com/office/drawing/2014/main" id="{7E456033-A345-04EC-D406-B85848F1348B}"/>
              </a:ext>
            </a:extLst>
          </p:cNvPr>
          <p:cNvSpPr>
            <a:spLocks noChangeArrowheads="1"/>
          </p:cNvSpPr>
          <p:nvPr/>
        </p:nvSpPr>
        <p:spPr bwMode="auto">
          <a:xfrm>
            <a:off x="5292366" y="3428641"/>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9" name="Rectangle 83">
            <a:extLst>
              <a:ext uri="{FF2B5EF4-FFF2-40B4-BE49-F238E27FC236}">
                <a16:creationId xmlns:a16="http://schemas.microsoft.com/office/drawing/2014/main" id="{034B9220-D132-AA8A-C1E8-F7000C101AA8}"/>
              </a:ext>
            </a:extLst>
          </p:cNvPr>
          <p:cNvSpPr>
            <a:spLocks noChangeArrowheads="1"/>
          </p:cNvSpPr>
          <p:nvPr/>
        </p:nvSpPr>
        <p:spPr bwMode="auto">
          <a:xfrm>
            <a:off x="6012016" y="162949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0" name="Rectangle 83">
            <a:extLst>
              <a:ext uri="{FF2B5EF4-FFF2-40B4-BE49-F238E27FC236}">
                <a16:creationId xmlns:a16="http://schemas.microsoft.com/office/drawing/2014/main" id="{8F724F54-9B54-B6AE-3901-23A49DADDC12}"/>
              </a:ext>
            </a:extLst>
          </p:cNvPr>
          <p:cNvSpPr>
            <a:spLocks noChangeArrowheads="1"/>
          </p:cNvSpPr>
          <p:nvPr/>
        </p:nvSpPr>
        <p:spPr bwMode="auto">
          <a:xfrm>
            <a:off x="7091670" y="1448619"/>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0</a:t>
            </a:r>
          </a:p>
        </p:txBody>
      </p:sp>
      <p:sp>
        <p:nvSpPr>
          <p:cNvPr id="12" name="Rectangle 83">
            <a:extLst>
              <a:ext uri="{FF2B5EF4-FFF2-40B4-BE49-F238E27FC236}">
                <a16:creationId xmlns:a16="http://schemas.microsoft.com/office/drawing/2014/main" id="{220F5671-F264-B456-5B83-0809E4F7E0E2}"/>
              </a:ext>
            </a:extLst>
          </p:cNvPr>
          <p:cNvSpPr>
            <a:spLocks noChangeArrowheads="1"/>
          </p:cNvSpPr>
          <p:nvPr/>
        </p:nvSpPr>
        <p:spPr bwMode="auto">
          <a:xfrm>
            <a:off x="6012016" y="909484"/>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3" name="Rectangle 83">
            <a:extLst>
              <a:ext uri="{FF2B5EF4-FFF2-40B4-BE49-F238E27FC236}">
                <a16:creationId xmlns:a16="http://schemas.microsoft.com/office/drawing/2014/main" id="{AA9D4267-E50D-AEF1-3F55-CD9C98492BAA}"/>
              </a:ext>
            </a:extLst>
          </p:cNvPr>
          <p:cNvSpPr>
            <a:spLocks noChangeArrowheads="1"/>
          </p:cNvSpPr>
          <p:nvPr/>
        </p:nvSpPr>
        <p:spPr bwMode="auto">
          <a:xfrm>
            <a:off x="6012374" y="3429871"/>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4" name="Rectangle 83">
            <a:extLst>
              <a:ext uri="{FF2B5EF4-FFF2-40B4-BE49-F238E27FC236}">
                <a16:creationId xmlns:a16="http://schemas.microsoft.com/office/drawing/2014/main" id="{96C2642B-843C-6E3A-EAA1-CFD0FAB15B4B}"/>
              </a:ext>
            </a:extLst>
          </p:cNvPr>
          <p:cNvSpPr>
            <a:spLocks noChangeArrowheads="1"/>
          </p:cNvSpPr>
          <p:nvPr/>
        </p:nvSpPr>
        <p:spPr bwMode="auto">
          <a:xfrm>
            <a:off x="7092028" y="3248998"/>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0</a:t>
            </a:r>
          </a:p>
        </p:txBody>
      </p:sp>
      <p:sp>
        <p:nvSpPr>
          <p:cNvPr id="15" name="Rectangle 83">
            <a:extLst>
              <a:ext uri="{FF2B5EF4-FFF2-40B4-BE49-F238E27FC236}">
                <a16:creationId xmlns:a16="http://schemas.microsoft.com/office/drawing/2014/main" id="{43052578-2A1C-2AED-EEEC-F5D5422A9D3E}"/>
              </a:ext>
            </a:extLst>
          </p:cNvPr>
          <p:cNvSpPr>
            <a:spLocks noChangeArrowheads="1"/>
          </p:cNvSpPr>
          <p:nvPr/>
        </p:nvSpPr>
        <p:spPr bwMode="auto">
          <a:xfrm>
            <a:off x="6012374" y="2709863"/>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7" name="矢印: 右 16">
            <a:extLst>
              <a:ext uri="{FF2B5EF4-FFF2-40B4-BE49-F238E27FC236}">
                <a16:creationId xmlns:a16="http://schemas.microsoft.com/office/drawing/2014/main" id="{2C58501D-735D-C229-13F3-2F4611E2F4DA}"/>
              </a:ext>
            </a:extLst>
          </p:cNvPr>
          <p:cNvSpPr/>
          <p:nvPr/>
        </p:nvSpPr>
        <p:spPr bwMode="auto">
          <a:xfrm rot="5400000">
            <a:off x="6552022" y="2348988"/>
            <a:ext cx="450005"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8" name="Freeform 62">
            <a:extLst>
              <a:ext uri="{FF2B5EF4-FFF2-40B4-BE49-F238E27FC236}">
                <a16:creationId xmlns:a16="http://schemas.microsoft.com/office/drawing/2014/main" id="{B46A048E-5009-0B4B-2B8E-ABDD51077666}"/>
              </a:ext>
            </a:extLst>
          </p:cNvPr>
          <p:cNvSpPr>
            <a:spLocks/>
          </p:cNvSpPr>
          <p:nvPr/>
        </p:nvSpPr>
        <p:spPr bwMode="auto">
          <a:xfrm>
            <a:off x="6011658" y="4869375"/>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19" name="Picture 64" descr="NOT">
            <a:extLst>
              <a:ext uri="{FF2B5EF4-FFF2-40B4-BE49-F238E27FC236}">
                <a16:creationId xmlns:a16="http://schemas.microsoft.com/office/drawing/2014/main" id="{69D76F12-6905-9B8F-E02B-62C9A83B6D6E}"/>
              </a:ext>
            </a:extLst>
          </p:cNvPr>
          <p:cNvPicPr>
            <a:picLocks noChangeAspect="1" noChangeArrowheads="1"/>
          </p:cNvPicPr>
          <p:nvPr/>
        </p:nvPicPr>
        <p:blipFill>
          <a:blip r:embed="rId3" cstate="print"/>
          <a:srcRect/>
          <a:stretch>
            <a:fillRect/>
          </a:stretch>
        </p:blipFill>
        <p:spPr bwMode="auto">
          <a:xfrm flipH="1">
            <a:off x="6372020" y="4509012"/>
            <a:ext cx="717550" cy="720725"/>
          </a:xfrm>
          <a:prstGeom prst="rect">
            <a:avLst/>
          </a:prstGeom>
          <a:noFill/>
        </p:spPr>
      </p:pic>
      <p:pic>
        <p:nvPicPr>
          <p:cNvPr id="20" name="Picture 65" descr="NOT">
            <a:extLst>
              <a:ext uri="{FF2B5EF4-FFF2-40B4-BE49-F238E27FC236}">
                <a16:creationId xmlns:a16="http://schemas.microsoft.com/office/drawing/2014/main" id="{0C1F4009-0AB0-DF66-B530-8B13A6AE4B80}"/>
              </a:ext>
            </a:extLst>
          </p:cNvPr>
          <p:cNvPicPr>
            <a:picLocks noChangeAspect="1" noChangeArrowheads="1"/>
          </p:cNvPicPr>
          <p:nvPr/>
        </p:nvPicPr>
        <p:blipFill>
          <a:blip r:embed="rId3" cstate="print"/>
          <a:srcRect/>
          <a:stretch>
            <a:fillRect/>
          </a:stretch>
        </p:blipFill>
        <p:spPr bwMode="auto">
          <a:xfrm>
            <a:off x="6372020" y="5229737"/>
            <a:ext cx="717550" cy="720725"/>
          </a:xfrm>
          <a:prstGeom prst="rect">
            <a:avLst/>
          </a:prstGeom>
          <a:noFill/>
        </p:spPr>
      </p:pic>
      <p:sp>
        <p:nvSpPr>
          <p:cNvPr id="21" name="Line 75">
            <a:extLst>
              <a:ext uri="{FF2B5EF4-FFF2-40B4-BE49-F238E27FC236}">
                <a16:creationId xmlns:a16="http://schemas.microsoft.com/office/drawing/2014/main" id="{0E6851F5-3F8A-8B88-A42C-77FE56E7261B}"/>
              </a:ext>
            </a:extLst>
          </p:cNvPr>
          <p:cNvSpPr>
            <a:spLocks noChangeShapeType="1"/>
          </p:cNvSpPr>
          <p:nvPr/>
        </p:nvSpPr>
        <p:spPr bwMode="auto">
          <a:xfrm>
            <a:off x="5292520" y="5590100"/>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22" name="Group 76">
            <a:extLst>
              <a:ext uri="{FF2B5EF4-FFF2-40B4-BE49-F238E27FC236}">
                <a16:creationId xmlns:a16="http://schemas.microsoft.com/office/drawing/2014/main" id="{60A9A132-7C22-D0CD-0091-B1671119854E}"/>
              </a:ext>
            </a:extLst>
          </p:cNvPr>
          <p:cNvGrpSpPr>
            <a:grpSpLocks/>
          </p:cNvGrpSpPr>
          <p:nvPr/>
        </p:nvGrpSpPr>
        <p:grpSpPr bwMode="auto">
          <a:xfrm>
            <a:off x="5922758" y="5139250"/>
            <a:ext cx="180975" cy="180975"/>
            <a:chOff x="2823" y="1990"/>
            <a:chExt cx="227" cy="227"/>
          </a:xfrm>
        </p:grpSpPr>
        <p:sp>
          <p:nvSpPr>
            <p:cNvPr id="23" name="Rectangle 77">
              <a:extLst>
                <a:ext uri="{FF2B5EF4-FFF2-40B4-BE49-F238E27FC236}">
                  <a16:creationId xmlns:a16="http://schemas.microsoft.com/office/drawing/2014/main" id="{CA50B49B-A7FF-D4EC-463C-740F9E05EFA6}"/>
                </a:ext>
              </a:extLst>
            </p:cNvPr>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24" name="Oval 78">
              <a:extLst>
                <a:ext uri="{FF2B5EF4-FFF2-40B4-BE49-F238E27FC236}">
                  <a16:creationId xmlns:a16="http://schemas.microsoft.com/office/drawing/2014/main" id="{19AC00AE-D5C5-76C5-C9D5-FC31BE2D15F9}"/>
                </a:ext>
              </a:extLst>
            </p:cNvPr>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25" name="Group 79">
            <a:extLst>
              <a:ext uri="{FF2B5EF4-FFF2-40B4-BE49-F238E27FC236}">
                <a16:creationId xmlns:a16="http://schemas.microsoft.com/office/drawing/2014/main" id="{A8C42CDF-7518-B02D-E72F-5DFA6BE887E4}"/>
              </a:ext>
            </a:extLst>
          </p:cNvPr>
          <p:cNvGrpSpPr>
            <a:grpSpLocks/>
          </p:cNvGrpSpPr>
          <p:nvPr/>
        </p:nvGrpSpPr>
        <p:grpSpPr bwMode="auto">
          <a:xfrm>
            <a:off x="5562395" y="5499612"/>
            <a:ext cx="180975" cy="180975"/>
            <a:chOff x="2823" y="1990"/>
            <a:chExt cx="227" cy="227"/>
          </a:xfrm>
        </p:grpSpPr>
        <p:sp>
          <p:nvSpPr>
            <p:cNvPr id="26" name="Rectangle 80">
              <a:extLst>
                <a:ext uri="{FF2B5EF4-FFF2-40B4-BE49-F238E27FC236}">
                  <a16:creationId xmlns:a16="http://schemas.microsoft.com/office/drawing/2014/main" id="{6BB3824C-03A9-CCBB-8E4F-D265FAC5D1B3}"/>
                </a:ext>
              </a:extLst>
            </p:cNvPr>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27" name="Oval 81">
              <a:extLst>
                <a:ext uri="{FF2B5EF4-FFF2-40B4-BE49-F238E27FC236}">
                  <a16:creationId xmlns:a16="http://schemas.microsoft.com/office/drawing/2014/main" id="{CD979090-4D3B-2467-FB88-7FAAF2B05FF2}"/>
                </a:ext>
              </a:extLst>
            </p:cNvPr>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28" name="Line 82">
            <a:extLst>
              <a:ext uri="{FF2B5EF4-FFF2-40B4-BE49-F238E27FC236}">
                <a16:creationId xmlns:a16="http://schemas.microsoft.com/office/drawing/2014/main" id="{CD81B6B1-5B53-6D73-63F4-60D53EE395C0}"/>
              </a:ext>
            </a:extLst>
          </p:cNvPr>
          <p:cNvSpPr>
            <a:spLocks noChangeShapeType="1"/>
          </p:cNvSpPr>
          <p:nvPr/>
        </p:nvSpPr>
        <p:spPr bwMode="auto">
          <a:xfrm>
            <a:off x="7451828" y="558963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29" name="Rectangle 83">
            <a:extLst>
              <a:ext uri="{FF2B5EF4-FFF2-40B4-BE49-F238E27FC236}">
                <a16:creationId xmlns:a16="http://schemas.microsoft.com/office/drawing/2014/main" id="{C7BD5B80-EF95-2E77-04CC-5E72CF0279F8}"/>
              </a:ext>
            </a:extLst>
          </p:cNvPr>
          <p:cNvSpPr>
            <a:spLocks noChangeArrowheads="1"/>
          </p:cNvSpPr>
          <p:nvPr/>
        </p:nvSpPr>
        <p:spPr bwMode="auto">
          <a:xfrm>
            <a:off x="4932158" y="541071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31" name="Line 85">
            <a:extLst>
              <a:ext uri="{FF2B5EF4-FFF2-40B4-BE49-F238E27FC236}">
                <a16:creationId xmlns:a16="http://schemas.microsoft.com/office/drawing/2014/main" id="{C20BF7C3-8CE4-A848-7A68-58C2439183E0}"/>
              </a:ext>
            </a:extLst>
          </p:cNvPr>
          <p:cNvSpPr>
            <a:spLocks noChangeShapeType="1"/>
          </p:cNvSpPr>
          <p:nvPr/>
        </p:nvSpPr>
        <p:spPr bwMode="auto">
          <a:xfrm flipH="1" flipV="1">
            <a:off x="5921170" y="5140837"/>
            <a:ext cx="90488" cy="449263"/>
          </a:xfrm>
          <a:prstGeom prst="line">
            <a:avLst/>
          </a:prstGeom>
          <a:noFill/>
          <a:ln w="28575">
            <a:solidFill>
              <a:schemeClr val="accent5"/>
            </a:solidFill>
            <a:round/>
            <a:headEnd/>
            <a:tailEnd type="none" w="med" len="lg"/>
          </a:ln>
          <a:effectLst/>
        </p:spPr>
        <p:txBody>
          <a:bodyPr wrap="none" lIns="90000" tIns="46800" rIns="90000" bIns="46800" anchor="ctr"/>
          <a:lstStyle/>
          <a:p>
            <a:endParaRPr lang="ja-JP" altLang="en-US"/>
          </a:p>
        </p:txBody>
      </p:sp>
      <p:grpSp>
        <p:nvGrpSpPr>
          <p:cNvPr id="32" name="Group 86">
            <a:extLst>
              <a:ext uri="{FF2B5EF4-FFF2-40B4-BE49-F238E27FC236}">
                <a16:creationId xmlns:a16="http://schemas.microsoft.com/office/drawing/2014/main" id="{E60234BC-26F6-E228-56E6-59ED1768370F}"/>
              </a:ext>
            </a:extLst>
          </p:cNvPr>
          <p:cNvGrpSpPr>
            <a:grpSpLocks/>
          </p:cNvGrpSpPr>
          <p:nvPr/>
        </p:nvGrpSpPr>
        <p:grpSpPr bwMode="auto">
          <a:xfrm>
            <a:off x="5922758" y="5499612"/>
            <a:ext cx="180975" cy="180975"/>
            <a:chOff x="2823" y="1990"/>
            <a:chExt cx="227" cy="227"/>
          </a:xfrm>
        </p:grpSpPr>
        <p:sp>
          <p:nvSpPr>
            <p:cNvPr id="33" name="Rectangle 87">
              <a:extLst>
                <a:ext uri="{FF2B5EF4-FFF2-40B4-BE49-F238E27FC236}">
                  <a16:creationId xmlns:a16="http://schemas.microsoft.com/office/drawing/2014/main" id="{AE9E37ED-B12B-CDBC-BD84-905E4E8EA726}"/>
                </a:ext>
              </a:extLst>
            </p:cNvPr>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34" name="Oval 88">
              <a:extLst>
                <a:ext uri="{FF2B5EF4-FFF2-40B4-BE49-F238E27FC236}">
                  <a16:creationId xmlns:a16="http://schemas.microsoft.com/office/drawing/2014/main" id="{EE64EFF9-CB36-8B3F-9B62-B1557ED5C5B5}"/>
                </a:ext>
              </a:extLst>
            </p:cNvPr>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35" name="Rectangle 83">
            <a:extLst>
              <a:ext uri="{FF2B5EF4-FFF2-40B4-BE49-F238E27FC236}">
                <a16:creationId xmlns:a16="http://schemas.microsoft.com/office/drawing/2014/main" id="{A281B441-D7F6-C5EC-7E9C-9462B548B36E}"/>
              </a:ext>
            </a:extLst>
          </p:cNvPr>
          <p:cNvSpPr>
            <a:spLocks noChangeArrowheads="1"/>
          </p:cNvSpPr>
          <p:nvPr/>
        </p:nvSpPr>
        <p:spPr bwMode="auto">
          <a:xfrm>
            <a:off x="5292008" y="522902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6"/>
                </a:solidFill>
              </a:rPr>
              <a:t>0</a:t>
            </a:r>
          </a:p>
        </p:txBody>
      </p:sp>
      <p:sp>
        <p:nvSpPr>
          <p:cNvPr id="36" name="Rectangle 83">
            <a:extLst>
              <a:ext uri="{FF2B5EF4-FFF2-40B4-BE49-F238E27FC236}">
                <a16:creationId xmlns:a16="http://schemas.microsoft.com/office/drawing/2014/main" id="{DECFD35D-E195-7516-AA13-FA4C385CBAA8}"/>
              </a:ext>
            </a:extLst>
          </p:cNvPr>
          <p:cNvSpPr>
            <a:spLocks noChangeArrowheads="1"/>
          </p:cNvSpPr>
          <p:nvPr/>
        </p:nvSpPr>
        <p:spPr bwMode="auto">
          <a:xfrm>
            <a:off x="6012016" y="523025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37" name="Rectangle 83">
            <a:extLst>
              <a:ext uri="{FF2B5EF4-FFF2-40B4-BE49-F238E27FC236}">
                <a16:creationId xmlns:a16="http://schemas.microsoft.com/office/drawing/2014/main" id="{5F63571E-FE31-2EB2-94B1-C9DB3C161CD7}"/>
              </a:ext>
            </a:extLst>
          </p:cNvPr>
          <p:cNvSpPr>
            <a:spLocks noChangeArrowheads="1"/>
          </p:cNvSpPr>
          <p:nvPr/>
        </p:nvSpPr>
        <p:spPr bwMode="auto">
          <a:xfrm>
            <a:off x="7091670" y="5049377"/>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0</a:t>
            </a:r>
          </a:p>
        </p:txBody>
      </p:sp>
      <p:sp>
        <p:nvSpPr>
          <p:cNvPr id="39" name="Rectangle 84">
            <a:extLst>
              <a:ext uri="{FF2B5EF4-FFF2-40B4-BE49-F238E27FC236}">
                <a16:creationId xmlns:a16="http://schemas.microsoft.com/office/drawing/2014/main" id="{002219A6-31EB-A69E-B3A1-23615765FCB4}"/>
              </a:ext>
            </a:extLst>
          </p:cNvPr>
          <p:cNvSpPr>
            <a:spLocks noChangeArrowheads="1"/>
          </p:cNvSpPr>
          <p:nvPr/>
        </p:nvSpPr>
        <p:spPr bwMode="auto">
          <a:xfrm>
            <a:off x="7722035" y="5319021"/>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40" name="矢印: 右 39">
            <a:extLst>
              <a:ext uri="{FF2B5EF4-FFF2-40B4-BE49-F238E27FC236}">
                <a16:creationId xmlns:a16="http://schemas.microsoft.com/office/drawing/2014/main" id="{91D31643-5B7F-0F88-5481-E250F7F0A8BC}"/>
              </a:ext>
            </a:extLst>
          </p:cNvPr>
          <p:cNvSpPr/>
          <p:nvPr/>
        </p:nvSpPr>
        <p:spPr bwMode="auto">
          <a:xfrm rot="5400000">
            <a:off x="6552022" y="4149008"/>
            <a:ext cx="450005"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1" name="Rectangle 93">
            <a:extLst>
              <a:ext uri="{FF2B5EF4-FFF2-40B4-BE49-F238E27FC236}">
                <a16:creationId xmlns:a16="http://schemas.microsoft.com/office/drawing/2014/main" id="{B47E1328-8697-E000-BEBA-10D10B658E51}"/>
              </a:ext>
            </a:extLst>
          </p:cNvPr>
          <p:cNvSpPr>
            <a:spLocks noChangeArrowheads="1"/>
          </p:cNvSpPr>
          <p:nvPr/>
        </p:nvSpPr>
        <p:spPr bwMode="auto">
          <a:xfrm>
            <a:off x="7092028" y="4239009"/>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直前に </a:t>
            </a:r>
            <a:r>
              <a:rPr lang="en-US" altLang="ja-JP" dirty="0"/>
              <a:t>d </a:t>
            </a:r>
            <a:r>
              <a:rPr lang="ja-JP" altLang="en-US" dirty="0"/>
              <a:t>に入って</a:t>
            </a:r>
            <a:br>
              <a:rPr lang="en-US" altLang="ja-JP" dirty="0"/>
            </a:br>
            <a:r>
              <a:rPr lang="ja-JP" altLang="en-US" dirty="0"/>
              <a:t>値でループ構成</a:t>
            </a:r>
            <a:endParaRPr lang="en-US" altLang="ja-JP" dirty="0"/>
          </a:p>
        </p:txBody>
      </p:sp>
      <p:sp>
        <p:nvSpPr>
          <p:cNvPr id="42" name="Rectangle 93">
            <a:extLst>
              <a:ext uri="{FF2B5EF4-FFF2-40B4-BE49-F238E27FC236}">
                <a16:creationId xmlns:a16="http://schemas.microsoft.com/office/drawing/2014/main" id="{432CA4B2-2786-2CD1-D469-F55B62B7D442}"/>
              </a:ext>
            </a:extLst>
          </p:cNvPr>
          <p:cNvSpPr>
            <a:spLocks noChangeArrowheads="1"/>
          </p:cNvSpPr>
          <p:nvPr/>
        </p:nvSpPr>
        <p:spPr bwMode="auto">
          <a:xfrm>
            <a:off x="7092028" y="6039029"/>
            <a:ext cx="1081087" cy="360362"/>
          </a:xfrm>
          <a:prstGeom prst="rect">
            <a:avLst/>
          </a:prstGeom>
          <a:noFill/>
          <a:ln w="12700" algn="ctr">
            <a:noFill/>
            <a:miter lim="800000"/>
            <a:headEnd/>
            <a:tailEnd/>
          </a:ln>
          <a:effectLst/>
        </p:spPr>
        <p:txBody>
          <a:bodyPr wrap="none" lIns="90000" tIns="46800" rIns="90000" bIns="46800" anchor="ctr"/>
          <a:lstStyle/>
          <a:p>
            <a:r>
              <a:rPr lang="en-US" altLang="ja-JP" dirty="0"/>
              <a:t>d </a:t>
            </a:r>
            <a:r>
              <a:rPr lang="ja-JP" altLang="en-US" dirty="0"/>
              <a:t>の値が変わって</a:t>
            </a:r>
            <a:br>
              <a:rPr lang="en-US" altLang="ja-JP" dirty="0"/>
            </a:br>
            <a:r>
              <a:rPr lang="ja-JP" altLang="en-US" dirty="0"/>
              <a:t>も </a:t>
            </a:r>
            <a:r>
              <a:rPr lang="en-US" altLang="ja-JP" dirty="0"/>
              <a:t>q </a:t>
            </a:r>
            <a:r>
              <a:rPr lang="ja-JP" altLang="en-US" dirty="0"/>
              <a:t>の出力は </a:t>
            </a:r>
            <a:r>
              <a:rPr lang="en-US" altLang="ja-JP" dirty="0"/>
              <a:t>0 </a:t>
            </a:r>
            <a:r>
              <a:rPr lang="ja-JP" altLang="en-US" dirty="0"/>
              <a:t>の</a:t>
            </a:r>
            <a:br>
              <a:rPr lang="en-US" altLang="ja-JP" dirty="0"/>
            </a:br>
            <a:r>
              <a:rPr lang="ja-JP" altLang="en-US" dirty="0"/>
              <a:t>まま</a:t>
            </a:r>
            <a:endParaRPr lang="en-US" altLang="ja-JP" dirty="0"/>
          </a:p>
        </p:txBody>
      </p:sp>
    </p:spTree>
    <p:extLst>
      <p:ext uri="{BB962C8B-B14F-4D97-AF65-F5344CB8AC3E}">
        <p14:creationId xmlns:p14="http://schemas.microsoft.com/office/powerpoint/2010/main" val="4026768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r>
              <a:rPr lang="en-US" altLang="ja-JP" sz="2400" dirty="0"/>
              <a:t>D-FF</a:t>
            </a:r>
            <a:r>
              <a:rPr lang="ja-JP" altLang="en-US" sz="2400" dirty="0"/>
              <a:t> の回路</a:t>
            </a:r>
            <a:endParaRPr lang="en-US" altLang="ja-JP" sz="2400" dirty="0"/>
          </a:p>
        </p:txBody>
      </p:sp>
      <p:grpSp>
        <p:nvGrpSpPr>
          <p:cNvPr id="3" name="グループ化 2"/>
          <p:cNvGrpSpPr/>
          <p:nvPr/>
        </p:nvGrpSpPr>
        <p:grpSpPr>
          <a:xfrm>
            <a:off x="1871970" y="4779015"/>
            <a:ext cx="5400675" cy="1620223"/>
            <a:chOff x="1673205" y="1448415"/>
            <a:chExt cx="5400675" cy="1620223"/>
          </a:xfrm>
        </p:grpSpPr>
        <p:sp>
          <p:nvSpPr>
            <p:cNvPr id="700460" name="Freeform 44"/>
            <p:cNvSpPr>
              <a:spLocks/>
            </p:cNvSpPr>
            <p:nvPr/>
          </p:nvSpPr>
          <p:spPr bwMode="auto">
            <a:xfrm>
              <a:off x="2752705" y="1987550"/>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4913292" y="1987550"/>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3113067" y="1627188"/>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3113067" y="2347913"/>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5273655" y="1627188"/>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5273655" y="2347913"/>
              <a:ext cx="717550" cy="720725"/>
            </a:xfrm>
            <a:prstGeom prst="rect">
              <a:avLst/>
            </a:prstGeom>
            <a:noFill/>
          </p:spPr>
        </p:pic>
        <p:sp>
          <p:nvSpPr>
            <p:cNvPr id="700461" name="Line 45"/>
            <p:cNvSpPr>
              <a:spLocks noChangeShapeType="1"/>
            </p:cNvSpPr>
            <p:nvPr/>
          </p:nvSpPr>
          <p:spPr bwMode="auto">
            <a:xfrm>
              <a:off x="4192567" y="2708275"/>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53" name="Group 37"/>
            <p:cNvGrpSpPr>
              <a:grpSpLocks/>
            </p:cNvGrpSpPr>
            <p:nvPr/>
          </p:nvGrpSpPr>
          <p:grpSpPr bwMode="auto">
            <a:xfrm>
              <a:off x="4822805" y="2257425"/>
              <a:ext cx="180975" cy="180975"/>
              <a:chOff x="2823" y="1990"/>
              <a:chExt cx="227" cy="227"/>
            </a:xfrm>
          </p:grpSpPr>
          <p:sp>
            <p:nvSpPr>
              <p:cNvPr id="700454" name="Rectangle 3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5" name="Oval 3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56" name="Group 40"/>
            <p:cNvGrpSpPr>
              <a:grpSpLocks/>
            </p:cNvGrpSpPr>
            <p:nvPr/>
          </p:nvGrpSpPr>
          <p:grpSpPr bwMode="auto">
            <a:xfrm>
              <a:off x="4462442" y="2617788"/>
              <a:ext cx="180975" cy="180975"/>
              <a:chOff x="2823" y="1990"/>
              <a:chExt cx="227" cy="227"/>
            </a:xfrm>
          </p:grpSpPr>
          <p:sp>
            <p:nvSpPr>
              <p:cNvPr id="700457" name="Rectangle 4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8" name="Oval 4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62" name="Line 46"/>
            <p:cNvSpPr>
              <a:spLocks noChangeShapeType="1"/>
            </p:cNvSpPr>
            <p:nvPr/>
          </p:nvSpPr>
          <p:spPr bwMode="auto">
            <a:xfrm>
              <a:off x="2033567" y="2708275"/>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2663805" y="2257425"/>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2303442" y="2617788"/>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6353155" y="2708275"/>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1673205" y="2528888"/>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6713517" y="2528888"/>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2303442" y="2617788"/>
              <a:ext cx="449263" cy="9048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2663805" y="2617788"/>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7" name="Line 61"/>
            <p:cNvSpPr>
              <a:spLocks noChangeShapeType="1"/>
            </p:cNvSpPr>
            <p:nvPr/>
          </p:nvSpPr>
          <p:spPr bwMode="auto">
            <a:xfrm flipH="1" flipV="1">
              <a:off x="4822805" y="2257425"/>
              <a:ext cx="88900" cy="45085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52" name="Group 36"/>
            <p:cNvGrpSpPr>
              <a:grpSpLocks/>
            </p:cNvGrpSpPr>
            <p:nvPr/>
          </p:nvGrpSpPr>
          <p:grpSpPr bwMode="auto">
            <a:xfrm>
              <a:off x="4822805" y="2617788"/>
              <a:ext cx="180975" cy="180975"/>
              <a:chOff x="2823" y="1990"/>
              <a:chExt cx="227" cy="227"/>
            </a:xfrm>
          </p:grpSpPr>
          <p:sp>
            <p:nvSpPr>
              <p:cNvPr id="700451" name="Rectangle 35"/>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0" name="Oval 3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9" name="Rectangle 93"/>
            <p:cNvSpPr>
              <a:spLocks noChangeArrowheads="1"/>
            </p:cNvSpPr>
            <p:nvPr/>
          </p:nvSpPr>
          <p:spPr bwMode="auto">
            <a:xfrm>
              <a:off x="4013231" y="1448415"/>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0</a:t>
              </a:r>
            </a:p>
          </p:txBody>
        </p:sp>
      </p:grpSp>
      <p:grpSp>
        <p:nvGrpSpPr>
          <p:cNvPr id="5" name="グループ化 4"/>
          <p:cNvGrpSpPr/>
          <p:nvPr/>
        </p:nvGrpSpPr>
        <p:grpSpPr>
          <a:xfrm>
            <a:off x="1871970" y="2798993"/>
            <a:ext cx="5400675" cy="1621452"/>
            <a:chOff x="1673205" y="4328498"/>
            <a:chExt cx="5400675" cy="1621452"/>
          </a:xfrm>
        </p:grpSpPr>
        <p:sp>
          <p:nvSpPr>
            <p:cNvPr id="700478" name="Freeform 62"/>
            <p:cNvSpPr>
              <a:spLocks/>
            </p:cNvSpPr>
            <p:nvPr/>
          </p:nvSpPr>
          <p:spPr bwMode="auto">
            <a:xfrm>
              <a:off x="2752705" y="4868863"/>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4913292" y="4868863"/>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3113067" y="4508500"/>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3113067" y="5229225"/>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5273655" y="4508500"/>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5273655" y="5229225"/>
              <a:ext cx="717550" cy="720725"/>
            </a:xfrm>
            <a:prstGeom prst="rect">
              <a:avLst/>
            </a:prstGeom>
            <a:noFill/>
          </p:spPr>
        </p:pic>
        <p:sp>
          <p:nvSpPr>
            <p:cNvPr id="700484" name="Line 68"/>
            <p:cNvSpPr>
              <a:spLocks noChangeShapeType="1"/>
            </p:cNvSpPr>
            <p:nvPr/>
          </p:nvSpPr>
          <p:spPr bwMode="auto">
            <a:xfrm>
              <a:off x="4192567" y="5589588"/>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4822805" y="5138738"/>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4462442" y="5499100"/>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2033567" y="5589588"/>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2663805" y="5138738"/>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2303442" y="5499100"/>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6353155" y="5589588"/>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1673205" y="541020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6713517" y="5410200"/>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2662217" y="5140325"/>
              <a:ext cx="90488" cy="4492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2663805" y="5499100"/>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4462442" y="5499100"/>
              <a:ext cx="449263" cy="90488"/>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4822805" y="5499100"/>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10" name="Rectangle 94"/>
            <p:cNvSpPr>
              <a:spLocks noChangeArrowheads="1"/>
            </p:cNvSpPr>
            <p:nvPr/>
          </p:nvSpPr>
          <p:spPr bwMode="auto">
            <a:xfrm>
              <a:off x="4013231" y="4328498"/>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1</a:t>
              </a:r>
            </a:p>
          </p:txBody>
        </p:sp>
      </p:grpSp>
      <p:grpSp>
        <p:nvGrpSpPr>
          <p:cNvPr id="700516" name="Group 100"/>
          <p:cNvGrpSpPr>
            <a:grpSpLocks/>
          </p:cNvGrpSpPr>
          <p:nvPr/>
        </p:nvGrpSpPr>
        <p:grpSpPr bwMode="auto">
          <a:xfrm>
            <a:off x="8262041" y="4689014"/>
            <a:ext cx="358775" cy="360362"/>
            <a:chOff x="159" y="2500"/>
            <a:chExt cx="226" cy="227"/>
          </a:xfrm>
        </p:grpSpPr>
        <p:sp>
          <p:nvSpPr>
            <p:cNvPr id="700511" name="Freeform 95"/>
            <p:cNvSpPr>
              <a:spLocks/>
            </p:cNvSpPr>
            <p:nvPr/>
          </p:nvSpPr>
          <p:spPr bwMode="auto">
            <a:xfrm>
              <a:off x="159" y="2500"/>
              <a:ext cx="113" cy="227"/>
            </a:xfrm>
            <a:custGeom>
              <a:avLst/>
              <a:gdLst/>
              <a:ahLst/>
              <a:cxnLst>
                <a:cxn ang="0">
                  <a:pos x="0" y="227"/>
                </a:cxn>
                <a:cxn ang="0">
                  <a:pos x="113" y="227"/>
                </a:cxn>
                <a:cxn ang="0">
                  <a:pos x="113" y="0"/>
                </a:cxn>
              </a:cxnLst>
              <a:rect l="0" t="0" r="r" b="b"/>
              <a:pathLst>
                <a:path w="113" h="227">
                  <a:moveTo>
                    <a:pt x="0" y="227"/>
                  </a:moveTo>
                  <a:lnTo>
                    <a:pt x="113" y="227"/>
                  </a:lnTo>
                  <a:lnTo>
                    <a:pt x="113"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700512" name="Line 96"/>
            <p:cNvSpPr>
              <a:spLocks noChangeShapeType="1"/>
            </p:cNvSpPr>
            <p:nvPr/>
          </p:nvSpPr>
          <p:spPr bwMode="auto">
            <a:xfrm>
              <a:off x="272" y="2500"/>
              <a:ext cx="113"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grpSp>
      <p:sp>
        <p:nvSpPr>
          <p:cNvPr id="700513" name="Freeform 97"/>
          <p:cNvSpPr>
            <a:spLocks/>
          </p:cNvSpPr>
          <p:nvPr/>
        </p:nvSpPr>
        <p:spPr bwMode="auto">
          <a:xfrm flipV="1">
            <a:off x="701957" y="4869016"/>
            <a:ext cx="360362" cy="360363"/>
          </a:xfrm>
          <a:custGeom>
            <a:avLst/>
            <a:gdLst/>
            <a:ahLst/>
            <a:cxnLst>
              <a:cxn ang="0">
                <a:pos x="0" y="227"/>
              </a:cxn>
              <a:cxn ang="0">
                <a:pos x="114" y="227"/>
              </a:cxn>
              <a:cxn ang="0">
                <a:pos x="114" y="0"/>
              </a:cxn>
              <a:cxn ang="0">
                <a:pos x="227" y="0"/>
              </a:cxn>
            </a:cxnLst>
            <a:rect l="0" t="0" r="r" b="b"/>
            <a:pathLst>
              <a:path w="227" h="227">
                <a:moveTo>
                  <a:pt x="0" y="227"/>
                </a:moveTo>
                <a:lnTo>
                  <a:pt x="114" y="227"/>
                </a:lnTo>
                <a:lnTo>
                  <a:pt x="114" y="0"/>
                </a:lnTo>
                <a:lnTo>
                  <a:pt x="227" y="0"/>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514" name="AutoShape 98"/>
          <p:cNvSpPr>
            <a:spLocks noChangeArrowheads="1"/>
          </p:cNvSpPr>
          <p:nvPr/>
        </p:nvSpPr>
        <p:spPr bwMode="auto">
          <a:xfrm>
            <a:off x="1331964" y="4419011"/>
            <a:ext cx="539750" cy="1439734"/>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00515" name="AutoShape 99"/>
          <p:cNvSpPr>
            <a:spLocks noChangeArrowheads="1"/>
          </p:cNvSpPr>
          <p:nvPr/>
        </p:nvSpPr>
        <p:spPr bwMode="auto">
          <a:xfrm rot="-10800000">
            <a:off x="7452032" y="4329009"/>
            <a:ext cx="539750" cy="1439735"/>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4" name="スライド番号プレースホルダー 3"/>
          <p:cNvSpPr>
            <a:spLocks noGrp="1"/>
          </p:cNvSpPr>
          <p:nvPr>
            <p:ph type="sldNum" sz="quarter" idx="4294967295"/>
          </p:nvPr>
        </p:nvSpPr>
        <p:spPr>
          <a:xfrm>
            <a:off x="8712552" y="6399396"/>
            <a:ext cx="360048" cy="360048"/>
          </a:xfrm>
          <a:prstGeom prst="rect">
            <a:avLst/>
          </a:prstGeom>
        </p:spPr>
        <p:txBody>
          <a:bodyPr/>
          <a:lstStyle/>
          <a:p>
            <a:fld id="{B99B8E25-FC55-4448-A609-32D724F2B374}" type="slidenum">
              <a:rPr lang="ja-JP" altLang="en-US" smtClean="0"/>
              <a:pPr/>
              <a:t>11</a:t>
            </a:fld>
            <a:endParaRPr lang="ja-JP" altLang="en-US"/>
          </a:p>
        </p:txBody>
      </p:sp>
      <p:sp>
        <p:nvSpPr>
          <p:cNvPr id="75" name="Rectangle 5"/>
          <p:cNvSpPr txBox="1">
            <a:spLocks noChangeArrowheads="1"/>
          </p:cNvSpPr>
          <p:nvPr/>
        </p:nvSpPr>
        <p:spPr>
          <a:xfrm>
            <a:off x="701957" y="1628980"/>
            <a:ext cx="8281219" cy="630844"/>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構造：</a:t>
            </a:r>
            <a:r>
              <a:rPr lang="en-US" altLang="ja-JP" kern="0" dirty="0"/>
              <a:t>D </a:t>
            </a:r>
            <a:r>
              <a:rPr lang="ja-JP" altLang="en-US" kern="0" dirty="0"/>
              <a:t>ラッチを</a:t>
            </a:r>
            <a:r>
              <a:rPr lang="en-US" altLang="ja-JP" kern="0" dirty="0"/>
              <a:t>2</a:t>
            </a:r>
            <a:r>
              <a:rPr lang="ja-JP" altLang="en-US" kern="0" dirty="0"/>
              <a:t>つ繋げたもの</a:t>
            </a:r>
            <a:endParaRPr lang="en-US" altLang="ja-JP" kern="0" dirty="0"/>
          </a:p>
          <a:p>
            <a:pPr lvl="1"/>
            <a:r>
              <a:rPr lang="en-US" altLang="ja-JP" kern="0" dirty="0"/>
              <a:t>D </a:t>
            </a:r>
            <a:r>
              <a:rPr lang="ja-JP" altLang="en-US" kern="0" dirty="0"/>
              <a:t>ラッチ１つだと，半周期は </a:t>
            </a:r>
            <a:r>
              <a:rPr lang="en-US" altLang="ja-JP" kern="0" dirty="0"/>
              <a:t>d </a:t>
            </a:r>
            <a:r>
              <a:rPr lang="ja-JP" altLang="en-US" kern="0" dirty="0"/>
              <a:t>に入った値が反転して素通しするので使いにくい</a:t>
            </a:r>
            <a:endParaRPr lang="en-US" altLang="ja-JP" kern="0" dirty="0"/>
          </a:p>
          <a:p>
            <a:pPr lvl="1"/>
            <a:r>
              <a:rPr lang="ja-JP" altLang="en-US" kern="0" dirty="0"/>
              <a:t>２つ直列に繋げて素通しの期間をなくす</a:t>
            </a:r>
            <a:endParaRPr lang="en-US" altLang="ja-JP" kern="0" dirty="0"/>
          </a:p>
        </p:txBody>
      </p:sp>
      <p:sp>
        <p:nvSpPr>
          <p:cNvPr id="77" name="Rectangle 93"/>
          <p:cNvSpPr>
            <a:spLocks noChangeArrowheads="1"/>
          </p:cNvSpPr>
          <p:nvPr/>
        </p:nvSpPr>
        <p:spPr bwMode="auto">
          <a:xfrm>
            <a:off x="7362031" y="3879005"/>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立ち上がり</a:t>
            </a:r>
            <a:endParaRPr lang="en-US" altLang="ja-JP" dirty="0"/>
          </a:p>
        </p:txBody>
      </p:sp>
      <p:sp>
        <p:nvSpPr>
          <p:cNvPr id="78" name="Rectangle 93"/>
          <p:cNvSpPr>
            <a:spLocks noChangeArrowheads="1"/>
          </p:cNvSpPr>
          <p:nvPr/>
        </p:nvSpPr>
        <p:spPr bwMode="auto">
          <a:xfrm>
            <a:off x="341953" y="5859027"/>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立ち下がり</a:t>
            </a:r>
            <a:endParaRPr lang="en-US" altLang="ja-JP" dirty="0"/>
          </a:p>
        </p:txBody>
      </p:sp>
    </p:spTree>
    <p:extLst>
      <p:ext uri="{BB962C8B-B14F-4D97-AF65-F5344CB8AC3E}">
        <p14:creationId xmlns:p14="http://schemas.microsoft.com/office/powerpoint/2010/main" val="634766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工場のラインを考える（再）</a:t>
            </a:r>
            <a:endParaRPr kumimoji="1" lang="ja-JP" altLang="en-US" dirty="0"/>
          </a:p>
        </p:txBody>
      </p:sp>
      <p:sp>
        <p:nvSpPr>
          <p:cNvPr id="58" name="コンテンツ プレースホルダー 57"/>
          <p:cNvSpPr>
            <a:spLocks noGrp="1"/>
          </p:cNvSpPr>
          <p:nvPr>
            <p:ph idx="4294967295"/>
          </p:nvPr>
        </p:nvSpPr>
        <p:spPr>
          <a:xfrm>
            <a:off x="521955" y="4869016"/>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r>
              <a:rPr lang="ja-JP" altLang="en-US" dirty="0"/>
              <a:t>これが </a:t>
            </a:r>
            <a:r>
              <a:rPr lang="ja-JP" altLang="en-US" dirty="0">
                <a:solidFill>
                  <a:schemeClr val="accent5"/>
                </a:solidFill>
              </a:rPr>
              <a:t>命令パイプライン</a:t>
            </a:r>
            <a:endParaRPr lang="en-US" altLang="ja-JP" dirty="0">
              <a:solidFill>
                <a:schemeClr val="tx1">
                  <a:lumMod val="85000"/>
                  <a:lumOff val="15000"/>
                </a:schemeClr>
              </a:solidFill>
            </a:endParaRPr>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5148108" y="2978995"/>
            <a:ext cx="6480073" cy="360005"/>
            <a:chOff x="611956" y="3699003"/>
            <a:chExt cx="6480073" cy="360005"/>
          </a:xfrm>
        </p:grpSpPr>
        <p:sp>
          <p:nvSpPr>
            <p:cNvPr id="90" name="角丸四角形 89"/>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sp>
        <p:nvSpPr>
          <p:cNvPr id="7" name="正方形/長方形 6"/>
          <p:cNvSpPr/>
          <p:nvPr/>
        </p:nvSpPr>
        <p:spPr bwMode="auto">
          <a:xfrm>
            <a:off x="-18483"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3131237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5.55556E-7 1.85185E-6 L 0.15764 1.85185E-6 " pathEditMode="relative" rAng="0" ptsTypes="AA">
                                      <p:cBhvr>
                                        <p:cTn id="6" dur="1000" fill="hold"/>
                                        <p:tgtEl>
                                          <p:spTgt spid="6"/>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6"/>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6"/>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6"/>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2011672"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451832"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893879"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6334039"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パイプライン・ラッチのイメージ</a:t>
            </a:r>
          </a:p>
        </p:txBody>
      </p:sp>
      <p:sp>
        <p:nvSpPr>
          <p:cNvPr id="58" name="コンテンツ プレースホルダー 57"/>
          <p:cNvSpPr>
            <a:spLocks noGrp="1"/>
          </p:cNvSpPr>
          <p:nvPr>
            <p:ph idx="4294967295"/>
          </p:nvPr>
        </p:nvSpPr>
        <p:spPr>
          <a:xfrm>
            <a:off x="251952" y="4509012"/>
            <a:ext cx="8730097" cy="1369161"/>
          </a:xfrm>
          <a:prstGeom prst="rect">
            <a:avLst/>
          </a:prstGeom>
        </p:spPr>
        <p:txBody>
          <a:bodyPr/>
          <a:lstStyle/>
          <a:p>
            <a:r>
              <a:rPr lang="ja-JP" altLang="en-US" dirty="0"/>
              <a:t>各人の作業が終わっても，ラッチが開くまでは次の人に製品を送れない</a:t>
            </a:r>
            <a:endParaRPr lang="en-US" altLang="ja-JP" dirty="0"/>
          </a:p>
          <a:p>
            <a:pPr lvl="1"/>
            <a:r>
              <a:rPr lang="ja-JP" altLang="en-US" dirty="0"/>
              <a:t>複数ステージ間で信号が混じるのを防ぐ</a:t>
            </a:r>
            <a:endParaRPr lang="en-US" altLang="ja-JP" dirty="0"/>
          </a:p>
          <a:p>
            <a:pPr lvl="1"/>
            <a:r>
              <a:rPr lang="ja-JP" altLang="en-US" dirty="0"/>
              <a:t>指定された時間までラッチでドアを開かなくするイメージ？</a:t>
            </a:r>
            <a:endParaRPr lang="en-US" altLang="ja-JP" dirty="0"/>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2051972" y="3068996"/>
            <a:ext cx="5040057" cy="360005"/>
            <a:chOff x="611956" y="3699003"/>
            <a:chExt cx="5040057" cy="360005"/>
          </a:xfrm>
        </p:grpSpPr>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sp>
        <p:nvSpPr>
          <p:cNvPr id="7" name="正方形/長方形 6"/>
          <p:cNvSpPr/>
          <p:nvPr/>
        </p:nvSpPr>
        <p:spPr bwMode="auto">
          <a:xfrm>
            <a:off x="-18483"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nvGrpSpPr>
          <p:cNvPr id="4" name="グループ化 3">
            <a:extLst>
              <a:ext uri="{FF2B5EF4-FFF2-40B4-BE49-F238E27FC236}">
                <a16:creationId xmlns:a16="http://schemas.microsoft.com/office/drawing/2014/main" id="{4342C5DC-00B0-84B6-70B1-3D6C78F81A70}"/>
              </a:ext>
            </a:extLst>
          </p:cNvPr>
          <p:cNvGrpSpPr/>
          <p:nvPr/>
        </p:nvGrpSpPr>
        <p:grpSpPr>
          <a:xfrm>
            <a:off x="2951982" y="2708992"/>
            <a:ext cx="360004" cy="720008"/>
            <a:chOff x="2411977" y="3068996"/>
            <a:chExt cx="360004" cy="720008"/>
          </a:xfrm>
        </p:grpSpPr>
        <p:sp>
          <p:nvSpPr>
            <p:cNvPr id="5" name="正方形/長方形 4">
              <a:extLst>
                <a:ext uri="{FF2B5EF4-FFF2-40B4-BE49-F238E27FC236}">
                  <a16:creationId xmlns:a16="http://schemas.microsoft.com/office/drawing/2014/main" id="{2851CA75-4AA5-8C83-5FA8-9C5494576DE6}"/>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8" name="二等辺三角形 7">
              <a:extLst>
                <a:ext uri="{FF2B5EF4-FFF2-40B4-BE49-F238E27FC236}">
                  <a16:creationId xmlns:a16="http://schemas.microsoft.com/office/drawing/2014/main" id="{309C8E32-6494-8480-0115-DF8A7E362B6D}"/>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grpSp>
        <p:nvGrpSpPr>
          <p:cNvPr id="9" name="グループ化 8">
            <a:extLst>
              <a:ext uri="{FF2B5EF4-FFF2-40B4-BE49-F238E27FC236}">
                <a16:creationId xmlns:a16="http://schemas.microsoft.com/office/drawing/2014/main" id="{024DF253-E5A3-2F57-0964-E3A81D922F06}"/>
              </a:ext>
            </a:extLst>
          </p:cNvPr>
          <p:cNvGrpSpPr/>
          <p:nvPr/>
        </p:nvGrpSpPr>
        <p:grpSpPr>
          <a:xfrm>
            <a:off x="4391998" y="2708992"/>
            <a:ext cx="360004" cy="720008"/>
            <a:chOff x="2411977" y="3068996"/>
            <a:chExt cx="360004" cy="720008"/>
          </a:xfrm>
        </p:grpSpPr>
        <p:sp>
          <p:nvSpPr>
            <p:cNvPr id="10" name="正方形/長方形 9">
              <a:extLst>
                <a:ext uri="{FF2B5EF4-FFF2-40B4-BE49-F238E27FC236}">
                  <a16:creationId xmlns:a16="http://schemas.microsoft.com/office/drawing/2014/main" id="{845928B1-5059-E24E-1267-0E6F892224D5}"/>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11" name="二等辺三角形 10">
              <a:extLst>
                <a:ext uri="{FF2B5EF4-FFF2-40B4-BE49-F238E27FC236}">
                  <a16:creationId xmlns:a16="http://schemas.microsoft.com/office/drawing/2014/main" id="{C03C8377-1A30-11D4-8CFA-498B90D5C92F}"/>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grpSp>
        <p:nvGrpSpPr>
          <p:cNvPr id="12" name="グループ化 11">
            <a:extLst>
              <a:ext uri="{FF2B5EF4-FFF2-40B4-BE49-F238E27FC236}">
                <a16:creationId xmlns:a16="http://schemas.microsoft.com/office/drawing/2014/main" id="{5FC3C304-B115-493B-C9A2-8B122652A984}"/>
              </a:ext>
            </a:extLst>
          </p:cNvPr>
          <p:cNvGrpSpPr/>
          <p:nvPr/>
        </p:nvGrpSpPr>
        <p:grpSpPr>
          <a:xfrm>
            <a:off x="5832014" y="2708992"/>
            <a:ext cx="360004" cy="720008"/>
            <a:chOff x="2411977" y="3068996"/>
            <a:chExt cx="360004" cy="720008"/>
          </a:xfrm>
        </p:grpSpPr>
        <p:sp>
          <p:nvSpPr>
            <p:cNvPr id="13" name="正方形/長方形 12">
              <a:extLst>
                <a:ext uri="{FF2B5EF4-FFF2-40B4-BE49-F238E27FC236}">
                  <a16:creationId xmlns:a16="http://schemas.microsoft.com/office/drawing/2014/main" id="{64F88E16-9AA6-FCC9-F80A-DF14DDDA724C}"/>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14" name="二等辺三角形 13">
              <a:extLst>
                <a:ext uri="{FF2B5EF4-FFF2-40B4-BE49-F238E27FC236}">
                  <a16:creationId xmlns:a16="http://schemas.microsoft.com/office/drawing/2014/main" id="{7E84D35E-2478-500C-E77D-1D06EF09ABC5}"/>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grpSp>
        <p:nvGrpSpPr>
          <p:cNvPr id="15" name="グループ化 14">
            <a:extLst>
              <a:ext uri="{FF2B5EF4-FFF2-40B4-BE49-F238E27FC236}">
                <a16:creationId xmlns:a16="http://schemas.microsoft.com/office/drawing/2014/main" id="{C44A8EE6-C46C-C8A0-D75E-E2FD847F00B0}"/>
              </a:ext>
            </a:extLst>
          </p:cNvPr>
          <p:cNvGrpSpPr/>
          <p:nvPr/>
        </p:nvGrpSpPr>
        <p:grpSpPr>
          <a:xfrm>
            <a:off x="1421965" y="2708992"/>
            <a:ext cx="360004" cy="720008"/>
            <a:chOff x="2411977" y="3068996"/>
            <a:chExt cx="360004" cy="720008"/>
          </a:xfrm>
        </p:grpSpPr>
        <p:sp>
          <p:nvSpPr>
            <p:cNvPr id="16" name="正方形/長方形 15">
              <a:extLst>
                <a:ext uri="{FF2B5EF4-FFF2-40B4-BE49-F238E27FC236}">
                  <a16:creationId xmlns:a16="http://schemas.microsoft.com/office/drawing/2014/main" id="{1295C8C8-38F1-0491-C4A3-14145B7EAAA2}"/>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17" name="二等辺三角形 16">
              <a:extLst>
                <a:ext uri="{FF2B5EF4-FFF2-40B4-BE49-F238E27FC236}">
                  <a16:creationId xmlns:a16="http://schemas.microsoft.com/office/drawing/2014/main" id="{86091F01-12EA-BC74-22A8-23A63BD164FE}"/>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22" name="角丸四角形吹き出し 20">
            <a:extLst>
              <a:ext uri="{FF2B5EF4-FFF2-40B4-BE49-F238E27FC236}">
                <a16:creationId xmlns:a16="http://schemas.microsoft.com/office/drawing/2014/main" id="{A67840A6-3259-146C-F2B7-0C6CA5ED48C9}"/>
              </a:ext>
            </a:extLst>
          </p:cNvPr>
          <p:cNvSpPr/>
          <p:nvPr/>
        </p:nvSpPr>
        <p:spPr bwMode="auto">
          <a:xfrm>
            <a:off x="4121995" y="1538979"/>
            <a:ext cx="2160024" cy="522647"/>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もう終わったから次のに</a:t>
            </a:r>
            <a:endParaRPr kumimoji="1" lang="en-US" altLang="ja-JP" sz="1400" dirty="0">
              <a:solidFill>
                <a:schemeClr val="tx1">
                  <a:lumMod val="65000"/>
                  <a:lumOff val="35000"/>
                </a:schemeClr>
              </a:solidFill>
              <a:latin typeface="Arial Narrow" panose="020B0606020202030204" pitchFamily="34" charset="0"/>
            </a:endParaRPr>
          </a:p>
          <a:p>
            <a:r>
              <a:rPr kumimoji="1" lang="ja-JP" altLang="en-US" sz="1400" dirty="0">
                <a:solidFill>
                  <a:schemeClr val="tx1">
                    <a:lumMod val="65000"/>
                    <a:lumOff val="35000"/>
                  </a:schemeClr>
                </a:solidFill>
                <a:latin typeface="Arial Narrow" panose="020B0606020202030204" pitchFamily="34" charset="0"/>
              </a:rPr>
              <a:t>取りかかりたいんだけど</a:t>
            </a:r>
          </a:p>
        </p:txBody>
      </p:sp>
      <p:sp>
        <p:nvSpPr>
          <p:cNvPr id="23" name="角丸四角形吹き出し 21">
            <a:extLst>
              <a:ext uri="{FF2B5EF4-FFF2-40B4-BE49-F238E27FC236}">
                <a16:creationId xmlns:a16="http://schemas.microsoft.com/office/drawing/2014/main" id="{472A93C4-B7F3-DE0C-4258-84AF3B9CECB9}"/>
              </a:ext>
            </a:extLst>
          </p:cNvPr>
          <p:cNvSpPr/>
          <p:nvPr/>
        </p:nvSpPr>
        <p:spPr bwMode="auto">
          <a:xfrm>
            <a:off x="2501977" y="1538979"/>
            <a:ext cx="1440016" cy="522647"/>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そんなに</a:t>
            </a:r>
            <a:br>
              <a:rPr kumimoji="1" lang="en-US" altLang="ja-JP" sz="1400" dirty="0">
                <a:solidFill>
                  <a:schemeClr val="tx1">
                    <a:lumMod val="65000"/>
                    <a:lumOff val="35000"/>
                  </a:schemeClr>
                </a:solidFill>
                <a:latin typeface="Arial Narrow" panose="020B0606020202030204" pitchFamily="34" charset="0"/>
              </a:rPr>
            </a:br>
            <a:r>
              <a:rPr kumimoji="1" lang="ja-JP" altLang="en-US" sz="1400" dirty="0">
                <a:solidFill>
                  <a:schemeClr val="tx1">
                    <a:lumMod val="65000"/>
                    <a:lumOff val="35000"/>
                  </a:schemeClr>
                </a:solidFill>
                <a:latin typeface="Arial Narrow" panose="020B0606020202030204" pitchFamily="34" charset="0"/>
              </a:rPr>
              <a:t>仕事がほしいか</a:t>
            </a:r>
          </a:p>
        </p:txBody>
      </p:sp>
      <p:sp>
        <p:nvSpPr>
          <p:cNvPr id="24" name="角丸四角形吹き出し 26">
            <a:extLst>
              <a:ext uri="{FF2B5EF4-FFF2-40B4-BE49-F238E27FC236}">
                <a16:creationId xmlns:a16="http://schemas.microsoft.com/office/drawing/2014/main" id="{9F854064-B6FC-6313-96D2-181D2DA1EDFF}"/>
              </a:ext>
            </a:extLst>
          </p:cNvPr>
          <p:cNvSpPr/>
          <p:nvPr/>
        </p:nvSpPr>
        <p:spPr bwMode="auto">
          <a:xfrm>
            <a:off x="7092028" y="1538979"/>
            <a:ext cx="1800020" cy="522647"/>
          </a:xfrm>
          <a:prstGeom prst="wedgeRoundRectCallout">
            <a:avLst>
              <a:gd name="adj1" fmla="val -51493"/>
              <a:gd name="adj2" fmla="val 13979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ラッチがあくまで</a:t>
            </a:r>
            <a:endParaRPr kumimoji="1" lang="en-US" altLang="ja-JP" sz="1400" dirty="0">
              <a:solidFill>
                <a:schemeClr val="tx1">
                  <a:lumMod val="65000"/>
                  <a:lumOff val="35000"/>
                </a:schemeClr>
              </a:solidFill>
              <a:latin typeface="Arial Narrow" panose="020B0606020202030204" pitchFamily="34" charset="0"/>
            </a:endParaRPr>
          </a:p>
          <a:p>
            <a:r>
              <a:rPr kumimoji="1" lang="ja-JP" altLang="en-US" sz="1400" dirty="0">
                <a:solidFill>
                  <a:schemeClr val="tx1">
                    <a:lumMod val="65000"/>
                    <a:lumOff val="35000"/>
                  </a:schemeClr>
                </a:solidFill>
                <a:latin typeface="Arial Narrow" panose="020B0606020202030204" pitchFamily="34" charset="0"/>
              </a:rPr>
              <a:t>待ちましょう</a:t>
            </a:r>
          </a:p>
        </p:txBody>
      </p:sp>
      <p:sp>
        <p:nvSpPr>
          <p:cNvPr id="25" name="正方形/長方形 24">
            <a:extLst>
              <a:ext uri="{FF2B5EF4-FFF2-40B4-BE49-F238E27FC236}">
                <a16:creationId xmlns:a16="http://schemas.microsoft.com/office/drawing/2014/main" id="{C1723FD6-5C82-1425-2F57-B092327D5E76}"/>
              </a:ext>
            </a:extLst>
          </p:cNvPr>
          <p:cNvSpPr/>
          <p:nvPr/>
        </p:nvSpPr>
        <p:spPr bwMode="auto">
          <a:xfrm>
            <a:off x="5472010" y="2168986"/>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2"/>
                </a:solidFill>
              </a:rPr>
              <a:t>ﾏｯﾃﾏｯﾃ</a:t>
            </a:r>
          </a:p>
        </p:txBody>
      </p:sp>
      <p:grpSp>
        <p:nvGrpSpPr>
          <p:cNvPr id="26" name="グループ化 25">
            <a:extLst>
              <a:ext uri="{FF2B5EF4-FFF2-40B4-BE49-F238E27FC236}">
                <a16:creationId xmlns:a16="http://schemas.microsoft.com/office/drawing/2014/main" id="{29AAA781-C1C8-498E-4550-B0D6E90D2E39}"/>
              </a:ext>
            </a:extLst>
          </p:cNvPr>
          <p:cNvGrpSpPr/>
          <p:nvPr/>
        </p:nvGrpSpPr>
        <p:grpSpPr>
          <a:xfrm>
            <a:off x="7362031" y="2708992"/>
            <a:ext cx="360004" cy="720008"/>
            <a:chOff x="2411977" y="3068996"/>
            <a:chExt cx="360004" cy="720008"/>
          </a:xfrm>
        </p:grpSpPr>
        <p:sp>
          <p:nvSpPr>
            <p:cNvPr id="27" name="正方形/長方形 26">
              <a:extLst>
                <a:ext uri="{FF2B5EF4-FFF2-40B4-BE49-F238E27FC236}">
                  <a16:creationId xmlns:a16="http://schemas.microsoft.com/office/drawing/2014/main" id="{DBECC520-9F66-0DDC-A3B9-CDCB47A1EA10}"/>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8" name="二等辺三角形 27">
              <a:extLst>
                <a:ext uri="{FF2B5EF4-FFF2-40B4-BE49-F238E27FC236}">
                  <a16:creationId xmlns:a16="http://schemas.microsoft.com/office/drawing/2014/main" id="{412377CC-55FD-D587-43BD-53057CB52D97}"/>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18" name="正方形/長方形 17">
            <a:extLst>
              <a:ext uri="{FF2B5EF4-FFF2-40B4-BE49-F238E27FC236}">
                <a16:creationId xmlns:a16="http://schemas.microsoft.com/office/drawing/2014/main" id="{7593E6E8-8A7A-256F-B7B0-850F3C0B6DB4}"/>
              </a:ext>
            </a:extLst>
          </p:cNvPr>
          <p:cNvSpPr/>
          <p:nvPr/>
        </p:nvSpPr>
        <p:spPr bwMode="auto">
          <a:xfrm>
            <a:off x="2681979" y="2168986"/>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1"/>
                </a:solidFill>
              </a:rPr>
              <a:t>ｿｳｶｿｳｶ</a:t>
            </a:r>
          </a:p>
        </p:txBody>
      </p:sp>
    </p:spTree>
    <p:extLst>
      <p:ext uri="{BB962C8B-B14F-4D97-AF65-F5344CB8AC3E}">
        <p14:creationId xmlns:p14="http://schemas.microsoft.com/office/powerpoint/2010/main" val="4002392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パイプライン化（オーバーラップ）の実現方法</a:t>
            </a:r>
          </a:p>
        </p:txBody>
      </p:sp>
      <p:sp>
        <p:nvSpPr>
          <p:cNvPr id="3" name="テキスト プレースホルダー 2"/>
          <p:cNvSpPr>
            <a:spLocks noGrp="1"/>
          </p:cNvSpPr>
          <p:nvPr>
            <p:ph type="body" sz="quarter" idx="10"/>
          </p:nvPr>
        </p:nvSpPr>
        <p:spPr>
          <a:xfrm>
            <a:off x="71951" y="5589024"/>
            <a:ext cx="8820098" cy="449698"/>
          </a:xfrm>
        </p:spPr>
        <p:txBody>
          <a:bodyPr/>
          <a:lstStyle/>
          <a:p>
            <a:pPr lvl="1"/>
            <a:r>
              <a:rPr kumimoji="1" lang="ja-JP" altLang="en-US" dirty="0"/>
              <a:t>各ステージの間に，</a:t>
            </a:r>
            <a:r>
              <a:rPr kumimoji="1" lang="en-US" altLang="ja-JP" dirty="0"/>
              <a:t>D-FF</a:t>
            </a:r>
            <a:r>
              <a:rPr kumimoji="1" lang="ja-JP" altLang="en-US" dirty="0"/>
              <a:t>（オレンジの四角）をいれる</a:t>
            </a:r>
            <a:endParaRPr kumimoji="1" lang="en-US" altLang="ja-JP" dirty="0"/>
          </a:p>
          <a:p>
            <a:pPr lvl="2"/>
            <a:r>
              <a:rPr kumimoji="1" lang="en-US" altLang="ja-JP" dirty="0"/>
              <a:t>WB </a:t>
            </a:r>
            <a:r>
              <a:rPr kumimoji="1" lang="ja-JP" altLang="en-US" dirty="0"/>
              <a:t>の書き込みについては，レジスタ・ファイル自体が</a:t>
            </a:r>
            <a:br>
              <a:rPr kumimoji="1" lang="en-US" altLang="ja-JP" dirty="0"/>
            </a:br>
            <a:r>
              <a:rPr kumimoji="1" lang="ja-JP" altLang="en-US" dirty="0"/>
              <a:t>クロックに同期して書き込みが行われるので </a:t>
            </a:r>
            <a:r>
              <a:rPr kumimoji="1" lang="en-US" altLang="ja-JP" dirty="0"/>
              <a:t>D-FF </a:t>
            </a:r>
            <a:r>
              <a:rPr kumimoji="1" lang="ja-JP" altLang="en-US" dirty="0"/>
              <a:t>は不要</a:t>
            </a:r>
            <a:endParaRPr kumimoji="1" lang="en-US" altLang="ja-JP" dirty="0"/>
          </a:p>
          <a:p>
            <a:pPr lvl="1"/>
            <a:r>
              <a:rPr kumimoji="1" lang="ja-JP" altLang="en-US" dirty="0">
                <a:solidFill>
                  <a:schemeClr val="accent5"/>
                </a:solidFill>
              </a:rPr>
              <a:t>各ステージの処理が早く終わっても，次のクロックまでは </a:t>
            </a:r>
            <a:r>
              <a:rPr kumimoji="1" lang="en-US" altLang="ja-JP" dirty="0">
                <a:solidFill>
                  <a:schemeClr val="accent5"/>
                </a:solidFill>
              </a:rPr>
              <a:t>D-FF </a:t>
            </a:r>
            <a:r>
              <a:rPr kumimoji="1" lang="ja-JP" altLang="en-US" dirty="0">
                <a:solidFill>
                  <a:schemeClr val="accent5"/>
                </a:solidFill>
              </a:rPr>
              <a:t>で</a:t>
            </a:r>
            <a:br>
              <a:rPr kumimoji="1" lang="en-US" altLang="ja-JP" dirty="0">
                <a:solidFill>
                  <a:schemeClr val="accent5"/>
                </a:solidFill>
              </a:rPr>
            </a:br>
            <a:r>
              <a:rPr kumimoji="1" lang="ja-JP" altLang="en-US" dirty="0">
                <a:solidFill>
                  <a:schemeClr val="accent5"/>
                </a:solidFill>
              </a:rPr>
              <a:t>信号の伝搬を止める</a:t>
            </a:r>
          </a:p>
        </p:txBody>
      </p:sp>
      <p:sp>
        <p:nvSpPr>
          <p:cNvPr id="4" name="正方形/長方形 3"/>
          <p:cNvSpPr/>
          <p:nvPr/>
        </p:nvSpPr>
        <p:spPr bwMode="auto">
          <a:xfrm>
            <a:off x="971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3131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732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5022006" y="3068994"/>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251952"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PC</a:t>
            </a:r>
            <a:endParaRPr kumimoji="1"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611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791958" y="2258984"/>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1061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881958"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71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1511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71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2411975"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971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2051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kumimoji="1"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2951982" y="3248994"/>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2951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3131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3131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3131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3131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3131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971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2951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2951982" y="2258987"/>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8352038" y="2708991"/>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8172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6012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4572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4572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6732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6732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5112004"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6552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6552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6732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8532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2951982"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6552022" y="2528986"/>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8577044" y="2213985"/>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7272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521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4</a:t>
            </a:r>
            <a:endParaRPr kumimoji="1"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0" y="1178975"/>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角丸四角形 46"/>
          <p:cNvSpPr/>
          <p:nvPr/>
        </p:nvSpPr>
        <p:spPr bwMode="auto">
          <a:xfrm>
            <a:off x="2771980" y="1178975"/>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角丸四角形 47"/>
          <p:cNvSpPr/>
          <p:nvPr/>
        </p:nvSpPr>
        <p:spPr bwMode="auto">
          <a:xfrm>
            <a:off x="4932004" y="1178975"/>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角丸四角形 48"/>
          <p:cNvSpPr/>
          <p:nvPr/>
        </p:nvSpPr>
        <p:spPr bwMode="auto">
          <a:xfrm>
            <a:off x="6642023" y="1178975"/>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正方形/長方形 49"/>
          <p:cNvSpPr/>
          <p:nvPr/>
        </p:nvSpPr>
        <p:spPr bwMode="auto">
          <a:xfrm>
            <a:off x="611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3041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4932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6912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8647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1331964" y="279899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ADD</a:t>
            </a:r>
            <a:endParaRPr kumimoji="1" lang="ja-JP" altLang="en-US" dirty="0">
              <a:latin typeface="Arial Narrow" panose="020B0606020202030204" pitchFamily="34" charset="0"/>
            </a:endParaRPr>
          </a:p>
        </p:txBody>
      </p:sp>
      <p:grpSp>
        <p:nvGrpSpPr>
          <p:cNvPr id="58" name="グループ化 57"/>
          <p:cNvGrpSpPr/>
          <p:nvPr/>
        </p:nvGrpSpPr>
        <p:grpSpPr>
          <a:xfrm>
            <a:off x="2501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63" name="正方形/長方形 62"/>
          <p:cNvSpPr/>
          <p:nvPr/>
        </p:nvSpPr>
        <p:spPr bwMode="auto">
          <a:xfrm>
            <a:off x="4662001"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4752001"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1" name="正方形/長方形 70"/>
          <p:cNvSpPr/>
          <p:nvPr/>
        </p:nvSpPr>
        <p:spPr bwMode="auto">
          <a:xfrm>
            <a:off x="6102017"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6192017"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8094074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55556E-7 7.40741E-7 L 0.23611 0.00023 " pathEditMode="relative" rAng="0" ptsTypes="AA">
                                      <p:cBhvr>
                                        <p:cTn id="6" dur="1000" fill="hold"/>
                                        <p:tgtEl>
                                          <p:spTgt spid="55"/>
                                        </p:tgtEl>
                                        <p:attrNameLst>
                                          <p:attrName>ppt_x</p:attrName>
                                          <p:attrName>ppt_y</p:attrName>
                                        </p:attrNameLst>
                                      </p:cBhvr>
                                      <p:rCtr x="11806"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23611 0.00023 L 0.43299 0.00023 " pathEditMode="relative" rAng="0" ptsTypes="AA">
                                      <p:cBhvr>
                                        <p:cTn id="10" dur="1000" fill="hold"/>
                                        <p:tgtEl>
                                          <p:spTgt spid="55"/>
                                        </p:tgtEl>
                                        <p:attrNameLst>
                                          <p:attrName>ppt_x</p:attrName>
                                          <p:attrName>ppt_y</p:attrName>
                                        </p:attrNameLst>
                                      </p:cBhvr>
                                      <p:rCtr x="984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43299 0.00023 L 0.64965 0.00023 " pathEditMode="relative" rAng="0" ptsTypes="AA">
                                      <p:cBhvr>
                                        <p:cTn id="14" dur="1000" fill="hold"/>
                                        <p:tgtEl>
                                          <p:spTgt spid="55"/>
                                        </p:tgtEl>
                                        <p:attrNameLst>
                                          <p:attrName>ppt_x</p:attrName>
                                          <p:attrName>ppt_y</p:attrName>
                                        </p:attrNameLst>
                                      </p:cBhvr>
                                      <p:rCtr x="1083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55"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521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パイプライン化による性能（スループット）向上</a:t>
            </a:r>
            <a:endParaRPr kumimoji="1" lang="ja-JP" altLang="en-US" dirty="0"/>
          </a:p>
        </p:txBody>
      </p:sp>
      <p:cxnSp>
        <p:nvCxnSpPr>
          <p:cNvPr id="96" name="直線矢印コネクタ 95"/>
          <p:cNvCxnSpPr/>
          <p:nvPr/>
        </p:nvCxnSpPr>
        <p:spPr bwMode="auto">
          <a:xfrm>
            <a:off x="701957"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611956"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611956"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503962" y="4166749"/>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47471" y="2024826"/>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I0</a:t>
            </a:r>
            <a:endParaRPr kumimoji="1"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521955"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47471" y="2744834"/>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I1</a:t>
            </a:r>
            <a:endParaRPr kumimoji="1"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521955"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47471" y="3374841"/>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I2</a:t>
            </a:r>
            <a:endParaRPr kumimoji="1"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536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1951" y="4779015"/>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I0</a:t>
            </a:r>
            <a:endParaRPr kumimoji="1"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1951" y="5499023"/>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I1</a:t>
            </a:r>
            <a:endParaRPr kumimoji="1"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1951" y="6129030"/>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I2</a:t>
            </a:r>
            <a:endParaRPr kumimoji="1"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611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594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3" name="グループ化 12"/>
          <p:cNvGrpSpPr/>
          <p:nvPr/>
        </p:nvGrpSpPr>
        <p:grpSpPr>
          <a:xfrm>
            <a:off x="1241963" y="4779015"/>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grpSp>
        <p:nvGrpSpPr>
          <p:cNvPr id="149" name="グループ化 148"/>
          <p:cNvGrpSpPr/>
          <p:nvPr/>
        </p:nvGrpSpPr>
        <p:grpSpPr>
          <a:xfrm>
            <a:off x="1691968" y="5499027"/>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grpSp>
        <p:nvGrpSpPr>
          <p:cNvPr id="156" name="グループ化 155"/>
          <p:cNvGrpSpPr/>
          <p:nvPr/>
        </p:nvGrpSpPr>
        <p:grpSpPr>
          <a:xfrm>
            <a:off x="2141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grpSp>
        <p:nvGrpSpPr>
          <p:cNvPr id="162" name="グループ化 161"/>
          <p:cNvGrpSpPr/>
          <p:nvPr/>
        </p:nvGrpSpPr>
        <p:grpSpPr>
          <a:xfrm>
            <a:off x="1241963" y="1988984"/>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grpSp>
        <p:nvGrpSpPr>
          <p:cNvPr id="168" name="グループ化 167"/>
          <p:cNvGrpSpPr/>
          <p:nvPr/>
        </p:nvGrpSpPr>
        <p:grpSpPr>
          <a:xfrm>
            <a:off x="3491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grpSp>
        <p:nvGrpSpPr>
          <p:cNvPr id="219" name="グループ化 218"/>
          <p:cNvGrpSpPr/>
          <p:nvPr/>
        </p:nvGrpSpPr>
        <p:grpSpPr>
          <a:xfrm>
            <a:off x="5742013" y="3338999"/>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spTree>
    <p:extLst>
      <p:ext uri="{BB962C8B-B14F-4D97-AF65-F5344CB8AC3E}">
        <p14:creationId xmlns:p14="http://schemas.microsoft.com/office/powerpoint/2010/main" val="127032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パイプライン化の意味</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パイプライン化の効果：</a:t>
            </a:r>
            <a:endParaRPr lang="en-US" altLang="ja-JP" dirty="0"/>
          </a:p>
          <a:p>
            <a:pPr lvl="1"/>
            <a:r>
              <a:rPr kumimoji="1" lang="ja-JP" altLang="en-US" dirty="0"/>
              <a:t>スループットの向上</a:t>
            </a:r>
            <a:endParaRPr kumimoji="1" lang="en-US" altLang="ja-JP" dirty="0"/>
          </a:p>
          <a:p>
            <a:pPr lvl="1"/>
            <a:r>
              <a:rPr kumimoji="1" lang="en-US" altLang="ja-JP" dirty="0"/>
              <a:t>= </a:t>
            </a:r>
            <a:r>
              <a:rPr kumimoji="1" lang="ja-JP" altLang="en-US" dirty="0"/>
              <a:t>単位時間あたりに処理できる命令の数の増加</a:t>
            </a:r>
            <a:endParaRPr kumimoji="1" lang="en-US" altLang="ja-JP" dirty="0"/>
          </a:p>
          <a:p>
            <a:pPr lvl="1"/>
            <a:r>
              <a:rPr kumimoji="1" lang="en-US" altLang="ja-JP" dirty="0"/>
              <a:t>= </a:t>
            </a:r>
            <a:r>
              <a:rPr kumimoji="1" lang="ja-JP" altLang="en-US" dirty="0">
                <a:solidFill>
                  <a:schemeClr val="accent5"/>
                </a:solidFill>
              </a:rPr>
              <a:t>動作クロック周波数の向上</a:t>
            </a:r>
            <a:endParaRPr kumimoji="1" lang="en-US" altLang="ja-JP" dirty="0">
              <a:solidFill>
                <a:schemeClr val="accent5"/>
              </a:solidFill>
            </a:endParaRPr>
          </a:p>
          <a:p>
            <a:r>
              <a:rPr kumimoji="1" lang="ja-JP" altLang="en-US" dirty="0"/>
              <a:t>これらは同じ事を言い換えてるだけ</a:t>
            </a:r>
            <a:endParaRPr kumimoji="1" lang="en-US" altLang="ja-JP" dirty="0"/>
          </a:p>
          <a:p>
            <a:pPr lvl="1"/>
            <a:endParaRPr kumimoji="1" lang="en-US" altLang="ja-JP" dirty="0">
              <a:solidFill>
                <a:schemeClr val="accent5"/>
              </a:solidFill>
            </a:endParaRPr>
          </a:p>
        </p:txBody>
      </p:sp>
    </p:spTree>
    <p:extLst>
      <p:ext uri="{BB962C8B-B14F-4D97-AF65-F5344CB8AC3E}">
        <p14:creationId xmlns:p14="http://schemas.microsoft.com/office/powerpoint/2010/main" val="3572453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パイプライン化の限界</a:t>
            </a:r>
          </a:p>
        </p:txBody>
      </p:sp>
      <p:sp>
        <p:nvSpPr>
          <p:cNvPr id="3" name="テキスト プレースホルダー 2"/>
          <p:cNvSpPr>
            <a:spLocks noGrp="1"/>
          </p:cNvSpPr>
          <p:nvPr>
            <p:ph type="body" sz="quarter" idx="10"/>
          </p:nvPr>
        </p:nvSpPr>
        <p:spPr>
          <a:xfrm>
            <a:off x="611956" y="3699003"/>
            <a:ext cx="8280092" cy="2789724"/>
          </a:xfrm>
        </p:spPr>
        <p:txBody>
          <a:bodyPr/>
          <a:lstStyle/>
          <a:p>
            <a:r>
              <a:rPr lang="ja-JP" altLang="en-US" dirty="0"/>
              <a:t>パイプライン段数を増やしていけば，どこまでも速くなるのか？</a:t>
            </a:r>
            <a:endParaRPr lang="en-US" altLang="ja-JP" dirty="0"/>
          </a:p>
          <a:p>
            <a:pPr lvl="1"/>
            <a:r>
              <a:rPr kumimoji="1" lang="ja-JP" altLang="en-US" dirty="0"/>
              <a:t>ならない</a:t>
            </a:r>
            <a:endParaRPr kumimoji="1" lang="en-US" altLang="ja-JP" dirty="0"/>
          </a:p>
          <a:p>
            <a:r>
              <a:rPr kumimoji="1" lang="ja-JP" altLang="en-US" dirty="0"/>
              <a:t>理由：</a:t>
            </a:r>
            <a:endParaRPr kumimoji="1" lang="en-US" altLang="ja-JP" dirty="0"/>
          </a:p>
          <a:p>
            <a:pPr marL="817200" lvl="1" indent="-457200">
              <a:buFont typeface="+mj-lt"/>
              <a:buAutoNum type="arabicPeriod"/>
            </a:pPr>
            <a:r>
              <a:rPr lang="ja-JP" altLang="en-US" dirty="0"/>
              <a:t>回路的な理由による周波数向上の限界（前回の講義で説明）</a:t>
            </a:r>
            <a:endParaRPr kumimoji="1" lang="en-US" altLang="ja-JP" dirty="0"/>
          </a:p>
          <a:p>
            <a:pPr marL="817200" lvl="1" indent="-457200">
              <a:buFont typeface="+mj-lt"/>
              <a:buAutoNum type="arabicPeriod"/>
            </a:pPr>
            <a:r>
              <a:rPr kumimoji="1" lang="ja-JP" altLang="en-US" b="1" dirty="0">
                <a:solidFill>
                  <a:schemeClr val="accent5"/>
                </a:solidFill>
              </a:rPr>
              <a:t>アーキテクチャ的な理由（ハザード）による実効性能の限界</a:t>
            </a:r>
            <a:endParaRPr kumimoji="1" lang="en-US" altLang="ja-JP" b="1" dirty="0">
              <a:solidFill>
                <a:schemeClr val="accent5"/>
              </a:solidFill>
            </a:endParaRPr>
          </a:p>
        </p:txBody>
      </p:sp>
      <p:sp>
        <p:nvSpPr>
          <p:cNvPr id="4" name="正方形/長方形 3"/>
          <p:cNvSpPr/>
          <p:nvPr/>
        </p:nvSpPr>
        <p:spPr>
          <a:xfrm>
            <a:off x="341953" y="1772924"/>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grpSp>
        <p:nvGrpSpPr>
          <p:cNvPr id="6" name="グループ化 5"/>
          <p:cNvGrpSpPr/>
          <p:nvPr/>
        </p:nvGrpSpPr>
        <p:grpSpPr>
          <a:xfrm>
            <a:off x="2951982" y="2582933"/>
            <a:ext cx="1562400" cy="576064"/>
            <a:chOff x="971600" y="5445224"/>
            <a:chExt cx="7200800" cy="576064"/>
          </a:xfrm>
        </p:grpSpPr>
        <p:sp>
          <p:nvSpPr>
            <p:cNvPr id="7" name="平行四辺形 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平行四辺形 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6" name="グループ化 25"/>
          <p:cNvGrpSpPr/>
          <p:nvPr/>
        </p:nvGrpSpPr>
        <p:grpSpPr>
          <a:xfrm>
            <a:off x="4391998" y="2582933"/>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8" name="平行四辺形 27"/>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2" name="グループ化 11"/>
          <p:cNvGrpSpPr/>
          <p:nvPr/>
        </p:nvGrpSpPr>
        <p:grpSpPr>
          <a:xfrm>
            <a:off x="5832014" y="2582933"/>
            <a:ext cx="1562400" cy="576064"/>
            <a:chOff x="971600" y="5445224"/>
            <a:chExt cx="7200800" cy="576064"/>
          </a:xfrm>
        </p:grpSpPr>
        <p:sp>
          <p:nvSpPr>
            <p:cNvPr id="13" name="平行四辺形 1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平行四辺形 1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5" name="グループ化 14"/>
          <p:cNvGrpSpPr/>
          <p:nvPr/>
        </p:nvGrpSpPr>
        <p:grpSpPr>
          <a:xfrm>
            <a:off x="7272030" y="2582933"/>
            <a:ext cx="1584176" cy="576064"/>
            <a:chOff x="971600" y="5445224"/>
            <a:chExt cx="7200800" cy="576064"/>
          </a:xfrm>
        </p:grpSpPr>
        <p:sp>
          <p:nvSpPr>
            <p:cNvPr id="16" name="平行四辺形 15"/>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7" name="平行四辺形 16"/>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18" name="正方形/長方形 17"/>
          <p:cNvSpPr/>
          <p:nvPr/>
        </p:nvSpPr>
        <p:spPr>
          <a:xfrm>
            <a:off x="3401987" y="177292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4752002" y="177292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a:xfrm>
            <a:off x="6282019" y="177292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正方形/長方形 20"/>
          <p:cNvSpPr/>
          <p:nvPr/>
        </p:nvSpPr>
        <p:spPr>
          <a:xfrm>
            <a:off x="7632034" y="177292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角丸四角形 21"/>
          <p:cNvSpPr/>
          <p:nvPr/>
        </p:nvSpPr>
        <p:spPr bwMode="auto">
          <a:xfrm>
            <a:off x="4842003"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4" name="角丸四角形 23"/>
          <p:cNvSpPr/>
          <p:nvPr/>
        </p:nvSpPr>
        <p:spPr bwMode="auto">
          <a:xfrm>
            <a:off x="6191730"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5" name="角丸四角形 24"/>
          <p:cNvSpPr/>
          <p:nvPr/>
        </p:nvSpPr>
        <p:spPr bwMode="auto">
          <a:xfrm>
            <a:off x="7541745"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3" name="角丸四角形 22"/>
          <p:cNvSpPr/>
          <p:nvPr/>
        </p:nvSpPr>
        <p:spPr bwMode="auto">
          <a:xfrm>
            <a:off x="3311986"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9" name="角丸四角形吹き出し 28"/>
          <p:cNvSpPr/>
          <p:nvPr/>
        </p:nvSpPr>
        <p:spPr bwMode="auto">
          <a:xfrm>
            <a:off x="1421965" y="1142917"/>
            <a:ext cx="252002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ひょっとして･･･ 無限に</a:t>
            </a:r>
            <a:endParaRPr kumimoji="1" lang="en-US" altLang="ja-JP" sz="1400" dirty="0">
              <a:solidFill>
                <a:schemeClr val="tx1">
                  <a:lumMod val="85000"/>
                  <a:lumOff val="15000"/>
                </a:schemeClr>
              </a:solidFill>
              <a:latin typeface="Arial Narrow" panose="020B0606020202030204" pitchFamily="34" charset="0"/>
            </a:endParaRPr>
          </a:p>
          <a:p>
            <a:r>
              <a:rPr kumimoji="1" lang="ja-JP" altLang="en-US" sz="1400" dirty="0">
                <a:solidFill>
                  <a:schemeClr val="tx1">
                    <a:lumMod val="85000"/>
                    <a:lumOff val="15000"/>
                  </a:schemeClr>
                </a:solidFill>
                <a:latin typeface="Arial Narrow" panose="020B0606020202030204" pitchFamily="34" charset="0"/>
              </a:rPr>
              <a:t>速くできるんじゃ</a:t>
            </a:r>
            <a:r>
              <a:rPr kumimoji="1" lang="ja-JP" altLang="en-US" sz="1400" dirty="0" err="1">
                <a:solidFill>
                  <a:schemeClr val="tx1">
                    <a:lumMod val="85000"/>
                    <a:lumOff val="15000"/>
                  </a:schemeClr>
                </a:solidFill>
                <a:latin typeface="Arial Narrow" panose="020B0606020202030204" pitchFamily="34" charset="0"/>
              </a:rPr>
              <a:t>ね</a:t>
            </a:r>
            <a:r>
              <a:rPr lang="ja-JP" altLang="en-US" sz="1400" dirty="0">
                <a:solidFill>
                  <a:schemeClr val="tx1">
                    <a:lumMod val="85000"/>
                    <a:lumOff val="15000"/>
                  </a:schemeClr>
                </a:solidFill>
                <a:latin typeface="Arial Narrow" panose="020B0606020202030204" pitchFamily="34" charset="0"/>
              </a:rPr>
              <a:t>！？</a:t>
            </a:r>
            <a:endParaRPr kumimoji="1" lang="ja-JP" altLang="en-US" sz="1400" dirty="0">
              <a:solidFill>
                <a:schemeClr val="tx1">
                  <a:lumMod val="85000"/>
                  <a:lumOff val="15000"/>
                </a:schemeClr>
              </a:solidFill>
              <a:latin typeface="Arial Narrow" panose="020B0606020202030204" pitchFamily="34" charset="0"/>
            </a:endParaRPr>
          </a:p>
        </p:txBody>
      </p:sp>
      <p:sp>
        <p:nvSpPr>
          <p:cNvPr id="31" name="正方形/長方形 30"/>
          <p:cNvSpPr/>
          <p:nvPr/>
        </p:nvSpPr>
        <p:spPr bwMode="auto">
          <a:xfrm>
            <a:off x="4031994" y="168292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1"/>
                </a:solidFill>
              </a:rPr>
              <a:t>ｵｲﾔﾒﾛ</a:t>
            </a:r>
          </a:p>
        </p:txBody>
      </p:sp>
      <p:sp>
        <p:nvSpPr>
          <p:cNvPr id="32" name="正方形/長方形 31"/>
          <p:cNvSpPr/>
          <p:nvPr/>
        </p:nvSpPr>
        <p:spPr bwMode="auto">
          <a:xfrm>
            <a:off x="6822025" y="168292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2"/>
                </a:solidFill>
              </a:rPr>
              <a:t>ﾑﾘﾑﾘ</a:t>
            </a:r>
          </a:p>
        </p:txBody>
      </p:sp>
      <p:sp>
        <p:nvSpPr>
          <p:cNvPr id="33" name="正方形/長方形 32"/>
          <p:cNvSpPr/>
          <p:nvPr/>
        </p:nvSpPr>
        <p:spPr bwMode="auto">
          <a:xfrm>
            <a:off x="5382010" y="1718980"/>
            <a:ext cx="540006" cy="450005"/>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3">
                    <a:lumMod val="75000"/>
                  </a:schemeClr>
                </a:solidFill>
              </a:rPr>
              <a:t>ﾔﾒﾃ</a:t>
            </a:r>
          </a:p>
        </p:txBody>
      </p:sp>
      <p:sp>
        <p:nvSpPr>
          <p:cNvPr id="34" name="正方形/長方形 33"/>
          <p:cNvSpPr/>
          <p:nvPr/>
        </p:nvSpPr>
        <p:spPr bwMode="auto">
          <a:xfrm>
            <a:off x="341953" y="135897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sp>
        <p:nvSpPr>
          <p:cNvPr id="35" name="正方形/長方形 34"/>
          <p:cNvSpPr/>
          <p:nvPr/>
        </p:nvSpPr>
        <p:spPr>
          <a:xfrm>
            <a:off x="1061961" y="1538979"/>
            <a:ext cx="415498" cy="369332"/>
          </a:xfrm>
          <a:prstGeom prst="rect">
            <a:avLst/>
          </a:prstGeom>
        </p:spPr>
        <p:txBody>
          <a:bodyPr wrap="none">
            <a:spAutoFit/>
          </a:bodyPr>
          <a:lstStyle/>
          <a:p>
            <a:r>
              <a:rPr lang="ja-JP" altLang="en-US" dirty="0">
                <a:solidFill>
                  <a:schemeClr val="tx1">
                    <a:lumMod val="85000"/>
                    <a:lumOff val="15000"/>
                  </a:schemeClr>
                </a:solidFill>
              </a:rPr>
              <a:t>💡</a:t>
            </a:r>
          </a:p>
        </p:txBody>
      </p:sp>
      <p:sp>
        <p:nvSpPr>
          <p:cNvPr id="36" name="正方形/長方形 35">
            <a:extLst>
              <a:ext uri="{FF2B5EF4-FFF2-40B4-BE49-F238E27FC236}">
                <a16:creationId xmlns:a16="http://schemas.microsoft.com/office/drawing/2014/main" id="{693CAF5A-4D0E-9371-5EB3-8B5A3678E18F}"/>
              </a:ext>
            </a:extLst>
          </p:cNvPr>
          <p:cNvSpPr/>
          <p:nvPr/>
        </p:nvSpPr>
        <p:spPr>
          <a:xfrm>
            <a:off x="431954" y="1538979"/>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ﾋﾗﾒｲﾀ！</a:t>
            </a:r>
          </a:p>
        </p:txBody>
      </p:sp>
      <p:sp>
        <p:nvSpPr>
          <p:cNvPr id="5" name="正方形/長方形 4">
            <a:extLst>
              <a:ext uri="{FF2B5EF4-FFF2-40B4-BE49-F238E27FC236}">
                <a16:creationId xmlns:a16="http://schemas.microsoft.com/office/drawing/2014/main" id="{E1165DBA-792A-6C63-F0ED-E8330580E0E0}"/>
              </a:ext>
            </a:extLst>
          </p:cNvPr>
          <p:cNvSpPr/>
          <p:nvPr/>
        </p:nvSpPr>
        <p:spPr bwMode="auto">
          <a:xfrm>
            <a:off x="8442043"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4"/>
                </a:solidFill>
              </a:rPr>
              <a:t>ﾃﾝｼｮｸﾀﾞ</a:t>
            </a:r>
          </a:p>
        </p:txBody>
      </p:sp>
    </p:spTree>
    <p:extLst>
      <p:ext uri="{BB962C8B-B14F-4D97-AF65-F5344CB8AC3E}">
        <p14:creationId xmlns:p14="http://schemas.microsoft.com/office/powerpoint/2010/main" val="3066357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dirty="0"/>
              <a:t>ハザード</a:t>
            </a:r>
            <a:endParaRPr lang="en-US" altLang="ja-JP" dirty="0"/>
          </a:p>
        </p:txBody>
      </p:sp>
    </p:spTree>
    <p:extLst>
      <p:ext uri="{BB962C8B-B14F-4D97-AF65-F5344CB8AC3E}">
        <p14:creationId xmlns:p14="http://schemas.microsoft.com/office/powerpoint/2010/main" val="2272838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1E17915D-ED95-990B-618D-289A3E656299}"/>
              </a:ext>
            </a:extLst>
          </p:cNvPr>
          <p:cNvSpPr>
            <a:spLocks noGrp="1"/>
          </p:cNvSpPr>
          <p:nvPr>
            <p:ph type="title"/>
          </p:nvPr>
        </p:nvSpPr>
        <p:spPr/>
        <p:txBody>
          <a:bodyPr/>
          <a:lstStyle/>
          <a:p>
            <a:r>
              <a:rPr lang="ja-JP" altLang="en-US" dirty="0"/>
              <a:t>ハザード（</a:t>
            </a:r>
            <a:r>
              <a:rPr lang="en-US" altLang="ja-JP" dirty="0"/>
              <a:t>hazard</a:t>
            </a:r>
            <a:r>
              <a:rPr lang="ja-JP" altLang="en-US" dirty="0"/>
              <a:t>）</a:t>
            </a:r>
            <a:endParaRPr lang="en-US" dirty="0"/>
          </a:p>
        </p:txBody>
      </p:sp>
      <p:sp>
        <p:nvSpPr>
          <p:cNvPr id="5" name="コンテンツ プレースホルダー 4">
            <a:extLst>
              <a:ext uri="{FF2B5EF4-FFF2-40B4-BE49-F238E27FC236}">
                <a16:creationId xmlns:a16="http://schemas.microsoft.com/office/drawing/2014/main" id="{55BC22C3-1199-82A5-5E29-0F5100CE9908}"/>
              </a:ext>
            </a:extLst>
          </p:cNvPr>
          <p:cNvSpPr>
            <a:spLocks noGrp="1"/>
          </p:cNvSpPr>
          <p:nvPr>
            <p:ph sz="quarter" idx="10"/>
          </p:nvPr>
        </p:nvSpPr>
        <p:spPr>
          <a:xfrm>
            <a:off x="611956" y="1088974"/>
            <a:ext cx="8280092" cy="5220058"/>
          </a:xfrm>
        </p:spPr>
        <p:txBody>
          <a:bodyPr/>
          <a:lstStyle/>
          <a:p>
            <a:r>
              <a:rPr lang="ja-JP" altLang="en-US" dirty="0"/>
              <a:t>パイプラインがうまく動作しないこと</a:t>
            </a:r>
            <a:endParaRPr lang="en-US" altLang="ja-JP" dirty="0"/>
          </a:p>
          <a:p>
            <a:pPr lvl="1"/>
            <a:r>
              <a:rPr lang="ja-JP" altLang="en-US" dirty="0"/>
              <a:t>パタヘネ（教科書）の定義：</a:t>
            </a:r>
            <a:br>
              <a:rPr lang="en-US" altLang="ja-JP" dirty="0"/>
            </a:br>
            <a:r>
              <a:rPr lang="ja-JP" altLang="en-US" dirty="0"/>
              <a:t>「パイプラインにおいて</a:t>
            </a:r>
            <a:br>
              <a:rPr lang="en-US" altLang="ja-JP" dirty="0"/>
            </a:br>
            <a:r>
              <a:rPr lang="ja-JP" altLang="en-US" dirty="0"/>
              <a:t>　次のサイクルに次の命令を実行できないこと」</a:t>
            </a:r>
            <a:endParaRPr lang="en-US" altLang="ja-JP" dirty="0"/>
          </a:p>
          <a:p>
            <a:r>
              <a:rPr lang="ja-JP" altLang="en-US" dirty="0"/>
              <a:t>ハザードの種類：</a:t>
            </a:r>
            <a:endParaRPr lang="en-US" altLang="ja-JP" dirty="0"/>
          </a:p>
          <a:p>
            <a:pPr marL="817200" lvl="1" indent="-457200">
              <a:buFont typeface="+mj-lt"/>
              <a:buAutoNum type="arabicPeriod"/>
            </a:pPr>
            <a:r>
              <a:rPr lang="ja-JP" altLang="en-US" dirty="0"/>
              <a:t>構造ハザード</a:t>
            </a:r>
            <a:endParaRPr lang="en-US" altLang="ja-JP" dirty="0"/>
          </a:p>
          <a:p>
            <a:pPr marL="817200" lvl="1" indent="-457200">
              <a:buFont typeface="+mj-lt"/>
              <a:buAutoNum type="arabicPeriod"/>
            </a:pPr>
            <a:r>
              <a:rPr lang="ja-JP" altLang="en-US" dirty="0"/>
              <a:t>非構造ハザード</a:t>
            </a:r>
            <a:endParaRPr lang="en-US" altLang="ja-JP" dirty="0"/>
          </a:p>
          <a:p>
            <a:pPr marL="1177200" lvl="2" indent="-457200">
              <a:buFont typeface="+mj-lt"/>
              <a:buAutoNum type="arabicPeriod"/>
            </a:pPr>
            <a:r>
              <a:rPr lang="ja-JP" altLang="en-US" dirty="0"/>
              <a:t>データ・ハザード</a:t>
            </a:r>
            <a:endParaRPr lang="en-US" altLang="ja-JP" dirty="0"/>
          </a:p>
          <a:p>
            <a:pPr marL="1177200" lvl="2" indent="-457200">
              <a:buFont typeface="+mj-lt"/>
              <a:buAutoNum type="arabicPeriod"/>
            </a:pPr>
            <a:r>
              <a:rPr lang="ja-JP" altLang="en-US" dirty="0"/>
              <a:t>制御ハザード</a:t>
            </a:r>
            <a:endParaRPr lang="en-US" altLang="ja-JP" dirty="0"/>
          </a:p>
          <a:p>
            <a:endParaRPr lang="en-US" dirty="0"/>
          </a:p>
        </p:txBody>
      </p:sp>
      <p:sp>
        <p:nvSpPr>
          <p:cNvPr id="2" name="スライド番号プレースホルダー 1">
            <a:extLst>
              <a:ext uri="{FF2B5EF4-FFF2-40B4-BE49-F238E27FC236}">
                <a16:creationId xmlns:a16="http://schemas.microsoft.com/office/drawing/2014/main" id="{F032B724-DEBD-0B28-15AE-C908F5701F49}"/>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19</a:t>
            </a:fld>
            <a:endParaRPr kumimoji="1" lang="ja-JP" altLang="en-US"/>
          </a:p>
        </p:txBody>
      </p:sp>
    </p:spTree>
    <p:extLst>
      <p:ext uri="{BB962C8B-B14F-4D97-AF65-F5344CB8AC3E}">
        <p14:creationId xmlns:p14="http://schemas.microsoft.com/office/powerpoint/2010/main" val="2035793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385200" indent="-457200">
              <a:buFont typeface="+mj-lt"/>
              <a:buAutoNum type="arabicPeriod"/>
            </a:pPr>
            <a:r>
              <a:rPr lang="ja-JP" altLang="en-US" b="1" dirty="0"/>
              <a:t>構造ハザード：ハード資源の不足に起因</a:t>
            </a:r>
            <a:endParaRPr lang="en-US" altLang="ja-JP" b="1" dirty="0"/>
          </a:p>
          <a:p>
            <a:pPr marL="745200" lvl="1" indent="-457200">
              <a:buFont typeface="+mj-lt"/>
              <a:buAutoNum type="arabicPeriod"/>
            </a:pPr>
            <a:r>
              <a:rPr lang="ja-JP" altLang="en-US" dirty="0"/>
              <a:t>構造ハザードとはなにか？</a:t>
            </a:r>
            <a:endParaRPr lang="en-US" altLang="ja-JP" dirty="0"/>
          </a:p>
          <a:p>
            <a:pPr marL="745200" lvl="1" indent="-457200">
              <a:buFont typeface="+mj-lt"/>
              <a:buAutoNum type="arabicPeriod"/>
            </a:pPr>
            <a:r>
              <a:rPr lang="ja-JP" altLang="en-US" dirty="0"/>
              <a:t>その解決方法</a:t>
            </a:r>
          </a:p>
          <a:p>
            <a:pPr marL="385200" indent="-457200">
              <a:buFont typeface="+mj-lt"/>
              <a:buAutoNum type="arabicPeriod"/>
            </a:pPr>
            <a:r>
              <a:rPr lang="ja-JP" altLang="en-US" dirty="0"/>
              <a:t>非構造ハザード：バックエッジに由来</a:t>
            </a:r>
            <a:endParaRPr lang="en-US" altLang="ja-JP" dirty="0"/>
          </a:p>
          <a:p>
            <a:pPr marL="745200" lvl="1" indent="-457200">
              <a:buFont typeface="+mj-lt"/>
              <a:buAutoNum type="alphaLcPeriod"/>
            </a:pPr>
            <a:r>
              <a:rPr lang="ja-JP" altLang="en-US" dirty="0"/>
              <a:t>データ・ハザード</a:t>
            </a:r>
          </a:p>
          <a:p>
            <a:pPr marL="709200" lvl="1" indent="-457200">
              <a:buFont typeface="+mj-lt"/>
              <a:buAutoNum type="alphaLcPeriod"/>
            </a:pPr>
            <a:r>
              <a:rPr lang="ja-JP" altLang="en-US" dirty="0"/>
              <a:t>制御ハザード</a:t>
            </a:r>
            <a:endParaRPr lang="en-US" altLang="ja-JP" dirty="0"/>
          </a:p>
        </p:txBody>
      </p:sp>
    </p:spTree>
    <p:extLst>
      <p:ext uri="{BB962C8B-B14F-4D97-AF65-F5344CB8AC3E}">
        <p14:creationId xmlns:p14="http://schemas.microsoft.com/office/powerpoint/2010/main" val="2153873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dirty="0"/>
              <a:t>構造ハザード</a:t>
            </a:r>
            <a:endParaRPr lang="en-US" altLang="ja-JP" dirty="0"/>
          </a:p>
        </p:txBody>
      </p:sp>
    </p:spTree>
    <p:extLst>
      <p:ext uri="{BB962C8B-B14F-4D97-AF65-F5344CB8AC3E}">
        <p14:creationId xmlns:p14="http://schemas.microsoft.com/office/powerpoint/2010/main" val="2977355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a:t>
            </a:r>
          </a:p>
        </p:txBody>
      </p:sp>
      <p:sp>
        <p:nvSpPr>
          <p:cNvPr id="3" name="テキスト プレースホルダー 2"/>
          <p:cNvSpPr>
            <a:spLocks noGrp="1"/>
          </p:cNvSpPr>
          <p:nvPr>
            <p:ph type="body" sz="quarter" idx="10"/>
          </p:nvPr>
        </p:nvSpPr>
        <p:spPr/>
        <p:txBody>
          <a:bodyPr/>
          <a:lstStyle/>
          <a:p>
            <a:r>
              <a:rPr lang="ja-JP" altLang="en-US" dirty="0"/>
              <a:t>ハード資源の不足により，パイプラインがうまく動作しないこと</a:t>
            </a:r>
            <a:endParaRPr lang="en-US" altLang="ja-JP" dirty="0"/>
          </a:p>
          <a:p>
            <a:r>
              <a:rPr lang="ja-JP" altLang="en-US" dirty="0"/>
              <a:t>工場のラインの例を使って説明</a:t>
            </a:r>
            <a:endParaRPr lang="en-US" altLang="ja-JP" dirty="0"/>
          </a:p>
        </p:txBody>
      </p:sp>
    </p:spTree>
    <p:extLst>
      <p:ext uri="{BB962C8B-B14F-4D97-AF65-F5344CB8AC3E}">
        <p14:creationId xmlns:p14="http://schemas.microsoft.com/office/powerpoint/2010/main" val="2629053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none">
            <a:no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ﾊｻﾐ</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ﾊﾝﾏｰ</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954107"/>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ｽﾊﾟﾅ</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 ﾊｺﾂﾞﾒ</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工場のライン</a:t>
            </a:r>
            <a:endParaRPr kumimoji="1" lang="ja-JP" altLang="en-US" dirty="0"/>
          </a:p>
        </p:txBody>
      </p:sp>
      <p:sp>
        <p:nvSpPr>
          <p:cNvPr id="58" name="コンテンツ プレースホルダー 57"/>
          <p:cNvSpPr>
            <a:spLocks noGrp="1"/>
          </p:cNvSpPr>
          <p:nvPr>
            <p:ph idx="4294967295"/>
          </p:nvPr>
        </p:nvSpPr>
        <p:spPr>
          <a:xfrm>
            <a:off x="521955" y="4869016"/>
            <a:ext cx="8460094" cy="1369161"/>
          </a:xfrm>
          <a:prstGeom prst="rect">
            <a:avLst/>
          </a:prstGeom>
        </p:spPr>
        <p:txBody>
          <a:bodyPr/>
          <a:lstStyle/>
          <a:p>
            <a:r>
              <a:rPr lang="ja-JP" altLang="en-US" dirty="0">
                <a:solidFill>
                  <a:schemeClr val="tx1">
                    <a:lumMod val="85000"/>
                    <a:lumOff val="15000"/>
                  </a:schemeClr>
                </a:solidFill>
              </a:rPr>
              <a:t>各ステージの担当者は製品が流れるまでの間に一定の仕事ができる</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はさみで紙を１枚切る</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ハンマーで釘を１本打つ</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スパナでねじを１個しめる</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箱に製品を１つ入れる</a:t>
            </a:r>
            <a:endParaRPr lang="en-US" altLang="ja-JP" dirty="0">
              <a:solidFill>
                <a:schemeClr val="tx1">
                  <a:lumMod val="85000"/>
                  <a:lumOff val="15000"/>
                </a:schemeClr>
              </a:solidFill>
            </a:endParaRPr>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 name="グループ化 3">
            <a:extLst>
              <a:ext uri="{FF2B5EF4-FFF2-40B4-BE49-F238E27FC236}">
                <a16:creationId xmlns:a16="http://schemas.microsoft.com/office/drawing/2014/main" id="{FF77882F-537F-C839-8754-7387D5D0B75D}"/>
              </a:ext>
            </a:extLst>
          </p:cNvPr>
          <p:cNvGrpSpPr/>
          <p:nvPr/>
        </p:nvGrpSpPr>
        <p:grpSpPr>
          <a:xfrm>
            <a:off x="-5148108" y="2978995"/>
            <a:ext cx="6480073" cy="360005"/>
            <a:chOff x="611956" y="3699003"/>
            <a:chExt cx="6480073" cy="360005"/>
          </a:xfrm>
        </p:grpSpPr>
        <p:sp>
          <p:nvSpPr>
            <p:cNvPr id="5" name="角丸四角形 89">
              <a:extLst>
                <a:ext uri="{FF2B5EF4-FFF2-40B4-BE49-F238E27FC236}">
                  <a16:creationId xmlns:a16="http://schemas.microsoft.com/office/drawing/2014/main" id="{E91DA3D8-2DD3-2DC0-EEC0-D466EB78F03A}"/>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8" name="角丸四角形 90">
              <a:extLst>
                <a:ext uri="{FF2B5EF4-FFF2-40B4-BE49-F238E27FC236}">
                  <a16:creationId xmlns:a16="http://schemas.microsoft.com/office/drawing/2014/main" id="{399B2BB3-EAE4-40A5-F43B-253A9357C53C}"/>
                </a:ext>
              </a:extLst>
            </p:cNvPr>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 name="角丸四角形 91">
              <a:extLst>
                <a:ext uri="{FF2B5EF4-FFF2-40B4-BE49-F238E27FC236}">
                  <a16:creationId xmlns:a16="http://schemas.microsoft.com/office/drawing/2014/main" id="{CD942333-34EC-2DB6-7F7A-DE826A5208CA}"/>
                </a:ext>
              </a:extLst>
            </p:cNvPr>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10" name="角丸四角形 92">
              <a:extLst>
                <a:ext uri="{FF2B5EF4-FFF2-40B4-BE49-F238E27FC236}">
                  <a16:creationId xmlns:a16="http://schemas.microsoft.com/office/drawing/2014/main" id="{0B35F586-307D-82F6-81FE-B08F4D62EA36}"/>
                </a:ext>
              </a:extLst>
            </p:cNvPr>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11" name="角丸四角形 93">
              <a:extLst>
                <a:ext uri="{FF2B5EF4-FFF2-40B4-BE49-F238E27FC236}">
                  <a16:creationId xmlns:a16="http://schemas.microsoft.com/office/drawing/2014/main" id="{84ECC887-B444-6215-AFBD-6A7B1957223B}"/>
                </a:ext>
              </a:extLst>
            </p:cNvPr>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sp>
        <p:nvSpPr>
          <p:cNvPr id="12" name="正方形/長方形 11">
            <a:extLst>
              <a:ext uri="{FF2B5EF4-FFF2-40B4-BE49-F238E27FC236}">
                <a16:creationId xmlns:a16="http://schemas.microsoft.com/office/drawing/2014/main" id="{8D28C26A-E7E6-C201-2A31-76016504EE2C}"/>
              </a:ext>
            </a:extLst>
          </p:cNvPr>
          <p:cNvSpPr/>
          <p:nvPr/>
        </p:nvSpPr>
        <p:spPr bwMode="auto">
          <a:xfrm>
            <a:off x="-18483"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2619316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5.55556E-7 1.85185E-6 L 0.15764 1.85185E-6 " pathEditMode="relative" rAng="0" ptsTypes="AA">
                                      <p:cBhvr>
                                        <p:cTn id="6" dur="1000" fill="hold"/>
                                        <p:tgtEl>
                                          <p:spTgt spid="4"/>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32" presetClass="emph" presetSubtype="0" fill="hold" grpId="0" nodeType="clickEffect">
                                  <p:stCondLst>
                                    <p:cond delay="0"/>
                                  </p:stCondLst>
                                  <p:childTnLst>
                                    <p:animRot by="120000">
                                      <p:cBhvr>
                                        <p:cTn id="10" dur="100" fill="hold">
                                          <p:stCondLst>
                                            <p:cond delay="0"/>
                                          </p:stCondLst>
                                        </p:cTn>
                                        <p:tgtEl>
                                          <p:spTgt spid="3"/>
                                        </p:tgtEl>
                                        <p:attrNameLst>
                                          <p:attrName>r</p:attrName>
                                        </p:attrNameLst>
                                      </p:cBhvr>
                                    </p:animRot>
                                    <p:animRot by="-240000">
                                      <p:cBhvr>
                                        <p:cTn id="11" dur="200" fill="hold">
                                          <p:stCondLst>
                                            <p:cond delay="200"/>
                                          </p:stCondLst>
                                        </p:cTn>
                                        <p:tgtEl>
                                          <p:spTgt spid="3"/>
                                        </p:tgtEl>
                                        <p:attrNameLst>
                                          <p:attrName>r</p:attrName>
                                        </p:attrNameLst>
                                      </p:cBhvr>
                                    </p:animRot>
                                    <p:animRot by="240000">
                                      <p:cBhvr>
                                        <p:cTn id="12" dur="200" fill="hold">
                                          <p:stCondLst>
                                            <p:cond delay="400"/>
                                          </p:stCondLst>
                                        </p:cTn>
                                        <p:tgtEl>
                                          <p:spTgt spid="3"/>
                                        </p:tgtEl>
                                        <p:attrNameLst>
                                          <p:attrName>r</p:attrName>
                                        </p:attrNameLst>
                                      </p:cBhvr>
                                    </p:animRot>
                                    <p:animRot by="-240000">
                                      <p:cBhvr>
                                        <p:cTn id="13" dur="200" fill="hold">
                                          <p:stCondLst>
                                            <p:cond delay="600"/>
                                          </p:stCondLst>
                                        </p:cTn>
                                        <p:tgtEl>
                                          <p:spTgt spid="3"/>
                                        </p:tgtEl>
                                        <p:attrNameLst>
                                          <p:attrName>r</p:attrName>
                                        </p:attrNameLst>
                                      </p:cBhvr>
                                    </p:animRot>
                                    <p:animRot by="120000">
                                      <p:cBhvr>
                                        <p:cTn id="14" dur="200" fill="hold">
                                          <p:stCondLst>
                                            <p:cond delay="800"/>
                                          </p:stCondLst>
                                        </p:cTn>
                                        <p:tgtEl>
                                          <p:spTgt spid="3"/>
                                        </p:tgtEl>
                                        <p:attrNameLst>
                                          <p:attrName>r</p:attrName>
                                        </p:attrNameLst>
                                      </p:cBhvr>
                                    </p:animRot>
                                  </p:childTnLst>
                                </p:cTn>
                              </p:par>
                              <p:par>
                                <p:cTn id="15" presetID="32" presetClass="emph" presetSubtype="0" fill="hold" grpId="0" nodeType="withEffect">
                                  <p:stCondLst>
                                    <p:cond delay="0"/>
                                  </p:stCondLst>
                                  <p:childTnLst>
                                    <p:animRot by="120000">
                                      <p:cBhvr>
                                        <p:cTn id="16" dur="100" fill="hold">
                                          <p:stCondLst>
                                            <p:cond delay="0"/>
                                          </p:stCondLst>
                                        </p:cTn>
                                        <p:tgtEl>
                                          <p:spTgt spid="36"/>
                                        </p:tgtEl>
                                        <p:attrNameLst>
                                          <p:attrName>r</p:attrName>
                                        </p:attrNameLst>
                                      </p:cBhvr>
                                    </p:animRot>
                                    <p:animRot by="-240000">
                                      <p:cBhvr>
                                        <p:cTn id="17" dur="200" fill="hold">
                                          <p:stCondLst>
                                            <p:cond delay="200"/>
                                          </p:stCondLst>
                                        </p:cTn>
                                        <p:tgtEl>
                                          <p:spTgt spid="36"/>
                                        </p:tgtEl>
                                        <p:attrNameLst>
                                          <p:attrName>r</p:attrName>
                                        </p:attrNameLst>
                                      </p:cBhvr>
                                    </p:animRot>
                                    <p:animRot by="240000">
                                      <p:cBhvr>
                                        <p:cTn id="18" dur="200" fill="hold">
                                          <p:stCondLst>
                                            <p:cond delay="400"/>
                                          </p:stCondLst>
                                        </p:cTn>
                                        <p:tgtEl>
                                          <p:spTgt spid="36"/>
                                        </p:tgtEl>
                                        <p:attrNameLst>
                                          <p:attrName>r</p:attrName>
                                        </p:attrNameLst>
                                      </p:cBhvr>
                                    </p:animRot>
                                    <p:animRot by="-240000">
                                      <p:cBhvr>
                                        <p:cTn id="19" dur="200" fill="hold">
                                          <p:stCondLst>
                                            <p:cond delay="600"/>
                                          </p:stCondLst>
                                        </p:cTn>
                                        <p:tgtEl>
                                          <p:spTgt spid="36"/>
                                        </p:tgtEl>
                                        <p:attrNameLst>
                                          <p:attrName>r</p:attrName>
                                        </p:attrNameLst>
                                      </p:cBhvr>
                                    </p:animRot>
                                    <p:animRot by="120000">
                                      <p:cBhvr>
                                        <p:cTn id="20" dur="200" fill="hold">
                                          <p:stCondLst>
                                            <p:cond delay="800"/>
                                          </p:stCondLst>
                                        </p:cTn>
                                        <p:tgtEl>
                                          <p:spTgt spid="36"/>
                                        </p:tgtEl>
                                        <p:attrNameLst>
                                          <p:attrName>r</p:attrName>
                                        </p:attrNameLst>
                                      </p:cBhvr>
                                    </p:animRot>
                                  </p:childTnLst>
                                </p:cTn>
                              </p:par>
                              <p:par>
                                <p:cTn id="21" presetID="32" presetClass="emph" presetSubtype="0" fill="hold" grpId="0" nodeType="withEffect">
                                  <p:stCondLst>
                                    <p:cond delay="0"/>
                                  </p:stCondLst>
                                  <p:childTnLst>
                                    <p:animRot by="120000">
                                      <p:cBhvr>
                                        <p:cTn id="22" dur="100" fill="hold">
                                          <p:stCondLst>
                                            <p:cond delay="0"/>
                                          </p:stCondLst>
                                        </p:cTn>
                                        <p:tgtEl>
                                          <p:spTgt spid="49"/>
                                        </p:tgtEl>
                                        <p:attrNameLst>
                                          <p:attrName>r</p:attrName>
                                        </p:attrNameLst>
                                      </p:cBhvr>
                                    </p:animRot>
                                    <p:animRot by="-240000">
                                      <p:cBhvr>
                                        <p:cTn id="23" dur="200" fill="hold">
                                          <p:stCondLst>
                                            <p:cond delay="200"/>
                                          </p:stCondLst>
                                        </p:cTn>
                                        <p:tgtEl>
                                          <p:spTgt spid="49"/>
                                        </p:tgtEl>
                                        <p:attrNameLst>
                                          <p:attrName>r</p:attrName>
                                        </p:attrNameLst>
                                      </p:cBhvr>
                                    </p:animRot>
                                    <p:animRot by="240000">
                                      <p:cBhvr>
                                        <p:cTn id="24" dur="200" fill="hold">
                                          <p:stCondLst>
                                            <p:cond delay="400"/>
                                          </p:stCondLst>
                                        </p:cTn>
                                        <p:tgtEl>
                                          <p:spTgt spid="49"/>
                                        </p:tgtEl>
                                        <p:attrNameLst>
                                          <p:attrName>r</p:attrName>
                                        </p:attrNameLst>
                                      </p:cBhvr>
                                    </p:animRot>
                                    <p:animRot by="-240000">
                                      <p:cBhvr>
                                        <p:cTn id="25" dur="200" fill="hold">
                                          <p:stCondLst>
                                            <p:cond delay="600"/>
                                          </p:stCondLst>
                                        </p:cTn>
                                        <p:tgtEl>
                                          <p:spTgt spid="49"/>
                                        </p:tgtEl>
                                        <p:attrNameLst>
                                          <p:attrName>r</p:attrName>
                                        </p:attrNameLst>
                                      </p:cBhvr>
                                    </p:animRot>
                                    <p:animRot by="120000">
                                      <p:cBhvr>
                                        <p:cTn id="26" dur="200" fill="hold">
                                          <p:stCondLst>
                                            <p:cond delay="800"/>
                                          </p:stCondLst>
                                        </p:cTn>
                                        <p:tgtEl>
                                          <p:spTgt spid="49"/>
                                        </p:tgtEl>
                                        <p:attrNameLst>
                                          <p:attrName>r</p:attrName>
                                        </p:attrNameLst>
                                      </p:cBhvr>
                                    </p:animRot>
                                  </p:childTnLst>
                                </p:cTn>
                              </p:par>
                              <p:par>
                                <p:cTn id="27" presetID="32" presetClass="emph" presetSubtype="0" fill="hold" grpId="0" nodeType="withEffect">
                                  <p:stCondLst>
                                    <p:cond delay="0"/>
                                  </p:stCondLst>
                                  <p:childTnLst>
                                    <p:animRot by="120000">
                                      <p:cBhvr>
                                        <p:cTn id="28" dur="100" fill="hold">
                                          <p:stCondLst>
                                            <p:cond delay="0"/>
                                          </p:stCondLst>
                                        </p:cTn>
                                        <p:tgtEl>
                                          <p:spTgt spid="55"/>
                                        </p:tgtEl>
                                        <p:attrNameLst>
                                          <p:attrName>r</p:attrName>
                                        </p:attrNameLst>
                                      </p:cBhvr>
                                    </p:animRot>
                                    <p:animRot by="-240000">
                                      <p:cBhvr>
                                        <p:cTn id="29" dur="200" fill="hold">
                                          <p:stCondLst>
                                            <p:cond delay="200"/>
                                          </p:stCondLst>
                                        </p:cTn>
                                        <p:tgtEl>
                                          <p:spTgt spid="55"/>
                                        </p:tgtEl>
                                        <p:attrNameLst>
                                          <p:attrName>r</p:attrName>
                                        </p:attrNameLst>
                                      </p:cBhvr>
                                    </p:animRot>
                                    <p:animRot by="240000">
                                      <p:cBhvr>
                                        <p:cTn id="30" dur="200" fill="hold">
                                          <p:stCondLst>
                                            <p:cond delay="400"/>
                                          </p:stCondLst>
                                        </p:cTn>
                                        <p:tgtEl>
                                          <p:spTgt spid="55"/>
                                        </p:tgtEl>
                                        <p:attrNameLst>
                                          <p:attrName>r</p:attrName>
                                        </p:attrNameLst>
                                      </p:cBhvr>
                                    </p:animRot>
                                    <p:animRot by="-240000">
                                      <p:cBhvr>
                                        <p:cTn id="31" dur="200" fill="hold">
                                          <p:stCondLst>
                                            <p:cond delay="600"/>
                                          </p:stCondLst>
                                        </p:cTn>
                                        <p:tgtEl>
                                          <p:spTgt spid="55"/>
                                        </p:tgtEl>
                                        <p:attrNameLst>
                                          <p:attrName>r</p:attrName>
                                        </p:attrNameLst>
                                      </p:cBhvr>
                                    </p:animRot>
                                    <p:animRot by="120000">
                                      <p:cBhvr>
                                        <p:cTn id="32" dur="200" fill="hold">
                                          <p:stCondLst>
                                            <p:cond delay="800"/>
                                          </p:stCondLst>
                                        </p:cTn>
                                        <p:tgtEl>
                                          <p:spTgt spid="55"/>
                                        </p:tgtEl>
                                        <p:attrNameLst>
                                          <p:attrName>r</p:attrName>
                                        </p:attrNameLst>
                                      </p:cBhvr>
                                    </p:animRo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0.15764 1.85185E-6 L 0.3151 1.85185E-6 " pathEditMode="relative" rAng="0" ptsTypes="AA">
                                      <p:cBhvr>
                                        <p:cTn id="36" dur="1000" fill="hold"/>
                                        <p:tgtEl>
                                          <p:spTgt spid="4"/>
                                        </p:tgtEl>
                                        <p:attrNameLst>
                                          <p:attrName>ppt_x</p:attrName>
                                          <p:attrName>ppt_y</p:attrName>
                                        </p:attrNameLst>
                                      </p:cBhvr>
                                      <p:rCtr x="7865" y="0"/>
                                    </p:animMotion>
                                  </p:childTnLst>
                                </p:cTn>
                              </p:par>
                            </p:childTnLst>
                          </p:cTn>
                        </p:par>
                      </p:childTnLst>
                    </p:cTn>
                  </p:par>
                  <p:par>
                    <p:cTn id="37" fill="hold">
                      <p:stCondLst>
                        <p:cond delay="indefinite"/>
                      </p:stCondLst>
                      <p:childTnLst>
                        <p:par>
                          <p:cTn id="38" fill="hold">
                            <p:stCondLst>
                              <p:cond delay="0"/>
                            </p:stCondLst>
                            <p:childTnLst>
                              <p:par>
                                <p:cTn id="39" presetID="32" presetClass="emph" presetSubtype="0" fill="hold" grpId="1" nodeType="clickEffect">
                                  <p:stCondLst>
                                    <p:cond delay="0"/>
                                  </p:stCondLst>
                                  <p:childTnLst>
                                    <p:animRot by="120000">
                                      <p:cBhvr>
                                        <p:cTn id="40" dur="100" fill="hold">
                                          <p:stCondLst>
                                            <p:cond delay="0"/>
                                          </p:stCondLst>
                                        </p:cTn>
                                        <p:tgtEl>
                                          <p:spTgt spid="3"/>
                                        </p:tgtEl>
                                        <p:attrNameLst>
                                          <p:attrName>r</p:attrName>
                                        </p:attrNameLst>
                                      </p:cBhvr>
                                    </p:animRot>
                                    <p:animRot by="-240000">
                                      <p:cBhvr>
                                        <p:cTn id="41" dur="200" fill="hold">
                                          <p:stCondLst>
                                            <p:cond delay="200"/>
                                          </p:stCondLst>
                                        </p:cTn>
                                        <p:tgtEl>
                                          <p:spTgt spid="3"/>
                                        </p:tgtEl>
                                        <p:attrNameLst>
                                          <p:attrName>r</p:attrName>
                                        </p:attrNameLst>
                                      </p:cBhvr>
                                    </p:animRot>
                                    <p:animRot by="240000">
                                      <p:cBhvr>
                                        <p:cTn id="42" dur="200" fill="hold">
                                          <p:stCondLst>
                                            <p:cond delay="400"/>
                                          </p:stCondLst>
                                        </p:cTn>
                                        <p:tgtEl>
                                          <p:spTgt spid="3"/>
                                        </p:tgtEl>
                                        <p:attrNameLst>
                                          <p:attrName>r</p:attrName>
                                        </p:attrNameLst>
                                      </p:cBhvr>
                                    </p:animRot>
                                    <p:animRot by="-240000">
                                      <p:cBhvr>
                                        <p:cTn id="43" dur="200" fill="hold">
                                          <p:stCondLst>
                                            <p:cond delay="600"/>
                                          </p:stCondLst>
                                        </p:cTn>
                                        <p:tgtEl>
                                          <p:spTgt spid="3"/>
                                        </p:tgtEl>
                                        <p:attrNameLst>
                                          <p:attrName>r</p:attrName>
                                        </p:attrNameLst>
                                      </p:cBhvr>
                                    </p:animRot>
                                    <p:animRot by="120000">
                                      <p:cBhvr>
                                        <p:cTn id="44" dur="200" fill="hold">
                                          <p:stCondLst>
                                            <p:cond delay="800"/>
                                          </p:stCondLst>
                                        </p:cTn>
                                        <p:tgtEl>
                                          <p:spTgt spid="3"/>
                                        </p:tgtEl>
                                        <p:attrNameLst>
                                          <p:attrName>r</p:attrName>
                                        </p:attrNameLst>
                                      </p:cBhvr>
                                    </p:animRot>
                                  </p:childTnLst>
                                </p:cTn>
                              </p:par>
                              <p:par>
                                <p:cTn id="45" presetID="32" presetClass="emph" presetSubtype="0" fill="hold" grpId="1" nodeType="withEffect">
                                  <p:stCondLst>
                                    <p:cond delay="0"/>
                                  </p:stCondLst>
                                  <p:childTnLst>
                                    <p:animRot by="120000">
                                      <p:cBhvr>
                                        <p:cTn id="46" dur="100" fill="hold">
                                          <p:stCondLst>
                                            <p:cond delay="0"/>
                                          </p:stCondLst>
                                        </p:cTn>
                                        <p:tgtEl>
                                          <p:spTgt spid="36"/>
                                        </p:tgtEl>
                                        <p:attrNameLst>
                                          <p:attrName>r</p:attrName>
                                        </p:attrNameLst>
                                      </p:cBhvr>
                                    </p:animRot>
                                    <p:animRot by="-240000">
                                      <p:cBhvr>
                                        <p:cTn id="47" dur="200" fill="hold">
                                          <p:stCondLst>
                                            <p:cond delay="200"/>
                                          </p:stCondLst>
                                        </p:cTn>
                                        <p:tgtEl>
                                          <p:spTgt spid="36"/>
                                        </p:tgtEl>
                                        <p:attrNameLst>
                                          <p:attrName>r</p:attrName>
                                        </p:attrNameLst>
                                      </p:cBhvr>
                                    </p:animRot>
                                    <p:animRot by="240000">
                                      <p:cBhvr>
                                        <p:cTn id="48" dur="200" fill="hold">
                                          <p:stCondLst>
                                            <p:cond delay="400"/>
                                          </p:stCondLst>
                                        </p:cTn>
                                        <p:tgtEl>
                                          <p:spTgt spid="36"/>
                                        </p:tgtEl>
                                        <p:attrNameLst>
                                          <p:attrName>r</p:attrName>
                                        </p:attrNameLst>
                                      </p:cBhvr>
                                    </p:animRot>
                                    <p:animRot by="-240000">
                                      <p:cBhvr>
                                        <p:cTn id="49" dur="200" fill="hold">
                                          <p:stCondLst>
                                            <p:cond delay="600"/>
                                          </p:stCondLst>
                                        </p:cTn>
                                        <p:tgtEl>
                                          <p:spTgt spid="36"/>
                                        </p:tgtEl>
                                        <p:attrNameLst>
                                          <p:attrName>r</p:attrName>
                                        </p:attrNameLst>
                                      </p:cBhvr>
                                    </p:animRot>
                                    <p:animRot by="120000">
                                      <p:cBhvr>
                                        <p:cTn id="50" dur="200" fill="hold">
                                          <p:stCondLst>
                                            <p:cond delay="800"/>
                                          </p:stCondLst>
                                        </p:cTn>
                                        <p:tgtEl>
                                          <p:spTgt spid="36"/>
                                        </p:tgtEl>
                                        <p:attrNameLst>
                                          <p:attrName>r</p:attrName>
                                        </p:attrNameLst>
                                      </p:cBhvr>
                                    </p:animRot>
                                  </p:childTnLst>
                                </p:cTn>
                              </p:par>
                              <p:par>
                                <p:cTn id="51" presetID="32" presetClass="emph" presetSubtype="0" fill="hold" grpId="1" nodeType="withEffect">
                                  <p:stCondLst>
                                    <p:cond delay="0"/>
                                  </p:stCondLst>
                                  <p:childTnLst>
                                    <p:animRot by="120000">
                                      <p:cBhvr>
                                        <p:cTn id="52" dur="100" fill="hold">
                                          <p:stCondLst>
                                            <p:cond delay="0"/>
                                          </p:stCondLst>
                                        </p:cTn>
                                        <p:tgtEl>
                                          <p:spTgt spid="49"/>
                                        </p:tgtEl>
                                        <p:attrNameLst>
                                          <p:attrName>r</p:attrName>
                                        </p:attrNameLst>
                                      </p:cBhvr>
                                    </p:animRot>
                                    <p:animRot by="-240000">
                                      <p:cBhvr>
                                        <p:cTn id="53" dur="200" fill="hold">
                                          <p:stCondLst>
                                            <p:cond delay="200"/>
                                          </p:stCondLst>
                                        </p:cTn>
                                        <p:tgtEl>
                                          <p:spTgt spid="49"/>
                                        </p:tgtEl>
                                        <p:attrNameLst>
                                          <p:attrName>r</p:attrName>
                                        </p:attrNameLst>
                                      </p:cBhvr>
                                    </p:animRot>
                                    <p:animRot by="240000">
                                      <p:cBhvr>
                                        <p:cTn id="54" dur="200" fill="hold">
                                          <p:stCondLst>
                                            <p:cond delay="400"/>
                                          </p:stCondLst>
                                        </p:cTn>
                                        <p:tgtEl>
                                          <p:spTgt spid="49"/>
                                        </p:tgtEl>
                                        <p:attrNameLst>
                                          <p:attrName>r</p:attrName>
                                        </p:attrNameLst>
                                      </p:cBhvr>
                                    </p:animRot>
                                    <p:animRot by="-240000">
                                      <p:cBhvr>
                                        <p:cTn id="55" dur="200" fill="hold">
                                          <p:stCondLst>
                                            <p:cond delay="600"/>
                                          </p:stCondLst>
                                        </p:cTn>
                                        <p:tgtEl>
                                          <p:spTgt spid="49"/>
                                        </p:tgtEl>
                                        <p:attrNameLst>
                                          <p:attrName>r</p:attrName>
                                        </p:attrNameLst>
                                      </p:cBhvr>
                                    </p:animRot>
                                    <p:animRot by="120000">
                                      <p:cBhvr>
                                        <p:cTn id="56" dur="200" fill="hold">
                                          <p:stCondLst>
                                            <p:cond delay="800"/>
                                          </p:stCondLst>
                                        </p:cTn>
                                        <p:tgtEl>
                                          <p:spTgt spid="49"/>
                                        </p:tgtEl>
                                        <p:attrNameLst>
                                          <p:attrName>r</p:attrName>
                                        </p:attrNameLst>
                                      </p:cBhvr>
                                    </p:animRot>
                                  </p:childTnLst>
                                </p:cTn>
                              </p:par>
                              <p:par>
                                <p:cTn id="57" presetID="32" presetClass="emph" presetSubtype="0" fill="hold" grpId="1" nodeType="withEffect">
                                  <p:stCondLst>
                                    <p:cond delay="0"/>
                                  </p:stCondLst>
                                  <p:childTnLst>
                                    <p:animRot by="120000">
                                      <p:cBhvr>
                                        <p:cTn id="58" dur="100" fill="hold">
                                          <p:stCondLst>
                                            <p:cond delay="0"/>
                                          </p:stCondLst>
                                        </p:cTn>
                                        <p:tgtEl>
                                          <p:spTgt spid="55"/>
                                        </p:tgtEl>
                                        <p:attrNameLst>
                                          <p:attrName>r</p:attrName>
                                        </p:attrNameLst>
                                      </p:cBhvr>
                                    </p:animRot>
                                    <p:animRot by="-240000">
                                      <p:cBhvr>
                                        <p:cTn id="59" dur="200" fill="hold">
                                          <p:stCondLst>
                                            <p:cond delay="200"/>
                                          </p:stCondLst>
                                        </p:cTn>
                                        <p:tgtEl>
                                          <p:spTgt spid="55"/>
                                        </p:tgtEl>
                                        <p:attrNameLst>
                                          <p:attrName>r</p:attrName>
                                        </p:attrNameLst>
                                      </p:cBhvr>
                                    </p:animRot>
                                    <p:animRot by="240000">
                                      <p:cBhvr>
                                        <p:cTn id="60" dur="200" fill="hold">
                                          <p:stCondLst>
                                            <p:cond delay="400"/>
                                          </p:stCondLst>
                                        </p:cTn>
                                        <p:tgtEl>
                                          <p:spTgt spid="55"/>
                                        </p:tgtEl>
                                        <p:attrNameLst>
                                          <p:attrName>r</p:attrName>
                                        </p:attrNameLst>
                                      </p:cBhvr>
                                    </p:animRot>
                                    <p:animRot by="-240000">
                                      <p:cBhvr>
                                        <p:cTn id="61" dur="200" fill="hold">
                                          <p:stCondLst>
                                            <p:cond delay="600"/>
                                          </p:stCondLst>
                                        </p:cTn>
                                        <p:tgtEl>
                                          <p:spTgt spid="55"/>
                                        </p:tgtEl>
                                        <p:attrNameLst>
                                          <p:attrName>r</p:attrName>
                                        </p:attrNameLst>
                                      </p:cBhvr>
                                    </p:animRot>
                                    <p:animRot by="120000">
                                      <p:cBhvr>
                                        <p:cTn id="62" dur="200" fill="hold">
                                          <p:stCondLst>
                                            <p:cond delay="800"/>
                                          </p:stCondLst>
                                        </p:cTn>
                                        <p:tgtEl>
                                          <p:spTgt spid="55"/>
                                        </p:tgtEl>
                                        <p:attrNameLst>
                                          <p:attrName>r</p:attrName>
                                        </p:attrNameLst>
                                      </p:cBhvr>
                                    </p:animRot>
                                  </p:childTnLst>
                                </p:cTn>
                              </p:par>
                            </p:childTnLst>
                          </p:cTn>
                        </p:par>
                      </p:childTnLst>
                    </p:cTn>
                  </p:par>
                  <p:par>
                    <p:cTn id="63" fill="hold">
                      <p:stCondLst>
                        <p:cond delay="indefinite"/>
                      </p:stCondLst>
                      <p:childTnLst>
                        <p:par>
                          <p:cTn id="64" fill="hold">
                            <p:stCondLst>
                              <p:cond delay="0"/>
                            </p:stCondLst>
                            <p:childTnLst>
                              <p:par>
                                <p:cTn id="65" presetID="42" presetClass="path" presetSubtype="0" accel="50000" decel="50000" fill="hold" nodeType="clickEffect">
                                  <p:stCondLst>
                                    <p:cond delay="0"/>
                                  </p:stCondLst>
                                  <p:childTnLst>
                                    <p:animMotion origin="layout" path="M 0.3151 1.85185E-6 L 0.4724 1.85185E-6 " pathEditMode="relative" rAng="0" ptsTypes="AA">
                                      <p:cBhvr>
                                        <p:cTn id="66" dur="1000" fill="hold"/>
                                        <p:tgtEl>
                                          <p:spTgt spid="4"/>
                                        </p:tgtEl>
                                        <p:attrNameLst>
                                          <p:attrName>ppt_x</p:attrName>
                                          <p:attrName>ppt_y</p:attrName>
                                        </p:attrNameLst>
                                      </p:cBhvr>
                                      <p:rCtr x="7865" y="0"/>
                                    </p:animMotion>
                                  </p:childTnLst>
                                </p:cTn>
                              </p:par>
                            </p:childTnLst>
                          </p:cTn>
                        </p:par>
                      </p:childTnLst>
                    </p:cTn>
                  </p:par>
                  <p:par>
                    <p:cTn id="67" fill="hold">
                      <p:stCondLst>
                        <p:cond delay="indefinite"/>
                      </p:stCondLst>
                      <p:childTnLst>
                        <p:par>
                          <p:cTn id="68" fill="hold">
                            <p:stCondLst>
                              <p:cond delay="0"/>
                            </p:stCondLst>
                            <p:childTnLst>
                              <p:par>
                                <p:cTn id="69" presetID="32" presetClass="emph" presetSubtype="0" fill="hold" grpId="2" nodeType="clickEffect">
                                  <p:stCondLst>
                                    <p:cond delay="0"/>
                                  </p:stCondLst>
                                  <p:childTnLst>
                                    <p:animRot by="120000">
                                      <p:cBhvr>
                                        <p:cTn id="70" dur="100" fill="hold">
                                          <p:stCondLst>
                                            <p:cond delay="0"/>
                                          </p:stCondLst>
                                        </p:cTn>
                                        <p:tgtEl>
                                          <p:spTgt spid="3"/>
                                        </p:tgtEl>
                                        <p:attrNameLst>
                                          <p:attrName>r</p:attrName>
                                        </p:attrNameLst>
                                      </p:cBhvr>
                                    </p:animRot>
                                    <p:animRot by="-240000">
                                      <p:cBhvr>
                                        <p:cTn id="71" dur="200" fill="hold">
                                          <p:stCondLst>
                                            <p:cond delay="200"/>
                                          </p:stCondLst>
                                        </p:cTn>
                                        <p:tgtEl>
                                          <p:spTgt spid="3"/>
                                        </p:tgtEl>
                                        <p:attrNameLst>
                                          <p:attrName>r</p:attrName>
                                        </p:attrNameLst>
                                      </p:cBhvr>
                                    </p:animRot>
                                    <p:animRot by="240000">
                                      <p:cBhvr>
                                        <p:cTn id="72" dur="200" fill="hold">
                                          <p:stCondLst>
                                            <p:cond delay="400"/>
                                          </p:stCondLst>
                                        </p:cTn>
                                        <p:tgtEl>
                                          <p:spTgt spid="3"/>
                                        </p:tgtEl>
                                        <p:attrNameLst>
                                          <p:attrName>r</p:attrName>
                                        </p:attrNameLst>
                                      </p:cBhvr>
                                    </p:animRot>
                                    <p:animRot by="-240000">
                                      <p:cBhvr>
                                        <p:cTn id="73" dur="200" fill="hold">
                                          <p:stCondLst>
                                            <p:cond delay="600"/>
                                          </p:stCondLst>
                                        </p:cTn>
                                        <p:tgtEl>
                                          <p:spTgt spid="3"/>
                                        </p:tgtEl>
                                        <p:attrNameLst>
                                          <p:attrName>r</p:attrName>
                                        </p:attrNameLst>
                                      </p:cBhvr>
                                    </p:animRot>
                                    <p:animRot by="120000">
                                      <p:cBhvr>
                                        <p:cTn id="74" dur="200" fill="hold">
                                          <p:stCondLst>
                                            <p:cond delay="800"/>
                                          </p:stCondLst>
                                        </p:cTn>
                                        <p:tgtEl>
                                          <p:spTgt spid="3"/>
                                        </p:tgtEl>
                                        <p:attrNameLst>
                                          <p:attrName>r</p:attrName>
                                        </p:attrNameLst>
                                      </p:cBhvr>
                                    </p:animRot>
                                  </p:childTnLst>
                                </p:cTn>
                              </p:par>
                              <p:par>
                                <p:cTn id="75" presetID="32" presetClass="emph" presetSubtype="0" fill="hold" grpId="2" nodeType="withEffect">
                                  <p:stCondLst>
                                    <p:cond delay="0"/>
                                  </p:stCondLst>
                                  <p:childTnLst>
                                    <p:animRot by="120000">
                                      <p:cBhvr>
                                        <p:cTn id="76" dur="100" fill="hold">
                                          <p:stCondLst>
                                            <p:cond delay="0"/>
                                          </p:stCondLst>
                                        </p:cTn>
                                        <p:tgtEl>
                                          <p:spTgt spid="36"/>
                                        </p:tgtEl>
                                        <p:attrNameLst>
                                          <p:attrName>r</p:attrName>
                                        </p:attrNameLst>
                                      </p:cBhvr>
                                    </p:animRot>
                                    <p:animRot by="-240000">
                                      <p:cBhvr>
                                        <p:cTn id="77" dur="200" fill="hold">
                                          <p:stCondLst>
                                            <p:cond delay="200"/>
                                          </p:stCondLst>
                                        </p:cTn>
                                        <p:tgtEl>
                                          <p:spTgt spid="36"/>
                                        </p:tgtEl>
                                        <p:attrNameLst>
                                          <p:attrName>r</p:attrName>
                                        </p:attrNameLst>
                                      </p:cBhvr>
                                    </p:animRot>
                                    <p:animRot by="240000">
                                      <p:cBhvr>
                                        <p:cTn id="78" dur="200" fill="hold">
                                          <p:stCondLst>
                                            <p:cond delay="400"/>
                                          </p:stCondLst>
                                        </p:cTn>
                                        <p:tgtEl>
                                          <p:spTgt spid="36"/>
                                        </p:tgtEl>
                                        <p:attrNameLst>
                                          <p:attrName>r</p:attrName>
                                        </p:attrNameLst>
                                      </p:cBhvr>
                                    </p:animRot>
                                    <p:animRot by="-240000">
                                      <p:cBhvr>
                                        <p:cTn id="79" dur="200" fill="hold">
                                          <p:stCondLst>
                                            <p:cond delay="600"/>
                                          </p:stCondLst>
                                        </p:cTn>
                                        <p:tgtEl>
                                          <p:spTgt spid="36"/>
                                        </p:tgtEl>
                                        <p:attrNameLst>
                                          <p:attrName>r</p:attrName>
                                        </p:attrNameLst>
                                      </p:cBhvr>
                                    </p:animRot>
                                    <p:animRot by="120000">
                                      <p:cBhvr>
                                        <p:cTn id="80" dur="200" fill="hold">
                                          <p:stCondLst>
                                            <p:cond delay="800"/>
                                          </p:stCondLst>
                                        </p:cTn>
                                        <p:tgtEl>
                                          <p:spTgt spid="36"/>
                                        </p:tgtEl>
                                        <p:attrNameLst>
                                          <p:attrName>r</p:attrName>
                                        </p:attrNameLst>
                                      </p:cBhvr>
                                    </p:animRot>
                                  </p:childTnLst>
                                </p:cTn>
                              </p:par>
                              <p:par>
                                <p:cTn id="81" presetID="32" presetClass="emph" presetSubtype="0" fill="hold" grpId="2" nodeType="withEffect">
                                  <p:stCondLst>
                                    <p:cond delay="0"/>
                                  </p:stCondLst>
                                  <p:childTnLst>
                                    <p:animRot by="120000">
                                      <p:cBhvr>
                                        <p:cTn id="82" dur="100" fill="hold">
                                          <p:stCondLst>
                                            <p:cond delay="0"/>
                                          </p:stCondLst>
                                        </p:cTn>
                                        <p:tgtEl>
                                          <p:spTgt spid="49"/>
                                        </p:tgtEl>
                                        <p:attrNameLst>
                                          <p:attrName>r</p:attrName>
                                        </p:attrNameLst>
                                      </p:cBhvr>
                                    </p:animRot>
                                    <p:animRot by="-240000">
                                      <p:cBhvr>
                                        <p:cTn id="83" dur="200" fill="hold">
                                          <p:stCondLst>
                                            <p:cond delay="200"/>
                                          </p:stCondLst>
                                        </p:cTn>
                                        <p:tgtEl>
                                          <p:spTgt spid="49"/>
                                        </p:tgtEl>
                                        <p:attrNameLst>
                                          <p:attrName>r</p:attrName>
                                        </p:attrNameLst>
                                      </p:cBhvr>
                                    </p:animRot>
                                    <p:animRot by="240000">
                                      <p:cBhvr>
                                        <p:cTn id="84" dur="200" fill="hold">
                                          <p:stCondLst>
                                            <p:cond delay="400"/>
                                          </p:stCondLst>
                                        </p:cTn>
                                        <p:tgtEl>
                                          <p:spTgt spid="49"/>
                                        </p:tgtEl>
                                        <p:attrNameLst>
                                          <p:attrName>r</p:attrName>
                                        </p:attrNameLst>
                                      </p:cBhvr>
                                    </p:animRot>
                                    <p:animRot by="-240000">
                                      <p:cBhvr>
                                        <p:cTn id="85" dur="200" fill="hold">
                                          <p:stCondLst>
                                            <p:cond delay="600"/>
                                          </p:stCondLst>
                                        </p:cTn>
                                        <p:tgtEl>
                                          <p:spTgt spid="49"/>
                                        </p:tgtEl>
                                        <p:attrNameLst>
                                          <p:attrName>r</p:attrName>
                                        </p:attrNameLst>
                                      </p:cBhvr>
                                    </p:animRot>
                                    <p:animRot by="120000">
                                      <p:cBhvr>
                                        <p:cTn id="86" dur="200" fill="hold">
                                          <p:stCondLst>
                                            <p:cond delay="800"/>
                                          </p:stCondLst>
                                        </p:cTn>
                                        <p:tgtEl>
                                          <p:spTgt spid="49"/>
                                        </p:tgtEl>
                                        <p:attrNameLst>
                                          <p:attrName>r</p:attrName>
                                        </p:attrNameLst>
                                      </p:cBhvr>
                                    </p:animRot>
                                  </p:childTnLst>
                                </p:cTn>
                              </p:par>
                              <p:par>
                                <p:cTn id="87" presetID="32" presetClass="emph" presetSubtype="0" fill="hold" grpId="2" nodeType="withEffect">
                                  <p:stCondLst>
                                    <p:cond delay="0"/>
                                  </p:stCondLst>
                                  <p:childTnLst>
                                    <p:animRot by="120000">
                                      <p:cBhvr>
                                        <p:cTn id="88" dur="100" fill="hold">
                                          <p:stCondLst>
                                            <p:cond delay="0"/>
                                          </p:stCondLst>
                                        </p:cTn>
                                        <p:tgtEl>
                                          <p:spTgt spid="55"/>
                                        </p:tgtEl>
                                        <p:attrNameLst>
                                          <p:attrName>r</p:attrName>
                                        </p:attrNameLst>
                                      </p:cBhvr>
                                    </p:animRot>
                                    <p:animRot by="-240000">
                                      <p:cBhvr>
                                        <p:cTn id="89" dur="200" fill="hold">
                                          <p:stCondLst>
                                            <p:cond delay="200"/>
                                          </p:stCondLst>
                                        </p:cTn>
                                        <p:tgtEl>
                                          <p:spTgt spid="55"/>
                                        </p:tgtEl>
                                        <p:attrNameLst>
                                          <p:attrName>r</p:attrName>
                                        </p:attrNameLst>
                                      </p:cBhvr>
                                    </p:animRot>
                                    <p:animRot by="240000">
                                      <p:cBhvr>
                                        <p:cTn id="90" dur="200" fill="hold">
                                          <p:stCondLst>
                                            <p:cond delay="400"/>
                                          </p:stCondLst>
                                        </p:cTn>
                                        <p:tgtEl>
                                          <p:spTgt spid="55"/>
                                        </p:tgtEl>
                                        <p:attrNameLst>
                                          <p:attrName>r</p:attrName>
                                        </p:attrNameLst>
                                      </p:cBhvr>
                                    </p:animRot>
                                    <p:animRot by="-240000">
                                      <p:cBhvr>
                                        <p:cTn id="91" dur="200" fill="hold">
                                          <p:stCondLst>
                                            <p:cond delay="600"/>
                                          </p:stCondLst>
                                        </p:cTn>
                                        <p:tgtEl>
                                          <p:spTgt spid="55"/>
                                        </p:tgtEl>
                                        <p:attrNameLst>
                                          <p:attrName>r</p:attrName>
                                        </p:attrNameLst>
                                      </p:cBhvr>
                                    </p:animRot>
                                    <p:animRot by="120000">
                                      <p:cBhvr>
                                        <p:cTn id="92" dur="200" fill="hold">
                                          <p:stCondLst>
                                            <p:cond delay="800"/>
                                          </p:stCondLst>
                                        </p:cTn>
                                        <p:tgtEl>
                                          <p:spTgt spid="55"/>
                                        </p:tgtEl>
                                        <p:attrNameLst>
                                          <p:attrName>r</p:attrName>
                                        </p:attrNameLst>
                                      </p:cBhvr>
                                    </p:animRot>
                                  </p:childTnLst>
                                </p:cTn>
                              </p:par>
                            </p:childTnLst>
                          </p:cTn>
                        </p:par>
                      </p:childTnLst>
                    </p:cTn>
                  </p:par>
                  <p:par>
                    <p:cTn id="93" fill="hold">
                      <p:stCondLst>
                        <p:cond delay="indefinite"/>
                      </p:stCondLst>
                      <p:childTnLst>
                        <p:par>
                          <p:cTn id="94" fill="hold">
                            <p:stCondLst>
                              <p:cond delay="0"/>
                            </p:stCondLst>
                            <p:childTnLst>
                              <p:par>
                                <p:cTn id="95" presetID="42" presetClass="path" presetSubtype="0" accel="50000" decel="50000" fill="hold" nodeType="clickEffect">
                                  <p:stCondLst>
                                    <p:cond delay="0"/>
                                  </p:stCondLst>
                                  <p:childTnLst>
                                    <p:animMotion origin="layout" path="M 0.4724 1.85185E-6 L 0.62986 1.85185E-6 " pathEditMode="relative" rAng="0" ptsTypes="AA">
                                      <p:cBhvr>
                                        <p:cTn id="96" dur="1000" fill="hold"/>
                                        <p:tgtEl>
                                          <p:spTgt spid="4"/>
                                        </p:tgtEl>
                                        <p:attrNameLst>
                                          <p:attrName>ppt_x</p:attrName>
                                          <p:attrName>ppt_y</p:attrName>
                                        </p:attrNameLst>
                                      </p:cBhvr>
                                      <p:rCtr x="7865" y="0"/>
                                    </p:animMotion>
                                  </p:childTnLst>
                                </p:cTn>
                              </p:par>
                            </p:childTnLst>
                          </p:cTn>
                        </p:par>
                      </p:childTnLst>
                    </p:cTn>
                  </p:par>
                  <p:par>
                    <p:cTn id="97" fill="hold">
                      <p:stCondLst>
                        <p:cond delay="indefinite"/>
                      </p:stCondLst>
                      <p:childTnLst>
                        <p:par>
                          <p:cTn id="98" fill="hold">
                            <p:stCondLst>
                              <p:cond delay="0"/>
                            </p:stCondLst>
                            <p:childTnLst>
                              <p:par>
                                <p:cTn id="99" presetID="32" presetClass="emph" presetSubtype="0" fill="hold" grpId="3" nodeType="clickEffect">
                                  <p:stCondLst>
                                    <p:cond delay="0"/>
                                  </p:stCondLst>
                                  <p:childTnLst>
                                    <p:animRot by="120000">
                                      <p:cBhvr>
                                        <p:cTn id="100" dur="100" fill="hold">
                                          <p:stCondLst>
                                            <p:cond delay="0"/>
                                          </p:stCondLst>
                                        </p:cTn>
                                        <p:tgtEl>
                                          <p:spTgt spid="3"/>
                                        </p:tgtEl>
                                        <p:attrNameLst>
                                          <p:attrName>r</p:attrName>
                                        </p:attrNameLst>
                                      </p:cBhvr>
                                    </p:animRot>
                                    <p:animRot by="-240000">
                                      <p:cBhvr>
                                        <p:cTn id="101" dur="200" fill="hold">
                                          <p:stCondLst>
                                            <p:cond delay="200"/>
                                          </p:stCondLst>
                                        </p:cTn>
                                        <p:tgtEl>
                                          <p:spTgt spid="3"/>
                                        </p:tgtEl>
                                        <p:attrNameLst>
                                          <p:attrName>r</p:attrName>
                                        </p:attrNameLst>
                                      </p:cBhvr>
                                    </p:animRot>
                                    <p:animRot by="240000">
                                      <p:cBhvr>
                                        <p:cTn id="102" dur="200" fill="hold">
                                          <p:stCondLst>
                                            <p:cond delay="400"/>
                                          </p:stCondLst>
                                        </p:cTn>
                                        <p:tgtEl>
                                          <p:spTgt spid="3"/>
                                        </p:tgtEl>
                                        <p:attrNameLst>
                                          <p:attrName>r</p:attrName>
                                        </p:attrNameLst>
                                      </p:cBhvr>
                                    </p:animRot>
                                    <p:animRot by="-240000">
                                      <p:cBhvr>
                                        <p:cTn id="103" dur="200" fill="hold">
                                          <p:stCondLst>
                                            <p:cond delay="600"/>
                                          </p:stCondLst>
                                        </p:cTn>
                                        <p:tgtEl>
                                          <p:spTgt spid="3"/>
                                        </p:tgtEl>
                                        <p:attrNameLst>
                                          <p:attrName>r</p:attrName>
                                        </p:attrNameLst>
                                      </p:cBhvr>
                                    </p:animRot>
                                    <p:animRot by="120000">
                                      <p:cBhvr>
                                        <p:cTn id="104" dur="200" fill="hold">
                                          <p:stCondLst>
                                            <p:cond delay="800"/>
                                          </p:stCondLst>
                                        </p:cTn>
                                        <p:tgtEl>
                                          <p:spTgt spid="3"/>
                                        </p:tgtEl>
                                        <p:attrNameLst>
                                          <p:attrName>r</p:attrName>
                                        </p:attrNameLst>
                                      </p:cBhvr>
                                    </p:animRot>
                                  </p:childTnLst>
                                </p:cTn>
                              </p:par>
                              <p:par>
                                <p:cTn id="105" presetID="32" presetClass="emph" presetSubtype="0" fill="hold" grpId="3" nodeType="withEffect">
                                  <p:stCondLst>
                                    <p:cond delay="0"/>
                                  </p:stCondLst>
                                  <p:childTnLst>
                                    <p:animRot by="120000">
                                      <p:cBhvr>
                                        <p:cTn id="106" dur="100" fill="hold">
                                          <p:stCondLst>
                                            <p:cond delay="0"/>
                                          </p:stCondLst>
                                        </p:cTn>
                                        <p:tgtEl>
                                          <p:spTgt spid="36"/>
                                        </p:tgtEl>
                                        <p:attrNameLst>
                                          <p:attrName>r</p:attrName>
                                        </p:attrNameLst>
                                      </p:cBhvr>
                                    </p:animRot>
                                    <p:animRot by="-240000">
                                      <p:cBhvr>
                                        <p:cTn id="107" dur="200" fill="hold">
                                          <p:stCondLst>
                                            <p:cond delay="200"/>
                                          </p:stCondLst>
                                        </p:cTn>
                                        <p:tgtEl>
                                          <p:spTgt spid="36"/>
                                        </p:tgtEl>
                                        <p:attrNameLst>
                                          <p:attrName>r</p:attrName>
                                        </p:attrNameLst>
                                      </p:cBhvr>
                                    </p:animRot>
                                    <p:animRot by="240000">
                                      <p:cBhvr>
                                        <p:cTn id="108" dur="200" fill="hold">
                                          <p:stCondLst>
                                            <p:cond delay="400"/>
                                          </p:stCondLst>
                                        </p:cTn>
                                        <p:tgtEl>
                                          <p:spTgt spid="36"/>
                                        </p:tgtEl>
                                        <p:attrNameLst>
                                          <p:attrName>r</p:attrName>
                                        </p:attrNameLst>
                                      </p:cBhvr>
                                    </p:animRot>
                                    <p:animRot by="-240000">
                                      <p:cBhvr>
                                        <p:cTn id="109" dur="200" fill="hold">
                                          <p:stCondLst>
                                            <p:cond delay="600"/>
                                          </p:stCondLst>
                                        </p:cTn>
                                        <p:tgtEl>
                                          <p:spTgt spid="36"/>
                                        </p:tgtEl>
                                        <p:attrNameLst>
                                          <p:attrName>r</p:attrName>
                                        </p:attrNameLst>
                                      </p:cBhvr>
                                    </p:animRot>
                                    <p:animRot by="120000">
                                      <p:cBhvr>
                                        <p:cTn id="110" dur="200" fill="hold">
                                          <p:stCondLst>
                                            <p:cond delay="800"/>
                                          </p:stCondLst>
                                        </p:cTn>
                                        <p:tgtEl>
                                          <p:spTgt spid="36"/>
                                        </p:tgtEl>
                                        <p:attrNameLst>
                                          <p:attrName>r</p:attrName>
                                        </p:attrNameLst>
                                      </p:cBhvr>
                                    </p:animRot>
                                  </p:childTnLst>
                                </p:cTn>
                              </p:par>
                              <p:par>
                                <p:cTn id="111" presetID="32" presetClass="emph" presetSubtype="0" fill="hold" grpId="3" nodeType="withEffect">
                                  <p:stCondLst>
                                    <p:cond delay="0"/>
                                  </p:stCondLst>
                                  <p:childTnLst>
                                    <p:animRot by="120000">
                                      <p:cBhvr>
                                        <p:cTn id="112" dur="100" fill="hold">
                                          <p:stCondLst>
                                            <p:cond delay="0"/>
                                          </p:stCondLst>
                                        </p:cTn>
                                        <p:tgtEl>
                                          <p:spTgt spid="49"/>
                                        </p:tgtEl>
                                        <p:attrNameLst>
                                          <p:attrName>r</p:attrName>
                                        </p:attrNameLst>
                                      </p:cBhvr>
                                    </p:animRot>
                                    <p:animRot by="-240000">
                                      <p:cBhvr>
                                        <p:cTn id="113" dur="200" fill="hold">
                                          <p:stCondLst>
                                            <p:cond delay="200"/>
                                          </p:stCondLst>
                                        </p:cTn>
                                        <p:tgtEl>
                                          <p:spTgt spid="49"/>
                                        </p:tgtEl>
                                        <p:attrNameLst>
                                          <p:attrName>r</p:attrName>
                                        </p:attrNameLst>
                                      </p:cBhvr>
                                    </p:animRot>
                                    <p:animRot by="240000">
                                      <p:cBhvr>
                                        <p:cTn id="114" dur="200" fill="hold">
                                          <p:stCondLst>
                                            <p:cond delay="400"/>
                                          </p:stCondLst>
                                        </p:cTn>
                                        <p:tgtEl>
                                          <p:spTgt spid="49"/>
                                        </p:tgtEl>
                                        <p:attrNameLst>
                                          <p:attrName>r</p:attrName>
                                        </p:attrNameLst>
                                      </p:cBhvr>
                                    </p:animRot>
                                    <p:animRot by="-240000">
                                      <p:cBhvr>
                                        <p:cTn id="115" dur="200" fill="hold">
                                          <p:stCondLst>
                                            <p:cond delay="600"/>
                                          </p:stCondLst>
                                        </p:cTn>
                                        <p:tgtEl>
                                          <p:spTgt spid="49"/>
                                        </p:tgtEl>
                                        <p:attrNameLst>
                                          <p:attrName>r</p:attrName>
                                        </p:attrNameLst>
                                      </p:cBhvr>
                                    </p:animRot>
                                    <p:animRot by="120000">
                                      <p:cBhvr>
                                        <p:cTn id="116" dur="200" fill="hold">
                                          <p:stCondLst>
                                            <p:cond delay="800"/>
                                          </p:stCondLst>
                                        </p:cTn>
                                        <p:tgtEl>
                                          <p:spTgt spid="49"/>
                                        </p:tgtEl>
                                        <p:attrNameLst>
                                          <p:attrName>r</p:attrName>
                                        </p:attrNameLst>
                                      </p:cBhvr>
                                    </p:animRot>
                                  </p:childTnLst>
                                </p:cTn>
                              </p:par>
                              <p:par>
                                <p:cTn id="117" presetID="32" presetClass="emph" presetSubtype="0" fill="hold" grpId="3" nodeType="withEffect">
                                  <p:stCondLst>
                                    <p:cond delay="0"/>
                                  </p:stCondLst>
                                  <p:childTnLst>
                                    <p:animRot by="120000">
                                      <p:cBhvr>
                                        <p:cTn id="118" dur="100" fill="hold">
                                          <p:stCondLst>
                                            <p:cond delay="0"/>
                                          </p:stCondLst>
                                        </p:cTn>
                                        <p:tgtEl>
                                          <p:spTgt spid="55"/>
                                        </p:tgtEl>
                                        <p:attrNameLst>
                                          <p:attrName>r</p:attrName>
                                        </p:attrNameLst>
                                      </p:cBhvr>
                                    </p:animRot>
                                    <p:animRot by="-240000">
                                      <p:cBhvr>
                                        <p:cTn id="119" dur="200" fill="hold">
                                          <p:stCondLst>
                                            <p:cond delay="200"/>
                                          </p:stCondLst>
                                        </p:cTn>
                                        <p:tgtEl>
                                          <p:spTgt spid="55"/>
                                        </p:tgtEl>
                                        <p:attrNameLst>
                                          <p:attrName>r</p:attrName>
                                        </p:attrNameLst>
                                      </p:cBhvr>
                                    </p:animRot>
                                    <p:animRot by="240000">
                                      <p:cBhvr>
                                        <p:cTn id="120" dur="200" fill="hold">
                                          <p:stCondLst>
                                            <p:cond delay="400"/>
                                          </p:stCondLst>
                                        </p:cTn>
                                        <p:tgtEl>
                                          <p:spTgt spid="55"/>
                                        </p:tgtEl>
                                        <p:attrNameLst>
                                          <p:attrName>r</p:attrName>
                                        </p:attrNameLst>
                                      </p:cBhvr>
                                    </p:animRot>
                                    <p:animRot by="-240000">
                                      <p:cBhvr>
                                        <p:cTn id="121" dur="200" fill="hold">
                                          <p:stCondLst>
                                            <p:cond delay="600"/>
                                          </p:stCondLst>
                                        </p:cTn>
                                        <p:tgtEl>
                                          <p:spTgt spid="55"/>
                                        </p:tgtEl>
                                        <p:attrNameLst>
                                          <p:attrName>r</p:attrName>
                                        </p:attrNameLst>
                                      </p:cBhvr>
                                    </p:animRot>
                                    <p:animRot by="120000">
                                      <p:cBhvr>
                                        <p:cTn id="122" dur="200" fill="hold">
                                          <p:stCondLst>
                                            <p:cond delay="800"/>
                                          </p:stCondLst>
                                        </p:cTn>
                                        <p:tgtEl>
                                          <p:spTgt spid="5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P spid="3" grpId="3"/>
      <p:bldP spid="36" grpId="0"/>
      <p:bldP spid="36" grpId="1"/>
      <p:bldP spid="36" grpId="2"/>
      <p:bldP spid="36" grpId="3"/>
      <p:bldP spid="49" grpId="0"/>
      <p:bldP spid="49" grpId="1"/>
      <p:bldP spid="49" grpId="2"/>
      <p:bldP spid="49" grpId="3"/>
      <p:bldP spid="55" grpId="0"/>
      <p:bldP spid="55" grpId="1"/>
      <p:bldP spid="55" grpId="2"/>
      <p:bldP spid="55" grpId="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2321975" y="2978995"/>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762135" y="2978995"/>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5202295" y="2978995"/>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6642455" y="2978995"/>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2283814" y="2114452"/>
            <a:ext cx="865983" cy="738664"/>
          </a:xfrm>
          <a:prstGeom prst="rect">
            <a:avLst/>
          </a:prstGeom>
        </p:spPr>
        <p:txBody>
          <a:bodyPr wrap="none">
            <a:no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ﾎﾎｳ</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723974" y="2114452"/>
            <a:ext cx="937991" cy="738664"/>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ﾂﾗｲ</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166021" y="2133036"/>
            <a:ext cx="865983" cy="954107"/>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ｱﾝｼﾝ</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6606181" y="2133036"/>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 ﾌｰﾝ</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釘の本数の変更</a:t>
            </a:r>
          </a:p>
        </p:txBody>
      </p:sp>
      <p:sp>
        <p:nvSpPr>
          <p:cNvPr id="58" name="コンテンツ プレースホルダー 57"/>
          <p:cNvSpPr>
            <a:spLocks noGrp="1"/>
          </p:cNvSpPr>
          <p:nvPr>
            <p:ph idx="4294967295"/>
          </p:nvPr>
        </p:nvSpPr>
        <p:spPr>
          <a:xfrm>
            <a:off x="521955" y="4869016"/>
            <a:ext cx="8460094" cy="1369161"/>
          </a:xfrm>
          <a:prstGeom prst="rect">
            <a:avLst/>
          </a:prstGeom>
        </p:spPr>
        <p:txBody>
          <a:bodyPr/>
          <a:lstStyle/>
          <a:p>
            <a:r>
              <a:rPr lang="ja-JP" altLang="en-US" dirty="0">
                <a:solidFill>
                  <a:schemeClr val="tx1">
                    <a:lumMod val="85000"/>
                    <a:lumOff val="15000"/>
                  </a:schemeClr>
                </a:solidFill>
              </a:rPr>
              <a:t>製品の安全対策のために釘の本数が１本から２本に</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しかし，ハンマーを持っている釘打ち担当は単位時間に１本しか打てない</a:t>
            </a:r>
            <a:endParaRPr lang="en-US" altLang="ja-JP" dirty="0">
              <a:solidFill>
                <a:schemeClr val="tx1">
                  <a:lumMod val="85000"/>
                  <a:lumOff val="15000"/>
                </a:schemeClr>
              </a:solidFill>
            </a:endParaRPr>
          </a:p>
        </p:txBody>
      </p:sp>
      <p:cxnSp>
        <p:nvCxnSpPr>
          <p:cNvPr id="67" name="直線矢印コネクタ 66"/>
          <p:cNvCxnSpPr/>
          <p:nvPr/>
        </p:nvCxnSpPr>
        <p:spPr bwMode="auto">
          <a:xfrm>
            <a:off x="2321975" y="3789004"/>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 name="グループ化 3">
            <a:extLst>
              <a:ext uri="{FF2B5EF4-FFF2-40B4-BE49-F238E27FC236}">
                <a16:creationId xmlns:a16="http://schemas.microsoft.com/office/drawing/2014/main" id="{FF77882F-537F-C839-8754-7387D5D0B75D}"/>
              </a:ext>
            </a:extLst>
          </p:cNvPr>
          <p:cNvGrpSpPr/>
          <p:nvPr/>
        </p:nvGrpSpPr>
        <p:grpSpPr>
          <a:xfrm>
            <a:off x="2771980" y="2798993"/>
            <a:ext cx="5040057" cy="360005"/>
            <a:chOff x="611956" y="3699003"/>
            <a:chExt cx="5040057" cy="360005"/>
          </a:xfrm>
        </p:grpSpPr>
        <p:sp>
          <p:nvSpPr>
            <p:cNvPr id="8" name="角丸四角形 90">
              <a:extLst>
                <a:ext uri="{FF2B5EF4-FFF2-40B4-BE49-F238E27FC236}">
                  <a16:creationId xmlns:a16="http://schemas.microsoft.com/office/drawing/2014/main" id="{399B2BB3-EAE4-40A5-F43B-253A9357C53C}"/>
                </a:ext>
              </a:extLst>
            </p:cNvPr>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9" name="角丸四角形 91">
              <a:extLst>
                <a:ext uri="{FF2B5EF4-FFF2-40B4-BE49-F238E27FC236}">
                  <a16:creationId xmlns:a16="http://schemas.microsoft.com/office/drawing/2014/main" id="{CD942333-34EC-2DB6-7F7A-DE826A5208CA}"/>
                </a:ext>
              </a:extLst>
            </p:cNvPr>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10" name="角丸四角形 92">
              <a:extLst>
                <a:ext uri="{FF2B5EF4-FFF2-40B4-BE49-F238E27FC236}">
                  <a16:creationId xmlns:a16="http://schemas.microsoft.com/office/drawing/2014/main" id="{0B35F586-307D-82F6-81FE-B08F4D62EA36}"/>
                </a:ext>
              </a:extLst>
            </p:cNvPr>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11" name="角丸四角形 93">
              <a:extLst>
                <a:ext uri="{FF2B5EF4-FFF2-40B4-BE49-F238E27FC236}">
                  <a16:creationId xmlns:a16="http://schemas.microsoft.com/office/drawing/2014/main" id="{84ECC887-B444-6215-AFBD-6A7B1957223B}"/>
                </a:ext>
              </a:extLst>
            </p:cNvPr>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sp>
        <p:nvSpPr>
          <p:cNvPr id="12" name="正方形/長方形 11">
            <a:extLst>
              <a:ext uri="{FF2B5EF4-FFF2-40B4-BE49-F238E27FC236}">
                <a16:creationId xmlns:a16="http://schemas.microsoft.com/office/drawing/2014/main" id="{8D28C26A-E7E6-C201-2A31-76016504EE2C}"/>
              </a:ext>
            </a:extLst>
          </p:cNvPr>
          <p:cNvSpPr/>
          <p:nvPr/>
        </p:nvSpPr>
        <p:spPr bwMode="auto">
          <a:xfrm>
            <a:off x="-18483"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正方形/長方形 5">
            <a:extLst>
              <a:ext uri="{FF2B5EF4-FFF2-40B4-BE49-F238E27FC236}">
                <a16:creationId xmlns:a16="http://schemas.microsoft.com/office/drawing/2014/main" id="{92E7E5ED-B024-16FB-FD34-CD164816D276}"/>
              </a:ext>
            </a:extLst>
          </p:cNvPr>
          <p:cNvSpPr/>
          <p:nvPr/>
        </p:nvSpPr>
        <p:spPr>
          <a:xfrm>
            <a:off x="341953" y="1772924"/>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 name="角丸四角形吹き出し 28">
            <a:extLst>
              <a:ext uri="{FF2B5EF4-FFF2-40B4-BE49-F238E27FC236}">
                <a16:creationId xmlns:a16="http://schemas.microsoft.com/office/drawing/2014/main" id="{592A597C-9D91-BE9D-A3EB-F0D6B363943A}"/>
              </a:ext>
            </a:extLst>
          </p:cNvPr>
          <p:cNvSpPr/>
          <p:nvPr/>
        </p:nvSpPr>
        <p:spPr bwMode="auto">
          <a:xfrm>
            <a:off x="1421965" y="1142917"/>
            <a:ext cx="1890021"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今日から釘打ちは</a:t>
            </a:r>
            <a:br>
              <a:rPr kumimoji="1" lang="en-US" altLang="ja-JP" sz="1400" dirty="0">
                <a:solidFill>
                  <a:schemeClr val="tx1">
                    <a:lumMod val="85000"/>
                    <a:lumOff val="15000"/>
                  </a:schemeClr>
                </a:solidFill>
                <a:latin typeface="Arial Narrow" panose="020B0606020202030204" pitchFamily="34" charset="0"/>
              </a:rPr>
            </a:br>
            <a:r>
              <a:rPr kumimoji="1" lang="ja-JP" altLang="en-US" sz="1400" dirty="0">
                <a:solidFill>
                  <a:schemeClr val="tx1">
                    <a:lumMod val="85000"/>
                    <a:lumOff val="15000"/>
                  </a:schemeClr>
                </a:solidFill>
                <a:latin typeface="Arial Narrow" panose="020B0606020202030204" pitchFamily="34" charset="0"/>
              </a:rPr>
              <a:t>１本じゃなく２本！</a:t>
            </a:r>
          </a:p>
        </p:txBody>
      </p:sp>
      <p:sp>
        <p:nvSpPr>
          <p:cNvPr id="13" name="正方形/長方形 12">
            <a:extLst>
              <a:ext uri="{FF2B5EF4-FFF2-40B4-BE49-F238E27FC236}">
                <a16:creationId xmlns:a16="http://schemas.microsoft.com/office/drawing/2014/main" id="{0A138D09-0568-09A8-2740-2A0D0C409F55}"/>
              </a:ext>
            </a:extLst>
          </p:cNvPr>
          <p:cNvSpPr/>
          <p:nvPr/>
        </p:nvSpPr>
        <p:spPr>
          <a:xfrm>
            <a:off x="161951" y="1538979"/>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ｱﾝｾﾞﾝﾀｲｻｸ！</a:t>
            </a:r>
          </a:p>
        </p:txBody>
      </p:sp>
      <p:sp>
        <p:nvSpPr>
          <p:cNvPr id="14" name="角丸四角形吹き出し 20">
            <a:extLst>
              <a:ext uri="{FF2B5EF4-FFF2-40B4-BE49-F238E27FC236}">
                <a16:creationId xmlns:a16="http://schemas.microsoft.com/office/drawing/2014/main" id="{CCFD24E1-5322-D83F-080D-D992CF52A971}"/>
              </a:ext>
            </a:extLst>
          </p:cNvPr>
          <p:cNvSpPr/>
          <p:nvPr/>
        </p:nvSpPr>
        <p:spPr bwMode="auto">
          <a:xfrm>
            <a:off x="4391998" y="1358977"/>
            <a:ext cx="1980022"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１本で限界なんですが</a:t>
            </a:r>
          </a:p>
        </p:txBody>
      </p:sp>
    </p:spTree>
    <p:extLst>
      <p:ext uri="{BB962C8B-B14F-4D97-AF65-F5344CB8AC3E}">
        <p14:creationId xmlns:p14="http://schemas.microsoft.com/office/powerpoint/2010/main" val="158298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2321975" y="2978995"/>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762135" y="2978995"/>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5202295" y="2978995"/>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6642455" y="2978995"/>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2283814" y="2114452"/>
            <a:ext cx="865983" cy="738664"/>
          </a:xfrm>
          <a:prstGeom prst="rect">
            <a:avLst/>
          </a:prstGeom>
        </p:spPr>
        <p:txBody>
          <a:bodyPr wrap="none">
            <a:no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723974" y="2114452"/>
            <a:ext cx="937991" cy="738664"/>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166021" y="2133036"/>
            <a:ext cx="865983" cy="954107"/>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ﾋﾏﾀﾞﾜ</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6606181" y="2133036"/>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ﾃﾝｼｮｸﾀﾞ</a:t>
            </a:r>
            <a:endPar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釘打ちの人のところで構造ハザード</a:t>
            </a:r>
            <a:endParaRPr kumimoji="1" lang="ja-JP" altLang="en-US" dirty="0"/>
          </a:p>
        </p:txBody>
      </p:sp>
      <p:sp>
        <p:nvSpPr>
          <p:cNvPr id="58" name="コンテンツ プレースホルダー 57"/>
          <p:cNvSpPr>
            <a:spLocks noGrp="1"/>
          </p:cNvSpPr>
          <p:nvPr>
            <p:ph idx="4294967295"/>
          </p:nvPr>
        </p:nvSpPr>
        <p:spPr>
          <a:xfrm>
            <a:off x="521955" y="4869016"/>
            <a:ext cx="8460094" cy="1369161"/>
          </a:xfrm>
          <a:prstGeom prst="rect">
            <a:avLst/>
          </a:prstGeom>
        </p:spPr>
        <p:txBody>
          <a:bodyPr/>
          <a:lstStyle/>
          <a:p>
            <a:r>
              <a:rPr lang="ja-JP" altLang="en-US" dirty="0">
                <a:solidFill>
                  <a:schemeClr val="tx1">
                    <a:lumMod val="85000"/>
                    <a:lumOff val="15000"/>
                  </a:schemeClr>
                </a:solidFill>
              </a:rPr>
              <a:t>２人目 </a:t>
            </a:r>
            <a:r>
              <a:rPr lang="en-US" altLang="ja-JP" sz="2000" b="1" dirty="0">
                <a:solidFill>
                  <a:schemeClr val="accent3">
                    <a:lumMod val="50000"/>
                  </a:schemeClr>
                </a:solidFill>
                <a:latin typeface="ＭＳ Ｐゴシック" pitchFamily="50" charset="-128"/>
                <a:ea typeface="ＭＳ Ｐゴシック" pitchFamily="50" charset="-128"/>
              </a:rPr>
              <a:t>( </a:t>
            </a:r>
            <a:r>
              <a:rPr lang="ja-JP" altLang="en-US" sz="2000" dirty="0">
                <a:solidFill>
                  <a:schemeClr val="accent3">
                    <a:lumMod val="50000"/>
                  </a:schemeClr>
                </a:solidFill>
                <a:latin typeface="ＭＳ Ｐゴシック" pitchFamily="50" charset="-128"/>
                <a:ea typeface="ＭＳ Ｐゴシック" pitchFamily="50" charset="-128"/>
              </a:rPr>
              <a:t>；</a:t>
            </a:r>
            <a:r>
              <a:rPr lang="en-US" altLang="ja-JP" sz="2000" dirty="0">
                <a:solidFill>
                  <a:schemeClr val="accent3">
                    <a:lumMod val="50000"/>
                  </a:schemeClr>
                </a:solidFill>
                <a:latin typeface="ＭＳ Ｐゴシック" pitchFamily="50" charset="-128"/>
                <a:ea typeface="ＭＳ Ｐゴシック" pitchFamily="50" charset="-128"/>
              </a:rPr>
              <a:t>´∀</a:t>
            </a:r>
            <a:r>
              <a:rPr lang="ja-JP" altLang="en-US" sz="2000" dirty="0">
                <a:solidFill>
                  <a:schemeClr val="accent3">
                    <a:lumMod val="50000"/>
                  </a:schemeClr>
                </a:solidFill>
                <a:latin typeface="ＭＳ Ｐゴシック" pitchFamily="50" charset="-128"/>
                <a:ea typeface="ＭＳ Ｐゴシック" pitchFamily="50" charset="-128"/>
              </a:rPr>
              <a:t>｀</a:t>
            </a:r>
            <a:r>
              <a:rPr lang="en-US" altLang="ja-JP" sz="2000" b="1" dirty="0">
                <a:solidFill>
                  <a:schemeClr val="accent3">
                    <a:lumMod val="50000"/>
                  </a:schemeClr>
                </a:solidFill>
                <a:latin typeface="ＭＳ Ｐゴシック" pitchFamily="50" charset="-128"/>
                <a:ea typeface="ＭＳ Ｐゴシック" pitchFamily="50" charset="-128"/>
              </a:rPr>
              <a:t>) </a:t>
            </a:r>
            <a:r>
              <a:rPr lang="ja-JP" altLang="en-US" dirty="0">
                <a:solidFill>
                  <a:schemeClr val="tx1">
                    <a:lumMod val="85000"/>
                    <a:lumOff val="15000"/>
                  </a:schemeClr>
                </a:solidFill>
              </a:rPr>
              <a:t>の人は単位時間に１本しか打てない</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ラインは一番遅い人に合わせて動く（前回の講義より）</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そこで２本打つまでライン全体が止まる</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全体の速度がそこで決まってしまう</a:t>
            </a:r>
            <a:endParaRPr lang="en-US" altLang="ja-JP" dirty="0">
              <a:solidFill>
                <a:schemeClr val="tx1">
                  <a:lumMod val="85000"/>
                  <a:lumOff val="15000"/>
                </a:schemeClr>
              </a:solidFill>
            </a:endParaRPr>
          </a:p>
        </p:txBody>
      </p:sp>
      <p:cxnSp>
        <p:nvCxnSpPr>
          <p:cNvPr id="67" name="直線矢印コネクタ 66"/>
          <p:cNvCxnSpPr/>
          <p:nvPr/>
        </p:nvCxnSpPr>
        <p:spPr bwMode="auto">
          <a:xfrm>
            <a:off x="2321975" y="3789004"/>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2" name="正方形/長方形 11">
            <a:extLst>
              <a:ext uri="{FF2B5EF4-FFF2-40B4-BE49-F238E27FC236}">
                <a16:creationId xmlns:a16="http://schemas.microsoft.com/office/drawing/2014/main" id="{8D28C26A-E7E6-C201-2A31-76016504EE2C}"/>
              </a:ext>
            </a:extLst>
          </p:cNvPr>
          <p:cNvSpPr/>
          <p:nvPr/>
        </p:nvSpPr>
        <p:spPr bwMode="auto">
          <a:xfrm>
            <a:off x="-18483"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正方形/長方形 5">
            <a:extLst>
              <a:ext uri="{FF2B5EF4-FFF2-40B4-BE49-F238E27FC236}">
                <a16:creationId xmlns:a16="http://schemas.microsoft.com/office/drawing/2014/main" id="{92E7E5ED-B024-16FB-FD34-CD164816D276}"/>
              </a:ext>
            </a:extLst>
          </p:cNvPr>
          <p:cNvSpPr/>
          <p:nvPr/>
        </p:nvSpPr>
        <p:spPr>
          <a:xfrm>
            <a:off x="341953" y="1772924"/>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 name="角丸四角形吹き出し 28">
            <a:extLst>
              <a:ext uri="{FF2B5EF4-FFF2-40B4-BE49-F238E27FC236}">
                <a16:creationId xmlns:a16="http://schemas.microsoft.com/office/drawing/2014/main" id="{592A597C-9D91-BE9D-A3EB-F0D6B363943A}"/>
              </a:ext>
            </a:extLst>
          </p:cNvPr>
          <p:cNvSpPr/>
          <p:nvPr/>
        </p:nvSpPr>
        <p:spPr bwMode="auto">
          <a:xfrm>
            <a:off x="1511965" y="1142917"/>
            <a:ext cx="1530017"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なんか製造数が</a:t>
            </a:r>
            <a:endParaRPr kumimoji="1" lang="en-US" altLang="ja-JP" sz="1400" dirty="0">
              <a:solidFill>
                <a:schemeClr val="tx1">
                  <a:lumMod val="85000"/>
                  <a:lumOff val="15000"/>
                </a:schemeClr>
              </a:solidFill>
              <a:latin typeface="Arial Narrow" panose="020B0606020202030204" pitchFamily="34" charset="0"/>
            </a:endParaRPr>
          </a:p>
          <a:p>
            <a:r>
              <a:rPr kumimoji="1" lang="ja-JP" altLang="en-US" sz="1400" dirty="0">
                <a:solidFill>
                  <a:schemeClr val="tx1">
                    <a:lumMod val="85000"/>
                    <a:lumOff val="15000"/>
                  </a:schemeClr>
                </a:solidFill>
                <a:latin typeface="Arial Narrow" panose="020B0606020202030204" pitchFamily="34" charset="0"/>
              </a:rPr>
              <a:t>がた落ちしたな</a:t>
            </a:r>
          </a:p>
        </p:txBody>
      </p:sp>
      <p:sp>
        <p:nvSpPr>
          <p:cNvPr id="13" name="正方形/長方形 12">
            <a:extLst>
              <a:ext uri="{FF2B5EF4-FFF2-40B4-BE49-F238E27FC236}">
                <a16:creationId xmlns:a16="http://schemas.microsoft.com/office/drawing/2014/main" id="{0A138D09-0568-09A8-2740-2A0D0C409F55}"/>
              </a:ext>
            </a:extLst>
          </p:cNvPr>
          <p:cNvSpPr/>
          <p:nvPr/>
        </p:nvSpPr>
        <p:spPr>
          <a:xfrm>
            <a:off x="161951" y="1718981"/>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ﾅﾝﾃﾞｶﾅ</a:t>
            </a:r>
          </a:p>
        </p:txBody>
      </p:sp>
      <p:sp>
        <p:nvSpPr>
          <p:cNvPr id="14" name="角丸四角形吹き出し 20">
            <a:extLst>
              <a:ext uri="{FF2B5EF4-FFF2-40B4-BE49-F238E27FC236}">
                <a16:creationId xmlns:a16="http://schemas.microsoft.com/office/drawing/2014/main" id="{CCFD24E1-5322-D83F-080D-D992CF52A971}"/>
              </a:ext>
            </a:extLst>
          </p:cNvPr>
          <p:cNvSpPr/>
          <p:nvPr/>
        </p:nvSpPr>
        <p:spPr bwMode="auto">
          <a:xfrm>
            <a:off x="4391998" y="1628980"/>
            <a:ext cx="2160024"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あと１本うつから待って</a:t>
            </a:r>
          </a:p>
        </p:txBody>
      </p:sp>
      <p:sp>
        <p:nvSpPr>
          <p:cNvPr id="5" name="角丸四角形吹き出し 20">
            <a:extLst>
              <a:ext uri="{FF2B5EF4-FFF2-40B4-BE49-F238E27FC236}">
                <a16:creationId xmlns:a16="http://schemas.microsoft.com/office/drawing/2014/main" id="{B39C0899-AD83-BF3B-5EAF-72ACE0A36A90}"/>
              </a:ext>
            </a:extLst>
          </p:cNvPr>
          <p:cNvSpPr/>
          <p:nvPr/>
        </p:nvSpPr>
        <p:spPr bwMode="auto">
          <a:xfrm>
            <a:off x="3041983" y="1628980"/>
            <a:ext cx="1170013" cy="432646"/>
          </a:xfrm>
          <a:prstGeom prst="wedgeRoundRectCallout">
            <a:avLst>
              <a:gd name="adj1" fmla="val -58019"/>
              <a:gd name="adj2" fmla="val 136188"/>
              <a:gd name="adj3" fmla="val 16667"/>
            </a:avLst>
          </a:prstGeom>
          <a:ln>
            <a:solidFill>
              <a:schemeClr val="accent1"/>
            </a:solid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はよせんか</a:t>
            </a:r>
          </a:p>
        </p:txBody>
      </p:sp>
      <p:grpSp>
        <p:nvGrpSpPr>
          <p:cNvPr id="16" name="グループ化 15">
            <a:extLst>
              <a:ext uri="{FF2B5EF4-FFF2-40B4-BE49-F238E27FC236}">
                <a16:creationId xmlns:a16="http://schemas.microsoft.com/office/drawing/2014/main" id="{486F32D2-14FE-5F46-16F6-D16E404732A7}"/>
              </a:ext>
            </a:extLst>
          </p:cNvPr>
          <p:cNvGrpSpPr/>
          <p:nvPr/>
        </p:nvGrpSpPr>
        <p:grpSpPr>
          <a:xfrm>
            <a:off x="2771980" y="2798993"/>
            <a:ext cx="5040057" cy="360005"/>
            <a:chOff x="611956" y="3699003"/>
            <a:chExt cx="5040057" cy="360005"/>
          </a:xfrm>
        </p:grpSpPr>
        <p:sp>
          <p:nvSpPr>
            <p:cNvPr id="17" name="角丸四角形 90">
              <a:extLst>
                <a:ext uri="{FF2B5EF4-FFF2-40B4-BE49-F238E27FC236}">
                  <a16:creationId xmlns:a16="http://schemas.microsoft.com/office/drawing/2014/main" id="{8C72740C-7058-438B-A5F2-B1ADE68B5E0A}"/>
                </a:ext>
              </a:extLst>
            </p:cNvPr>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18" name="角丸四角形 91">
              <a:extLst>
                <a:ext uri="{FF2B5EF4-FFF2-40B4-BE49-F238E27FC236}">
                  <a16:creationId xmlns:a16="http://schemas.microsoft.com/office/drawing/2014/main" id="{D518E50E-092E-ACF0-FFB4-4E6FDBF05295}"/>
                </a:ext>
              </a:extLst>
            </p:cNvPr>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19" name="角丸四角形 92">
              <a:extLst>
                <a:ext uri="{FF2B5EF4-FFF2-40B4-BE49-F238E27FC236}">
                  <a16:creationId xmlns:a16="http://schemas.microsoft.com/office/drawing/2014/main" id="{254EC0C5-A684-45E3-D23F-57249CD0AF51}"/>
                </a:ext>
              </a:extLst>
            </p:cNvPr>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0" name="角丸四角形 93">
              <a:extLst>
                <a:ext uri="{FF2B5EF4-FFF2-40B4-BE49-F238E27FC236}">
                  <a16:creationId xmlns:a16="http://schemas.microsoft.com/office/drawing/2014/main" id="{45FD4F58-516E-1AF6-34C5-16A31052BFD8}"/>
                </a:ext>
              </a:extLst>
            </p:cNvPr>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spTree>
    <p:extLst>
      <p:ext uri="{BB962C8B-B14F-4D97-AF65-F5344CB8AC3E}">
        <p14:creationId xmlns:p14="http://schemas.microsoft.com/office/powerpoint/2010/main" val="9273707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2321975" y="2978995"/>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762135" y="2978995"/>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5202295" y="2978995"/>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6642455" y="2978995"/>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2283814" y="2114452"/>
            <a:ext cx="865983" cy="738664"/>
          </a:xfrm>
          <a:prstGeom prst="rect">
            <a:avLst/>
          </a:prstGeom>
        </p:spPr>
        <p:txBody>
          <a:bodyPr wrap="none">
            <a:no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ﾖｹｲﾅｺﾄｦ</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723974" y="2114452"/>
            <a:ext cx="937991" cy="738664"/>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ﾜｰｲ</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166021" y="2133036"/>
            <a:ext cx="865983" cy="954107"/>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ｲｿｶﾞｼｲ</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6606181" y="2133036"/>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 ｼﾝﾄﾞｲ</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増員による構造ハザードの解消</a:t>
            </a:r>
            <a:endParaRPr kumimoji="1" lang="ja-JP" altLang="en-US" dirty="0"/>
          </a:p>
        </p:txBody>
      </p:sp>
      <p:sp>
        <p:nvSpPr>
          <p:cNvPr id="58" name="コンテンツ プレースホルダー 57"/>
          <p:cNvSpPr>
            <a:spLocks noGrp="1"/>
          </p:cNvSpPr>
          <p:nvPr>
            <p:ph idx="4294967295"/>
          </p:nvPr>
        </p:nvSpPr>
        <p:spPr>
          <a:xfrm>
            <a:off x="521955" y="5049018"/>
            <a:ext cx="8460094" cy="1369161"/>
          </a:xfrm>
          <a:prstGeom prst="rect">
            <a:avLst/>
          </a:prstGeom>
        </p:spPr>
        <p:txBody>
          <a:bodyPr/>
          <a:lstStyle/>
          <a:p>
            <a:r>
              <a:rPr lang="ja-JP" altLang="en-US" dirty="0"/>
              <a:t>１人増やして緑のステージで単位時間に２本の釘が打てるように</a:t>
            </a:r>
            <a:endParaRPr lang="en-US" altLang="ja-JP" dirty="0"/>
          </a:p>
          <a:p>
            <a:pPr lvl="1"/>
            <a:r>
              <a:rPr lang="ja-JP" altLang="en-US" dirty="0"/>
              <a:t>これがハード資源の追加による構造ハザードの解消</a:t>
            </a:r>
            <a:endParaRPr lang="en-US" altLang="ja-JP" dirty="0"/>
          </a:p>
          <a:p>
            <a:pPr lvl="1"/>
            <a:r>
              <a:rPr lang="ja-JP" altLang="en-US" dirty="0"/>
              <a:t>ただし，追加しただけ経費がかかる</a:t>
            </a:r>
            <a:endParaRPr lang="en-US" altLang="ja-JP" dirty="0"/>
          </a:p>
          <a:p>
            <a:pPr lvl="2"/>
            <a:r>
              <a:rPr lang="ja-JP" altLang="en-US" dirty="0"/>
              <a:t>（ハードだとその分複雑になって電力を食う</a:t>
            </a:r>
            <a:endParaRPr lang="en-US" altLang="ja-JP" dirty="0"/>
          </a:p>
        </p:txBody>
      </p:sp>
      <p:sp>
        <p:nvSpPr>
          <p:cNvPr id="12" name="正方形/長方形 11">
            <a:extLst>
              <a:ext uri="{FF2B5EF4-FFF2-40B4-BE49-F238E27FC236}">
                <a16:creationId xmlns:a16="http://schemas.microsoft.com/office/drawing/2014/main" id="{8D28C26A-E7E6-C201-2A31-76016504EE2C}"/>
              </a:ext>
            </a:extLst>
          </p:cNvPr>
          <p:cNvSpPr/>
          <p:nvPr/>
        </p:nvSpPr>
        <p:spPr bwMode="auto">
          <a:xfrm>
            <a:off x="-18483"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正方形/長方形 5">
            <a:extLst>
              <a:ext uri="{FF2B5EF4-FFF2-40B4-BE49-F238E27FC236}">
                <a16:creationId xmlns:a16="http://schemas.microsoft.com/office/drawing/2014/main" id="{92E7E5ED-B024-16FB-FD34-CD164816D276}"/>
              </a:ext>
            </a:extLst>
          </p:cNvPr>
          <p:cNvSpPr/>
          <p:nvPr/>
        </p:nvSpPr>
        <p:spPr>
          <a:xfrm>
            <a:off x="341953" y="1772924"/>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 name="角丸四角形吹き出し 28">
            <a:extLst>
              <a:ext uri="{FF2B5EF4-FFF2-40B4-BE49-F238E27FC236}">
                <a16:creationId xmlns:a16="http://schemas.microsoft.com/office/drawing/2014/main" id="{592A597C-9D91-BE9D-A3EB-F0D6B363943A}"/>
              </a:ext>
            </a:extLst>
          </p:cNvPr>
          <p:cNvSpPr/>
          <p:nvPr/>
        </p:nvSpPr>
        <p:spPr bwMode="auto">
          <a:xfrm>
            <a:off x="1421966" y="1142917"/>
            <a:ext cx="1260013"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増員しました</a:t>
            </a:r>
          </a:p>
        </p:txBody>
      </p:sp>
      <p:sp>
        <p:nvSpPr>
          <p:cNvPr id="13" name="正方形/長方形 12">
            <a:extLst>
              <a:ext uri="{FF2B5EF4-FFF2-40B4-BE49-F238E27FC236}">
                <a16:creationId xmlns:a16="http://schemas.microsoft.com/office/drawing/2014/main" id="{0A138D09-0568-09A8-2740-2A0D0C409F55}"/>
              </a:ext>
            </a:extLst>
          </p:cNvPr>
          <p:cNvSpPr/>
          <p:nvPr/>
        </p:nvSpPr>
        <p:spPr>
          <a:xfrm>
            <a:off x="161951" y="1718981"/>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ｹｲﾋｶﾞ･･･</a:t>
            </a:r>
          </a:p>
        </p:txBody>
      </p:sp>
      <p:sp>
        <p:nvSpPr>
          <p:cNvPr id="14" name="角丸四角形吹き出し 20">
            <a:extLst>
              <a:ext uri="{FF2B5EF4-FFF2-40B4-BE49-F238E27FC236}">
                <a16:creationId xmlns:a16="http://schemas.microsoft.com/office/drawing/2014/main" id="{CCFD24E1-5322-D83F-080D-D992CF52A971}"/>
              </a:ext>
            </a:extLst>
          </p:cNvPr>
          <p:cNvSpPr/>
          <p:nvPr/>
        </p:nvSpPr>
        <p:spPr bwMode="auto">
          <a:xfrm>
            <a:off x="4662001" y="1358977"/>
            <a:ext cx="1800020" cy="432646"/>
          </a:xfrm>
          <a:prstGeom prst="wedgeRoundRectCallout">
            <a:avLst>
              <a:gd name="adj1" fmla="val -63243"/>
              <a:gd name="adj2" fmla="val 147585"/>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２人で２本打とう！</a:t>
            </a:r>
          </a:p>
        </p:txBody>
      </p:sp>
      <p:grpSp>
        <p:nvGrpSpPr>
          <p:cNvPr id="16" name="グループ化 15">
            <a:extLst>
              <a:ext uri="{FF2B5EF4-FFF2-40B4-BE49-F238E27FC236}">
                <a16:creationId xmlns:a16="http://schemas.microsoft.com/office/drawing/2014/main" id="{486F32D2-14FE-5F46-16F6-D16E404732A7}"/>
              </a:ext>
            </a:extLst>
          </p:cNvPr>
          <p:cNvGrpSpPr/>
          <p:nvPr/>
        </p:nvGrpSpPr>
        <p:grpSpPr>
          <a:xfrm>
            <a:off x="2771980" y="2888994"/>
            <a:ext cx="5040057" cy="360005"/>
            <a:chOff x="611956" y="3699003"/>
            <a:chExt cx="5040057" cy="360005"/>
          </a:xfrm>
        </p:grpSpPr>
        <p:sp>
          <p:nvSpPr>
            <p:cNvPr id="17" name="角丸四角形 90">
              <a:extLst>
                <a:ext uri="{FF2B5EF4-FFF2-40B4-BE49-F238E27FC236}">
                  <a16:creationId xmlns:a16="http://schemas.microsoft.com/office/drawing/2014/main" id="{8C72740C-7058-438B-A5F2-B1ADE68B5E0A}"/>
                </a:ext>
              </a:extLst>
            </p:cNvPr>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18" name="角丸四角形 91">
              <a:extLst>
                <a:ext uri="{FF2B5EF4-FFF2-40B4-BE49-F238E27FC236}">
                  <a16:creationId xmlns:a16="http://schemas.microsoft.com/office/drawing/2014/main" id="{D518E50E-092E-ACF0-FFB4-4E6FDBF05295}"/>
                </a:ext>
              </a:extLst>
            </p:cNvPr>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19" name="角丸四角形 92">
              <a:extLst>
                <a:ext uri="{FF2B5EF4-FFF2-40B4-BE49-F238E27FC236}">
                  <a16:creationId xmlns:a16="http://schemas.microsoft.com/office/drawing/2014/main" id="{254EC0C5-A684-45E3-D23F-57249CD0AF51}"/>
                </a:ext>
              </a:extLst>
            </p:cNvPr>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0" name="角丸四角形 93">
              <a:extLst>
                <a:ext uri="{FF2B5EF4-FFF2-40B4-BE49-F238E27FC236}">
                  <a16:creationId xmlns:a16="http://schemas.microsoft.com/office/drawing/2014/main" id="{45FD4F58-516E-1AF6-34C5-16A31052BFD8}"/>
                </a:ext>
              </a:extLst>
            </p:cNvPr>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sp>
        <p:nvSpPr>
          <p:cNvPr id="4" name="正方形/長方形 3">
            <a:extLst>
              <a:ext uri="{FF2B5EF4-FFF2-40B4-BE49-F238E27FC236}">
                <a16:creationId xmlns:a16="http://schemas.microsoft.com/office/drawing/2014/main" id="{23FEE6A1-4FDE-55DA-A3E9-EEC65229123F}"/>
              </a:ext>
            </a:extLst>
          </p:cNvPr>
          <p:cNvSpPr/>
          <p:nvPr/>
        </p:nvSpPr>
        <p:spPr>
          <a:xfrm>
            <a:off x="3761991" y="3519001"/>
            <a:ext cx="1260014" cy="954107"/>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ｺﾝｺﾞﾄﾓﾖﾛｼｸ</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 🔨</a:t>
            </a:r>
          </a:p>
        </p:txBody>
      </p:sp>
      <p:grpSp>
        <p:nvGrpSpPr>
          <p:cNvPr id="88" name="グループ化 87">
            <a:extLst>
              <a:ext uri="{FF2B5EF4-FFF2-40B4-BE49-F238E27FC236}">
                <a16:creationId xmlns:a16="http://schemas.microsoft.com/office/drawing/2014/main" id="{CED68DE9-43D6-BA18-8B65-A29EBB6751A8}"/>
              </a:ext>
            </a:extLst>
          </p:cNvPr>
          <p:cNvGrpSpPr/>
          <p:nvPr/>
        </p:nvGrpSpPr>
        <p:grpSpPr>
          <a:xfrm>
            <a:off x="3221985" y="3158996"/>
            <a:ext cx="1890020" cy="1530018"/>
            <a:chOff x="3221985" y="3158996"/>
            <a:chExt cx="1890020" cy="1530018"/>
          </a:xfrm>
        </p:grpSpPr>
        <p:grpSp>
          <p:nvGrpSpPr>
            <p:cNvPr id="44" name="グループ化 43">
              <a:extLst>
                <a:ext uri="{FF2B5EF4-FFF2-40B4-BE49-F238E27FC236}">
                  <a16:creationId xmlns:a16="http://schemas.microsoft.com/office/drawing/2014/main" id="{C8F79504-3398-C09B-5526-7CA1CCAE6C7D}"/>
                </a:ext>
              </a:extLst>
            </p:cNvPr>
            <p:cNvGrpSpPr/>
            <p:nvPr/>
          </p:nvGrpSpPr>
          <p:grpSpPr>
            <a:xfrm>
              <a:off x="3221985" y="3969006"/>
              <a:ext cx="900010" cy="720008"/>
              <a:chOff x="251952" y="3429000"/>
              <a:chExt cx="720008" cy="720008"/>
            </a:xfrm>
          </p:grpSpPr>
          <p:cxnSp>
            <p:nvCxnSpPr>
              <p:cNvPr id="8" name="直線コネクタ 7">
                <a:extLst>
                  <a:ext uri="{FF2B5EF4-FFF2-40B4-BE49-F238E27FC236}">
                    <a16:creationId xmlns:a16="http://schemas.microsoft.com/office/drawing/2014/main" id="{056902C5-1179-42FF-2313-33061C7F6539}"/>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9" name="直線コネクタ 8">
                <a:extLst>
                  <a:ext uri="{FF2B5EF4-FFF2-40B4-BE49-F238E27FC236}">
                    <a16:creationId xmlns:a16="http://schemas.microsoft.com/office/drawing/2014/main" id="{8913CA64-9364-A19E-5B55-5A493958BE8A}"/>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20CC5D28-203E-154F-BD8D-EDACAC2D929B}"/>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1374F199-39E6-7CD1-1F0C-761788482217}"/>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F5F044C1-D208-A1F1-B6C5-9C72754C00BF}"/>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67B0DBD6-6E30-B91E-92C2-B9E0876E869A}"/>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5FEAA2A2-A1A0-FBE0-20AD-CFC1E18892B4}"/>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nvGrpSpPr>
            <p:cNvPr id="63" name="グループ化 62">
              <a:extLst>
                <a:ext uri="{FF2B5EF4-FFF2-40B4-BE49-F238E27FC236}">
                  <a16:creationId xmlns:a16="http://schemas.microsoft.com/office/drawing/2014/main" id="{48BB9F4A-3D03-1F39-194B-10AD2A7346F8}"/>
                </a:ext>
              </a:extLst>
            </p:cNvPr>
            <p:cNvGrpSpPr/>
            <p:nvPr/>
          </p:nvGrpSpPr>
          <p:grpSpPr>
            <a:xfrm flipH="1">
              <a:off x="4121994" y="3969006"/>
              <a:ext cx="990011" cy="720008"/>
              <a:chOff x="251952" y="3429000"/>
              <a:chExt cx="720008" cy="720008"/>
            </a:xfrm>
          </p:grpSpPr>
          <p:cxnSp>
            <p:nvCxnSpPr>
              <p:cNvPr id="65" name="直線コネクタ 64">
                <a:extLst>
                  <a:ext uri="{FF2B5EF4-FFF2-40B4-BE49-F238E27FC236}">
                    <a16:creationId xmlns:a16="http://schemas.microsoft.com/office/drawing/2014/main" id="{3A2EFEFE-8B12-5897-915C-E097CEA30807}"/>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A5D661D1-8356-5922-67DC-214046D68394}"/>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937AC6DB-FA14-632B-32F3-7958E1D9EE97}"/>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4DA70B17-188C-7AA3-AEDE-B541F2686E78}"/>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D964847B-4A38-38A7-57A4-0E7910AC76C7}"/>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0" name="直線コネクタ 69">
                <a:extLst>
                  <a:ext uri="{FF2B5EF4-FFF2-40B4-BE49-F238E27FC236}">
                    <a16:creationId xmlns:a16="http://schemas.microsoft.com/office/drawing/2014/main" id="{9A1C2C7A-B947-B791-EAC6-4142AEFE7A35}"/>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1" name="直線コネクタ 70">
                <a:extLst>
                  <a:ext uri="{FF2B5EF4-FFF2-40B4-BE49-F238E27FC236}">
                    <a16:creationId xmlns:a16="http://schemas.microsoft.com/office/drawing/2014/main" id="{1F22D83E-8E35-DCC7-936F-D9962BA41EAB}"/>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nvGrpSpPr>
            <p:cNvPr id="72" name="グループ化 71">
              <a:extLst>
                <a:ext uri="{FF2B5EF4-FFF2-40B4-BE49-F238E27FC236}">
                  <a16:creationId xmlns:a16="http://schemas.microsoft.com/office/drawing/2014/main" id="{DA0A5E57-4CD4-2613-15E2-AA0A3CB0E7C3}"/>
                </a:ext>
              </a:extLst>
            </p:cNvPr>
            <p:cNvGrpSpPr/>
            <p:nvPr/>
          </p:nvGrpSpPr>
          <p:grpSpPr>
            <a:xfrm flipV="1">
              <a:off x="3221985" y="3158997"/>
              <a:ext cx="900010" cy="810009"/>
              <a:chOff x="251952" y="3429000"/>
              <a:chExt cx="720008" cy="720008"/>
            </a:xfrm>
          </p:grpSpPr>
          <p:cxnSp>
            <p:nvCxnSpPr>
              <p:cNvPr id="73" name="直線コネクタ 72">
                <a:extLst>
                  <a:ext uri="{FF2B5EF4-FFF2-40B4-BE49-F238E27FC236}">
                    <a16:creationId xmlns:a16="http://schemas.microsoft.com/office/drawing/2014/main" id="{5B8A254F-F4B8-8A6D-FE93-A31DA2169F76}"/>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4" name="直線コネクタ 73">
                <a:extLst>
                  <a:ext uri="{FF2B5EF4-FFF2-40B4-BE49-F238E27FC236}">
                    <a16:creationId xmlns:a16="http://schemas.microsoft.com/office/drawing/2014/main" id="{4D830FE3-CA09-3E8F-9DAB-883DF982AB04}"/>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723444B3-AEE4-2A18-DA43-1327B89A129F}"/>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81FC493C-5219-78BB-3AEC-8E0025B897A5}"/>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615ABB74-84FF-6FB5-814E-255185397FE9}"/>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403A3929-C5E2-6CD6-B4F9-8C7B9EAD675F}"/>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E4079E60-C02E-F935-B855-9E7965671846}"/>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nvGrpSpPr>
            <p:cNvPr id="80" name="グループ化 79">
              <a:extLst>
                <a:ext uri="{FF2B5EF4-FFF2-40B4-BE49-F238E27FC236}">
                  <a16:creationId xmlns:a16="http://schemas.microsoft.com/office/drawing/2014/main" id="{ED9C66C9-303D-1F89-7ECD-9325BB1D3BE1}"/>
                </a:ext>
              </a:extLst>
            </p:cNvPr>
            <p:cNvGrpSpPr/>
            <p:nvPr/>
          </p:nvGrpSpPr>
          <p:grpSpPr>
            <a:xfrm flipH="1" flipV="1">
              <a:off x="4121995" y="3158996"/>
              <a:ext cx="900010" cy="810009"/>
              <a:chOff x="251952" y="3429000"/>
              <a:chExt cx="720008" cy="720008"/>
            </a:xfrm>
          </p:grpSpPr>
          <p:cxnSp>
            <p:nvCxnSpPr>
              <p:cNvPr id="81" name="直線コネクタ 80">
                <a:extLst>
                  <a:ext uri="{FF2B5EF4-FFF2-40B4-BE49-F238E27FC236}">
                    <a16:creationId xmlns:a16="http://schemas.microsoft.com/office/drawing/2014/main" id="{C5ADBFAD-611F-7867-4C40-C2C2D72FC9E8}"/>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2" name="直線コネクタ 81">
                <a:extLst>
                  <a:ext uri="{FF2B5EF4-FFF2-40B4-BE49-F238E27FC236}">
                    <a16:creationId xmlns:a16="http://schemas.microsoft.com/office/drawing/2014/main" id="{59895B97-7A0D-D6D7-C5F0-D76B8DF1A467}"/>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D0F19B65-745C-76EA-E524-96F6FC7BF969}"/>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B26B1463-49BC-B1BC-B95D-9984458718AE}"/>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5" name="直線コネクタ 84">
                <a:extLst>
                  <a:ext uri="{FF2B5EF4-FFF2-40B4-BE49-F238E27FC236}">
                    <a16:creationId xmlns:a16="http://schemas.microsoft.com/office/drawing/2014/main" id="{A4E4472F-013C-610E-59C5-BAAB953F5751}"/>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247318D5-0FB2-5E0F-0A97-D3B0641BC848}"/>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9E3A0168-3242-3A96-13BC-2E60683AA55F}"/>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sp>
        <p:nvSpPr>
          <p:cNvPr id="11" name="角丸四角形吹き出し 20">
            <a:extLst>
              <a:ext uri="{FF2B5EF4-FFF2-40B4-BE49-F238E27FC236}">
                <a16:creationId xmlns:a16="http://schemas.microsoft.com/office/drawing/2014/main" id="{BC106EA9-7941-84A8-A29E-2C293DF556EF}"/>
              </a:ext>
            </a:extLst>
          </p:cNvPr>
          <p:cNvSpPr/>
          <p:nvPr/>
        </p:nvSpPr>
        <p:spPr bwMode="auto">
          <a:xfrm>
            <a:off x="4752002" y="4419011"/>
            <a:ext cx="1710019" cy="432646"/>
          </a:xfrm>
          <a:prstGeom prst="wedgeRoundRectCallout">
            <a:avLst>
              <a:gd name="adj1" fmla="val -41013"/>
              <a:gd name="adj2" fmla="val -105985"/>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１本受け持ちます</a:t>
            </a:r>
          </a:p>
        </p:txBody>
      </p:sp>
    </p:spTree>
    <p:extLst>
      <p:ext uri="{BB962C8B-B14F-4D97-AF65-F5344CB8AC3E}">
        <p14:creationId xmlns:p14="http://schemas.microsoft.com/office/powerpoint/2010/main" val="4259419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コンピュータにおける構造ハザード</a:t>
            </a:r>
          </a:p>
        </p:txBody>
      </p:sp>
      <p:sp>
        <p:nvSpPr>
          <p:cNvPr id="3" name="テキスト プレースホルダー 2"/>
          <p:cNvSpPr>
            <a:spLocks noGrp="1"/>
          </p:cNvSpPr>
          <p:nvPr>
            <p:ph type="body" sz="quarter" idx="10"/>
          </p:nvPr>
        </p:nvSpPr>
        <p:spPr/>
        <p:txBody>
          <a:bodyPr/>
          <a:lstStyle/>
          <a:p>
            <a:r>
              <a:rPr lang="ja-JP" altLang="en-US" dirty="0"/>
              <a:t>ハード資源：</a:t>
            </a:r>
            <a:endParaRPr lang="en-US" altLang="ja-JP" dirty="0"/>
          </a:p>
          <a:p>
            <a:pPr lvl="1"/>
            <a:r>
              <a:rPr lang="ja-JP" altLang="en-US" dirty="0"/>
              <a:t>演算器（</a:t>
            </a:r>
            <a:r>
              <a:rPr lang="en-US" altLang="ja-JP" dirty="0"/>
              <a:t>FU</a:t>
            </a:r>
            <a:r>
              <a:rPr lang="ja-JP" altLang="en-US" dirty="0"/>
              <a:t>），レジスタ・ファイル，メモリ など</a:t>
            </a:r>
            <a:endParaRPr lang="en-US" altLang="ja-JP" dirty="0"/>
          </a:p>
          <a:p>
            <a:r>
              <a:rPr lang="ja-JP" altLang="en-US" dirty="0"/>
              <a:t>構造ハザード：</a:t>
            </a:r>
            <a:endParaRPr lang="en-US" altLang="ja-JP" dirty="0"/>
          </a:p>
          <a:p>
            <a:pPr lvl="1"/>
            <a:r>
              <a:rPr lang="ja-JP" altLang="en-US" dirty="0"/>
              <a:t>ハード資源の不足により，パイプラインがうまく動作しないこと</a:t>
            </a:r>
            <a:endParaRPr lang="en-US" altLang="ja-JP" dirty="0"/>
          </a:p>
          <a:p>
            <a:pPr lvl="1"/>
            <a:r>
              <a:rPr kumimoji="1" lang="ja-JP" altLang="en-US" dirty="0"/>
              <a:t>いくつかの例を使った説明，解消方法について解説</a:t>
            </a:r>
          </a:p>
        </p:txBody>
      </p:sp>
    </p:spTree>
    <p:extLst>
      <p:ext uri="{BB962C8B-B14F-4D97-AF65-F5344CB8AC3E}">
        <p14:creationId xmlns:p14="http://schemas.microsoft.com/office/powerpoint/2010/main" val="941329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a:t>
            </a:r>
            <a:r>
              <a:rPr lang="ja-JP" altLang="en-US" dirty="0"/>
              <a:t>例１：メモリ間 </a:t>
            </a:r>
            <a:r>
              <a:rPr lang="en-US" altLang="ja-JP" dirty="0" err="1"/>
              <a:t>mov</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例１：仮に </a:t>
            </a:r>
            <a:r>
              <a:rPr kumimoji="1" lang="en-US" altLang="ja-JP" dirty="0" err="1"/>
              <a:t>mov</a:t>
            </a:r>
            <a:r>
              <a:rPr kumimoji="1" lang="en-US" altLang="ja-JP" dirty="0"/>
              <a:t> [rs1]</a:t>
            </a:r>
            <a:r>
              <a:rPr kumimoji="1" lang="ja-JP" altLang="en-US" dirty="0"/>
              <a:t>→</a:t>
            </a:r>
            <a:r>
              <a:rPr kumimoji="1" lang="en-US" altLang="ja-JP" dirty="0"/>
              <a:t>[rs2] </a:t>
            </a:r>
            <a:r>
              <a:rPr kumimoji="1" lang="ja-JP" altLang="en-US" dirty="0"/>
              <a:t>のような命令があったとする</a:t>
            </a:r>
            <a:endParaRPr kumimoji="1" lang="en-US" altLang="ja-JP" dirty="0"/>
          </a:p>
          <a:p>
            <a:pPr lvl="1"/>
            <a:r>
              <a:rPr kumimoji="1" lang="ja-JP" altLang="en-US" dirty="0"/>
              <a:t>メモリを読んで，その結果をメモリに書く（</a:t>
            </a:r>
            <a:r>
              <a:rPr kumimoji="1" lang="en-US" altLang="ja-JP" dirty="0"/>
              <a:t>=</a:t>
            </a:r>
            <a:r>
              <a:rPr kumimoji="1" lang="ja-JP" altLang="en-US" dirty="0"/>
              <a:t>コピー）</a:t>
            </a:r>
            <a:endParaRPr kumimoji="1" lang="en-US" altLang="ja-JP" dirty="0"/>
          </a:p>
          <a:p>
            <a:r>
              <a:rPr kumimoji="1" lang="ja-JP" altLang="en-US" dirty="0"/>
              <a:t>具体的な動作：</a:t>
            </a:r>
            <a:endParaRPr kumimoji="1" lang="en-US" altLang="ja-JP" dirty="0"/>
          </a:p>
          <a:p>
            <a:pPr lvl="1"/>
            <a:r>
              <a:rPr lang="en-US" altLang="ja-JP" dirty="0"/>
              <a:t>rs1 </a:t>
            </a:r>
            <a:r>
              <a:rPr lang="ja-JP" altLang="en-US" dirty="0"/>
              <a:t>で指定されるアドレスのメモリの値を読んで，</a:t>
            </a:r>
            <a:endParaRPr lang="en-US" altLang="ja-JP" dirty="0"/>
          </a:p>
          <a:p>
            <a:pPr lvl="1"/>
            <a:r>
              <a:rPr lang="en-US" altLang="ja-JP" dirty="0"/>
              <a:t>rs2 </a:t>
            </a:r>
            <a:r>
              <a:rPr lang="ja-JP" altLang="en-US" dirty="0"/>
              <a:t>で指定されるアドレスのメモリに書き込む</a:t>
            </a:r>
            <a:endParaRPr lang="en-US" altLang="ja-JP" dirty="0"/>
          </a:p>
          <a:p>
            <a:r>
              <a:rPr lang="ja-JP" altLang="en-US" dirty="0"/>
              <a:t>実際に，</a:t>
            </a:r>
            <a:r>
              <a:rPr lang="en-US" altLang="ja-JP" dirty="0"/>
              <a:t>x86 </a:t>
            </a:r>
            <a:r>
              <a:rPr lang="ja-JP" altLang="en-US" dirty="0" err="1"/>
              <a:t>には</a:t>
            </a:r>
            <a:r>
              <a:rPr lang="ja-JP" altLang="en-US" dirty="0"/>
              <a:t>このような命令がある</a:t>
            </a:r>
            <a:endParaRPr kumimoji="1" lang="ja-JP" altLang="en-US" dirty="0"/>
          </a:p>
        </p:txBody>
      </p:sp>
    </p:spTree>
    <p:extLst>
      <p:ext uri="{BB962C8B-B14F-4D97-AF65-F5344CB8AC3E}">
        <p14:creationId xmlns:p14="http://schemas.microsoft.com/office/powerpoint/2010/main" val="1685023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mov</a:t>
            </a:r>
            <a:r>
              <a:rPr lang="en-US" altLang="ja-JP" dirty="0"/>
              <a:t> [rs1]</a:t>
            </a:r>
            <a:r>
              <a:rPr lang="ja-JP" altLang="en-US" dirty="0"/>
              <a:t>→</a:t>
            </a:r>
            <a:r>
              <a:rPr lang="en-US" altLang="ja-JP" dirty="0"/>
              <a:t>[rs2] // [rs1]</a:t>
            </a:r>
            <a:r>
              <a:rPr lang="ja-JP" altLang="en-US" dirty="0"/>
              <a:t>→</a:t>
            </a:r>
            <a:r>
              <a:rPr lang="en-US" altLang="ja-JP" dirty="0"/>
              <a:t>[rs2] </a:t>
            </a:r>
            <a:r>
              <a:rPr lang="ja-JP" altLang="en-US" dirty="0" err="1"/>
              <a:t>への</a:t>
            </a:r>
            <a:r>
              <a:rPr lang="ja-JP" altLang="en-US" dirty="0"/>
              <a:t>コピー</a:t>
            </a:r>
            <a:endParaRPr kumimoji="1" lang="ja-JP" altLang="en-US" dirty="0"/>
          </a:p>
        </p:txBody>
      </p:sp>
      <p:sp>
        <p:nvSpPr>
          <p:cNvPr id="3" name="テキスト プレースホルダー 2"/>
          <p:cNvSpPr>
            <a:spLocks noGrp="1"/>
          </p:cNvSpPr>
          <p:nvPr>
            <p:ph type="body" sz="quarter" idx="10"/>
          </p:nvPr>
        </p:nvSpPr>
        <p:spPr>
          <a:xfrm>
            <a:off x="341953" y="5589024"/>
            <a:ext cx="8550095" cy="449698"/>
          </a:xfrm>
        </p:spPr>
        <p:txBody>
          <a:bodyPr/>
          <a:lstStyle/>
          <a:p>
            <a:r>
              <a:rPr kumimoji="1" lang="ja-JP" altLang="en-US" dirty="0"/>
              <a:t>ある１つのサイクルにメモリを「読んで」「 書く」必要がある</a:t>
            </a:r>
            <a:endParaRPr kumimoji="1" lang="en-US" altLang="ja-JP" dirty="0"/>
          </a:p>
          <a:p>
            <a:pPr lvl="1"/>
            <a:r>
              <a:rPr lang="ja-JP" altLang="en-US" dirty="0"/>
              <a:t>しかし，</a:t>
            </a:r>
            <a:r>
              <a:rPr lang="ja-JP" altLang="en-US" dirty="0">
                <a:solidFill>
                  <a:schemeClr val="accent5"/>
                </a:solidFill>
              </a:rPr>
              <a:t>データ・メモリのアドレス</a:t>
            </a:r>
            <a:r>
              <a:rPr kumimoji="1" lang="ja-JP" altLang="en-US" dirty="0">
                <a:solidFill>
                  <a:schemeClr val="accent5"/>
                </a:solidFill>
              </a:rPr>
              <a:t>の口は</a:t>
            </a:r>
            <a:r>
              <a:rPr kumimoji="1" lang="en-US" altLang="ja-JP" dirty="0">
                <a:solidFill>
                  <a:schemeClr val="accent5"/>
                </a:solidFill>
              </a:rPr>
              <a:t>1</a:t>
            </a:r>
            <a:r>
              <a:rPr kumimoji="1" lang="ja-JP" altLang="en-US" dirty="0">
                <a:solidFill>
                  <a:schemeClr val="accent5"/>
                </a:solidFill>
              </a:rPr>
              <a:t>つしかない</a:t>
            </a:r>
            <a:endParaRPr kumimoji="1" lang="en-US" altLang="ja-JP" dirty="0">
              <a:solidFill>
                <a:schemeClr val="accent5"/>
              </a:solidFill>
            </a:endParaRPr>
          </a:p>
          <a:p>
            <a:pPr lvl="1"/>
            <a:r>
              <a:rPr lang="en-US" altLang="ja-JP" dirty="0"/>
              <a:t>MEM </a:t>
            </a:r>
            <a:r>
              <a:rPr lang="ja-JP" altLang="en-US" dirty="0"/>
              <a:t>ステージでデータ・メモリの読みと書きが同時にできない</a:t>
            </a:r>
            <a:endParaRPr lang="en-US" altLang="ja-JP" dirty="0"/>
          </a:p>
        </p:txBody>
      </p:sp>
      <p:sp>
        <p:nvSpPr>
          <p:cNvPr id="4" name="正方形/長方形 3"/>
          <p:cNvSpPr/>
          <p:nvPr/>
        </p:nvSpPr>
        <p:spPr bwMode="auto">
          <a:xfrm>
            <a:off x="971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313198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732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5022006" y="3068994"/>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251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611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791958" y="2258984"/>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1061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881958"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71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1511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71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2411975"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2951982" y="3248994"/>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2951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27" name="直線矢印コネクタ 26"/>
          <p:cNvCxnSpPr/>
          <p:nvPr/>
        </p:nvCxnSpPr>
        <p:spPr bwMode="auto">
          <a:xfrm>
            <a:off x="2951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2951982" y="2258987"/>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8352038" y="2708991"/>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8172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6012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4572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4572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6732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b="1" dirty="0">
                <a:solidFill>
                  <a:schemeClr val="accent5"/>
                </a:solidFill>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6732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5112004"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6552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6552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6732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8532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2951982"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6552022" y="2528986"/>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8577044" y="2213985"/>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7272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521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4</a:t>
            </a:r>
            <a:endParaRPr kumimoji="1" lang="ja-JP" altLang="en-US" dirty="0">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11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3041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4932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6912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8647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2501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63" name="正方形/長方形 62"/>
          <p:cNvSpPr/>
          <p:nvPr/>
        </p:nvSpPr>
        <p:spPr bwMode="auto">
          <a:xfrm>
            <a:off x="4662001"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475200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1" name="正方形/長方形 70"/>
          <p:cNvSpPr/>
          <p:nvPr/>
        </p:nvSpPr>
        <p:spPr bwMode="auto">
          <a:xfrm>
            <a:off x="6102017"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6192017"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角丸四角形 54"/>
          <p:cNvSpPr/>
          <p:nvPr/>
        </p:nvSpPr>
        <p:spPr bwMode="auto">
          <a:xfrm>
            <a:off x="6372020" y="2348988"/>
            <a:ext cx="2070023"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err="1"/>
              <a:t>mov</a:t>
            </a:r>
            <a:r>
              <a:rPr lang="en-US" altLang="ja-JP" b="1" dirty="0"/>
              <a:t> [rs1]</a:t>
            </a:r>
            <a:r>
              <a:rPr lang="ja-JP" altLang="en-US" b="1" dirty="0"/>
              <a:t>→</a:t>
            </a:r>
            <a:r>
              <a:rPr lang="en-US" altLang="ja-JP" b="1" dirty="0"/>
              <a:t>[rs2] </a:t>
            </a:r>
            <a:endParaRPr kumimoji="1" lang="ja-JP" altLang="en-US" b="1" dirty="0">
              <a:latin typeface="Arial Narrow" panose="020B0606020202030204" pitchFamily="34" charset="0"/>
            </a:endParaRPr>
          </a:p>
        </p:txBody>
      </p:sp>
    </p:spTree>
    <p:extLst>
      <p:ext uri="{BB962C8B-B14F-4D97-AF65-F5344CB8AC3E}">
        <p14:creationId xmlns:p14="http://schemas.microsoft.com/office/powerpoint/2010/main" val="2025707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構造ハザードの例２：</a:t>
            </a:r>
            <a:r>
              <a:rPr kumimoji="1" lang="en-US" altLang="ja-JP" dirty="0"/>
              <a:t>push/pop</a:t>
            </a:r>
            <a:endParaRPr kumimoji="1" lang="ja-JP" altLang="en-US" dirty="0"/>
          </a:p>
        </p:txBody>
      </p:sp>
      <p:sp>
        <p:nvSpPr>
          <p:cNvPr id="3" name="テキスト プレースホルダー 2"/>
          <p:cNvSpPr>
            <a:spLocks noGrp="1"/>
          </p:cNvSpPr>
          <p:nvPr>
            <p:ph type="body" sz="quarter" idx="10"/>
          </p:nvPr>
        </p:nvSpPr>
        <p:spPr>
          <a:xfrm>
            <a:off x="341953" y="908972"/>
            <a:ext cx="8550095" cy="3240036"/>
          </a:xfrm>
        </p:spPr>
        <p:txBody>
          <a:bodyPr/>
          <a:lstStyle/>
          <a:p>
            <a:r>
              <a:rPr kumimoji="1" lang="en-US" altLang="ja-JP" dirty="0"/>
              <a:t>x86 </a:t>
            </a:r>
            <a:r>
              <a:rPr kumimoji="1" lang="ja-JP" altLang="en-US" dirty="0"/>
              <a:t>や </a:t>
            </a:r>
            <a:r>
              <a:rPr kumimoji="1" lang="en-US" altLang="ja-JP" dirty="0"/>
              <a:t>ARM </a:t>
            </a:r>
            <a:r>
              <a:rPr kumimoji="1" lang="ja-JP" altLang="en-US" dirty="0"/>
              <a:t>では</a:t>
            </a:r>
            <a:r>
              <a:rPr lang="ja-JP" altLang="en-US" dirty="0"/>
              <a:t>スタック操作のための </a:t>
            </a:r>
            <a:r>
              <a:rPr lang="en-US" altLang="ja-JP" dirty="0"/>
              <a:t>push/pop </a:t>
            </a:r>
            <a:r>
              <a:rPr lang="ja-JP" altLang="en-US" dirty="0"/>
              <a:t>命令がある</a:t>
            </a:r>
            <a:endParaRPr lang="en-US" altLang="ja-JP" dirty="0"/>
          </a:p>
          <a:p>
            <a:pPr lvl="1"/>
            <a:r>
              <a:rPr lang="en-US" altLang="ja-JP" dirty="0"/>
              <a:t>push</a:t>
            </a:r>
            <a:r>
              <a:rPr lang="ja-JP" altLang="en-US" dirty="0"/>
              <a:t>：</a:t>
            </a:r>
            <a:r>
              <a:rPr lang="en-US" altLang="ja-JP" dirty="0"/>
              <a:t>rs1-1</a:t>
            </a:r>
            <a:r>
              <a:rPr lang="ja-JP" altLang="en-US" dirty="0"/>
              <a:t>→</a:t>
            </a:r>
            <a:r>
              <a:rPr lang="en-US" altLang="ja-JP" dirty="0" err="1">
                <a:solidFill>
                  <a:schemeClr val="accent5"/>
                </a:solidFill>
              </a:rPr>
              <a:t>rd</a:t>
            </a:r>
            <a:r>
              <a:rPr lang="en-US" altLang="ja-JP" dirty="0"/>
              <a:t>,    r2</a:t>
            </a:r>
            <a:r>
              <a:rPr lang="ja-JP" altLang="en-US" dirty="0"/>
              <a:t>→</a:t>
            </a:r>
            <a:r>
              <a:rPr lang="en-US" altLang="ja-JP" dirty="0"/>
              <a:t>[</a:t>
            </a:r>
            <a:r>
              <a:rPr lang="en-US" altLang="ja-JP" dirty="0" err="1">
                <a:solidFill>
                  <a:schemeClr val="accent5"/>
                </a:solidFill>
              </a:rPr>
              <a:t>rd</a:t>
            </a:r>
            <a:r>
              <a:rPr lang="en-US" altLang="ja-JP" dirty="0"/>
              <a:t>]</a:t>
            </a:r>
          </a:p>
          <a:p>
            <a:pPr marL="1177200" lvl="2" indent="-457200">
              <a:buFont typeface="+mj-lt"/>
              <a:buAutoNum type="arabicPeriod"/>
            </a:pPr>
            <a:r>
              <a:rPr lang="ja-JP" altLang="en-US" dirty="0"/>
              <a:t>スタック・ポインタ（が入ってるレジスタ）をデクリメントし，</a:t>
            </a:r>
            <a:endParaRPr lang="en-US" altLang="ja-JP" dirty="0"/>
          </a:p>
          <a:p>
            <a:pPr marL="1177200" lvl="2" indent="-457200">
              <a:buFont typeface="+mj-lt"/>
              <a:buAutoNum type="arabicPeriod"/>
            </a:pPr>
            <a:r>
              <a:rPr lang="ja-JP" altLang="en-US" dirty="0"/>
              <a:t>それをアドレスにしてメモリに値を書き込む</a:t>
            </a:r>
            <a:endParaRPr lang="en-US" altLang="ja-JP" dirty="0"/>
          </a:p>
          <a:p>
            <a:pPr lvl="1"/>
            <a:r>
              <a:rPr kumimoji="1" lang="en-US" altLang="ja-JP" dirty="0"/>
              <a:t>pop</a:t>
            </a:r>
            <a:r>
              <a:rPr kumimoji="1" lang="ja-JP" altLang="en-US" dirty="0"/>
              <a:t>：</a:t>
            </a:r>
            <a:r>
              <a:rPr lang="en-US" altLang="ja-JP" dirty="0"/>
              <a:t>[rs1]</a:t>
            </a:r>
            <a:r>
              <a:rPr lang="ja-JP" altLang="en-US" dirty="0"/>
              <a:t>→</a:t>
            </a:r>
            <a:r>
              <a:rPr lang="en-US" altLang="ja-JP" dirty="0" err="1">
                <a:solidFill>
                  <a:schemeClr val="accent5"/>
                </a:solidFill>
              </a:rPr>
              <a:t>rd</a:t>
            </a:r>
            <a:r>
              <a:rPr lang="en-US" altLang="ja-JP" dirty="0"/>
              <a:t>, rs1+1</a:t>
            </a:r>
            <a:r>
              <a:rPr lang="ja-JP" altLang="en-US" dirty="0"/>
              <a:t>→</a:t>
            </a:r>
            <a:r>
              <a:rPr lang="en-US" altLang="ja-JP" dirty="0">
                <a:solidFill>
                  <a:schemeClr val="accent6"/>
                </a:solidFill>
              </a:rPr>
              <a:t>rs1</a:t>
            </a:r>
            <a:endParaRPr kumimoji="1" lang="en-US" altLang="ja-JP" dirty="0">
              <a:solidFill>
                <a:schemeClr val="accent6"/>
              </a:solidFill>
            </a:endParaRPr>
          </a:p>
          <a:p>
            <a:pPr marL="1177200" lvl="2" indent="-457200">
              <a:buFont typeface="+mj-lt"/>
              <a:buAutoNum type="arabicPeriod"/>
            </a:pPr>
            <a:r>
              <a:rPr kumimoji="1" lang="ja-JP" altLang="en-US" dirty="0"/>
              <a:t>スタック・ポインタをアドレスにして値を読む</a:t>
            </a:r>
            <a:endParaRPr kumimoji="1" lang="en-US" altLang="ja-JP" dirty="0"/>
          </a:p>
          <a:p>
            <a:pPr marL="1177200" lvl="2" indent="-457200">
              <a:buFont typeface="+mj-lt"/>
              <a:buAutoNum type="arabicPeriod"/>
            </a:pPr>
            <a:r>
              <a:rPr kumimoji="1" lang="ja-JP" altLang="en-US" dirty="0"/>
              <a:t>スタック・ポインタをインクリメント</a:t>
            </a:r>
          </a:p>
        </p:txBody>
      </p:sp>
      <p:sp>
        <p:nvSpPr>
          <p:cNvPr id="4" name="正方形/長方形 3"/>
          <p:cNvSpPr/>
          <p:nvPr/>
        </p:nvSpPr>
        <p:spPr bwMode="auto">
          <a:xfrm>
            <a:off x="3131984" y="4869016"/>
            <a:ext cx="720008" cy="180002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p:cNvSpPr/>
          <p:nvPr/>
        </p:nvSpPr>
        <p:spPr bwMode="auto">
          <a:xfrm>
            <a:off x="3131984" y="486901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p:cNvSpPr/>
          <p:nvPr/>
        </p:nvSpPr>
        <p:spPr bwMode="auto">
          <a:xfrm>
            <a:off x="3131984" y="5229019"/>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p:cNvSpPr/>
          <p:nvPr/>
        </p:nvSpPr>
        <p:spPr bwMode="auto">
          <a:xfrm>
            <a:off x="3131984" y="5589023"/>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p:cNvSpPr/>
          <p:nvPr/>
        </p:nvSpPr>
        <p:spPr bwMode="auto">
          <a:xfrm>
            <a:off x="3131984" y="5949027"/>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3131984" y="6309031"/>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 name="正方形/長方形 9"/>
          <p:cNvSpPr/>
          <p:nvPr/>
        </p:nvSpPr>
        <p:spPr bwMode="auto">
          <a:xfrm>
            <a:off x="2411976" y="522902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a:t>
            </a:r>
            <a:r>
              <a:rPr kumimoji="1" lang="en-US" altLang="ja-JP" sz="1200" dirty="0">
                <a:latin typeface="メイリオ" panose="020B0604030504040204" pitchFamily="50" charset="-128"/>
                <a:ea typeface="メイリオ" panose="020B0604030504040204" pitchFamily="50" charset="-128"/>
              </a:rPr>
              <a:t>-1 </a:t>
            </a:r>
            <a:r>
              <a:rPr kumimoji="1" lang="ja-JP" altLang="en-US" sz="1200" dirty="0">
                <a:latin typeface="メイリオ" panose="020B0604030504040204" pitchFamily="50" charset="-128"/>
                <a:ea typeface="メイリオ" panose="020B0604030504040204" pitchFamily="50" charset="-128"/>
              </a:rPr>
              <a:t>→</a:t>
            </a:r>
          </a:p>
        </p:txBody>
      </p:sp>
      <p:cxnSp>
        <p:nvCxnSpPr>
          <p:cNvPr id="12" name="直線矢印コネクタ 11"/>
          <p:cNvCxnSpPr/>
          <p:nvPr/>
        </p:nvCxnSpPr>
        <p:spPr bwMode="auto">
          <a:xfrm>
            <a:off x="3491988" y="4779015"/>
            <a:ext cx="0" cy="540006"/>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13" name="正方形/長方形 12"/>
          <p:cNvSpPr/>
          <p:nvPr/>
        </p:nvSpPr>
        <p:spPr bwMode="auto">
          <a:xfrm>
            <a:off x="5292008" y="4869016"/>
            <a:ext cx="720008" cy="180002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4" name="正方形/長方形 13"/>
          <p:cNvSpPr/>
          <p:nvPr/>
        </p:nvSpPr>
        <p:spPr bwMode="auto">
          <a:xfrm>
            <a:off x="5292008" y="486901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5292008" y="5229019"/>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p:cNvSpPr/>
          <p:nvPr/>
        </p:nvSpPr>
        <p:spPr bwMode="auto">
          <a:xfrm>
            <a:off x="5292008" y="5589023"/>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p:cNvSpPr/>
          <p:nvPr/>
        </p:nvSpPr>
        <p:spPr bwMode="auto">
          <a:xfrm>
            <a:off x="5292008" y="5949027"/>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 name="正方形/長方形 17"/>
          <p:cNvSpPr/>
          <p:nvPr/>
        </p:nvSpPr>
        <p:spPr bwMode="auto">
          <a:xfrm>
            <a:off x="5292008" y="6309031"/>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 name="正方形/長方形 18"/>
          <p:cNvSpPr/>
          <p:nvPr/>
        </p:nvSpPr>
        <p:spPr bwMode="auto">
          <a:xfrm>
            <a:off x="4752002" y="522902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a:t>
            </a:r>
          </a:p>
        </p:txBody>
      </p:sp>
      <p:cxnSp>
        <p:nvCxnSpPr>
          <p:cNvPr id="20" name="直線矢印コネクタ 19"/>
          <p:cNvCxnSpPr/>
          <p:nvPr/>
        </p:nvCxnSpPr>
        <p:spPr bwMode="auto">
          <a:xfrm flipV="1">
            <a:off x="5652012" y="4779016"/>
            <a:ext cx="0" cy="54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22" name="円/楕円 21"/>
          <p:cNvSpPr/>
          <p:nvPr/>
        </p:nvSpPr>
        <p:spPr bwMode="auto">
          <a:xfrm>
            <a:off x="3221985" y="4239009"/>
            <a:ext cx="540006" cy="360004"/>
          </a:xfrm>
          <a:prstGeom prst="ellipse">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bg1"/>
                </a:solidFill>
                <a:latin typeface="+mn-ea"/>
              </a:rPr>
              <a:t>値</a:t>
            </a:r>
          </a:p>
        </p:txBody>
      </p:sp>
      <p:sp>
        <p:nvSpPr>
          <p:cNvPr id="24" name="円/楕円 23"/>
          <p:cNvSpPr/>
          <p:nvPr/>
        </p:nvSpPr>
        <p:spPr bwMode="auto">
          <a:xfrm>
            <a:off x="5382009" y="4239009"/>
            <a:ext cx="540006" cy="360004"/>
          </a:xfrm>
          <a:prstGeom prst="ellipse">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bg1"/>
                </a:solidFill>
                <a:latin typeface="+mn-ea"/>
              </a:rPr>
              <a:t>値</a:t>
            </a:r>
          </a:p>
        </p:txBody>
      </p:sp>
      <p:sp>
        <p:nvSpPr>
          <p:cNvPr id="29" name="正方形/長方形 28"/>
          <p:cNvSpPr/>
          <p:nvPr/>
        </p:nvSpPr>
        <p:spPr bwMode="auto">
          <a:xfrm>
            <a:off x="2681979"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en-US" altLang="ja-JP" sz="1600" dirty="0">
                <a:latin typeface="メイリオ" panose="020B0604030504040204" pitchFamily="50" charset="-128"/>
                <a:ea typeface="メイリオ" panose="020B0604030504040204" pitchFamily="50" charset="-128"/>
              </a:rPr>
              <a:t>Push</a:t>
            </a:r>
            <a:endParaRPr kumimoji="1" lang="ja-JP" altLang="en-US" sz="1600"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4842003"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en-US" altLang="ja-JP" sz="1600" dirty="0">
                <a:latin typeface="メイリオ" panose="020B0604030504040204" pitchFamily="50" charset="-128"/>
                <a:ea typeface="メイリオ" panose="020B0604030504040204" pitchFamily="50" charset="-128"/>
              </a:rPr>
              <a:t>Pop</a:t>
            </a:r>
            <a:endParaRPr kumimoji="1" lang="ja-JP" altLang="en-US" sz="1600" dirty="0">
              <a:latin typeface="メイリオ" panose="020B0604030504040204" pitchFamily="50" charset="-128"/>
              <a:ea typeface="メイリオ" panose="020B0604030504040204" pitchFamily="50" charset="-128"/>
            </a:endParaRPr>
          </a:p>
        </p:txBody>
      </p:sp>
      <p:cxnSp>
        <p:nvCxnSpPr>
          <p:cNvPr id="35" name="直線矢印コネクタ 34"/>
          <p:cNvCxnSpPr/>
          <p:nvPr/>
        </p:nvCxnSpPr>
        <p:spPr bwMode="auto">
          <a:xfrm flipV="1">
            <a:off x="2771980" y="5499023"/>
            <a:ext cx="0" cy="36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8" name="直線矢印コネクタ 37"/>
          <p:cNvCxnSpPr>
            <a:cxnSpLocks/>
          </p:cNvCxnSpPr>
          <p:nvPr/>
        </p:nvCxnSpPr>
        <p:spPr bwMode="auto">
          <a:xfrm>
            <a:off x="4932004" y="5499023"/>
            <a:ext cx="0"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11" name="正方形/長方形 10">
            <a:extLst>
              <a:ext uri="{FF2B5EF4-FFF2-40B4-BE49-F238E27FC236}">
                <a16:creationId xmlns:a16="http://schemas.microsoft.com/office/drawing/2014/main" id="{45220213-6F12-858F-6F39-0C43E0222913}"/>
              </a:ext>
            </a:extLst>
          </p:cNvPr>
          <p:cNvSpPr/>
          <p:nvPr/>
        </p:nvSpPr>
        <p:spPr bwMode="auto">
          <a:xfrm>
            <a:off x="4544169" y="5589024"/>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rs1+1</a:t>
            </a:r>
            <a:r>
              <a:rPr kumimoji="1" lang="en-US" altLang="ja-JP" sz="1200" dirty="0">
                <a:latin typeface="メイリオ" panose="020B0604030504040204" pitchFamily="50" charset="-128"/>
                <a:ea typeface="メイリオ" panose="020B0604030504040204" pitchFamily="50" charset="-128"/>
              </a:rPr>
              <a:t> </a:t>
            </a:r>
            <a:endParaRPr kumimoji="1" lang="ja-JP" altLang="en-US" sz="1200" dirty="0">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667CBABE-1FF1-5845-FB93-7810FE4458B3}"/>
              </a:ext>
            </a:extLst>
          </p:cNvPr>
          <p:cNvSpPr/>
          <p:nvPr/>
        </p:nvSpPr>
        <p:spPr bwMode="auto">
          <a:xfrm>
            <a:off x="2411976" y="558902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a:t>
            </a:r>
            <a:r>
              <a:rPr kumimoji="1" lang="en-US" altLang="ja-JP" sz="1200" dirty="0">
                <a:latin typeface="メイリオ" panose="020B0604030504040204" pitchFamily="50" charset="-128"/>
                <a:ea typeface="メイリオ" panose="020B0604030504040204" pitchFamily="50" charset="-128"/>
              </a:rPr>
              <a:t> </a:t>
            </a:r>
            <a:endParaRPr kumimoji="1"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18062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pop</a:t>
            </a:r>
            <a:r>
              <a:rPr lang="ja-JP" altLang="en-US" dirty="0"/>
              <a:t>：</a:t>
            </a:r>
            <a:r>
              <a:rPr lang="en-US" altLang="ja-JP" dirty="0"/>
              <a:t>[rs1]→</a:t>
            </a:r>
            <a:r>
              <a:rPr lang="en-US" altLang="ja-JP" dirty="0" err="1"/>
              <a:t>rd</a:t>
            </a:r>
            <a:r>
              <a:rPr lang="en-US" altLang="ja-JP" dirty="0"/>
              <a:t>, rs1+1→rs1</a:t>
            </a:r>
          </a:p>
        </p:txBody>
      </p:sp>
      <p:sp>
        <p:nvSpPr>
          <p:cNvPr id="3" name="テキスト プレースホルダー 2"/>
          <p:cNvSpPr>
            <a:spLocks noGrp="1"/>
          </p:cNvSpPr>
          <p:nvPr>
            <p:ph type="body" sz="quarter" idx="10"/>
          </p:nvPr>
        </p:nvSpPr>
        <p:spPr>
          <a:xfrm>
            <a:off x="341953" y="5589024"/>
            <a:ext cx="8550095" cy="449698"/>
          </a:xfrm>
        </p:spPr>
        <p:txBody>
          <a:bodyPr/>
          <a:lstStyle/>
          <a:p>
            <a:r>
              <a:rPr kumimoji="1" lang="en-US" altLang="ja-JP" dirty="0"/>
              <a:t>WB </a:t>
            </a:r>
            <a:r>
              <a:rPr kumimoji="1" lang="ja-JP" altLang="en-US" dirty="0"/>
              <a:t>ステージでレジスタに </a:t>
            </a:r>
            <a:r>
              <a:rPr kumimoji="1" lang="en-US" altLang="ja-JP" dirty="0" err="1"/>
              <a:t>rd</a:t>
            </a:r>
            <a:r>
              <a:rPr kumimoji="1" lang="en-US" altLang="ja-JP" dirty="0"/>
              <a:t> </a:t>
            </a:r>
            <a:r>
              <a:rPr kumimoji="1" lang="ja-JP" altLang="en-US" dirty="0"/>
              <a:t>と </a:t>
            </a:r>
            <a:r>
              <a:rPr kumimoji="1" lang="en-US" altLang="ja-JP" dirty="0"/>
              <a:t>rs1 </a:t>
            </a:r>
            <a:r>
              <a:rPr kumimoji="1" lang="ja-JP" altLang="en-US" dirty="0"/>
              <a:t>の</a:t>
            </a:r>
            <a:r>
              <a:rPr kumimoji="1" lang="en-US" altLang="ja-JP" dirty="0"/>
              <a:t>2</a:t>
            </a:r>
            <a:r>
              <a:rPr kumimoji="1" lang="ja-JP" altLang="en-US" dirty="0"/>
              <a:t>つを書き込む必要がある</a:t>
            </a:r>
            <a:endParaRPr kumimoji="1" lang="en-US" altLang="ja-JP" dirty="0"/>
          </a:p>
          <a:p>
            <a:pPr lvl="1"/>
            <a:r>
              <a:rPr kumimoji="1" lang="ja-JP" altLang="en-US" dirty="0"/>
              <a:t>２つのレジスタが１つの命令により更新されている</a:t>
            </a:r>
            <a:endParaRPr kumimoji="1" lang="en-US" altLang="ja-JP" dirty="0"/>
          </a:p>
          <a:p>
            <a:pPr lvl="1"/>
            <a:r>
              <a:rPr kumimoji="1" lang="ja-JP" altLang="en-US" dirty="0"/>
              <a:t>レジスタ・ファイルへの書き込みは，同時に２つはできない</a:t>
            </a:r>
            <a:endParaRPr kumimoji="1" lang="en-US" altLang="ja-JP" dirty="0"/>
          </a:p>
        </p:txBody>
      </p:sp>
      <p:sp>
        <p:nvSpPr>
          <p:cNvPr id="4" name="正方形/長方形 3"/>
          <p:cNvSpPr/>
          <p:nvPr/>
        </p:nvSpPr>
        <p:spPr bwMode="auto">
          <a:xfrm>
            <a:off x="971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3131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73202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5022006" y="3068994"/>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251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611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791958" y="2258984"/>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1061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881958"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71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1511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71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2411975"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2951982" y="3248994"/>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2951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27" name="直線矢印コネクタ 26"/>
          <p:cNvCxnSpPr/>
          <p:nvPr/>
        </p:nvCxnSpPr>
        <p:spPr bwMode="auto">
          <a:xfrm>
            <a:off x="2951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2951982" y="2258987"/>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8352038" y="2708991"/>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8172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6012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4572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4572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5" name="正方形/長方形 34"/>
          <p:cNvSpPr/>
          <p:nvPr/>
        </p:nvSpPr>
        <p:spPr bwMode="auto">
          <a:xfrm>
            <a:off x="6732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5112004"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6552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6552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0" name="直線矢印コネクタ 39"/>
          <p:cNvCxnSpPr/>
          <p:nvPr/>
        </p:nvCxnSpPr>
        <p:spPr bwMode="auto">
          <a:xfrm>
            <a:off x="8532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2951982"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6552022" y="2528986"/>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8577044" y="2213985"/>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正方形/長方形 44"/>
          <p:cNvSpPr/>
          <p:nvPr/>
        </p:nvSpPr>
        <p:spPr bwMode="auto">
          <a:xfrm>
            <a:off x="521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4</a:t>
            </a:r>
            <a:endParaRPr kumimoji="1" lang="ja-JP" altLang="en-US" dirty="0">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11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3041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4932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6912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8647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2501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63" name="正方形/長方形 62"/>
          <p:cNvSpPr/>
          <p:nvPr/>
        </p:nvSpPr>
        <p:spPr bwMode="auto">
          <a:xfrm>
            <a:off x="4662001"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475200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1" name="正方形/長方形 70"/>
          <p:cNvSpPr/>
          <p:nvPr/>
        </p:nvSpPr>
        <p:spPr bwMode="auto">
          <a:xfrm>
            <a:off x="6102017"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6192017"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角丸四角形 54"/>
          <p:cNvSpPr/>
          <p:nvPr/>
        </p:nvSpPr>
        <p:spPr bwMode="auto">
          <a:xfrm>
            <a:off x="2231974" y="2168986"/>
            <a:ext cx="3031751"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t>pop</a:t>
            </a:r>
            <a:r>
              <a:rPr lang="ja-JP" altLang="en-US" b="1" dirty="0"/>
              <a:t>：</a:t>
            </a:r>
            <a:r>
              <a:rPr lang="en-US" altLang="ja-JP" b="1" dirty="0"/>
              <a:t>[rs1]→</a:t>
            </a:r>
            <a:r>
              <a:rPr lang="en-US" altLang="ja-JP" b="1" dirty="0" err="1">
                <a:solidFill>
                  <a:schemeClr val="tx2"/>
                </a:solidFill>
              </a:rPr>
              <a:t>rd</a:t>
            </a:r>
            <a:r>
              <a:rPr lang="en-US" altLang="ja-JP" b="1" dirty="0"/>
              <a:t>, rs1+1→</a:t>
            </a:r>
            <a:r>
              <a:rPr lang="en-US" altLang="ja-JP" b="1" dirty="0">
                <a:solidFill>
                  <a:schemeClr val="tx2"/>
                </a:solidFill>
              </a:rPr>
              <a:t>rs1</a:t>
            </a:r>
            <a:endParaRPr kumimoji="1" lang="ja-JP" altLang="en-US" b="1" dirty="0">
              <a:solidFill>
                <a:schemeClr val="tx2"/>
              </a:solidFill>
              <a:latin typeface="Arial Narrow" panose="020B0606020202030204" pitchFamily="34" charset="0"/>
            </a:endParaRPr>
          </a:p>
        </p:txBody>
      </p:sp>
      <p:sp>
        <p:nvSpPr>
          <p:cNvPr id="65" name="正方形/長方形 64"/>
          <p:cNvSpPr/>
          <p:nvPr/>
        </p:nvSpPr>
        <p:spPr bwMode="auto">
          <a:xfrm>
            <a:off x="3131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書き込みデータ</a:t>
            </a:r>
          </a:p>
        </p:txBody>
      </p:sp>
      <p:sp>
        <p:nvSpPr>
          <p:cNvPr id="66" name="正方形/長方形 65"/>
          <p:cNvSpPr/>
          <p:nvPr/>
        </p:nvSpPr>
        <p:spPr bwMode="auto">
          <a:xfrm>
            <a:off x="3131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67" name="正方形/長方形 66"/>
          <p:cNvSpPr/>
          <p:nvPr/>
        </p:nvSpPr>
        <p:spPr bwMode="auto">
          <a:xfrm>
            <a:off x="3131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68" name="正方形/長方形 67"/>
          <p:cNvSpPr/>
          <p:nvPr/>
        </p:nvSpPr>
        <p:spPr bwMode="auto">
          <a:xfrm>
            <a:off x="3131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69" name="正方形/長方形 68"/>
          <p:cNvSpPr/>
          <p:nvPr/>
        </p:nvSpPr>
        <p:spPr bwMode="auto">
          <a:xfrm>
            <a:off x="3131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レジスタ・ファイル</a:t>
            </a:r>
          </a:p>
        </p:txBody>
      </p:sp>
    </p:spTree>
    <p:extLst>
      <p:ext uri="{BB962C8B-B14F-4D97-AF65-F5344CB8AC3E}">
        <p14:creationId xmlns:p14="http://schemas.microsoft.com/office/powerpoint/2010/main" val="1032034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構造ハザードの例３</a:t>
            </a:r>
            <a:endParaRPr lang="ja-JP" altLang="en-US" dirty="0"/>
          </a:p>
        </p:txBody>
      </p:sp>
      <p:sp>
        <p:nvSpPr>
          <p:cNvPr id="3" name="テキスト プレースホルダー 2"/>
          <p:cNvSpPr>
            <a:spLocks noGrp="1"/>
          </p:cNvSpPr>
          <p:nvPr>
            <p:ph type="body" sz="quarter" idx="10"/>
          </p:nvPr>
        </p:nvSpPr>
        <p:spPr/>
        <p:txBody>
          <a:bodyPr/>
          <a:lstStyle/>
          <a:p>
            <a:r>
              <a:rPr lang="ja-JP" altLang="en-US" dirty="0"/>
              <a:t>使用資源の異なるステージ間のぶつかりでも起きる</a:t>
            </a:r>
            <a:endParaRPr lang="en-US" altLang="ja-JP" dirty="0"/>
          </a:p>
          <a:p>
            <a:pPr lvl="1"/>
            <a:r>
              <a:rPr lang="ja-JP" altLang="en-US" dirty="0"/>
              <a:t>これまでの例は，同じステージ内で資源が足りない例</a:t>
            </a:r>
            <a:endParaRPr lang="en-US" altLang="ja-JP" dirty="0"/>
          </a:p>
          <a:p>
            <a:r>
              <a:rPr lang="en-US" altLang="ja-JP" b="1" dirty="0" err="1">
                <a:latin typeface="Consolas" panose="020B0609020204030204" pitchFamily="49" charset="0"/>
              </a:rPr>
              <a:t>ld_inc</a:t>
            </a:r>
            <a:r>
              <a:rPr lang="en-US" altLang="ja-JP" b="1" dirty="0">
                <a:latin typeface="Consolas" panose="020B0609020204030204" pitchFamily="49" charset="0"/>
              </a:rPr>
              <a:t> [rs1]+1</a:t>
            </a:r>
            <a:r>
              <a:rPr lang="ja-JP" altLang="en-US" b="1" dirty="0">
                <a:latin typeface="Consolas" panose="020B0609020204030204" pitchFamily="49" charset="0"/>
              </a:rPr>
              <a:t>→</a:t>
            </a:r>
            <a:r>
              <a:rPr lang="en-US" altLang="ja-JP" b="1" dirty="0" err="1">
                <a:latin typeface="Consolas" panose="020B0609020204030204" pitchFamily="49" charset="0"/>
              </a:rPr>
              <a:t>rd</a:t>
            </a:r>
            <a:r>
              <a:rPr lang="en-US" altLang="ja-JP" dirty="0"/>
              <a:t> </a:t>
            </a:r>
            <a:r>
              <a:rPr lang="ja-JP" altLang="en-US" dirty="0" err="1"/>
              <a:t>のような</a:t>
            </a:r>
            <a:r>
              <a:rPr lang="ja-JP" altLang="en-US" dirty="0"/>
              <a:t>命令があったとする</a:t>
            </a:r>
            <a:endParaRPr lang="en-US" altLang="ja-JP" dirty="0"/>
          </a:p>
          <a:p>
            <a:pPr marL="817200" lvl="1" indent="-457200">
              <a:buFont typeface="+mj-lt"/>
              <a:buAutoNum type="arabicPeriod"/>
            </a:pPr>
            <a:r>
              <a:rPr lang="en-US" altLang="ja-JP" dirty="0"/>
              <a:t>rs1 </a:t>
            </a:r>
            <a:r>
              <a:rPr lang="ja-JP" altLang="en-US" dirty="0"/>
              <a:t>の指すアドレスからメモリを読む</a:t>
            </a:r>
            <a:endParaRPr lang="en-US" altLang="ja-JP" dirty="0"/>
          </a:p>
          <a:p>
            <a:pPr marL="817200" lvl="1" indent="-457200">
              <a:buFont typeface="+mj-lt"/>
              <a:buAutoNum type="arabicPeriod"/>
            </a:pPr>
            <a:r>
              <a:rPr lang="ja-JP" altLang="en-US" dirty="0"/>
              <a:t>読んだ値にさらに</a:t>
            </a:r>
            <a:r>
              <a:rPr lang="en-US" altLang="ja-JP" dirty="0"/>
              <a:t>+</a:t>
            </a:r>
            <a:r>
              <a:rPr lang="ja-JP" altLang="en-US" dirty="0"/>
              <a:t>１してから </a:t>
            </a:r>
            <a:r>
              <a:rPr lang="en-US" altLang="ja-JP" dirty="0" err="1"/>
              <a:t>rd</a:t>
            </a:r>
            <a:r>
              <a:rPr lang="en-US" altLang="ja-JP" dirty="0"/>
              <a:t> </a:t>
            </a:r>
            <a:r>
              <a:rPr lang="ja-JP" altLang="en-US" dirty="0"/>
              <a:t>に書く</a:t>
            </a:r>
            <a:endParaRPr lang="en-US" altLang="ja-JP" dirty="0"/>
          </a:p>
          <a:p>
            <a:r>
              <a:rPr lang="ja-JP" altLang="en-US" dirty="0"/>
              <a:t>一見，資源は足りているようだが･･･</a:t>
            </a:r>
            <a:endParaRPr lang="en-US" altLang="ja-JP" dirty="0"/>
          </a:p>
          <a:p>
            <a:pPr lvl="1"/>
            <a:r>
              <a:rPr lang="ja-JP" altLang="en-US" dirty="0"/>
              <a:t>レジスタの読み書きは１つずつしかない</a:t>
            </a:r>
            <a:endParaRPr lang="en-US" altLang="ja-JP" dirty="0"/>
          </a:p>
          <a:p>
            <a:pPr lvl="1"/>
            <a:r>
              <a:rPr lang="ja-JP" altLang="en-US" dirty="0"/>
              <a:t>メモリも１カ所を読むだけ</a:t>
            </a:r>
            <a:endParaRPr lang="en-US" altLang="ja-JP" dirty="0"/>
          </a:p>
          <a:p>
            <a:pPr lvl="1"/>
            <a:r>
              <a:rPr lang="ja-JP" altLang="en-US" dirty="0"/>
              <a:t>加算も１回行うだけ</a:t>
            </a:r>
            <a:endParaRPr lang="en-US" altLang="ja-JP" dirty="0"/>
          </a:p>
        </p:txBody>
      </p:sp>
    </p:spTree>
    <p:extLst>
      <p:ext uri="{BB962C8B-B14F-4D97-AF65-F5344CB8AC3E}">
        <p14:creationId xmlns:p14="http://schemas.microsoft.com/office/powerpoint/2010/main" val="36778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構造ハザードの例３</a:t>
            </a:r>
            <a:endParaRPr lang="ja-JP" altLang="en-US" dirty="0"/>
          </a:p>
        </p:txBody>
      </p:sp>
      <p:sp>
        <p:nvSpPr>
          <p:cNvPr id="3" name="テキスト プレースホルダー 2"/>
          <p:cNvSpPr>
            <a:spLocks noGrp="1"/>
          </p:cNvSpPr>
          <p:nvPr>
            <p:ph type="body" sz="quarter" idx="10"/>
          </p:nvPr>
        </p:nvSpPr>
        <p:spPr>
          <a:xfrm>
            <a:off x="611956" y="1088974"/>
            <a:ext cx="8280092" cy="2250025"/>
          </a:xfrm>
        </p:spPr>
        <p:txBody>
          <a:bodyPr/>
          <a:lstStyle/>
          <a:p>
            <a:r>
              <a:rPr lang="en-US" altLang="ja-JP" dirty="0" err="1"/>
              <a:t>ld_inc</a:t>
            </a:r>
            <a:r>
              <a:rPr lang="en-US" altLang="ja-JP" dirty="0"/>
              <a:t> [rs1]+1</a:t>
            </a:r>
            <a:r>
              <a:rPr lang="ja-JP" altLang="en-US" dirty="0"/>
              <a:t>→</a:t>
            </a:r>
            <a:r>
              <a:rPr lang="en-US" altLang="ja-JP" dirty="0" err="1"/>
              <a:t>rd</a:t>
            </a:r>
            <a:r>
              <a:rPr lang="en-US" altLang="ja-JP" dirty="0"/>
              <a:t>  </a:t>
            </a:r>
            <a:r>
              <a:rPr lang="ja-JP" altLang="en-US" dirty="0"/>
              <a:t>と </a:t>
            </a:r>
            <a:r>
              <a:rPr lang="en-US" altLang="ja-JP" dirty="0"/>
              <a:t>add </a:t>
            </a:r>
            <a:r>
              <a:rPr lang="ja-JP" altLang="en-US" dirty="0"/>
              <a:t>が連続した場合：</a:t>
            </a:r>
            <a:endParaRPr lang="en-US" altLang="ja-JP" dirty="0"/>
          </a:p>
          <a:p>
            <a:pPr lvl="1"/>
            <a:r>
              <a:rPr lang="en-US" altLang="ja-JP" dirty="0" err="1"/>
              <a:t>ld_inc</a:t>
            </a:r>
            <a:r>
              <a:rPr lang="en-US" altLang="ja-JP" dirty="0"/>
              <a:t> </a:t>
            </a:r>
            <a:r>
              <a:rPr lang="ja-JP" altLang="en-US" dirty="0"/>
              <a:t>で，</a:t>
            </a:r>
            <a:r>
              <a:rPr lang="en-US" altLang="ja-JP" dirty="0"/>
              <a:t>MEM </a:t>
            </a:r>
            <a:r>
              <a:rPr lang="ja-JP" altLang="en-US" dirty="0"/>
              <a:t>ステージから読んだ値を加算しようとしても，</a:t>
            </a:r>
            <a:endParaRPr lang="en-US" altLang="ja-JP" dirty="0"/>
          </a:p>
          <a:p>
            <a:pPr lvl="1"/>
            <a:r>
              <a:rPr lang="ja-JP" altLang="en-US" dirty="0"/>
              <a:t>そのサイクルは後続の </a:t>
            </a:r>
            <a:r>
              <a:rPr lang="en-US" altLang="ja-JP" dirty="0"/>
              <a:t>add </a:t>
            </a:r>
            <a:r>
              <a:rPr lang="ja-JP" altLang="en-US" dirty="0"/>
              <a:t>が演算器を使っているので使用できない</a:t>
            </a:r>
            <a:endParaRPr lang="en-US" altLang="ja-JP" dirty="0"/>
          </a:p>
        </p:txBody>
      </p:sp>
      <p:cxnSp>
        <p:nvCxnSpPr>
          <p:cNvPr id="4" name="直線コネクタ 3"/>
          <p:cNvCxnSpPr/>
          <p:nvPr/>
        </p:nvCxnSpPr>
        <p:spPr bwMode="auto">
          <a:xfrm>
            <a:off x="2951982" y="4329010"/>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角丸四角形 4"/>
          <p:cNvSpPr/>
          <p:nvPr/>
        </p:nvSpPr>
        <p:spPr bwMode="auto">
          <a:xfrm>
            <a:off x="1857490" y="4184850"/>
            <a:ext cx="11523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b="1" dirty="0" err="1">
                <a:latin typeface="Courier New" panose="02070309020205020404" pitchFamily="49" charset="0"/>
                <a:cs typeface="Courier New" panose="02070309020205020404" pitchFamily="49" charset="0"/>
              </a:rPr>
              <a:t>ld_inc</a:t>
            </a:r>
            <a:endParaRPr kumimoji="1" lang="ja-JP" altLang="en-US" b="1" dirty="0">
              <a:latin typeface="Courier New" panose="02070309020205020404" pitchFamily="49" charset="0"/>
              <a:cs typeface="Courier New" panose="02070309020205020404" pitchFamily="49" charset="0"/>
            </a:endParaRPr>
          </a:p>
        </p:txBody>
      </p:sp>
      <p:sp>
        <p:nvSpPr>
          <p:cNvPr id="6" name="角丸四角形 5"/>
          <p:cNvSpPr/>
          <p:nvPr/>
        </p:nvSpPr>
        <p:spPr bwMode="auto">
          <a:xfrm>
            <a:off x="1857490" y="4904858"/>
            <a:ext cx="11523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b="1" dirty="0">
                <a:latin typeface="Courier New" panose="02070309020205020404" pitchFamily="49" charset="0"/>
                <a:cs typeface="Courier New" panose="02070309020205020404" pitchFamily="49" charset="0"/>
              </a:rPr>
              <a:t>add</a:t>
            </a:r>
            <a:endParaRPr kumimoji="1" lang="ja-JP" altLang="en-US" b="1" dirty="0">
              <a:latin typeface="Courier New" panose="02070309020205020404" pitchFamily="49" charset="0"/>
              <a:cs typeface="Courier New" panose="02070309020205020404" pitchFamily="49" charset="0"/>
            </a:endParaRPr>
          </a:p>
        </p:txBody>
      </p:sp>
      <p:cxnSp>
        <p:nvCxnSpPr>
          <p:cNvPr id="7" name="直線コネクタ 6"/>
          <p:cNvCxnSpPr>
            <a:endCxn id="15" idx="1"/>
          </p:cNvCxnSpPr>
          <p:nvPr/>
        </p:nvCxnSpPr>
        <p:spPr bwMode="auto">
          <a:xfrm>
            <a:off x="3027503" y="5084860"/>
            <a:ext cx="1080012" cy="2"/>
          </a:xfrm>
          <a:prstGeom prst="line">
            <a:avLst/>
          </a:prstGeom>
          <a:noFill/>
          <a:ln w="9525" cap="flat" cmpd="sng" algn="ctr">
            <a:solidFill>
              <a:schemeClr val="tx1"/>
            </a:solidFill>
            <a:prstDash val="dash"/>
            <a:round/>
            <a:headEnd type="none" w="med" len="med"/>
            <a:tailEnd type="none" w="med" len="med"/>
          </a:ln>
          <a:effectLst/>
        </p:spPr>
      </p:cxnSp>
      <p:grpSp>
        <p:nvGrpSpPr>
          <p:cNvPr id="8" name="グループ化 7"/>
          <p:cNvGrpSpPr/>
          <p:nvPr/>
        </p:nvGrpSpPr>
        <p:grpSpPr>
          <a:xfrm>
            <a:off x="3657510" y="4184850"/>
            <a:ext cx="2160020" cy="360000"/>
            <a:chOff x="4481999" y="4959017"/>
            <a:chExt cx="2160020" cy="360000"/>
          </a:xfrm>
        </p:grpSpPr>
        <p:sp>
          <p:nvSpPr>
            <p:cNvPr id="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2"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3"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grpSp>
        <p:nvGrpSpPr>
          <p:cNvPr id="14" name="グループ化 13"/>
          <p:cNvGrpSpPr/>
          <p:nvPr/>
        </p:nvGrpSpPr>
        <p:grpSpPr>
          <a:xfrm>
            <a:off x="4107515" y="4904862"/>
            <a:ext cx="2160020" cy="360000"/>
            <a:chOff x="4481999" y="4959017"/>
            <a:chExt cx="2160020" cy="360000"/>
          </a:xfrm>
        </p:grpSpPr>
        <p:sp>
          <p:nvSpPr>
            <p:cNvPr id="15"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6"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7"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8"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9"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grpSp>
      <p:sp>
        <p:nvSpPr>
          <p:cNvPr id="20" name="角丸四角形 19"/>
          <p:cNvSpPr/>
          <p:nvPr/>
        </p:nvSpPr>
        <p:spPr bwMode="auto">
          <a:xfrm>
            <a:off x="4962128" y="4004848"/>
            <a:ext cx="450005" cy="1440016"/>
          </a:xfrm>
          <a:prstGeom prst="roundRect">
            <a:avLst/>
          </a:prstGeom>
          <a:no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725545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ld_inc</a:t>
            </a:r>
            <a:r>
              <a:rPr lang="en-US" altLang="ja-JP" dirty="0"/>
              <a:t> [rs1]+1</a:t>
            </a:r>
            <a:r>
              <a:rPr lang="ja-JP" altLang="en-US" dirty="0"/>
              <a:t>→</a:t>
            </a:r>
            <a:r>
              <a:rPr lang="en-US" altLang="ja-JP" dirty="0" err="1"/>
              <a:t>rd</a:t>
            </a:r>
            <a:r>
              <a:rPr lang="en-US" altLang="ja-JP" dirty="0"/>
              <a:t>  </a:t>
            </a:r>
            <a:r>
              <a:rPr lang="ja-JP" altLang="en-US" dirty="0"/>
              <a:t>と </a:t>
            </a:r>
            <a:r>
              <a:rPr lang="en-US" altLang="ja-JP" dirty="0"/>
              <a:t>add </a:t>
            </a:r>
            <a:r>
              <a:rPr lang="ja-JP" altLang="en-US" dirty="0"/>
              <a:t>が連続した場合</a:t>
            </a:r>
            <a:endParaRPr kumimoji="1" lang="ja-JP" altLang="en-US" dirty="0"/>
          </a:p>
        </p:txBody>
      </p:sp>
      <p:sp>
        <p:nvSpPr>
          <p:cNvPr id="3" name="テキスト プレースホルダー 2"/>
          <p:cNvSpPr>
            <a:spLocks noGrp="1"/>
          </p:cNvSpPr>
          <p:nvPr>
            <p:ph type="body" sz="quarter" idx="10"/>
          </p:nvPr>
        </p:nvSpPr>
        <p:spPr>
          <a:xfrm>
            <a:off x="611956" y="5589024"/>
            <a:ext cx="8280092" cy="719701"/>
          </a:xfrm>
        </p:spPr>
        <p:txBody>
          <a:bodyPr/>
          <a:lstStyle/>
          <a:p>
            <a:r>
              <a:rPr lang="ja-JP" altLang="en-US" dirty="0"/>
              <a:t>命令は </a:t>
            </a:r>
            <a:r>
              <a:rPr lang="en-US" altLang="ja-JP" dirty="0"/>
              <a:t>EX </a:t>
            </a:r>
            <a:r>
              <a:rPr lang="ja-JP" altLang="en-US" dirty="0"/>
              <a:t>ステージ以外では，演算器にはアクセスできない</a:t>
            </a:r>
            <a:endParaRPr lang="en-US" altLang="ja-JP" dirty="0"/>
          </a:p>
          <a:p>
            <a:pPr lvl="1"/>
            <a:r>
              <a:rPr kumimoji="1" lang="ja-JP" altLang="en-US" dirty="0"/>
              <a:t>そうしないと，他の命令の </a:t>
            </a:r>
            <a:r>
              <a:rPr kumimoji="1" lang="en-US" altLang="ja-JP" dirty="0"/>
              <a:t>EX </a:t>
            </a:r>
            <a:r>
              <a:rPr kumimoji="1" lang="ja-JP" altLang="en-US" dirty="0"/>
              <a:t>ステージとかち合ってしまう</a:t>
            </a:r>
          </a:p>
        </p:txBody>
      </p:sp>
      <p:sp>
        <p:nvSpPr>
          <p:cNvPr id="4" name="正方形/長方形 3"/>
          <p:cNvSpPr/>
          <p:nvPr/>
        </p:nvSpPr>
        <p:spPr bwMode="auto">
          <a:xfrm>
            <a:off x="971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313198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732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5022006" y="3068994"/>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251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611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791958" y="2258984"/>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1061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881958"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71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1511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71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2411975"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Freeform 10"/>
          <p:cNvSpPr>
            <a:spLocks/>
          </p:cNvSpPr>
          <p:nvPr/>
        </p:nvSpPr>
        <p:spPr bwMode="auto">
          <a:xfrm flipV="1">
            <a:off x="2951982" y="3248994"/>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8" name="直線矢印コネクタ 17"/>
          <p:cNvCxnSpPr/>
          <p:nvPr/>
        </p:nvCxnSpPr>
        <p:spPr bwMode="auto">
          <a:xfrm>
            <a:off x="2951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19" name="直線矢印コネクタ 18"/>
          <p:cNvCxnSpPr/>
          <p:nvPr/>
        </p:nvCxnSpPr>
        <p:spPr bwMode="auto">
          <a:xfrm>
            <a:off x="2951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0" name="Freeform 10"/>
          <p:cNvSpPr>
            <a:spLocks/>
          </p:cNvSpPr>
          <p:nvPr/>
        </p:nvSpPr>
        <p:spPr bwMode="auto">
          <a:xfrm>
            <a:off x="2951982" y="2258987"/>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1" name="Freeform 10"/>
          <p:cNvSpPr>
            <a:spLocks/>
          </p:cNvSpPr>
          <p:nvPr/>
        </p:nvSpPr>
        <p:spPr bwMode="auto">
          <a:xfrm rot="10800000" flipH="1">
            <a:off x="8352038" y="2708991"/>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2" name="直線矢印コネクタ 21"/>
          <p:cNvCxnSpPr/>
          <p:nvPr/>
        </p:nvCxnSpPr>
        <p:spPr bwMode="auto">
          <a:xfrm>
            <a:off x="8172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23" name="直線矢印コネクタ 22"/>
          <p:cNvCxnSpPr/>
          <p:nvPr/>
        </p:nvCxnSpPr>
        <p:spPr bwMode="auto">
          <a:xfrm>
            <a:off x="6012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24" name="直線矢印コネクタ 23"/>
          <p:cNvCxnSpPr/>
          <p:nvPr/>
        </p:nvCxnSpPr>
        <p:spPr bwMode="auto">
          <a:xfrm>
            <a:off x="4572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25" name="直線矢印コネクタ 24"/>
          <p:cNvCxnSpPr/>
          <p:nvPr/>
        </p:nvCxnSpPr>
        <p:spPr bwMode="auto">
          <a:xfrm>
            <a:off x="4572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26" name="正方形/長方形 25"/>
          <p:cNvSpPr/>
          <p:nvPr/>
        </p:nvSpPr>
        <p:spPr bwMode="auto">
          <a:xfrm>
            <a:off x="6732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データ・メモリ</a:t>
            </a:r>
          </a:p>
        </p:txBody>
      </p:sp>
      <p:sp>
        <p:nvSpPr>
          <p:cNvPr id="27" name="Freeform 10"/>
          <p:cNvSpPr>
            <a:spLocks/>
          </p:cNvSpPr>
          <p:nvPr/>
        </p:nvSpPr>
        <p:spPr bwMode="auto">
          <a:xfrm>
            <a:off x="5112004"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8" name="Freeform 10"/>
          <p:cNvSpPr>
            <a:spLocks/>
          </p:cNvSpPr>
          <p:nvPr/>
        </p:nvSpPr>
        <p:spPr bwMode="auto">
          <a:xfrm flipV="1">
            <a:off x="6552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flipV="1">
            <a:off x="6552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8532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31" name="直線矢印コネクタ 30"/>
          <p:cNvCxnSpPr>
            <a:endCxn id="20" idx="0"/>
          </p:cNvCxnSpPr>
          <p:nvPr/>
        </p:nvCxnSpPr>
        <p:spPr bwMode="auto">
          <a:xfrm flipH="1">
            <a:off x="2951982"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32" name="Freeform 10"/>
          <p:cNvSpPr>
            <a:spLocks/>
          </p:cNvSpPr>
          <p:nvPr/>
        </p:nvSpPr>
        <p:spPr bwMode="auto">
          <a:xfrm rot="10800000" flipH="1">
            <a:off x="6552022" y="2528986"/>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3" name="Freeform 10"/>
          <p:cNvSpPr>
            <a:spLocks/>
          </p:cNvSpPr>
          <p:nvPr/>
        </p:nvSpPr>
        <p:spPr bwMode="auto">
          <a:xfrm rot="5400000" flipH="1" flipV="1">
            <a:off x="8577044" y="2213985"/>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4" name="正方形/長方形 33"/>
          <p:cNvSpPr/>
          <p:nvPr/>
        </p:nvSpPr>
        <p:spPr bwMode="auto">
          <a:xfrm>
            <a:off x="521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4</a:t>
            </a:r>
            <a:endParaRPr kumimoji="1"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611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3041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4932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6912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647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40" name="グループ化 39"/>
          <p:cNvGrpSpPr/>
          <p:nvPr/>
        </p:nvGrpSpPr>
        <p:grpSpPr>
          <a:xfrm>
            <a:off x="2501977" y="3068996"/>
            <a:ext cx="360004" cy="720008"/>
            <a:chOff x="2411977" y="3068996"/>
            <a:chExt cx="360004" cy="720008"/>
          </a:xfrm>
        </p:grpSpPr>
        <p:sp>
          <p:nvSpPr>
            <p:cNvPr id="41" name="正方形/長方形 40"/>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42" name="二等辺三角形 41"/>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43" name="正方形/長方形 42"/>
          <p:cNvSpPr/>
          <p:nvPr/>
        </p:nvSpPr>
        <p:spPr bwMode="auto">
          <a:xfrm>
            <a:off x="4662001"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44" name="二等辺三角形 43"/>
          <p:cNvSpPr/>
          <p:nvPr/>
        </p:nvSpPr>
        <p:spPr bwMode="auto">
          <a:xfrm>
            <a:off x="475200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正方形/長方形 44"/>
          <p:cNvSpPr/>
          <p:nvPr/>
        </p:nvSpPr>
        <p:spPr bwMode="auto">
          <a:xfrm>
            <a:off x="6102017"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46" name="二等辺三角形 45"/>
          <p:cNvSpPr/>
          <p:nvPr/>
        </p:nvSpPr>
        <p:spPr bwMode="auto">
          <a:xfrm>
            <a:off x="6192017"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角丸四角形 46"/>
          <p:cNvSpPr/>
          <p:nvPr/>
        </p:nvSpPr>
        <p:spPr bwMode="auto">
          <a:xfrm>
            <a:off x="6462021" y="2258987"/>
            <a:ext cx="204174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err="1"/>
              <a:t>ld_inc</a:t>
            </a:r>
            <a:r>
              <a:rPr lang="en-US" altLang="ja-JP" dirty="0"/>
              <a:t> [rs1]+1</a:t>
            </a:r>
            <a:r>
              <a:rPr lang="ja-JP" altLang="en-US" dirty="0"/>
              <a:t>→</a:t>
            </a:r>
            <a:r>
              <a:rPr lang="en-US" altLang="ja-JP" dirty="0" err="1"/>
              <a:t>rd</a:t>
            </a:r>
            <a:r>
              <a:rPr lang="en-US" altLang="ja-JP" dirty="0"/>
              <a:t>  </a:t>
            </a:r>
            <a:endParaRPr kumimoji="1" lang="ja-JP" altLang="en-US" dirty="0">
              <a:latin typeface="Arial Narrow" panose="020B0606020202030204" pitchFamily="34" charset="0"/>
            </a:endParaRPr>
          </a:p>
        </p:txBody>
      </p:sp>
      <p:sp>
        <p:nvSpPr>
          <p:cNvPr id="53" name="角丸四角形 52"/>
          <p:cNvSpPr/>
          <p:nvPr/>
        </p:nvSpPr>
        <p:spPr bwMode="auto">
          <a:xfrm>
            <a:off x="5112006" y="2258987"/>
            <a:ext cx="90001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t>add</a:t>
            </a:r>
            <a:endParaRPr kumimoji="1" lang="ja-JP" altLang="en-US" dirty="0">
              <a:latin typeface="Arial Narrow" panose="020B0606020202030204" pitchFamily="34" charset="0"/>
            </a:endParaRPr>
          </a:p>
        </p:txBody>
      </p:sp>
    </p:spTree>
    <p:extLst>
      <p:ext uri="{BB962C8B-B14F-4D97-AF65-F5344CB8AC3E}">
        <p14:creationId xmlns:p14="http://schemas.microsoft.com/office/powerpoint/2010/main" val="575901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構造ハザードの解決方法</a:t>
            </a:r>
          </a:p>
        </p:txBody>
      </p:sp>
      <p:sp>
        <p:nvSpPr>
          <p:cNvPr id="3" name="テキスト プレースホルダー 2"/>
          <p:cNvSpPr>
            <a:spLocks noGrp="1"/>
          </p:cNvSpPr>
          <p:nvPr>
            <p:ph type="body" sz="quarter" idx="10"/>
          </p:nvPr>
        </p:nvSpPr>
        <p:spPr/>
        <p:txBody>
          <a:bodyPr/>
          <a:lstStyle/>
          <a:p>
            <a:r>
              <a:rPr kumimoji="1" lang="ja-JP" altLang="en-US" dirty="0"/>
              <a:t>解決方法</a:t>
            </a:r>
            <a:endParaRPr kumimoji="1" lang="en-US" altLang="ja-JP" dirty="0"/>
          </a:p>
          <a:p>
            <a:pPr marL="817200" lvl="1" indent="-457200">
              <a:buFont typeface="+mj-lt"/>
              <a:buAutoNum type="arabicPeriod"/>
            </a:pPr>
            <a:r>
              <a:rPr kumimoji="1" lang="ja-JP" altLang="en-US" dirty="0"/>
              <a:t>ハードウェアの増強</a:t>
            </a:r>
          </a:p>
          <a:p>
            <a:pPr marL="817200" lvl="1" indent="-457200">
              <a:buFont typeface="+mj-lt"/>
              <a:buAutoNum type="arabicPeriod"/>
            </a:pPr>
            <a:r>
              <a:rPr kumimoji="1" lang="ja-JP" altLang="en-US" dirty="0"/>
              <a:t>時分割処理</a:t>
            </a:r>
            <a:endParaRPr kumimoji="1" lang="en-US" altLang="ja-JP" dirty="0"/>
          </a:p>
        </p:txBody>
      </p:sp>
    </p:spTree>
    <p:extLst>
      <p:ext uri="{BB962C8B-B14F-4D97-AF65-F5344CB8AC3E}">
        <p14:creationId xmlns:p14="http://schemas.microsoft.com/office/powerpoint/2010/main" val="3009723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解決方法１：ハードウェアの増強</a:t>
            </a:r>
          </a:p>
        </p:txBody>
      </p:sp>
      <p:sp>
        <p:nvSpPr>
          <p:cNvPr id="3" name="テキスト プレースホルダー 2"/>
          <p:cNvSpPr>
            <a:spLocks noGrp="1"/>
          </p:cNvSpPr>
          <p:nvPr>
            <p:ph type="body" sz="quarter" idx="10"/>
          </p:nvPr>
        </p:nvSpPr>
        <p:spPr/>
        <p:txBody>
          <a:bodyPr/>
          <a:lstStyle/>
          <a:p>
            <a:r>
              <a:rPr kumimoji="1" lang="ja-JP" altLang="en-US" dirty="0"/>
              <a:t>ハードウェアを増強する</a:t>
            </a:r>
            <a:br>
              <a:rPr kumimoji="1" lang="en-US" altLang="ja-JP" dirty="0"/>
            </a:br>
            <a:endParaRPr kumimoji="1" lang="en-US" altLang="ja-JP" dirty="0"/>
          </a:p>
          <a:p>
            <a:pPr lvl="1"/>
            <a:r>
              <a:rPr lang="en-US" altLang="ja-JP" dirty="0" err="1"/>
              <a:t>mov</a:t>
            </a:r>
            <a:r>
              <a:rPr lang="en-US" altLang="ja-JP" dirty="0"/>
              <a:t> [rs1]</a:t>
            </a:r>
            <a:r>
              <a:rPr lang="ja-JP" altLang="en-US" dirty="0"/>
              <a:t>→</a:t>
            </a:r>
            <a:r>
              <a:rPr lang="en-US" altLang="ja-JP" dirty="0"/>
              <a:t>[rs2]</a:t>
            </a:r>
          </a:p>
          <a:p>
            <a:pPr lvl="2"/>
            <a:r>
              <a:rPr lang="ja-JP" altLang="en-US" dirty="0"/>
              <a:t>複数箇所のメモリを同時に読み書きできるように</a:t>
            </a:r>
            <a:endParaRPr lang="en-US" altLang="ja-JP" dirty="0"/>
          </a:p>
          <a:p>
            <a:pPr lvl="2"/>
            <a:endParaRPr lang="en-US" altLang="ja-JP" dirty="0"/>
          </a:p>
          <a:p>
            <a:pPr lvl="1"/>
            <a:r>
              <a:rPr kumimoji="1" lang="en-US" altLang="ja-JP" dirty="0"/>
              <a:t>pop</a:t>
            </a:r>
          </a:p>
          <a:p>
            <a:pPr lvl="2"/>
            <a:r>
              <a:rPr kumimoji="1" lang="ja-JP" altLang="en-US" dirty="0"/>
              <a:t>レジスタに２つ同時に書き込めるように</a:t>
            </a:r>
            <a:endParaRPr kumimoji="1" lang="en-US" altLang="ja-JP" dirty="0"/>
          </a:p>
          <a:p>
            <a:pPr lvl="2"/>
            <a:endParaRPr kumimoji="1" lang="en-US" altLang="ja-JP" dirty="0"/>
          </a:p>
          <a:p>
            <a:pPr lvl="1"/>
            <a:r>
              <a:rPr lang="en-US" altLang="ja-JP" dirty="0" err="1"/>
              <a:t>ld_inc</a:t>
            </a:r>
            <a:r>
              <a:rPr lang="en-US" altLang="ja-JP" dirty="0"/>
              <a:t> [rs1]+1</a:t>
            </a:r>
            <a:r>
              <a:rPr lang="ja-JP" altLang="en-US" dirty="0"/>
              <a:t>→</a:t>
            </a:r>
            <a:r>
              <a:rPr lang="en-US" altLang="ja-JP" dirty="0" err="1"/>
              <a:t>rd</a:t>
            </a:r>
            <a:r>
              <a:rPr lang="en-US" altLang="ja-JP" dirty="0"/>
              <a:t>  </a:t>
            </a:r>
          </a:p>
          <a:p>
            <a:pPr lvl="2"/>
            <a:r>
              <a:rPr lang="en-US" altLang="ja-JP" dirty="0">
                <a:latin typeface="Arial Narrow" panose="020B0606020202030204" pitchFamily="34" charset="0"/>
              </a:rPr>
              <a:t>MEM </a:t>
            </a:r>
            <a:r>
              <a:rPr lang="ja-JP" altLang="en-US" dirty="0">
                <a:latin typeface="Arial Narrow" panose="020B0606020202030204" pitchFamily="34" charset="0"/>
              </a:rPr>
              <a:t>ステージに専用の加算器を追加</a:t>
            </a:r>
            <a:endParaRPr kumimoji="1" lang="ja-JP" altLang="en-US" dirty="0"/>
          </a:p>
        </p:txBody>
      </p:sp>
    </p:spTree>
    <p:extLst>
      <p:ext uri="{BB962C8B-B14F-4D97-AF65-F5344CB8AC3E}">
        <p14:creationId xmlns:p14="http://schemas.microsoft.com/office/powerpoint/2010/main" val="3713780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解決方法１：ハードウェアの増強</a:t>
            </a:r>
          </a:p>
        </p:txBody>
      </p:sp>
      <p:sp>
        <p:nvSpPr>
          <p:cNvPr id="3" name="テキスト プレースホルダー 2"/>
          <p:cNvSpPr>
            <a:spLocks noGrp="1"/>
          </p:cNvSpPr>
          <p:nvPr>
            <p:ph type="body" sz="quarter" idx="10"/>
          </p:nvPr>
        </p:nvSpPr>
        <p:spPr>
          <a:xfrm>
            <a:off x="251952" y="1088974"/>
            <a:ext cx="8640096" cy="5219751"/>
          </a:xfrm>
        </p:spPr>
        <p:txBody>
          <a:bodyPr/>
          <a:lstStyle/>
          <a:p>
            <a:r>
              <a:rPr kumimoji="1" lang="ja-JP" altLang="en-US" dirty="0"/>
              <a:t>利点：オーバーヘッドをいとわなければ，基本これで解決</a:t>
            </a:r>
            <a:endParaRPr kumimoji="1" lang="en-US" altLang="ja-JP" dirty="0"/>
          </a:p>
          <a:p>
            <a:r>
              <a:rPr kumimoji="1" lang="ja-JP" altLang="en-US" dirty="0"/>
              <a:t>欠点：回路規模が増える</a:t>
            </a:r>
            <a:br>
              <a:rPr kumimoji="1" lang="en-US" altLang="ja-JP" dirty="0"/>
            </a:br>
            <a:endParaRPr kumimoji="1" lang="en-US" altLang="ja-JP" dirty="0"/>
          </a:p>
          <a:p>
            <a:pPr marL="817200" lvl="1" indent="-457200">
              <a:buFont typeface="+mj-lt"/>
              <a:buAutoNum type="arabicPeriod"/>
            </a:pPr>
            <a:r>
              <a:rPr kumimoji="1" lang="ja-JP" altLang="en-US" dirty="0"/>
              <a:t>機能の増強量に比例した回路が必要</a:t>
            </a:r>
            <a:endParaRPr kumimoji="1" lang="en-US" altLang="ja-JP" dirty="0"/>
          </a:p>
          <a:p>
            <a:pPr lvl="2"/>
            <a:r>
              <a:rPr lang="ja-JP" altLang="en-US" dirty="0"/>
              <a:t>なにも考えないで対応していくと，ものすごい数の回路になる</a:t>
            </a:r>
            <a:endParaRPr kumimoji="1" lang="en-US" altLang="ja-JP" dirty="0"/>
          </a:p>
          <a:p>
            <a:pPr lvl="2"/>
            <a:r>
              <a:rPr kumimoji="1" lang="ja-JP" altLang="en-US" dirty="0"/>
              <a:t>例：</a:t>
            </a:r>
            <a:r>
              <a:rPr kumimoji="1" lang="en-US" altLang="ja-JP" dirty="0"/>
              <a:t>ARM </a:t>
            </a:r>
            <a:r>
              <a:rPr kumimoji="1" lang="ja-JP" altLang="en-US" dirty="0"/>
              <a:t>は全１６レジスタを一気にメモリに書ける命令がある</a:t>
            </a:r>
            <a:endParaRPr kumimoji="1" lang="en-US" altLang="ja-JP" dirty="0"/>
          </a:p>
          <a:p>
            <a:pPr lvl="2"/>
            <a:endParaRPr kumimoji="1" lang="en-US" altLang="ja-JP" dirty="0"/>
          </a:p>
          <a:p>
            <a:pPr marL="817200" lvl="1" indent="-457200">
              <a:buFont typeface="+mj-lt"/>
              <a:buAutoNum type="arabicPeriod"/>
            </a:pPr>
            <a:r>
              <a:rPr kumimoji="1" lang="ja-JP" altLang="en-US" dirty="0"/>
              <a:t>機能の増強量に対して，線形より大きなオーダーで回路規模が</a:t>
            </a:r>
            <a:br>
              <a:rPr kumimoji="1" lang="en-US" altLang="ja-JP" dirty="0"/>
            </a:br>
            <a:r>
              <a:rPr kumimoji="1" lang="ja-JP" altLang="en-US" dirty="0"/>
              <a:t>増える場合もある</a:t>
            </a:r>
            <a:endParaRPr kumimoji="1" lang="en-US" altLang="ja-JP" dirty="0"/>
          </a:p>
          <a:p>
            <a:pPr lvl="2"/>
            <a:r>
              <a:rPr lang="ja-JP" altLang="en-US" dirty="0"/>
              <a:t>加算器などなら，増やした数の分だけ線形に回路が増える</a:t>
            </a:r>
          </a:p>
          <a:p>
            <a:pPr lvl="2"/>
            <a:r>
              <a:rPr kumimoji="1" lang="ja-JP" altLang="en-US" dirty="0">
                <a:solidFill>
                  <a:schemeClr val="accent5"/>
                </a:solidFill>
              </a:rPr>
              <a:t>メモリやレジスタは，同時に読み書きできる数の２乗で回路が大きくなる性質がある</a:t>
            </a:r>
            <a:endParaRPr kumimoji="1" lang="en-US" altLang="ja-JP" dirty="0">
              <a:solidFill>
                <a:schemeClr val="accent5"/>
              </a:solidFill>
            </a:endParaRPr>
          </a:p>
        </p:txBody>
      </p:sp>
    </p:spTree>
    <p:extLst>
      <p:ext uri="{BB962C8B-B14F-4D97-AF65-F5344CB8AC3E}">
        <p14:creationId xmlns:p14="http://schemas.microsoft.com/office/powerpoint/2010/main" val="2709897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構造ハザードの解決方法</a:t>
            </a:r>
          </a:p>
        </p:txBody>
      </p:sp>
      <p:sp>
        <p:nvSpPr>
          <p:cNvPr id="3" name="テキスト プレースホルダー 2"/>
          <p:cNvSpPr>
            <a:spLocks noGrp="1"/>
          </p:cNvSpPr>
          <p:nvPr>
            <p:ph type="body" sz="quarter" idx="10"/>
          </p:nvPr>
        </p:nvSpPr>
        <p:spPr/>
        <p:txBody>
          <a:bodyPr/>
          <a:lstStyle/>
          <a:p>
            <a:r>
              <a:rPr kumimoji="1" lang="ja-JP" altLang="en-US" dirty="0"/>
              <a:t>解決方法</a:t>
            </a:r>
            <a:endParaRPr kumimoji="1" lang="en-US" altLang="ja-JP" dirty="0"/>
          </a:p>
          <a:p>
            <a:pPr marL="817200" lvl="1" indent="-457200">
              <a:buFont typeface="+mj-lt"/>
              <a:buAutoNum type="arabicPeriod"/>
            </a:pPr>
            <a:r>
              <a:rPr kumimoji="1" lang="ja-JP" altLang="en-US" dirty="0"/>
              <a:t>ハードウェアの増強</a:t>
            </a:r>
            <a:endParaRPr kumimoji="1" lang="en-US" altLang="ja-JP" dirty="0"/>
          </a:p>
          <a:p>
            <a:pPr marL="817200" lvl="1" indent="-457200">
              <a:buFont typeface="+mj-lt"/>
              <a:buAutoNum type="arabicPeriod"/>
            </a:pPr>
            <a:r>
              <a:rPr kumimoji="1" lang="ja-JP" altLang="en-US" b="1" dirty="0"/>
              <a:t>時分割処理</a:t>
            </a:r>
            <a:endParaRPr kumimoji="1" lang="ja-JP" altLang="en-US" dirty="0"/>
          </a:p>
        </p:txBody>
      </p:sp>
    </p:spTree>
    <p:extLst>
      <p:ext uri="{BB962C8B-B14F-4D97-AF65-F5344CB8AC3E}">
        <p14:creationId xmlns:p14="http://schemas.microsoft.com/office/powerpoint/2010/main" val="3790353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解決方法２：時分割で処理</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構造ハザードの原因：</a:t>
            </a:r>
            <a:endParaRPr kumimoji="1" lang="en-US" altLang="ja-JP" dirty="0"/>
          </a:p>
          <a:p>
            <a:pPr lvl="1"/>
            <a:r>
              <a:rPr kumimoji="1" lang="ja-JP" altLang="en-US" dirty="0"/>
              <a:t>ハードウェア（の機能）が足りない</a:t>
            </a:r>
            <a:endParaRPr kumimoji="1" lang="en-US" altLang="ja-JP" dirty="0"/>
          </a:p>
          <a:p>
            <a:r>
              <a:rPr kumimoji="1" lang="ja-JP" altLang="en-US" dirty="0">
                <a:solidFill>
                  <a:schemeClr val="accent5"/>
                </a:solidFill>
              </a:rPr>
              <a:t>パイプラインを止めて</a:t>
            </a:r>
            <a:r>
              <a:rPr kumimoji="1" lang="ja-JP" altLang="en-US" dirty="0"/>
              <a:t>，複数のサイクルをかけて処理する</a:t>
            </a:r>
            <a:endParaRPr kumimoji="1" lang="en-US" altLang="ja-JP" dirty="0"/>
          </a:p>
          <a:p>
            <a:pPr lvl="1"/>
            <a:r>
              <a:rPr lang="en-US" altLang="ja-JP" dirty="0" err="1"/>
              <a:t>mov</a:t>
            </a:r>
            <a:r>
              <a:rPr lang="en-US" altLang="ja-JP" dirty="0"/>
              <a:t> [rs1]</a:t>
            </a:r>
            <a:r>
              <a:rPr lang="ja-JP" altLang="en-US" dirty="0"/>
              <a:t>→</a:t>
            </a:r>
            <a:r>
              <a:rPr lang="en-US" altLang="ja-JP" dirty="0"/>
              <a:t>[rs2]</a:t>
            </a:r>
          </a:p>
          <a:p>
            <a:pPr lvl="2"/>
            <a:r>
              <a:rPr lang="ja-JP" altLang="en-US" dirty="0"/>
              <a:t>メモリを読んだあと，次のサイクルで書きこむ</a:t>
            </a:r>
            <a:endParaRPr lang="en-US" altLang="ja-JP" dirty="0"/>
          </a:p>
          <a:p>
            <a:pPr lvl="2"/>
            <a:endParaRPr lang="en-US" altLang="ja-JP" dirty="0"/>
          </a:p>
          <a:p>
            <a:pPr lvl="1"/>
            <a:r>
              <a:rPr lang="en-US" altLang="ja-JP" dirty="0"/>
              <a:t>pop</a:t>
            </a:r>
          </a:p>
          <a:p>
            <a:pPr lvl="2"/>
            <a:r>
              <a:rPr lang="ja-JP" altLang="en-US" dirty="0"/>
              <a:t>１つレジスタに書いたあと，次のサイクルで書き込む</a:t>
            </a:r>
            <a:endParaRPr lang="en-US" altLang="ja-JP" dirty="0"/>
          </a:p>
          <a:p>
            <a:pPr lvl="2"/>
            <a:endParaRPr lang="en-US" altLang="ja-JP" dirty="0"/>
          </a:p>
          <a:p>
            <a:pPr lvl="1"/>
            <a:r>
              <a:rPr lang="en-US" altLang="ja-JP" dirty="0" err="1"/>
              <a:t>ld_inc</a:t>
            </a:r>
            <a:r>
              <a:rPr lang="en-US" altLang="ja-JP" dirty="0"/>
              <a:t> [rs1]+1</a:t>
            </a:r>
            <a:r>
              <a:rPr lang="ja-JP" altLang="en-US" dirty="0"/>
              <a:t>→</a:t>
            </a:r>
            <a:r>
              <a:rPr lang="en-US" altLang="ja-JP" dirty="0" err="1"/>
              <a:t>rd</a:t>
            </a:r>
            <a:r>
              <a:rPr lang="en-US" altLang="ja-JP" dirty="0"/>
              <a:t>  </a:t>
            </a:r>
          </a:p>
          <a:p>
            <a:pPr lvl="2"/>
            <a:r>
              <a:rPr kumimoji="1" lang="en-US" altLang="ja-JP" dirty="0" err="1"/>
              <a:t>ld_inc</a:t>
            </a:r>
            <a:r>
              <a:rPr kumimoji="1" lang="en-US" altLang="ja-JP" dirty="0"/>
              <a:t> </a:t>
            </a:r>
            <a:r>
              <a:rPr kumimoji="1" lang="ja-JP" altLang="en-US" dirty="0"/>
              <a:t>が </a:t>
            </a:r>
            <a:r>
              <a:rPr kumimoji="1" lang="en-US" altLang="ja-JP" dirty="0"/>
              <a:t>MEM </a:t>
            </a:r>
            <a:r>
              <a:rPr kumimoji="1" lang="ja-JP" altLang="en-US" dirty="0"/>
              <a:t>で値を読んだら，次のサイクルで </a:t>
            </a:r>
            <a:r>
              <a:rPr kumimoji="1" lang="en-US" altLang="ja-JP" dirty="0"/>
              <a:t>+1</a:t>
            </a:r>
            <a:endParaRPr kumimoji="1" lang="ja-JP" altLang="en-US" dirty="0"/>
          </a:p>
        </p:txBody>
      </p:sp>
    </p:spTree>
    <p:extLst>
      <p:ext uri="{BB962C8B-B14F-4D97-AF65-F5344CB8AC3E}">
        <p14:creationId xmlns:p14="http://schemas.microsoft.com/office/powerpoint/2010/main" val="368360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なぜパイプラインを止めるのか</a:t>
            </a:r>
          </a:p>
        </p:txBody>
      </p:sp>
      <p:sp>
        <p:nvSpPr>
          <p:cNvPr id="3" name="テキスト プレースホルダー 2"/>
          <p:cNvSpPr>
            <a:spLocks noGrp="1"/>
          </p:cNvSpPr>
          <p:nvPr>
            <p:ph type="body" sz="quarter" idx="10"/>
          </p:nvPr>
        </p:nvSpPr>
        <p:spPr>
          <a:xfrm>
            <a:off x="611956" y="4869016"/>
            <a:ext cx="8280092" cy="719701"/>
          </a:xfrm>
        </p:spPr>
        <p:txBody>
          <a:bodyPr/>
          <a:lstStyle/>
          <a:p>
            <a:r>
              <a:rPr lang="ja-JP" altLang="en-US" dirty="0"/>
              <a:t>上流を止めないと破綻する</a:t>
            </a:r>
            <a:endParaRPr lang="en-US" altLang="ja-JP" dirty="0"/>
          </a:p>
          <a:p>
            <a:pPr lvl="1"/>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が複数サイクルをかけて仕事をしている場合，</a:t>
            </a:r>
            <a:br>
              <a:rPr lang="en-US" altLang="ja-JP" dirty="0"/>
            </a:br>
            <a:r>
              <a:rPr lang="ja-JP" altLang="en-US" dirty="0"/>
              <a:t>命令はそこにとどまり続ける</a:t>
            </a:r>
            <a:endParaRPr lang="en-US" altLang="ja-JP" dirty="0"/>
          </a:p>
          <a:p>
            <a:pPr lvl="1"/>
            <a:r>
              <a:rPr lang="ja-JP" altLang="en-US" dirty="0"/>
              <a:t>その間は上流をとめないと命令をおく場所がないし，</a:t>
            </a:r>
            <a:br>
              <a:rPr lang="en-US" altLang="ja-JP" dirty="0"/>
            </a:br>
            <a:r>
              <a:rPr lang="ja-JP" altLang="en-US" dirty="0"/>
              <a:t>依存関係がまもられない</a:t>
            </a:r>
            <a:endPar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より</a:t>
            </a:r>
            <a:r>
              <a:rPr kumimoji="1" lang="ja-JP" altLang="en-US" dirty="0"/>
              <a:t>下流は流れていっても，この場合は問題ない</a:t>
            </a:r>
            <a:endParaRPr kumimoji="1" lang="en-US" altLang="ja-JP" dirty="0"/>
          </a:p>
        </p:txBody>
      </p:sp>
      <p:grpSp>
        <p:nvGrpSpPr>
          <p:cNvPr id="4" name="グループ化 3"/>
          <p:cNvGrpSpPr/>
          <p:nvPr/>
        </p:nvGrpSpPr>
        <p:grpSpPr>
          <a:xfrm>
            <a:off x="1601967" y="2618991"/>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7" name="グループ化 6"/>
          <p:cNvGrpSpPr/>
          <p:nvPr/>
        </p:nvGrpSpPr>
        <p:grpSpPr>
          <a:xfrm>
            <a:off x="3042127" y="2618991"/>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0" name="グループ化 9"/>
          <p:cNvGrpSpPr/>
          <p:nvPr/>
        </p:nvGrpSpPr>
        <p:grpSpPr>
          <a:xfrm>
            <a:off x="4482287" y="2618991"/>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3" name="グループ化 12"/>
          <p:cNvGrpSpPr/>
          <p:nvPr/>
        </p:nvGrpSpPr>
        <p:grpSpPr>
          <a:xfrm>
            <a:off x="5922447" y="2618991"/>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16" name="正方形/長方形 15"/>
          <p:cNvSpPr/>
          <p:nvPr/>
        </p:nvSpPr>
        <p:spPr>
          <a:xfrm>
            <a:off x="1563806" y="175444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3003966" y="1754448"/>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4446013" y="1773032"/>
            <a:ext cx="865983" cy="738664"/>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ﾀｲﾍﾝﾈ</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5886173" y="1773032"/>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ｼｮﾎﾞｰﾝ</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0" name="直線矢印コネクタ 19"/>
          <p:cNvCxnSpPr/>
          <p:nvPr/>
        </p:nvCxnSpPr>
        <p:spPr bwMode="auto">
          <a:xfrm>
            <a:off x="1601967" y="3429000"/>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1" name="角丸四角形 20"/>
          <p:cNvSpPr/>
          <p:nvPr/>
        </p:nvSpPr>
        <p:spPr bwMode="auto">
          <a:xfrm>
            <a:off x="3401987" y="252899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endParaRPr kumimoji="1" lang="ja-JP" altLang="en-US" dirty="0">
              <a:latin typeface="Arial Narrow" panose="020B0606020202030204" pitchFamily="34" charset="0"/>
            </a:endParaRPr>
          </a:p>
        </p:txBody>
      </p:sp>
      <p:sp>
        <p:nvSpPr>
          <p:cNvPr id="22" name="角丸四角形 21"/>
          <p:cNvSpPr/>
          <p:nvPr/>
        </p:nvSpPr>
        <p:spPr bwMode="auto">
          <a:xfrm>
            <a:off x="2051972" y="252899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endParaRPr kumimoji="1" lang="ja-JP" altLang="en-US" dirty="0">
              <a:latin typeface="Arial Narrow" panose="020B0606020202030204" pitchFamily="34" charset="0"/>
            </a:endParaRPr>
          </a:p>
        </p:txBody>
      </p:sp>
      <p:grpSp>
        <p:nvGrpSpPr>
          <p:cNvPr id="27" name="グループ化 26"/>
          <p:cNvGrpSpPr/>
          <p:nvPr/>
        </p:nvGrpSpPr>
        <p:grpSpPr>
          <a:xfrm>
            <a:off x="4932004" y="2528990"/>
            <a:ext cx="2160024" cy="360004"/>
            <a:chOff x="4932004" y="3068996"/>
            <a:chExt cx="2160024" cy="360004"/>
          </a:xfrm>
        </p:grpSpPr>
        <p:sp>
          <p:nvSpPr>
            <p:cNvPr id="23" name="角丸四角形 22"/>
            <p:cNvSpPr/>
            <p:nvPr/>
          </p:nvSpPr>
          <p:spPr bwMode="auto">
            <a:xfrm>
              <a:off x="4932004" y="306899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endParaRPr kumimoji="1" lang="ja-JP" altLang="en-US" dirty="0">
                <a:latin typeface="Arial Narrow" panose="020B0606020202030204" pitchFamily="34" charset="0"/>
              </a:endParaRPr>
            </a:p>
          </p:txBody>
        </p:sp>
        <p:sp>
          <p:nvSpPr>
            <p:cNvPr id="24" name="角丸四角形 23"/>
            <p:cNvSpPr/>
            <p:nvPr/>
          </p:nvSpPr>
          <p:spPr bwMode="auto">
            <a:xfrm>
              <a:off x="6372020" y="306899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endParaRPr kumimoji="1" lang="ja-JP" altLang="en-US" dirty="0">
                <a:latin typeface="Arial Narrow" panose="020B0606020202030204" pitchFamily="34" charset="0"/>
              </a:endParaRPr>
            </a:p>
          </p:txBody>
        </p:sp>
      </p:grpSp>
      <p:sp>
        <p:nvSpPr>
          <p:cNvPr id="25" name="角丸四角形吹き出し 24"/>
          <p:cNvSpPr/>
          <p:nvPr/>
        </p:nvSpPr>
        <p:spPr bwMode="auto">
          <a:xfrm>
            <a:off x="2051972" y="1088974"/>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うるせぇ</a:t>
            </a:r>
            <a:endParaRPr kumimoji="1" lang="en-US" altLang="ja-JP" sz="1400" dirty="0">
              <a:solidFill>
                <a:schemeClr val="tx1">
                  <a:lumMod val="65000"/>
                  <a:lumOff val="35000"/>
                </a:schemeClr>
              </a:solidFill>
              <a:latin typeface="Arial Narrow" panose="020B0606020202030204" pitchFamily="34" charset="0"/>
            </a:endParaRPr>
          </a:p>
          <a:p>
            <a:r>
              <a:rPr kumimoji="1" lang="ja-JP" altLang="en-US" sz="1400" dirty="0">
                <a:solidFill>
                  <a:schemeClr val="tx1">
                    <a:lumMod val="65000"/>
                    <a:lumOff val="35000"/>
                  </a:schemeClr>
                </a:solidFill>
                <a:latin typeface="Arial Narrow" panose="020B0606020202030204" pitchFamily="34" charset="0"/>
              </a:rPr>
              <a:t>命令ぶつけんぞ</a:t>
            </a:r>
          </a:p>
        </p:txBody>
      </p:sp>
      <p:sp>
        <p:nvSpPr>
          <p:cNvPr id="26" name="角丸四角形吹き出し 25"/>
          <p:cNvSpPr/>
          <p:nvPr/>
        </p:nvSpPr>
        <p:spPr bwMode="auto">
          <a:xfrm>
            <a:off x="3671990" y="1088974"/>
            <a:ext cx="1440016"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もうしばらく</a:t>
            </a:r>
            <a:endParaRPr kumimoji="1" lang="en-US" altLang="ja-JP" sz="1400" dirty="0">
              <a:solidFill>
                <a:schemeClr val="tx1">
                  <a:lumMod val="65000"/>
                  <a:lumOff val="35000"/>
                </a:schemeClr>
              </a:solidFill>
              <a:latin typeface="Arial Narrow" panose="020B0606020202030204" pitchFamily="34" charset="0"/>
            </a:endParaRPr>
          </a:p>
          <a:p>
            <a:r>
              <a:rPr kumimoji="1" lang="ja-JP" altLang="en-US" sz="1400" dirty="0">
                <a:solidFill>
                  <a:schemeClr val="tx1">
                    <a:lumMod val="65000"/>
                    <a:lumOff val="35000"/>
                  </a:schemeClr>
                </a:solidFill>
                <a:latin typeface="Arial Narrow" panose="020B0606020202030204" pitchFamily="34" charset="0"/>
              </a:rPr>
              <a:t>おまちください</a:t>
            </a:r>
          </a:p>
        </p:txBody>
      </p:sp>
    </p:spTree>
    <p:extLst>
      <p:ext uri="{BB962C8B-B14F-4D97-AF65-F5344CB8AC3E}">
        <p14:creationId xmlns:p14="http://schemas.microsoft.com/office/powerpoint/2010/main" val="2074875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2.59259E-6 L 0.15746 0.00023 " pathEditMode="relative" rAng="0" ptsTypes="AA">
                                      <p:cBhvr>
                                        <p:cTn id="6" dur="2000" fill="hold"/>
                                        <p:tgtEl>
                                          <p:spTgt spid="27"/>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パイプラインを止めること</a:t>
            </a:r>
          </a:p>
        </p:txBody>
      </p:sp>
      <p:sp>
        <p:nvSpPr>
          <p:cNvPr id="3" name="テキスト プレースホルダー 2"/>
          <p:cNvSpPr>
            <a:spLocks noGrp="1"/>
          </p:cNvSpPr>
          <p:nvPr>
            <p:ph type="body" sz="quarter" idx="10"/>
          </p:nvPr>
        </p:nvSpPr>
        <p:spPr>
          <a:xfrm>
            <a:off x="251952" y="1088974"/>
            <a:ext cx="8892048" cy="5219751"/>
          </a:xfrm>
        </p:spPr>
        <p:txBody>
          <a:bodyPr/>
          <a:lstStyle/>
          <a:p>
            <a:r>
              <a:rPr kumimoji="1" lang="ja-JP" altLang="en-US" dirty="0"/>
              <a:t>パイプラインを止めるとことを「</a:t>
            </a:r>
            <a:r>
              <a:rPr kumimoji="1" lang="ja-JP" altLang="en-US" dirty="0">
                <a:solidFill>
                  <a:schemeClr val="accent5"/>
                </a:solidFill>
              </a:rPr>
              <a:t>ストール</a:t>
            </a:r>
            <a:r>
              <a:rPr kumimoji="1" lang="ja-JP" altLang="en-US" dirty="0"/>
              <a:t>」や「</a:t>
            </a:r>
            <a:r>
              <a:rPr kumimoji="1" lang="ja-JP" altLang="en-US" dirty="0">
                <a:solidFill>
                  <a:schemeClr val="accent5"/>
                </a:solidFill>
              </a:rPr>
              <a:t>インターロック</a:t>
            </a:r>
            <a:r>
              <a:rPr kumimoji="1" lang="ja-JP" altLang="en-US" dirty="0"/>
              <a:t>」</a:t>
            </a:r>
            <a:br>
              <a:rPr kumimoji="1" lang="en-US" altLang="ja-JP" dirty="0"/>
            </a:br>
            <a:r>
              <a:rPr kumimoji="1" lang="ja-JP" altLang="en-US" dirty="0"/>
              <a:t>という</a:t>
            </a:r>
            <a:endParaRPr kumimoji="1" lang="en-US" altLang="ja-JP" dirty="0"/>
          </a:p>
          <a:p>
            <a:pPr lvl="1"/>
            <a:r>
              <a:rPr kumimoji="1" lang="ja-JP" altLang="en-US" dirty="0"/>
              <a:t>本や人によって，意味や使い方が微妙に統一されていない</a:t>
            </a:r>
            <a:endParaRPr lang="en-US" altLang="ja-JP" dirty="0"/>
          </a:p>
          <a:p>
            <a:pPr lvl="1"/>
            <a:r>
              <a:rPr kumimoji="1" lang="ja-JP" altLang="en-US" dirty="0"/>
              <a:t>この講義では，以降は</a:t>
            </a:r>
            <a:r>
              <a:rPr kumimoji="1" lang="ja-JP" altLang="en-US" dirty="0">
                <a:solidFill>
                  <a:schemeClr val="accent5"/>
                </a:solidFill>
              </a:rPr>
              <a:t>ストールで統一</a:t>
            </a:r>
            <a:endParaRPr kumimoji="1" lang="en-US" altLang="ja-JP" dirty="0">
              <a:solidFill>
                <a:schemeClr val="accent5"/>
              </a:solidFill>
            </a:endParaRPr>
          </a:p>
        </p:txBody>
      </p:sp>
    </p:spTree>
    <p:extLst>
      <p:ext uri="{BB962C8B-B14F-4D97-AF65-F5344CB8AC3E}">
        <p14:creationId xmlns:p14="http://schemas.microsoft.com/office/powerpoint/2010/main" val="312195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直線コネクタ 53"/>
          <p:cNvCxnSpPr/>
          <p:nvPr/>
        </p:nvCxnSpPr>
        <p:spPr bwMode="auto">
          <a:xfrm>
            <a:off x="1691968" y="1718981"/>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28" name="直線コネクタ 27"/>
          <p:cNvCxnSpPr/>
          <p:nvPr/>
        </p:nvCxnSpPr>
        <p:spPr bwMode="auto">
          <a:xfrm>
            <a:off x="1691968" y="126897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kumimoji="1" lang="ja-JP" altLang="en-US" dirty="0"/>
              <a:t>ストールの動作</a:t>
            </a:r>
          </a:p>
        </p:txBody>
      </p:sp>
      <p:sp>
        <p:nvSpPr>
          <p:cNvPr id="3" name="テキスト プレースホルダー 2"/>
          <p:cNvSpPr>
            <a:spLocks noGrp="1"/>
          </p:cNvSpPr>
          <p:nvPr>
            <p:ph type="body" sz="quarter" idx="10"/>
          </p:nvPr>
        </p:nvSpPr>
        <p:spPr>
          <a:xfrm>
            <a:off x="611956" y="4509012"/>
            <a:ext cx="8280092" cy="1799713"/>
          </a:xfrm>
        </p:spPr>
        <p:txBody>
          <a:bodyPr/>
          <a:lstStyle/>
          <a:p>
            <a:r>
              <a:rPr lang="en-US" altLang="ja-JP" dirty="0"/>
              <a:t>pop</a:t>
            </a:r>
            <a:r>
              <a:rPr lang="ja-JP" altLang="en-US" dirty="0"/>
              <a:t>：１つレジスタに書いたあと，次のサイクルで書き込む</a:t>
            </a:r>
            <a:endParaRPr lang="en-US" altLang="ja-JP" dirty="0"/>
          </a:p>
          <a:p>
            <a:pPr lvl="1"/>
            <a:r>
              <a:rPr lang="en-US" altLang="ja-JP" dirty="0"/>
              <a:t>WB1 </a:t>
            </a:r>
            <a:r>
              <a:rPr lang="ja-JP" altLang="en-US" dirty="0"/>
              <a:t>と </a:t>
            </a:r>
            <a:r>
              <a:rPr lang="en-US" altLang="ja-JP" dirty="0"/>
              <a:t>WB2 </a:t>
            </a:r>
            <a:r>
              <a:rPr lang="ja-JP" altLang="en-US" dirty="0"/>
              <a:t>の２サイクルで書き込む</a:t>
            </a:r>
            <a:endParaRPr lang="en-US" altLang="ja-JP" dirty="0"/>
          </a:p>
          <a:p>
            <a:pPr lvl="1"/>
            <a:r>
              <a:rPr lang="en-US" altLang="ja-JP" dirty="0"/>
              <a:t>WB2 </a:t>
            </a:r>
            <a:r>
              <a:rPr lang="ja-JP" altLang="en-US" dirty="0"/>
              <a:t>の間は上流を全て止める</a:t>
            </a:r>
            <a:endParaRPr lang="en-US" altLang="ja-JP" dirty="0"/>
          </a:p>
          <a:p>
            <a:r>
              <a:rPr kumimoji="1" lang="ja-JP" altLang="en-US" dirty="0"/>
              <a:t>パイプライン・チャート上では上記のようになる</a:t>
            </a:r>
            <a:endParaRPr kumimoji="1" lang="en-US" altLang="ja-JP" dirty="0"/>
          </a:p>
          <a:p>
            <a:pPr lvl="1"/>
            <a:r>
              <a:rPr kumimoji="1" lang="ja-JP" altLang="en-US" dirty="0"/>
              <a:t>止める原因の命令の下が全部右にずれる</a:t>
            </a:r>
            <a:endParaRPr kumimoji="1" lang="en-US" altLang="ja-JP" dirty="0"/>
          </a:p>
          <a:p>
            <a:pPr lvl="1"/>
            <a:r>
              <a:rPr kumimoji="1" lang="ja-JP" altLang="en-US" dirty="0"/>
              <a:t>ずれた部分の空き（</a:t>
            </a:r>
            <a:r>
              <a:rPr kumimoji="1" lang="en-US" altLang="ja-JP" dirty="0"/>
              <a:t>bb</a:t>
            </a:r>
            <a:r>
              <a:rPr kumimoji="1" lang="ja-JP" altLang="en-US" dirty="0"/>
              <a:t>）を「</a:t>
            </a:r>
            <a:r>
              <a:rPr kumimoji="1" lang="ja-JP" altLang="en-US" dirty="0">
                <a:solidFill>
                  <a:schemeClr val="accent5"/>
                </a:solidFill>
              </a:rPr>
              <a:t>バブル（</a:t>
            </a:r>
            <a:r>
              <a:rPr kumimoji="1" lang="en-US" altLang="ja-JP" b="1" u="sng" dirty="0">
                <a:solidFill>
                  <a:schemeClr val="accent5"/>
                </a:solidFill>
              </a:rPr>
              <a:t>b</a:t>
            </a:r>
            <a:r>
              <a:rPr kumimoji="1" lang="en-US" altLang="ja-JP" dirty="0">
                <a:solidFill>
                  <a:schemeClr val="accent5"/>
                </a:solidFill>
              </a:rPr>
              <a:t>u</a:t>
            </a:r>
            <a:r>
              <a:rPr kumimoji="1" lang="en-US" altLang="ja-JP" b="1" u="sng" dirty="0">
                <a:solidFill>
                  <a:schemeClr val="accent5"/>
                </a:solidFill>
              </a:rPr>
              <a:t>b</a:t>
            </a:r>
            <a:r>
              <a:rPr kumimoji="1" lang="en-US" altLang="ja-JP" dirty="0">
                <a:solidFill>
                  <a:schemeClr val="accent5"/>
                </a:solidFill>
              </a:rPr>
              <a:t>ble</a:t>
            </a:r>
            <a:r>
              <a:rPr kumimoji="1" lang="ja-JP" altLang="en-US" dirty="0">
                <a:solidFill>
                  <a:schemeClr val="accent5"/>
                </a:solidFill>
              </a:rPr>
              <a:t>）</a:t>
            </a:r>
            <a:r>
              <a:rPr kumimoji="1" lang="ja-JP" altLang="en-US" dirty="0"/>
              <a:t>」とよぶ</a:t>
            </a:r>
          </a:p>
        </p:txBody>
      </p:sp>
      <p:sp>
        <p:nvSpPr>
          <p:cNvPr id="11" name="Rectangle 69"/>
          <p:cNvSpPr>
            <a:spLocks noChangeArrowheads="1"/>
          </p:cNvSpPr>
          <p:nvPr/>
        </p:nvSpPr>
        <p:spPr bwMode="auto">
          <a:xfrm>
            <a:off x="223197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2" name="Rectangle 70"/>
          <p:cNvSpPr>
            <a:spLocks noChangeArrowheads="1"/>
          </p:cNvSpPr>
          <p:nvPr/>
        </p:nvSpPr>
        <p:spPr bwMode="auto">
          <a:xfrm>
            <a:off x="268197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3" name="Rectangle 71"/>
          <p:cNvSpPr>
            <a:spLocks noChangeArrowheads="1"/>
          </p:cNvSpPr>
          <p:nvPr/>
        </p:nvSpPr>
        <p:spPr bwMode="auto">
          <a:xfrm>
            <a:off x="313198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4" name="Rectangle 72"/>
          <p:cNvSpPr>
            <a:spLocks noChangeArrowheads="1"/>
          </p:cNvSpPr>
          <p:nvPr/>
        </p:nvSpPr>
        <p:spPr bwMode="auto">
          <a:xfrm>
            <a:off x="358198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5" name="Rectangle 73"/>
          <p:cNvSpPr>
            <a:spLocks noChangeArrowheads="1"/>
          </p:cNvSpPr>
          <p:nvPr/>
        </p:nvSpPr>
        <p:spPr bwMode="auto">
          <a:xfrm>
            <a:off x="4031994"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latin typeface="+mn-lt"/>
                <a:ea typeface="+mn-ea"/>
              </a:rPr>
              <a:t>WB1</a:t>
            </a:r>
          </a:p>
        </p:txBody>
      </p:sp>
      <p:sp>
        <p:nvSpPr>
          <p:cNvPr id="17" name="Rectangle 69"/>
          <p:cNvSpPr>
            <a:spLocks noChangeArrowheads="1"/>
          </p:cNvSpPr>
          <p:nvPr/>
        </p:nvSpPr>
        <p:spPr bwMode="auto">
          <a:xfrm>
            <a:off x="2681979"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8" name="Rectangle 70"/>
          <p:cNvSpPr>
            <a:spLocks noChangeArrowheads="1"/>
          </p:cNvSpPr>
          <p:nvPr/>
        </p:nvSpPr>
        <p:spPr bwMode="auto">
          <a:xfrm>
            <a:off x="313198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9" name="Rectangle 71"/>
          <p:cNvSpPr>
            <a:spLocks noChangeArrowheads="1"/>
          </p:cNvSpPr>
          <p:nvPr/>
        </p:nvSpPr>
        <p:spPr bwMode="auto">
          <a:xfrm>
            <a:off x="3581989"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0" name="Rectangle 72"/>
          <p:cNvSpPr>
            <a:spLocks noChangeArrowheads="1"/>
          </p:cNvSpPr>
          <p:nvPr/>
        </p:nvSpPr>
        <p:spPr bwMode="auto">
          <a:xfrm>
            <a:off x="403199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1" name="Rectangle 73"/>
          <p:cNvSpPr>
            <a:spLocks noChangeArrowheads="1"/>
          </p:cNvSpPr>
          <p:nvPr/>
        </p:nvSpPr>
        <p:spPr bwMode="auto">
          <a:xfrm>
            <a:off x="493200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3" name="Rectangle 69"/>
          <p:cNvSpPr>
            <a:spLocks noChangeArrowheads="1"/>
          </p:cNvSpPr>
          <p:nvPr/>
        </p:nvSpPr>
        <p:spPr bwMode="auto">
          <a:xfrm>
            <a:off x="313198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4" name="Rectangle 70"/>
          <p:cNvSpPr>
            <a:spLocks noChangeArrowheads="1"/>
          </p:cNvSpPr>
          <p:nvPr/>
        </p:nvSpPr>
        <p:spPr bwMode="auto">
          <a:xfrm>
            <a:off x="3581989"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5" name="Rectangle 71"/>
          <p:cNvSpPr>
            <a:spLocks noChangeArrowheads="1"/>
          </p:cNvSpPr>
          <p:nvPr/>
        </p:nvSpPr>
        <p:spPr bwMode="auto">
          <a:xfrm>
            <a:off x="403199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6" name="Rectangle 72"/>
          <p:cNvSpPr>
            <a:spLocks noChangeArrowheads="1"/>
          </p:cNvSpPr>
          <p:nvPr/>
        </p:nvSpPr>
        <p:spPr bwMode="auto">
          <a:xfrm>
            <a:off x="493200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7" name="Rectangle 73"/>
          <p:cNvSpPr>
            <a:spLocks noChangeArrowheads="1"/>
          </p:cNvSpPr>
          <p:nvPr/>
        </p:nvSpPr>
        <p:spPr bwMode="auto">
          <a:xfrm>
            <a:off x="5382009"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31" name="正方形/長方形 30"/>
          <p:cNvSpPr/>
          <p:nvPr/>
        </p:nvSpPr>
        <p:spPr bwMode="auto">
          <a:xfrm>
            <a:off x="971960" y="108897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pop</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2" name="Rectangle 73"/>
          <p:cNvSpPr>
            <a:spLocks noChangeArrowheads="1"/>
          </p:cNvSpPr>
          <p:nvPr/>
        </p:nvSpPr>
        <p:spPr bwMode="auto">
          <a:xfrm>
            <a:off x="4481999"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latin typeface="+mn-lt"/>
                <a:ea typeface="+mn-ea"/>
              </a:rPr>
              <a:t>WB2</a:t>
            </a:r>
          </a:p>
        </p:txBody>
      </p:sp>
      <p:sp>
        <p:nvSpPr>
          <p:cNvPr id="33" name="Rectangle 69"/>
          <p:cNvSpPr>
            <a:spLocks noChangeArrowheads="1"/>
          </p:cNvSpPr>
          <p:nvPr/>
        </p:nvSpPr>
        <p:spPr bwMode="auto">
          <a:xfrm>
            <a:off x="3581989"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34" name="Rectangle 70"/>
          <p:cNvSpPr>
            <a:spLocks noChangeArrowheads="1"/>
          </p:cNvSpPr>
          <p:nvPr/>
        </p:nvSpPr>
        <p:spPr bwMode="auto">
          <a:xfrm>
            <a:off x="403199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35" name="Rectangle 71"/>
          <p:cNvSpPr>
            <a:spLocks noChangeArrowheads="1"/>
          </p:cNvSpPr>
          <p:nvPr/>
        </p:nvSpPr>
        <p:spPr bwMode="auto">
          <a:xfrm>
            <a:off x="493200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36" name="Rectangle 72"/>
          <p:cNvSpPr>
            <a:spLocks noChangeArrowheads="1"/>
          </p:cNvSpPr>
          <p:nvPr/>
        </p:nvSpPr>
        <p:spPr bwMode="auto">
          <a:xfrm>
            <a:off x="5382009"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7" name="Rectangle 73"/>
          <p:cNvSpPr>
            <a:spLocks noChangeArrowheads="1"/>
          </p:cNvSpPr>
          <p:nvPr/>
        </p:nvSpPr>
        <p:spPr bwMode="auto">
          <a:xfrm>
            <a:off x="583201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38" name="Rectangle 69"/>
          <p:cNvSpPr>
            <a:spLocks noChangeArrowheads="1"/>
          </p:cNvSpPr>
          <p:nvPr/>
        </p:nvSpPr>
        <p:spPr bwMode="auto">
          <a:xfrm>
            <a:off x="403199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39" name="Rectangle 70"/>
          <p:cNvSpPr>
            <a:spLocks noChangeArrowheads="1"/>
          </p:cNvSpPr>
          <p:nvPr/>
        </p:nvSpPr>
        <p:spPr bwMode="auto">
          <a:xfrm>
            <a:off x="493200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40" name="Rectangle 71"/>
          <p:cNvSpPr>
            <a:spLocks noChangeArrowheads="1"/>
          </p:cNvSpPr>
          <p:nvPr/>
        </p:nvSpPr>
        <p:spPr bwMode="auto">
          <a:xfrm>
            <a:off x="5382009"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41" name="Rectangle 72"/>
          <p:cNvSpPr>
            <a:spLocks noChangeArrowheads="1"/>
          </p:cNvSpPr>
          <p:nvPr/>
        </p:nvSpPr>
        <p:spPr bwMode="auto">
          <a:xfrm>
            <a:off x="583201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42" name="Rectangle 73"/>
          <p:cNvSpPr>
            <a:spLocks noChangeArrowheads="1"/>
          </p:cNvSpPr>
          <p:nvPr/>
        </p:nvSpPr>
        <p:spPr bwMode="auto">
          <a:xfrm>
            <a:off x="6282019"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43" name="Rectangle 73"/>
          <p:cNvSpPr>
            <a:spLocks noChangeArrowheads="1"/>
          </p:cNvSpPr>
          <p:nvPr/>
        </p:nvSpPr>
        <p:spPr bwMode="auto">
          <a:xfrm>
            <a:off x="4481999" y="153897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44" name="Rectangle 73"/>
          <p:cNvSpPr>
            <a:spLocks noChangeArrowheads="1"/>
          </p:cNvSpPr>
          <p:nvPr/>
        </p:nvSpPr>
        <p:spPr bwMode="auto">
          <a:xfrm>
            <a:off x="4481999" y="198898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45" name="Rectangle 73"/>
          <p:cNvSpPr>
            <a:spLocks noChangeArrowheads="1"/>
          </p:cNvSpPr>
          <p:nvPr/>
        </p:nvSpPr>
        <p:spPr bwMode="auto">
          <a:xfrm>
            <a:off x="4481999" y="243898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46" name="Rectangle 73"/>
          <p:cNvSpPr>
            <a:spLocks noChangeArrowheads="1"/>
          </p:cNvSpPr>
          <p:nvPr/>
        </p:nvSpPr>
        <p:spPr bwMode="auto">
          <a:xfrm>
            <a:off x="4481999" y="288899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47" name="Rectangle 69"/>
          <p:cNvSpPr>
            <a:spLocks noChangeArrowheads="1"/>
          </p:cNvSpPr>
          <p:nvPr/>
        </p:nvSpPr>
        <p:spPr bwMode="auto">
          <a:xfrm>
            <a:off x="4932004"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48" name="Rectangle 70"/>
          <p:cNvSpPr>
            <a:spLocks noChangeArrowheads="1"/>
          </p:cNvSpPr>
          <p:nvPr/>
        </p:nvSpPr>
        <p:spPr bwMode="auto">
          <a:xfrm>
            <a:off x="5382009"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49" name="Rectangle 71"/>
          <p:cNvSpPr>
            <a:spLocks noChangeArrowheads="1"/>
          </p:cNvSpPr>
          <p:nvPr/>
        </p:nvSpPr>
        <p:spPr bwMode="auto">
          <a:xfrm>
            <a:off x="5832014"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50" name="Rectangle 72"/>
          <p:cNvSpPr>
            <a:spLocks noChangeArrowheads="1"/>
          </p:cNvSpPr>
          <p:nvPr/>
        </p:nvSpPr>
        <p:spPr bwMode="auto">
          <a:xfrm>
            <a:off x="6282019"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51" name="Rectangle 73"/>
          <p:cNvSpPr>
            <a:spLocks noChangeArrowheads="1"/>
          </p:cNvSpPr>
          <p:nvPr/>
        </p:nvSpPr>
        <p:spPr bwMode="auto">
          <a:xfrm>
            <a:off x="6732024"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53" name="角丸四角形 52"/>
          <p:cNvSpPr/>
          <p:nvPr/>
        </p:nvSpPr>
        <p:spPr bwMode="auto">
          <a:xfrm>
            <a:off x="4429168" y="908971"/>
            <a:ext cx="450005" cy="2970033"/>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56" name="直線コネクタ 55"/>
          <p:cNvCxnSpPr/>
          <p:nvPr/>
        </p:nvCxnSpPr>
        <p:spPr bwMode="auto">
          <a:xfrm>
            <a:off x="1691968" y="2168986"/>
            <a:ext cx="1440088" cy="0"/>
          </a:xfrm>
          <a:prstGeom prst="line">
            <a:avLst/>
          </a:prstGeom>
          <a:noFill/>
          <a:ln w="9525" cap="flat" cmpd="sng" algn="ctr">
            <a:solidFill>
              <a:schemeClr val="tx1"/>
            </a:solidFill>
            <a:prstDash val="dash"/>
            <a:round/>
            <a:headEnd type="none" w="med" len="med"/>
            <a:tailEnd type="none" w="med" len="med"/>
          </a:ln>
          <a:effectLst/>
        </p:spPr>
      </p:cxnSp>
      <p:sp>
        <p:nvSpPr>
          <p:cNvPr id="58" name="正方形/長方形 57"/>
          <p:cNvSpPr/>
          <p:nvPr/>
        </p:nvSpPr>
        <p:spPr bwMode="auto">
          <a:xfrm>
            <a:off x="971960" y="153897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add</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971960" y="198898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0" name="直線コネクタ 59"/>
          <p:cNvCxnSpPr/>
          <p:nvPr/>
        </p:nvCxnSpPr>
        <p:spPr bwMode="auto">
          <a:xfrm>
            <a:off x="1691968" y="2618991"/>
            <a:ext cx="1890093" cy="0"/>
          </a:xfrm>
          <a:prstGeom prst="line">
            <a:avLst/>
          </a:prstGeom>
          <a:noFill/>
          <a:ln w="9525" cap="flat" cmpd="sng" algn="ctr">
            <a:solidFill>
              <a:schemeClr val="tx1"/>
            </a:solidFill>
            <a:prstDash val="dash"/>
            <a:round/>
            <a:headEnd type="none" w="med" len="med"/>
            <a:tailEnd type="none" w="med" len="med"/>
          </a:ln>
          <a:effectLst/>
        </p:spPr>
      </p:cxnSp>
      <p:sp>
        <p:nvSpPr>
          <p:cNvPr id="62" name="正方形/長方形 61"/>
          <p:cNvSpPr/>
          <p:nvPr/>
        </p:nvSpPr>
        <p:spPr bwMode="auto">
          <a:xfrm>
            <a:off x="971960" y="243898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p:cNvCxnSpPr>
            <a:endCxn id="38" idx="1"/>
          </p:cNvCxnSpPr>
          <p:nvPr/>
        </p:nvCxnSpPr>
        <p:spPr bwMode="auto">
          <a:xfrm flipV="1">
            <a:off x="1691968" y="3068994"/>
            <a:ext cx="2340026" cy="2"/>
          </a:xfrm>
          <a:prstGeom prst="line">
            <a:avLst/>
          </a:prstGeom>
          <a:noFill/>
          <a:ln w="9525" cap="flat" cmpd="sng" algn="ctr">
            <a:solidFill>
              <a:schemeClr val="tx1"/>
            </a:solidFill>
            <a:prstDash val="dash"/>
            <a:round/>
            <a:headEnd type="none" w="med" len="med"/>
            <a:tailEnd type="none" w="med" len="med"/>
          </a:ln>
          <a:effectLst/>
        </p:spPr>
      </p:cxnSp>
      <p:sp>
        <p:nvSpPr>
          <p:cNvPr id="64" name="正方形/長方形 63"/>
          <p:cNvSpPr/>
          <p:nvPr/>
        </p:nvSpPr>
        <p:spPr bwMode="auto">
          <a:xfrm>
            <a:off x="971960" y="288899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5" name="直線コネクタ 64"/>
          <p:cNvCxnSpPr>
            <a:endCxn id="47" idx="1"/>
          </p:cNvCxnSpPr>
          <p:nvPr/>
        </p:nvCxnSpPr>
        <p:spPr bwMode="auto">
          <a:xfrm flipV="1">
            <a:off x="1691968" y="3518999"/>
            <a:ext cx="3240036" cy="2"/>
          </a:xfrm>
          <a:prstGeom prst="line">
            <a:avLst/>
          </a:prstGeom>
          <a:noFill/>
          <a:ln w="9525" cap="flat" cmpd="sng" algn="ctr">
            <a:solidFill>
              <a:schemeClr val="tx1"/>
            </a:solidFill>
            <a:prstDash val="dash"/>
            <a:round/>
            <a:headEnd type="none" w="med" len="med"/>
            <a:tailEnd type="none" w="med" len="med"/>
          </a:ln>
          <a:effectLst/>
        </p:spPr>
      </p:cxnSp>
      <p:sp>
        <p:nvSpPr>
          <p:cNvPr id="66" name="正方形/長方形 65"/>
          <p:cNvSpPr/>
          <p:nvPr/>
        </p:nvSpPr>
        <p:spPr bwMode="auto">
          <a:xfrm>
            <a:off x="971960" y="333899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2" name="直線矢印コネクタ 51"/>
          <p:cNvCxnSpPr/>
          <p:nvPr/>
        </p:nvCxnSpPr>
        <p:spPr bwMode="auto">
          <a:xfrm>
            <a:off x="4481999" y="3789004"/>
            <a:ext cx="2700030"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55" name="正方形/長方形 54"/>
          <p:cNvSpPr/>
          <p:nvPr/>
        </p:nvSpPr>
        <p:spPr bwMode="auto">
          <a:xfrm>
            <a:off x="6642023" y="2078985"/>
            <a:ext cx="1800020"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add </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以降の全処理が</a:t>
            </a:r>
            <a:endPar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バブルで右に１つずれる</a:t>
            </a:r>
            <a:endPar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１サイクル実行が</a:t>
            </a:r>
            <a:b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b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遅くなっている</a:t>
            </a:r>
          </a:p>
        </p:txBody>
      </p:sp>
    </p:spTree>
    <p:extLst>
      <p:ext uri="{BB962C8B-B14F-4D97-AF65-F5344CB8AC3E}">
        <p14:creationId xmlns:p14="http://schemas.microsoft.com/office/powerpoint/2010/main" val="2678813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ストールの実現方法</a:t>
            </a:r>
            <a:endParaRPr kumimoji="1" lang="ja-JP" altLang="en-US" dirty="0"/>
          </a:p>
        </p:txBody>
      </p:sp>
      <p:sp>
        <p:nvSpPr>
          <p:cNvPr id="3" name="テキスト プレースホルダー 2"/>
          <p:cNvSpPr>
            <a:spLocks noGrp="1"/>
          </p:cNvSpPr>
          <p:nvPr>
            <p:ph type="body" sz="quarter" idx="10"/>
          </p:nvPr>
        </p:nvSpPr>
        <p:spPr>
          <a:xfrm>
            <a:off x="611956" y="4509012"/>
            <a:ext cx="8280092" cy="1799713"/>
          </a:xfrm>
        </p:spPr>
        <p:txBody>
          <a:bodyPr/>
          <a:lstStyle/>
          <a:p>
            <a:r>
              <a:rPr kumimoji="1" lang="ja-JP" altLang="en-US" dirty="0"/>
              <a:t>回路的には，</a:t>
            </a:r>
            <a:r>
              <a:rPr lang="en-US" altLang="ja-JP" dirty="0"/>
              <a:t>Write Enable</a:t>
            </a:r>
            <a:r>
              <a:rPr lang="ja-JP" altLang="en-US" dirty="0"/>
              <a:t>（</a:t>
            </a:r>
            <a:r>
              <a:rPr lang="en-US" altLang="ja-JP" dirty="0"/>
              <a:t>WE</a:t>
            </a:r>
            <a:r>
              <a:rPr lang="ja-JP" altLang="en-US" dirty="0"/>
              <a:t>）つきの </a:t>
            </a:r>
            <a:r>
              <a:rPr lang="en-US" altLang="ja-JP" dirty="0"/>
              <a:t>D-FF </a:t>
            </a:r>
            <a:r>
              <a:rPr lang="ja-JP" altLang="en-US" dirty="0"/>
              <a:t>を使う</a:t>
            </a:r>
            <a:endParaRPr lang="en-US" altLang="ja-JP" dirty="0"/>
          </a:p>
          <a:p>
            <a:pPr lvl="1"/>
            <a:r>
              <a:rPr kumimoji="1" lang="en-US" altLang="ja-JP" dirty="0"/>
              <a:t>WE </a:t>
            </a:r>
            <a:r>
              <a:rPr kumimoji="1" lang="ja-JP" altLang="en-US" dirty="0"/>
              <a:t>が </a:t>
            </a:r>
            <a:r>
              <a:rPr kumimoji="1" lang="en-US" altLang="ja-JP" dirty="0"/>
              <a:t>0 </a:t>
            </a:r>
            <a:r>
              <a:rPr kumimoji="1" lang="ja-JP" altLang="en-US" dirty="0"/>
              <a:t>のサイクルは書き込みが行われない</a:t>
            </a:r>
            <a:endParaRPr kumimoji="1" lang="en-US" altLang="ja-JP" dirty="0"/>
          </a:p>
          <a:p>
            <a:pPr lvl="1"/>
            <a:r>
              <a:rPr kumimoji="1" lang="ja-JP" altLang="en-US" dirty="0"/>
              <a:t>ストールさせたい時は，そのステージの </a:t>
            </a:r>
            <a:r>
              <a:rPr kumimoji="1" lang="en-US" altLang="ja-JP" dirty="0"/>
              <a:t>WE </a:t>
            </a:r>
            <a:r>
              <a:rPr kumimoji="1" lang="ja-JP" altLang="en-US" dirty="0"/>
              <a:t>を </a:t>
            </a:r>
            <a:r>
              <a:rPr kumimoji="1" lang="en-US" altLang="ja-JP" dirty="0"/>
              <a:t>0 </a:t>
            </a:r>
            <a:r>
              <a:rPr kumimoji="1" lang="ja-JP" altLang="en-US" dirty="0"/>
              <a:t>に</a:t>
            </a:r>
          </a:p>
        </p:txBody>
      </p:sp>
      <p:sp>
        <p:nvSpPr>
          <p:cNvPr id="4" name="正方形/長方形 3"/>
          <p:cNvSpPr/>
          <p:nvPr/>
        </p:nvSpPr>
        <p:spPr bwMode="auto">
          <a:xfrm>
            <a:off x="1691968" y="1988984"/>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cxnSp>
        <p:nvCxnSpPr>
          <p:cNvPr id="6" name="直線矢印コネクタ 5"/>
          <p:cNvCxnSpPr/>
          <p:nvPr/>
        </p:nvCxnSpPr>
        <p:spPr bwMode="auto">
          <a:xfrm>
            <a:off x="3131984" y="2708992"/>
            <a:ext cx="360004" cy="0"/>
          </a:xfrm>
          <a:prstGeom prst="straightConnector1">
            <a:avLst/>
          </a:prstGeom>
          <a:noFill/>
          <a:ln w="9525" cap="flat" cmpd="sng" algn="ctr">
            <a:solidFill>
              <a:schemeClr val="tx1"/>
            </a:solidFill>
            <a:prstDash val="solid"/>
            <a:round/>
            <a:headEnd type="none" w="med" len="med"/>
            <a:tailEnd type="triangle"/>
          </a:ln>
          <a:effectLst/>
        </p:spPr>
      </p:cxnSp>
      <p:grpSp>
        <p:nvGrpSpPr>
          <p:cNvPr id="7" name="グループ化 6"/>
          <p:cNvGrpSpPr/>
          <p:nvPr/>
        </p:nvGrpSpPr>
        <p:grpSpPr>
          <a:xfrm>
            <a:off x="3491988" y="2348988"/>
            <a:ext cx="360004" cy="720008"/>
            <a:chOff x="2411977" y="3068996"/>
            <a:chExt cx="360004" cy="720008"/>
          </a:xfrm>
        </p:grpSpPr>
        <p:sp>
          <p:nvSpPr>
            <p:cNvPr id="8" name="正方形/長方形 7"/>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9" name="二等辺三角形 8"/>
            <p:cNvSpPr/>
            <p:nvPr/>
          </p:nvSpPr>
          <p:spPr bwMode="auto">
            <a:xfrm>
              <a:off x="2501977" y="3609002"/>
              <a:ext cx="180002" cy="180002"/>
            </a:xfrm>
            <a:prstGeom prst="triangle">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cxnSp>
        <p:nvCxnSpPr>
          <p:cNvPr id="10" name="直線矢印コネクタ 9"/>
          <p:cNvCxnSpPr/>
          <p:nvPr/>
        </p:nvCxnSpPr>
        <p:spPr bwMode="auto">
          <a:xfrm>
            <a:off x="1331964" y="2708992"/>
            <a:ext cx="360004" cy="0"/>
          </a:xfrm>
          <a:prstGeom prst="straightConnector1">
            <a:avLst/>
          </a:prstGeom>
          <a:noFill/>
          <a:ln w="9525" cap="flat" cmpd="sng" algn="ctr">
            <a:solidFill>
              <a:schemeClr val="tx1"/>
            </a:solidFill>
            <a:prstDash val="solid"/>
            <a:round/>
            <a:headEnd type="none" w="med" len="med"/>
            <a:tailEnd type="triangle"/>
          </a:ln>
          <a:effectLst/>
        </p:spPr>
      </p:cxnSp>
      <p:grpSp>
        <p:nvGrpSpPr>
          <p:cNvPr id="11" name="グループ化 10"/>
          <p:cNvGrpSpPr/>
          <p:nvPr/>
        </p:nvGrpSpPr>
        <p:grpSpPr>
          <a:xfrm>
            <a:off x="6012016" y="2348988"/>
            <a:ext cx="360004" cy="720008"/>
            <a:chOff x="2411977" y="3068996"/>
            <a:chExt cx="360004" cy="720008"/>
          </a:xfrm>
        </p:grpSpPr>
        <p:sp>
          <p:nvSpPr>
            <p:cNvPr id="12" name="正方形/長方形 11"/>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13" name="二等辺三角形 12"/>
            <p:cNvSpPr/>
            <p:nvPr/>
          </p:nvSpPr>
          <p:spPr bwMode="auto">
            <a:xfrm>
              <a:off x="2501977" y="3609002"/>
              <a:ext cx="180002" cy="180002"/>
            </a:xfrm>
            <a:prstGeom prst="triangle">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14" name="正方形/長方形 13"/>
          <p:cNvSpPr/>
          <p:nvPr/>
        </p:nvSpPr>
        <p:spPr bwMode="auto">
          <a:xfrm>
            <a:off x="4211996" y="1988984"/>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cxnSp>
        <p:nvCxnSpPr>
          <p:cNvPr id="15" name="直線矢印コネクタ 14"/>
          <p:cNvCxnSpPr/>
          <p:nvPr/>
        </p:nvCxnSpPr>
        <p:spPr bwMode="auto">
          <a:xfrm>
            <a:off x="5652012" y="2708992"/>
            <a:ext cx="360004" cy="0"/>
          </a:xfrm>
          <a:prstGeom prst="straightConnector1">
            <a:avLst/>
          </a:prstGeom>
          <a:noFill/>
          <a:ln w="9525" cap="flat" cmpd="sng" algn="ctr">
            <a:solidFill>
              <a:schemeClr val="tx1"/>
            </a:solidFill>
            <a:prstDash val="solid"/>
            <a:round/>
            <a:headEnd type="none" w="med" len="med"/>
            <a:tailEnd type="triangle"/>
          </a:ln>
          <a:effectLst/>
        </p:spPr>
      </p:cxnSp>
      <p:cxnSp>
        <p:nvCxnSpPr>
          <p:cNvPr id="16" name="直線矢印コネクタ 15"/>
          <p:cNvCxnSpPr/>
          <p:nvPr/>
        </p:nvCxnSpPr>
        <p:spPr bwMode="auto">
          <a:xfrm>
            <a:off x="3851992" y="2708992"/>
            <a:ext cx="360004" cy="0"/>
          </a:xfrm>
          <a:prstGeom prst="straightConnector1">
            <a:avLst/>
          </a:prstGeom>
          <a:noFill/>
          <a:ln w="9525" cap="flat" cmpd="sng" algn="ctr">
            <a:solidFill>
              <a:schemeClr val="tx1"/>
            </a:solidFill>
            <a:prstDash val="solid"/>
            <a:round/>
            <a:headEnd type="none" w="med" len="med"/>
            <a:tailEnd type="triangle"/>
          </a:ln>
          <a:effectLst/>
        </p:spPr>
      </p:cxnSp>
      <p:cxnSp>
        <p:nvCxnSpPr>
          <p:cNvPr id="17" name="直線矢印コネクタ 16"/>
          <p:cNvCxnSpPr/>
          <p:nvPr/>
        </p:nvCxnSpPr>
        <p:spPr bwMode="auto">
          <a:xfrm>
            <a:off x="6372020" y="2708992"/>
            <a:ext cx="360004" cy="0"/>
          </a:xfrm>
          <a:prstGeom prst="straightConnector1">
            <a:avLst/>
          </a:prstGeom>
          <a:noFill/>
          <a:ln w="9525" cap="flat" cmpd="sng" algn="ctr">
            <a:solidFill>
              <a:schemeClr val="tx1"/>
            </a:solidFill>
            <a:prstDash val="solid"/>
            <a:round/>
            <a:headEnd type="none" w="med" len="med"/>
            <a:tailEnd type="triangle"/>
          </a:ln>
          <a:effectLst/>
        </p:spPr>
      </p:cxnSp>
      <p:cxnSp>
        <p:nvCxnSpPr>
          <p:cNvPr id="18" name="直線矢印コネクタ 17"/>
          <p:cNvCxnSpPr>
            <a:endCxn id="8" idx="0"/>
          </p:cNvCxnSpPr>
          <p:nvPr/>
        </p:nvCxnSpPr>
        <p:spPr bwMode="auto">
          <a:xfrm>
            <a:off x="3671990" y="1988984"/>
            <a:ext cx="0" cy="360004"/>
          </a:xfrm>
          <a:prstGeom prst="straightConnector1">
            <a:avLst/>
          </a:prstGeom>
          <a:noFill/>
          <a:ln w="9525" cap="flat" cmpd="sng" algn="ctr">
            <a:solidFill>
              <a:schemeClr val="tx1"/>
            </a:solidFill>
            <a:prstDash val="solid"/>
            <a:round/>
            <a:headEnd type="none" w="med" len="med"/>
            <a:tailEnd type="triangle"/>
          </a:ln>
          <a:effectLst/>
        </p:spPr>
      </p:cxnSp>
      <p:cxnSp>
        <p:nvCxnSpPr>
          <p:cNvPr id="21" name="直線矢印コネクタ 20"/>
          <p:cNvCxnSpPr/>
          <p:nvPr/>
        </p:nvCxnSpPr>
        <p:spPr bwMode="auto">
          <a:xfrm>
            <a:off x="6192018" y="1988984"/>
            <a:ext cx="0" cy="360004"/>
          </a:xfrm>
          <a:prstGeom prst="straightConnector1">
            <a:avLst/>
          </a:prstGeom>
          <a:noFill/>
          <a:ln w="9525" cap="flat" cmpd="sng" algn="ctr">
            <a:solidFill>
              <a:schemeClr val="tx1"/>
            </a:solidFill>
            <a:prstDash val="solid"/>
            <a:round/>
            <a:headEnd type="none" w="med" len="med"/>
            <a:tailEnd type="triangle"/>
          </a:ln>
          <a:effectLst/>
        </p:spPr>
      </p:cxnSp>
      <p:sp>
        <p:nvSpPr>
          <p:cNvPr id="22" name="正方形/長方形 21"/>
          <p:cNvSpPr/>
          <p:nvPr/>
        </p:nvSpPr>
        <p:spPr bwMode="auto">
          <a:xfrm>
            <a:off x="3311986" y="162898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WE</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5832014" y="162898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WE</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34305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WE </a:t>
            </a:r>
            <a:r>
              <a:rPr lang="ja-JP" altLang="en-US" dirty="0"/>
              <a:t>つき </a:t>
            </a:r>
            <a:r>
              <a:rPr lang="en-US" altLang="ja-JP" dirty="0"/>
              <a:t>D-FF </a:t>
            </a:r>
            <a:r>
              <a:rPr lang="ja-JP" altLang="en-US" dirty="0"/>
              <a:t>の実現方法</a:t>
            </a:r>
            <a:endParaRPr kumimoji="1" lang="ja-JP" altLang="en-US" dirty="0"/>
          </a:p>
        </p:txBody>
      </p:sp>
      <p:sp>
        <p:nvSpPr>
          <p:cNvPr id="3" name="テキスト プレースホルダー 2"/>
          <p:cNvSpPr>
            <a:spLocks noGrp="1"/>
          </p:cNvSpPr>
          <p:nvPr>
            <p:ph type="body" sz="quarter" idx="10"/>
          </p:nvPr>
        </p:nvSpPr>
        <p:spPr>
          <a:xfrm>
            <a:off x="521955" y="3789004"/>
            <a:ext cx="8280092" cy="1799713"/>
          </a:xfrm>
        </p:spPr>
        <p:txBody>
          <a:bodyPr/>
          <a:lstStyle/>
          <a:p>
            <a:r>
              <a:rPr kumimoji="1" lang="ja-JP" altLang="en-US" dirty="0"/>
              <a:t>たとえば </a:t>
            </a:r>
            <a:r>
              <a:rPr kumimoji="1" lang="en-US" altLang="ja-JP" dirty="0"/>
              <a:t>D-FF </a:t>
            </a:r>
            <a:r>
              <a:rPr kumimoji="1" lang="ja-JP" altLang="en-US" dirty="0"/>
              <a:t>とマルチプレクサで作れる</a:t>
            </a:r>
            <a:endParaRPr kumimoji="1" lang="en-US" altLang="ja-JP" dirty="0"/>
          </a:p>
          <a:p>
            <a:pPr lvl="1"/>
            <a:r>
              <a:rPr kumimoji="1" lang="en-US" altLang="ja-JP" dirty="0"/>
              <a:t>WE </a:t>
            </a:r>
            <a:r>
              <a:rPr kumimoji="1" lang="ja-JP" altLang="en-US" dirty="0"/>
              <a:t>が </a:t>
            </a:r>
            <a:r>
              <a:rPr kumimoji="1" lang="en-US" altLang="ja-JP" dirty="0"/>
              <a:t>1 </a:t>
            </a:r>
            <a:r>
              <a:rPr kumimoji="1" lang="ja-JP" altLang="en-US" dirty="0"/>
              <a:t>の時は，左からきた入力を選んで書き込む</a:t>
            </a:r>
            <a:endParaRPr kumimoji="1" lang="en-US" altLang="ja-JP" dirty="0"/>
          </a:p>
          <a:p>
            <a:pPr lvl="1"/>
            <a:r>
              <a:rPr kumimoji="1" lang="en-US" altLang="ja-JP" dirty="0"/>
              <a:t>WE </a:t>
            </a:r>
            <a:r>
              <a:rPr kumimoji="1" lang="ja-JP" altLang="en-US" dirty="0"/>
              <a:t>が </a:t>
            </a:r>
            <a:r>
              <a:rPr kumimoji="1" lang="en-US" altLang="ja-JP" dirty="0"/>
              <a:t>0 </a:t>
            </a:r>
            <a:r>
              <a:rPr kumimoji="1" lang="ja-JP" altLang="en-US" dirty="0"/>
              <a:t>の時は，その時の自分自身の出力を選んで書き込む</a:t>
            </a:r>
          </a:p>
        </p:txBody>
      </p:sp>
      <p:sp>
        <p:nvSpPr>
          <p:cNvPr id="30" name="正方形/長方形 29"/>
          <p:cNvSpPr/>
          <p:nvPr/>
        </p:nvSpPr>
        <p:spPr bwMode="auto">
          <a:xfrm>
            <a:off x="3761991"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WE</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35" name="グループ化 34"/>
          <p:cNvGrpSpPr/>
          <p:nvPr/>
        </p:nvGrpSpPr>
        <p:grpSpPr>
          <a:xfrm>
            <a:off x="3671990" y="2438989"/>
            <a:ext cx="1620018" cy="1260013"/>
            <a:chOff x="3761991" y="1718981"/>
            <a:chExt cx="1620018" cy="1260013"/>
          </a:xfrm>
        </p:grpSpPr>
        <p:cxnSp>
          <p:nvCxnSpPr>
            <p:cNvPr id="24" name="直線矢印コネクタ 23"/>
            <p:cNvCxnSpPr/>
            <p:nvPr/>
          </p:nvCxnSpPr>
          <p:spPr bwMode="auto">
            <a:xfrm>
              <a:off x="3761991" y="2258987"/>
              <a:ext cx="360004" cy="0"/>
            </a:xfrm>
            <a:prstGeom prst="straightConnector1">
              <a:avLst/>
            </a:prstGeom>
            <a:noFill/>
            <a:ln w="9525" cap="flat" cmpd="sng" algn="ctr">
              <a:solidFill>
                <a:schemeClr val="tx1"/>
              </a:solidFill>
              <a:prstDash val="solid"/>
              <a:round/>
              <a:headEnd type="none" w="med" len="med"/>
              <a:tailEnd type="triangle"/>
            </a:ln>
            <a:effectLst/>
          </p:spPr>
        </p:cxnSp>
        <p:grpSp>
          <p:nvGrpSpPr>
            <p:cNvPr id="25" name="グループ化 24"/>
            <p:cNvGrpSpPr/>
            <p:nvPr/>
          </p:nvGrpSpPr>
          <p:grpSpPr>
            <a:xfrm>
              <a:off x="4572000" y="1988984"/>
              <a:ext cx="360004" cy="720008"/>
              <a:chOff x="2411977" y="3068996"/>
              <a:chExt cx="360004" cy="720008"/>
            </a:xfrm>
          </p:grpSpPr>
          <p:sp>
            <p:nvSpPr>
              <p:cNvPr id="26" name="正方形/長方形 2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7" name="二等辺三角形 26"/>
              <p:cNvSpPr/>
              <p:nvPr/>
            </p:nvSpPr>
            <p:spPr bwMode="auto">
              <a:xfrm>
                <a:off x="2501977" y="3609002"/>
                <a:ext cx="180002" cy="180002"/>
              </a:xfrm>
              <a:prstGeom prst="triangle">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cxnSp>
          <p:nvCxnSpPr>
            <p:cNvPr id="28" name="直線矢印コネクタ 27"/>
            <p:cNvCxnSpPr/>
            <p:nvPr/>
          </p:nvCxnSpPr>
          <p:spPr bwMode="auto">
            <a:xfrm>
              <a:off x="4932004" y="2348988"/>
              <a:ext cx="450005" cy="0"/>
            </a:xfrm>
            <a:prstGeom prst="straightConnector1">
              <a:avLst/>
            </a:prstGeom>
            <a:noFill/>
            <a:ln w="9525" cap="flat" cmpd="sng" algn="ctr">
              <a:solidFill>
                <a:schemeClr val="tx1"/>
              </a:solidFill>
              <a:prstDash val="solid"/>
              <a:round/>
              <a:headEnd type="none" w="med" len="med"/>
              <a:tailEnd type="triangle"/>
            </a:ln>
            <a:effectLst/>
          </p:spPr>
        </p:cxnSp>
        <p:cxnSp>
          <p:nvCxnSpPr>
            <p:cNvPr id="29" name="直線矢印コネクタ 28"/>
            <p:cNvCxnSpPr/>
            <p:nvPr/>
          </p:nvCxnSpPr>
          <p:spPr bwMode="auto">
            <a:xfrm>
              <a:off x="4211996" y="1718981"/>
              <a:ext cx="0" cy="360004"/>
            </a:xfrm>
            <a:prstGeom prst="straightConnector1">
              <a:avLst/>
            </a:prstGeom>
            <a:noFill/>
            <a:ln w="9525" cap="flat" cmpd="sng" algn="ctr">
              <a:solidFill>
                <a:schemeClr val="tx1"/>
              </a:solidFill>
              <a:prstDash val="solid"/>
              <a:round/>
              <a:headEnd type="none" w="med" len="med"/>
              <a:tailEnd type="triangle"/>
            </a:ln>
            <a:effectLst/>
          </p:spPr>
        </p:cxnSp>
        <p:sp>
          <p:nvSpPr>
            <p:cNvPr id="31" name="フローチャート: 手作業 30"/>
            <p:cNvSpPr/>
            <p:nvPr/>
          </p:nvSpPr>
          <p:spPr bwMode="auto">
            <a:xfrm rot="16200000">
              <a:off x="3851992" y="2258987"/>
              <a:ext cx="720008" cy="180001"/>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vert="vert" rtlCol="0" anchor="ctr"/>
            <a:lstStyle/>
            <a:p>
              <a:pPr algn="ctr"/>
              <a:endParaRPr kumimoji="1" lang="en-US" altLang="ja-JP" sz="1400" dirty="0">
                <a:ea typeface="メイリオ" panose="020B0604030504040204" pitchFamily="50" charset="-128"/>
              </a:endParaRPr>
            </a:p>
          </p:txBody>
        </p:sp>
        <p:sp>
          <p:nvSpPr>
            <p:cNvPr id="32" name="Freeform 10"/>
            <p:cNvSpPr>
              <a:spLocks/>
            </p:cNvSpPr>
            <p:nvPr/>
          </p:nvSpPr>
          <p:spPr bwMode="auto">
            <a:xfrm flipH="1">
              <a:off x="3851992" y="2348987"/>
              <a:ext cx="126001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33" name="Freeform 10"/>
            <p:cNvSpPr>
              <a:spLocks/>
            </p:cNvSpPr>
            <p:nvPr/>
          </p:nvSpPr>
          <p:spPr bwMode="auto">
            <a:xfrm flipV="1">
              <a:off x="3851992" y="2528989"/>
              <a:ext cx="270002"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cxnSp>
          <p:nvCxnSpPr>
            <p:cNvPr id="34" name="直線矢印コネクタ 33"/>
            <p:cNvCxnSpPr>
              <a:stCxn id="31" idx="2"/>
            </p:cNvCxnSpPr>
            <p:nvPr/>
          </p:nvCxnSpPr>
          <p:spPr bwMode="auto">
            <a:xfrm>
              <a:off x="4301997" y="2348988"/>
              <a:ext cx="270003" cy="0"/>
            </a:xfrm>
            <a:prstGeom prst="straightConnector1">
              <a:avLst/>
            </a:prstGeom>
            <a:no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9473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dirty="0"/>
              <a:t>非構造ハザード</a:t>
            </a:r>
            <a:endParaRPr lang="en-US" altLang="ja-JP" dirty="0"/>
          </a:p>
        </p:txBody>
      </p:sp>
    </p:spTree>
    <p:extLst>
      <p:ext uri="{BB962C8B-B14F-4D97-AF65-F5344CB8AC3E}">
        <p14:creationId xmlns:p14="http://schemas.microsoft.com/office/powerpoint/2010/main" val="1805928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385200" indent="-457200">
              <a:buFont typeface="+mj-lt"/>
              <a:buAutoNum type="arabicPeriod"/>
            </a:pPr>
            <a:r>
              <a:rPr lang="ja-JP" altLang="en-US" dirty="0"/>
              <a:t>構造ハザード：ハード資源の不足に起因</a:t>
            </a:r>
            <a:endParaRPr lang="en-US" altLang="ja-JP" dirty="0"/>
          </a:p>
          <a:p>
            <a:pPr marL="745200" lvl="1" indent="-457200">
              <a:buFont typeface="+mj-lt"/>
              <a:buAutoNum type="arabicPeriod"/>
            </a:pPr>
            <a:r>
              <a:rPr lang="ja-JP" altLang="en-US" dirty="0"/>
              <a:t>構造ハザードとはなにか？</a:t>
            </a:r>
            <a:endParaRPr lang="en-US" altLang="ja-JP" dirty="0"/>
          </a:p>
          <a:p>
            <a:pPr marL="745200" lvl="1" indent="-457200">
              <a:buFont typeface="+mj-lt"/>
              <a:buAutoNum type="arabicPeriod"/>
            </a:pPr>
            <a:r>
              <a:rPr lang="ja-JP" altLang="en-US" dirty="0"/>
              <a:t>その解決方法</a:t>
            </a:r>
          </a:p>
          <a:p>
            <a:pPr marL="385200" indent="-457200">
              <a:buFont typeface="+mj-lt"/>
              <a:buAutoNum type="arabicPeriod"/>
            </a:pPr>
            <a:r>
              <a:rPr lang="ja-JP" altLang="en-US" b="1" dirty="0"/>
              <a:t>非構造ハザード：バックエッジに由来</a:t>
            </a:r>
            <a:endParaRPr lang="en-US" altLang="ja-JP" b="1" dirty="0"/>
          </a:p>
          <a:p>
            <a:pPr marL="745200" lvl="1" indent="-457200">
              <a:buFont typeface="+mj-lt"/>
              <a:buAutoNum type="alphaLcPeriod"/>
            </a:pPr>
            <a:r>
              <a:rPr lang="ja-JP" altLang="en-US" dirty="0"/>
              <a:t>データ・ハザード</a:t>
            </a:r>
          </a:p>
          <a:p>
            <a:pPr marL="709200" lvl="1" indent="-457200">
              <a:buFont typeface="+mj-lt"/>
              <a:buAutoNum type="alphaLcPeriod"/>
            </a:pPr>
            <a:r>
              <a:rPr lang="ja-JP" altLang="en-US" dirty="0"/>
              <a:t>制御ハザード</a:t>
            </a:r>
            <a:endParaRPr lang="en-US" altLang="ja-JP" dirty="0"/>
          </a:p>
        </p:txBody>
      </p:sp>
    </p:spTree>
    <p:extLst>
      <p:ext uri="{BB962C8B-B14F-4D97-AF65-F5344CB8AC3E}">
        <p14:creationId xmlns:p14="http://schemas.microsoft.com/office/powerpoint/2010/main" val="263749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バックエッジとは：逆方向（右から左）にいく信号</a:t>
            </a:r>
          </a:p>
        </p:txBody>
      </p:sp>
      <p:sp>
        <p:nvSpPr>
          <p:cNvPr id="3" name="テキスト プレースホルダー 2"/>
          <p:cNvSpPr>
            <a:spLocks noGrp="1"/>
          </p:cNvSpPr>
          <p:nvPr>
            <p:ph type="body" sz="quarter" idx="10"/>
          </p:nvPr>
        </p:nvSpPr>
        <p:spPr>
          <a:xfrm>
            <a:off x="611956" y="5589024"/>
            <a:ext cx="8280092" cy="719701"/>
          </a:xfrm>
        </p:spPr>
        <p:txBody>
          <a:bodyPr/>
          <a:lstStyle/>
          <a:p>
            <a:r>
              <a:rPr kumimoji="1" lang="ja-JP" altLang="en-US" dirty="0"/>
              <a:t>バックエッジがあるため，命令を</a:t>
            </a:r>
            <a:r>
              <a:rPr lang="ja-JP" altLang="en-US" dirty="0"/>
              <a:t>単純に流せない場合がある</a:t>
            </a:r>
            <a:endParaRPr lang="en-US" altLang="ja-JP" dirty="0"/>
          </a:p>
          <a:p>
            <a:pPr lvl="1"/>
            <a:r>
              <a:rPr lang="ja-JP" altLang="en-US" dirty="0"/>
              <a:t>工場のラインのように，一方向に流せない</a:t>
            </a:r>
            <a:endParaRPr kumimoji="1" lang="ja-JP" altLang="en-US" dirty="0"/>
          </a:p>
        </p:txBody>
      </p:sp>
      <p:sp>
        <p:nvSpPr>
          <p:cNvPr id="4" name="正方形/長方形 3"/>
          <p:cNvSpPr/>
          <p:nvPr/>
        </p:nvSpPr>
        <p:spPr bwMode="auto">
          <a:xfrm>
            <a:off x="971960"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313198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73202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5067006" y="3834003"/>
            <a:ext cx="117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251952" y="3789004"/>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PC</a:t>
            </a:r>
            <a:endParaRPr kumimoji="1"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611956" y="4149008"/>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791958" y="2978992"/>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1061960" y="2528990"/>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881958" y="2438989"/>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正方形/長方形 12"/>
          <p:cNvSpPr/>
          <p:nvPr/>
        </p:nvSpPr>
        <p:spPr bwMode="auto">
          <a:xfrm>
            <a:off x="611955" y="225898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4</a:t>
            </a:r>
            <a:endParaRPr kumimoji="1" lang="ja-JP" altLang="en-US" dirty="0">
              <a:latin typeface="メイリオ" panose="020B0604030504040204" pitchFamily="50" charset="-128"/>
              <a:ea typeface="メイリオ" panose="020B0604030504040204" pitchFamily="50" charset="-128"/>
            </a:endParaRPr>
          </a:p>
        </p:txBody>
      </p:sp>
      <p:sp>
        <p:nvSpPr>
          <p:cNvPr id="14" name="Freeform 10"/>
          <p:cNvSpPr>
            <a:spLocks/>
          </p:cNvSpPr>
          <p:nvPr/>
        </p:nvSpPr>
        <p:spPr bwMode="auto">
          <a:xfrm>
            <a:off x="71950" y="1988984"/>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1556967" y="2213985"/>
            <a:ext cx="630007"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71950" y="1988984"/>
            <a:ext cx="1800020" cy="0"/>
          </a:xfrm>
          <a:prstGeom prst="straightConnector1">
            <a:avLst/>
          </a:prstGeom>
          <a:noFill/>
          <a:ln w="9525" cap="flat" cmpd="sng" algn="ctr">
            <a:solidFill>
              <a:schemeClr val="tx1"/>
            </a:solidFill>
            <a:prstDash val="solid"/>
            <a:round/>
            <a:headEnd type="none" w="sm" len="sm"/>
            <a:tailEnd type="none"/>
          </a:ln>
          <a:effectLst/>
        </p:spPr>
      </p:cxnSp>
      <p:cxnSp>
        <p:nvCxnSpPr>
          <p:cNvPr id="17" name="直線矢印コネクタ 16"/>
          <p:cNvCxnSpPr/>
          <p:nvPr/>
        </p:nvCxnSpPr>
        <p:spPr bwMode="auto">
          <a:xfrm>
            <a:off x="2411975" y="4149008"/>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8" name="正方形/長方形 17"/>
          <p:cNvSpPr/>
          <p:nvPr/>
        </p:nvSpPr>
        <p:spPr bwMode="auto">
          <a:xfrm>
            <a:off x="97196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アドレス</a:t>
            </a:r>
          </a:p>
        </p:txBody>
      </p:sp>
      <p:sp>
        <p:nvSpPr>
          <p:cNvPr id="19" name="正方形/長方形 18"/>
          <p:cNvSpPr/>
          <p:nvPr/>
        </p:nvSpPr>
        <p:spPr bwMode="auto">
          <a:xfrm>
            <a:off x="2051972"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kumimoji="1" lang="ja-JP" altLang="en-US" sz="1200" dirty="0">
                <a:latin typeface="メイリオ" panose="020B0604030504040204" pitchFamily="50" charset="-128"/>
                <a:ea typeface="メイリオ" panose="020B0604030504040204" pitchFamily="50" charset="-128"/>
              </a:rPr>
              <a:t>命令</a:t>
            </a:r>
          </a:p>
        </p:txBody>
      </p:sp>
      <p:sp>
        <p:nvSpPr>
          <p:cNvPr id="20" name="Freeform 10"/>
          <p:cNvSpPr>
            <a:spLocks/>
          </p:cNvSpPr>
          <p:nvPr/>
        </p:nvSpPr>
        <p:spPr bwMode="auto">
          <a:xfrm flipV="1">
            <a:off x="2951982" y="3969002"/>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1" name="直線矢印コネクタ 20"/>
          <p:cNvCxnSpPr/>
          <p:nvPr/>
        </p:nvCxnSpPr>
        <p:spPr bwMode="auto">
          <a:xfrm>
            <a:off x="2951982" y="4329010"/>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2" name="正方形/長方形 21"/>
          <p:cNvSpPr/>
          <p:nvPr/>
        </p:nvSpPr>
        <p:spPr bwMode="auto">
          <a:xfrm>
            <a:off x="3131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書き込みデータ</a:t>
            </a:r>
          </a:p>
        </p:txBody>
      </p:sp>
      <p:sp>
        <p:nvSpPr>
          <p:cNvPr id="23" name="正方形/長方形 22"/>
          <p:cNvSpPr/>
          <p:nvPr/>
        </p:nvSpPr>
        <p:spPr bwMode="auto">
          <a:xfrm>
            <a:off x="3131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3131984" y="414900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3131984"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a:t>
            </a:r>
            <a:r>
              <a:rPr kumimoji="1" lang="en-US" altLang="ja-JP" sz="1200" dirty="0">
                <a:latin typeface="メイリオ" panose="020B0604030504040204" pitchFamily="50" charset="-128"/>
                <a:ea typeface="メイリオ" panose="020B0604030504040204" pitchFamily="50" charset="-128"/>
              </a:rPr>
              <a:t>REG</a:t>
            </a:r>
            <a:r>
              <a:rPr kumimoji="1" lang="ja-JP" altLang="en-US" sz="1200" dirty="0">
                <a:latin typeface="メイリオ" panose="020B0604030504040204" pitchFamily="50" charset="-128"/>
                <a:ea typeface="メイリオ" panose="020B0604030504040204" pitchFamily="50" charset="-128"/>
              </a:rPr>
              <a:t>番号</a:t>
            </a:r>
          </a:p>
        </p:txBody>
      </p:sp>
      <p:sp>
        <p:nvSpPr>
          <p:cNvPr id="26" name="正方形/長方形 25"/>
          <p:cNvSpPr/>
          <p:nvPr/>
        </p:nvSpPr>
        <p:spPr bwMode="auto">
          <a:xfrm>
            <a:off x="313198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レジスタ・ファイル</a:t>
            </a:r>
          </a:p>
        </p:txBody>
      </p:sp>
      <p:sp>
        <p:nvSpPr>
          <p:cNvPr id="27" name="正方形/長方形 26"/>
          <p:cNvSpPr/>
          <p:nvPr/>
        </p:nvSpPr>
        <p:spPr bwMode="auto">
          <a:xfrm>
            <a:off x="971960"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命令メモリ</a:t>
            </a:r>
          </a:p>
        </p:txBody>
      </p:sp>
      <p:cxnSp>
        <p:nvCxnSpPr>
          <p:cNvPr id="28" name="直線矢印コネクタ 27"/>
          <p:cNvCxnSpPr/>
          <p:nvPr/>
        </p:nvCxnSpPr>
        <p:spPr bwMode="auto">
          <a:xfrm>
            <a:off x="2951982" y="468901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9" name="Freeform 10"/>
          <p:cNvSpPr>
            <a:spLocks/>
          </p:cNvSpPr>
          <p:nvPr/>
        </p:nvSpPr>
        <p:spPr bwMode="auto">
          <a:xfrm>
            <a:off x="2951982" y="1898983"/>
            <a:ext cx="180002"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 name="Freeform 10"/>
          <p:cNvSpPr>
            <a:spLocks/>
          </p:cNvSpPr>
          <p:nvPr/>
        </p:nvSpPr>
        <p:spPr bwMode="auto">
          <a:xfrm rot="10800000" flipH="1">
            <a:off x="8352038" y="3428999"/>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1" name="直線矢印コネクタ 30"/>
          <p:cNvCxnSpPr/>
          <p:nvPr/>
        </p:nvCxnSpPr>
        <p:spPr bwMode="auto">
          <a:xfrm>
            <a:off x="8172040" y="4149008"/>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12016" y="4149008"/>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3" name="直線矢印コネクタ 32"/>
          <p:cNvCxnSpPr/>
          <p:nvPr/>
        </p:nvCxnSpPr>
        <p:spPr bwMode="auto">
          <a:xfrm>
            <a:off x="4572000" y="3789004"/>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4" name="直線矢印コネクタ 33"/>
          <p:cNvCxnSpPr/>
          <p:nvPr/>
        </p:nvCxnSpPr>
        <p:spPr bwMode="auto">
          <a:xfrm>
            <a:off x="4572000" y="4599013"/>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5" name="正方形/長方形 34"/>
          <p:cNvSpPr/>
          <p:nvPr/>
        </p:nvSpPr>
        <p:spPr bwMode="auto">
          <a:xfrm>
            <a:off x="6732024"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アドレス</a:t>
            </a:r>
          </a:p>
        </p:txBody>
      </p:sp>
      <p:sp>
        <p:nvSpPr>
          <p:cNvPr id="36" name="正方形/長方形 35"/>
          <p:cNvSpPr/>
          <p:nvPr/>
        </p:nvSpPr>
        <p:spPr bwMode="auto">
          <a:xfrm>
            <a:off x="673202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データ・メモリ</a:t>
            </a:r>
          </a:p>
        </p:txBody>
      </p:sp>
      <p:sp>
        <p:nvSpPr>
          <p:cNvPr id="37" name="Freeform 10"/>
          <p:cNvSpPr>
            <a:spLocks/>
          </p:cNvSpPr>
          <p:nvPr/>
        </p:nvSpPr>
        <p:spPr bwMode="auto">
          <a:xfrm>
            <a:off x="5112004" y="4599013"/>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6552022" y="4599012"/>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Freeform 10"/>
          <p:cNvSpPr>
            <a:spLocks/>
          </p:cNvSpPr>
          <p:nvPr/>
        </p:nvSpPr>
        <p:spPr bwMode="auto">
          <a:xfrm flipV="1">
            <a:off x="6552022" y="378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0" name="正方形/長方形 39"/>
          <p:cNvSpPr/>
          <p:nvPr/>
        </p:nvSpPr>
        <p:spPr bwMode="auto">
          <a:xfrm>
            <a:off x="6732024" y="4419011"/>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書きデータ</a:t>
            </a:r>
          </a:p>
        </p:txBody>
      </p:sp>
      <p:cxnSp>
        <p:nvCxnSpPr>
          <p:cNvPr id="41" name="直線矢印コネクタ 40"/>
          <p:cNvCxnSpPr/>
          <p:nvPr/>
        </p:nvCxnSpPr>
        <p:spPr bwMode="auto">
          <a:xfrm>
            <a:off x="8532044" y="3158997"/>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2" name="直線矢印コネクタ 41"/>
          <p:cNvCxnSpPr/>
          <p:nvPr/>
        </p:nvCxnSpPr>
        <p:spPr bwMode="auto">
          <a:xfrm flipH="1">
            <a:off x="1871970" y="1898983"/>
            <a:ext cx="7110079" cy="0"/>
          </a:xfrm>
          <a:prstGeom prst="straightConnector1">
            <a:avLst/>
          </a:prstGeom>
          <a:noFill/>
          <a:ln w="31750" cap="flat" cmpd="sng" algn="ctr">
            <a:solidFill>
              <a:schemeClr val="accent6"/>
            </a:solidFill>
            <a:prstDash val="solid"/>
            <a:round/>
            <a:headEnd type="none" w="sm" len="sm"/>
            <a:tailEnd type="triangle"/>
          </a:ln>
          <a:effectLst/>
        </p:spPr>
      </p:cxnSp>
      <p:sp>
        <p:nvSpPr>
          <p:cNvPr id="43" name="Freeform 10"/>
          <p:cNvSpPr>
            <a:spLocks/>
          </p:cNvSpPr>
          <p:nvPr/>
        </p:nvSpPr>
        <p:spPr bwMode="auto">
          <a:xfrm rot="10800000" flipH="1">
            <a:off x="6552022" y="3248994"/>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rot="5400000" flipH="1" flipV="1">
            <a:off x="8037040" y="2393988"/>
            <a:ext cx="1440015"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正方形/長方形 44"/>
          <p:cNvSpPr/>
          <p:nvPr/>
        </p:nvSpPr>
        <p:spPr bwMode="auto">
          <a:xfrm>
            <a:off x="727203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kumimoji="1" lang="ja-JP" altLang="en-US" sz="1200" dirty="0">
                <a:latin typeface="メイリオ" panose="020B0604030504040204" pitchFamily="50" charset="-128"/>
                <a:ea typeface="メイリオ" panose="020B0604030504040204" pitchFamily="50" charset="-128"/>
              </a:rPr>
              <a:t>読みデータ</a:t>
            </a:r>
          </a:p>
        </p:txBody>
      </p:sp>
      <p:cxnSp>
        <p:nvCxnSpPr>
          <p:cNvPr id="46" name="直線矢印コネクタ 45"/>
          <p:cNvCxnSpPr/>
          <p:nvPr/>
        </p:nvCxnSpPr>
        <p:spPr bwMode="auto">
          <a:xfrm>
            <a:off x="1871970" y="1808982"/>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7" name="直線矢印コネクタ 46"/>
          <p:cNvCxnSpPr/>
          <p:nvPr/>
        </p:nvCxnSpPr>
        <p:spPr bwMode="auto">
          <a:xfrm flipH="1">
            <a:off x="1871970" y="2078985"/>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48" name="正方形/長方形 47"/>
          <p:cNvSpPr/>
          <p:nvPr/>
        </p:nvSpPr>
        <p:spPr bwMode="auto">
          <a:xfrm>
            <a:off x="1871970" y="117897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accent6"/>
                </a:solidFill>
                <a:latin typeface="メイリオ" panose="020B0604030504040204" pitchFamily="50" charset="-128"/>
                <a:ea typeface="メイリオ" panose="020B0604030504040204" pitchFamily="50" charset="-128"/>
              </a:rPr>
              <a:t>2. </a:t>
            </a:r>
            <a:r>
              <a:rPr kumimoji="1" lang="ja-JP" altLang="en-US" sz="1600" dirty="0">
                <a:solidFill>
                  <a:schemeClr val="accent6"/>
                </a:solidFill>
                <a:latin typeface="メイリオ" panose="020B0604030504040204" pitchFamily="50" charset="-128"/>
                <a:ea typeface="メイリオ" panose="020B0604030504040204" pitchFamily="50" charset="-128"/>
              </a:rPr>
              <a:t>分岐結果の </a:t>
            </a:r>
            <a:r>
              <a:rPr kumimoji="1" lang="en-US" altLang="ja-JP" sz="1600" dirty="0">
                <a:solidFill>
                  <a:schemeClr val="accent6"/>
                </a:solidFill>
                <a:latin typeface="メイリオ" panose="020B0604030504040204" pitchFamily="50" charset="-128"/>
                <a:ea typeface="メイリオ" panose="020B0604030504040204" pitchFamily="50" charset="-128"/>
              </a:rPr>
              <a:t>PC </a:t>
            </a:r>
            <a:r>
              <a:rPr kumimoji="1" lang="ja-JP" altLang="en-US" sz="1600" dirty="0" err="1">
                <a:solidFill>
                  <a:schemeClr val="accent6"/>
                </a:solidFill>
                <a:latin typeface="メイリオ" panose="020B0604030504040204" pitchFamily="50" charset="-128"/>
                <a:ea typeface="メイリオ" panose="020B0604030504040204" pitchFamily="50" charset="-128"/>
              </a:rPr>
              <a:t>への</a:t>
            </a:r>
            <a:r>
              <a:rPr kumimoji="1" lang="ja-JP" altLang="en-US" sz="1600" dirty="0">
                <a:solidFill>
                  <a:schemeClr val="accent6"/>
                </a:solidFill>
                <a:latin typeface="メイリオ" panose="020B0604030504040204" pitchFamily="50" charset="-128"/>
                <a:ea typeface="メイリオ" panose="020B0604030504040204" pitchFamily="50" charset="-128"/>
              </a:rPr>
              <a:t>反映</a:t>
            </a:r>
            <a:endParaRPr kumimoji="1" lang="en-US" altLang="ja-JP" sz="1600" dirty="0">
              <a:solidFill>
                <a:schemeClr val="accent6"/>
              </a:solidFill>
              <a:latin typeface="メイリオ" panose="020B0604030504040204" pitchFamily="50" charset="-128"/>
              <a:ea typeface="メイリオ" panose="020B0604030504040204" pitchFamily="50" charset="-128"/>
            </a:endParaRPr>
          </a:p>
          <a:p>
            <a:r>
              <a:rPr kumimoji="1" lang="ja-JP" altLang="en-US" sz="1600" dirty="0">
                <a:solidFill>
                  <a:schemeClr val="accent6"/>
                </a:solidFill>
                <a:latin typeface="メイリオ" panose="020B0604030504040204" pitchFamily="50" charset="-128"/>
                <a:ea typeface="メイリオ" panose="020B0604030504040204" pitchFamily="50" charset="-128"/>
              </a:rPr>
              <a:t>制御ハザードの原因</a:t>
            </a:r>
          </a:p>
        </p:txBody>
      </p:sp>
      <p:sp>
        <p:nvSpPr>
          <p:cNvPr id="49" name="正方形/長方形 48"/>
          <p:cNvSpPr/>
          <p:nvPr/>
        </p:nvSpPr>
        <p:spPr bwMode="auto">
          <a:xfrm>
            <a:off x="3311986" y="2888994"/>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marL="342900" indent="-342900">
              <a:buAutoNum type="arabicPeriod"/>
            </a:pPr>
            <a:r>
              <a:rPr kumimoji="1" lang="ja-JP" altLang="en-US" sz="1600" dirty="0">
                <a:solidFill>
                  <a:schemeClr val="accent6"/>
                </a:solidFill>
                <a:latin typeface="メイリオ" panose="020B0604030504040204" pitchFamily="50" charset="-128"/>
                <a:ea typeface="メイリオ" panose="020B0604030504040204" pitchFamily="50" charset="-128"/>
              </a:rPr>
              <a:t>演算やロードの結果の書き込み</a:t>
            </a:r>
            <a:br>
              <a:rPr kumimoji="1" lang="en-US" altLang="ja-JP" sz="1600" dirty="0">
                <a:solidFill>
                  <a:schemeClr val="accent6"/>
                </a:solidFill>
                <a:latin typeface="メイリオ" panose="020B0604030504040204" pitchFamily="50" charset="-128"/>
                <a:ea typeface="メイリオ" panose="020B0604030504040204" pitchFamily="50" charset="-128"/>
              </a:rPr>
            </a:br>
            <a:r>
              <a:rPr kumimoji="1" lang="ja-JP" altLang="en-US" sz="1600" dirty="0">
                <a:solidFill>
                  <a:schemeClr val="accent6"/>
                </a:solidFill>
                <a:latin typeface="メイリオ" panose="020B0604030504040204" pitchFamily="50" charset="-128"/>
                <a:ea typeface="メイリオ" panose="020B0604030504040204" pitchFamily="50" charset="-128"/>
              </a:rPr>
              <a:t>データハザードの原因</a:t>
            </a:r>
          </a:p>
        </p:txBody>
      </p:sp>
    </p:spTree>
    <p:extLst>
      <p:ext uri="{BB962C8B-B14F-4D97-AF65-F5344CB8AC3E}">
        <p14:creationId xmlns:p14="http://schemas.microsoft.com/office/powerpoint/2010/main" val="4236209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データ・ハザード</a:t>
            </a:r>
            <a:endParaRPr kumimoji="1" lang="ja-JP" altLang="en-US" dirty="0"/>
          </a:p>
        </p:txBody>
      </p:sp>
      <p:sp>
        <p:nvSpPr>
          <p:cNvPr id="58" name="コンテンツ プレースホルダー 57"/>
          <p:cNvSpPr>
            <a:spLocks noGrp="1"/>
          </p:cNvSpPr>
          <p:nvPr>
            <p:ph idx="4294967295"/>
          </p:nvPr>
        </p:nvSpPr>
        <p:spPr>
          <a:xfrm>
            <a:off x="251952" y="4689014"/>
            <a:ext cx="8730097" cy="1369161"/>
          </a:xfrm>
          <a:prstGeom prst="rect">
            <a:avLst/>
          </a:prstGeom>
        </p:spPr>
        <p:txBody>
          <a:bodyPr/>
          <a:lstStyle/>
          <a:p>
            <a:r>
              <a:rPr lang="ja-JP" altLang="en-US" sz="2000" dirty="0"/>
              <a:t>レジスタ・ファイルへのアクセス</a:t>
            </a:r>
            <a:endParaRPr lang="en-US" altLang="ja-JP" sz="2000" dirty="0"/>
          </a:p>
          <a:p>
            <a:pPr lvl="1"/>
            <a:r>
              <a:rPr lang="ja-JP" altLang="en-US" sz="2000" dirty="0"/>
              <a:t>演算の入力は </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dirty="0"/>
              <a:t>  </a:t>
            </a:r>
            <a:r>
              <a:rPr lang="ja-JP" altLang="en-US" sz="2000" dirty="0"/>
              <a:t>の人がレジスタ・ファイルから読み出す</a:t>
            </a:r>
            <a:endParaRPr lang="en-US" altLang="ja-JP" sz="2000" dirty="0"/>
          </a:p>
          <a:p>
            <a:pPr lvl="1"/>
            <a:r>
              <a:rPr lang="ja-JP" altLang="en-US" sz="2000" dirty="0"/>
              <a:t>演算の結果は</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2000" dirty="0"/>
              <a:t>の人がレジスタ・ファイルに書き込む</a:t>
            </a:r>
            <a:endPar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p:cNvSpPr/>
          <p:nvPr/>
        </p:nvSpPr>
        <p:spPr bwMode="auto">
          <a:xfrm>
            <a:off x="521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tx1">
                    <a:lumMod val="75000"/>
                    <a:lumOff val="25000"/>
                  </a:schemeClr>
                </a:solidFill>
              </a:rPr>
              <a:t>命令メモリ</a:t>
            </a:r>
          </a:p>
        </p:txBody>
      </p:sp>
      <p:sp>
        <p:nvSpPr>
          <p:cNvPr id="30" name="Freeform 25"/>
          <p:cNvSpPr>
            <a:spLocks/>
          </p:cNvSpPr>
          <p:nvPr/>
        </p:nvSpPr>
        <p:spPr bwMode="auto">
          <a:xfrm>
            <a:off x="3221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4842165"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32" name="グループ化 31"/>
          <p:cNvGrpSpPr/>
          <p:nvPr/>
        </p:nvGrpSpPr>
        <p:grpSpPr>
          <a:xfrm>
            <a:off x="3510017" y="1719053"/>
            <a:ext cx="1008112" cy="432048"/>
            <a:chOff x="3563888" y="2708920"/>
            <a:chExt cx="1296144" cy="432048"/>
          </a:xfrm>
        </p:grpSpPr>
        <p:sp>
          <p:nvSpPr>
            <p:cNvPr id="33"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5958289"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611956"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gr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kumimoji="1" lang="en-US" altLang="ja-JP" sz="2000" dirty="0">
                <a:solidFill>
                  <a:schemeClr val="bg1"/>
                </a:solidFill>
                <a:latin typeface="Arial Narrow" panose="020B0606020202030204" pitchFamily="34" charset="0"/>
              </a:rPr>
              <a:t>b=a+1</a:t>
            </a:r>
          </a:p>
          <a:p>
            <a:pPr>
              <a:lnSpc>
                <a:spcPct val="80000"/>
              </a:lnSpc>
            </a:pPr>
            <a:r>
              <a:rPr kumimoji="1"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kumimoji="1"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kumimoji="1" lang="ja-JP" altLang="en-US" sz="2000" dirty="0">
              <a:solidFill>
                <a:schemeClr val="bg1"/>
              </a:solidFill>
              <a:latin typeface="Arial Narrow" panose="020B0606020202030204" pitchFamily="34" charset="0"/>
            </a:endParaRPr>
          </a:p>
        </p:txBody>
      </p:sp>
      <p:sp>
        <p:nvSpPr>
          <p:cNvPr id="43" name="角丸四角形吹き出し 42"/>
          <p:cNvSpPr/>
          <p:nvPr/>
        </p:nvSpPr>
        <p:spPr bwMode="auto">
          <a:xfrm>
            <a:off x="6552021" y="1808982"/>
            <a:ext cx="1350015" cy="432646"/>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書きます！</a:t>
            </a:r>
          </a:p>
        </p:txBody>
      </p:sp>
      <p:sp>
        <p:nvSpPr>
          <p:cNvPr id="45" name="角丸四角形吹き出し 44"/>
          <p:cNvSpPr/>
          <p:nvPr/>
        </p:nvSpPr>
        <p:spPr bwMode="auto">
          <a:xfrm>
            <a:off x="3671989" y="1808982"/>
            <a:ext cx="1350015"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読みます！</a:t>
            </a:r>
          </a:p>
        </p:txBody>
      </p:sp>
    </p:spTree>
    <p:extLst>
      <p:ext uri="{BB962C8B-B14F-4D97-AF65-F5344CB8AC3E}">
        <p14:creationId xmlns:p14="http://schemas.microsoft.com/office/powerpoint/2010/main" val="6586131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データ・ハザード</a:t>
            </a:r>
            <a:endParaRPr kumimoji="1" lang="ja-JP" altLang="en-US" dirty="0"/>
          </a:p>
        </p:txBody>
      </p:sp>
      <p:sp>
        <p:nvSpPr>
          <p:cNvPr id="58" name="コンテンツ プレースホルダー 57"/>
          <p:cNvSpPr>
            <a:spLocks noGrp="1"/>
          </p:cNvSpPr>
          <p:nvPr>
            <p:ph idx="4294967295"/>
          </p:nvPr>
        </p:nvSpPr>
        <p:spPr>
          <a:xfrm>
            <a:off x="251952" y="4869016"/>
            <a:ext cx="8730097" cy="1369161"/>
          </a:xfrm>
          <a:prstGeom prst="rect">
            <a:avLst/>
          </a:prstGeom>
        </p:spPr>
        <p:txBody>
          <a:bodyPr/>
          <a:lstStyle/>
          <a:p>
            <a:r>
              <a:rPr lang="ja-JP" altLang="en-US" sz="2000" dirty="0"/>
              <a:t>直前の命令の結果を使う命令が現れた場合：</a:t>
            </a:r>
            <a:endParaRPr lang="en-US" altLang="ja-JP" sz="2000" dirty="0"/>
          </a:p>
          <a:p>
            <a:pPr lvl="1"/>
            <a:r>
              <a:rPr lang="ja-JP" altLang="en-US" sz="2000" dirty="0"/>
              <a:t> </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dirty="0"/>
              <a:t>  </a:t>
            </a:r>
            <a:r>
              <a:rPr lang="ja-JP" altLang="en-US" sz="2000" dirty="0"/>
              <a:t>の人が </a:t>
            </a:r>
            <a:r>
              <a:rPr lang="en-US" altLang="ja-JP" sz="2000" b="1" dirty="0"/>
              <a:t>b</a:t>
            </a:r>
            <a:r>
              <a:rPr lang="en-US" altLang="ja-JP" sz="2000" dirty="0"/>
              <a:t>=a+1 </a:t>
            </a:r>
            <a:r>
              <a:rPr lang="ja-JP" altLang="en-US" sz="2000" dirty="0"/>
              <a:t>の結果を読もうとしても，</a:t>
            </a:r>
            <a:endParaRPr lang="en-US" altLang="ja-JP" sz="2000" dirty="0"/>
          </a:p>
          <a:p>
            <a:pPr lvl="1"/>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の人がまだ計算中でレジスタ・ファイルに </a:t>
            </a:r>
            <a:r>
              <a:rPr lang="en-US" altLang="ja-JP" dirty="0"/>
              <a:t>b </a:t>
            </a:r>
            <a:r>
              <a:rPr lang="ja-JP" altLang="en-US" dirty="0"/>
              <a:t>が書けていない</a:t>
            </a:r>
            <a:endParaRPr lang="en-US" altLang="ja-JP" dirty="0"/>
          </a:p>
          <a:p>
            <a:pPr lvl="1"/>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2000" dirty="0"/>
              <a:t>の人が計算結果をかけるのはさらに次のサイクル</a:t>
            </a:r>
            <a:endPar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p:cNvSpPr/>
          <p:nvPr/>
        </p:nvSpPr>
        <p:spPr bwMode="auto">
          <a:xfrm>
            <a:off x="521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1">
                    <a:lumMod val="75000"/>
                  </a:schemeClr>
                </a:solidFill>
              </a:rPr>
              <a:t>命令メモリ</a:t>
            </a:r>
            <a:endParaRPr kumimoji="1" lang="en-US" altLang="ja-JP" sz="1600" dirty="0">
              <a:solidFill>
                <a:schemeClr val="accent1">
                  <a:lumMod val="75000"/>
                </a:schemeClr>
              </a:solidFill>
            </a:endParaRPr>
          </a:p>
          <a:p>
            <a:pPr algn="ctr"/>
            <a:r>
              <a:rPr kumimoji="1" lang="ja-JP" altLang="en-US" sz="1600" dirty="0">
                <a:solidFill>
                  <a:schemeClr val="accent1">
                    <a:lumMod val="75000"/>
                  </a:schemeClr>
                </a:solidFill>
              </a:rPr>
              <a:t>（プログラム）</a:t>
            </a:r>
          </a:p>
        </p:txBody>
      </p:sp>
      <p:sp>
        <p:nvSpPr>
          <p:cNvPr id="30" name="Freeform 25"/>
          <p:cNvSpPr>
            <a:spLocks/>
          </p:cNvSpPr>
          <p:nvPr/>
        </p:nvSpPr>
        <p:spPr bwMode="auto">
          <a:xfrm>
            <a:off x="3221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4842165"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grpSp>
        <p:nvGrpSpPr>
          <p:cNvPr id="32" name="グループ化 31"/>
          <p:cNvGrpSpPr/>
          <p:nvPr/>
        </p:nvGrpSpPr>
        <p:grpSpPr>
          <a:xfrm>
            <a:off x="3510017" y="1719053"/>
            <a:ext cx="1008112" cy="432048"/>
            <a:chOff x="3563888" y="2708920"/>
            <a:chExt cx="1296144" cy="432048"/>
          </a:xfrm>
        </p:grpSpPr>
        <p:sp>
          <p:nvSpPr>
            <p:cNvPr id="33"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5958289"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611956"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gr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kumimoji="1" lang="en-US" altLang="ja-JP" sz="2000" b="1" dirty="0">
                <a:solidFill>
                  <a:schemeClr val="tx2"/>
                </a:solidFill>
                <a:latin typeface="Arial Narrow" panose="020B0606020202030204" pitchFamily="34" charset="0"/>
              </a:rPr>
              <a:t>b</a:t>
            </a:r>
            <a:r>
              <a:rPr kumimoji="1" lang="en-US" altLang="ja-JP" sz="2000" dirty="0">
                <a:solidFill>
                  <a:schemeClr val="bg1"/>
                </a:solidFill>
                <a:latin typeface="Arial Narrow" panose="020B0606020202030204" pitchFamily="34" charset="0"/>
              </a:rPr>
              <a:t>=a+1</a:t>
            </a:r>
          </a:p>
          <a:p>
            <a:pPr>
              <a:lnSpc>
                <a:spcPct val="80000"/>
              </a:lnSpc>
            </a:pPr>
            <a:r>
              <a:rPr kumimoji="1" lang="en-US" altLang="ja-JP" sz="2000" dirty="0">
                <a:solidFill>
                  <a:schemeClr val="bg1"/>
                </a:solidFill>
                <a:latin typeface="Arial Narrow" panose="020B0606020202030204" pitchFamily="34" charset="0"/>
              </a:rPr>
              <a:t>c=</a:t>
            </a:r>
            <a:r>
              <a:rPr kumimoji="1" lang="en-US" altLang="ja-JP" sz="2000" b="1" dirty="0">
                <a:solidFill>
                  <a:schemeClr val="tx2"/>
                </a:solidFill>
                <a:latin typeface="Arial Narrow" panose="020B0606020202030204" pitchFamily="34" charset="0"/>
              </a:rPr>
              <a:t>b</a:t>
            </a:r>
            <a:r>
              <a:rPr kumimoji="1" lang="en-US" altLang="ja-JP" sz="2000" dirty="0">
                <a:solidFill>
                  <a:schemeClr val="bg1"/>
                </a:solidFill>
                <a:latin typeface="Arial Narrow" panose="020B0606020202030204" pitchFamily="34" charset="0"/>
              </a:rPr>
              <a:t>-1</a:t>
            </a:r>
          </a:p>
          <a:p>
            <a:pPr>
              <a:lnSpc>
                <a:spcPct val="80000"/>
              </a:lnSpc>
            </a:pPr>
            <a:r>
              <a:rPr lang="en-US" altLang="ja-JP" sz="2000" dirty="0">
                <a:solidFill>
                  <a:schemeClr val="bg1"/>
                </a:solidFill>
                <a:latin typeface="Arial Narrow" panose="020B0606020202030204" pitchFamily="34" charset="0"/>
              </a:rPr>
              <a:t>...</a:t>
            </a:r>
            <a:endParaRPr kumimoji="1" lang="en-US" altLang="ja-JP" sz="2000" dirty="0">
              <a:solidFill>
                <a:schemeClr val="bg1"/>
              </a:solidFill>
              <a:latin typeface="Arial Narrow" panose="020B0606020202030204" pitchFamily="34" charset="0"/>
            </a:endParaRPr>
          </a:p>
          <a:p>
            <a:pPr>
              <a:lnSpc>
                <a:spcPct val="80000"/>
              </a:lnSpc>
            </a:pPr>
            <a:r>
              <a:rPr lang="en-US" altLang="ja-JP" sz="2000" dirty="0">
                <a:solidFill>
                  <a:schemeClr val="bg1"/>
                </a:solidFill>
                <a:latin typeface="Arial Narrow" panose="020B0606020202030204" pitchFamily="34" charset="0"/>
              </a:rPr>
              <a:t>…</a:t>
            </a:r>
          </a:p>
          <a:p>
            <a:pPr>
              <a:lnSpc>
                <a:spcPct val="80000"/>
              </a:lnSpc>
            </a:pPr>
            <a:r>
              <a:rPr kumimoji="1" lang="en-US" altLang="ja-JP" sz="2000" dirty="0">
                <a:solidFill>
                  <a:schemeClr val="bg1"/>
                </a:solidFill>
                <a:latin typeface="Arial Narrow" panose="020B0606020202030204" pitchFamily="34" charset="0"/>
              </a:rPr>
              <a:t>...</a:t>
            </a:r>
            <a:endParaRPr kumimoji="1" lang="ja-JP" altLang="en-US" sz="2000" dirty="0">
              <a:solidFill>
                <a:schemeClr val="bg1"/>
              </a:solidFill>
              <a:latin typeface="Arial Narrow" panose="020B0606020202030204" pitchFamily="34" charset="0"/>
            </a:endParaRPr>
          </a:p>
        </p:txBody>
      </p:sp>
      <p:sp>
        <p:nvSpPr>
          <p:cNvPr id="43" name="角丸四角形吹き出し 42"/>
          <p:cNvSpPr/>
          <p:nvPr/>
        </p:nvSpPr>
        <p:spPr bwMode="auto">
          <a:xfrm>
            <a:off x="5202007" y="1808982"/>
            <a:ext cx="1260014" cy="432646"/>
          </a:xfrm>
          <a:prstGeom prst="wedgeRoundRectCallout">
            <a:avLst>
              <a:gd name="adj1" fmla="val -51493"/>
              <a:gd name="adj2" fmla="val 139793"/>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計算中･･･</a:t>
            </a:r>
          </a:p>
        </p:txBody>
      </p:sp>
      <p:sp>
        <p:nvSpPr>
          <p:cNvPr id="45" name="角丸四角形吹き出し 44"/>
          <p:cNvSpPr/>
          <p:nvPr/>
        </p:nvSpPr>
        <p:spPr bwMode="auto">
          <a:xfrm>
            <a:off x="3671990" y="1808982"/>
            <a:ext cx="1260014"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tx1">
                    <a:lumMod val="65000"/>
                    <a:lumOff val="35000"/>
                  </a:schemeClr>
                </a:solidFill>
                <a:latin typeface="Arial Narrow" panose="020B0606020202030204" pitchFamily="34" charset="0"/>
              </a:rPr>
              <a:t>b </a:t>
            </a:r>
            <a:r>
              <a:rPr kumimoji="1" lang="ja-JP" altLang="en-US" dirty="0">
                <a:solidFill>
                  <a:schemeClr val="tx1">
                    <a:lumMod val="65000"/>
                    <a:lumOff val="35000"/>
                  </a:schemeClr>
                </a:solidFill>
                <a:latin typeface="Arial Narrow" panose="020B0606020202030204" pitchFamily="34" charset="0"/>
              </a:rPr>
              <a:t>ください</a:t>
            </a:r>
          </a:p>
        </p:txBody>
      </p:sp>
      <p:sp>
        <p:nvSpPr>
          <p:cNvPr id="46" name="角丸四角形 45"/>
          <p:cNvSpPr/>
          <p:nvPr/>
        </p:nvSpPr>
        <p:spPr bwMode="auto">
          <a:xfrm>
            <a:off x="4932004"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b="1" dirty="0">
                <a:solidFill>
                  <a:schemeClr val="tx2"/>
                </a:solidFill>
                <a:latin typeface="Arial Narrow" panose="020B0606020202030204" pitchFamily="34" charset="0"/>
              </a:rPr>
              <a:t>b</a:t>
            </a:r>
            <a:r>
              <a:rPr kumimoji="1" lang="en-US" altLang="ja-JP" dirty="0">
                <a:latin typeface="Arial Narrow" panose="020B0606020202030204" pitchFamily="34" charset="0"/>
              </a:rPr>
              <a:t>=a+1</a:t>
            </a:r>
            <a:endParaRPr kumimoji="1" lang="ja-JP" altLang="en-US" dirty="0">
              <a:latin typeface="Arial Narrow" panose="020B0606020202030204" pitchFamily="34" charset="0"/>
            </a:endParaRPr>
          </a:p>
        </p:txBody>
      </p:sp>
      <p:sp>
        <p:nvSpPr>
          <p:cNvPr id="47" name="角丸四角形 46"/>
          <p:cNvSpPr/>
          <p:nvPr/>
        </p:nvSpPr>
        <p:spPr bwMode="auto">
          <a:xfrm>
            <a:off x="3491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c=</a:t>
            </a:r>
            <a:r>
              <a:rPr lang="en-US" altLang="ja-JP" b="1" dirty="0">
                <a:solidFill>
                  <a:schemeClr val="tx2"/>
                </a:solidFill>
                <a:latin typeface="Arial Narrow" panose="020B0606020202030204" pitchFamily="34" charset="0"/>
              </a:rPr>
              <a:t>b</a:t>
            </a:r>
            <a:r>
              <a:rPr lang="en-US" altLang="ja-JP" dirty="0">
                <a:latin typeface="Arial Narrow" panose="020B0606020202030204" pitchFamily="34" charset="0"/>
              </a:rPr>
              <a:t>-1</a:t>
            </a:r>
            <a:endParaRPr kumimoji="1" lang="ja-JP" altLang="en-US" dirty="0">
              <a:latin typeface="Arial Narrow" panose="020B0606020202030204" pitchFamily="34" charset="0"/>
            </a:endParaRPr>
          </a:p>
        </p:txBody>
      </p:sp>
      <p:sp>
        <p:nvSpPr>
          <p:cNvPr id="48" name="角丸四角形 47"/>
          <p:cNvSpPr/>
          <p:nvPr/>
        </p:nvSpPr>
        <p:spPr bwMode="auto">
          <a:xfrm>
            <a:off x="2051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sp>
        <p:nvSpPr>
          <p:cNvPr id="59" name="角丸四角形吹き出し 58"/>
          <p:cNvSpPr/>
          <p:nvPr/>
        </p:nvSpPr>
        <p:spPr bwMode="auto">
          <a:xfrm>
            <a:off x="6642023" y="1808981"/>
            <a:ext cx="2160024" cy="450005"/>
          </a:xfrm>
          <a:prstGeom prst="wedgeRoundRectCallout">
            <a:avLst>
              <a:gd name="adj1" fmla="val -49124"/>
              <a:gd name="adj2" fmla="val 10124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まだ</a:t>
            </a:r>
            <a:r>
              <a:rPr kumimoji="1" lang="ja-JP" altLang="en-US" dirty="0" err="1">
                <a:solidFill>
                  <a:schemeClr val="tx1">
                    <a:lumMod val="65000"/>
                    <a:lumOff val="35000"/>
                  </a:schemeClr>
                </a:solidFill>
                <a:latin typeface="Arial Narrow" panose="020B0606020202030204" pitchFamily="34" charset="0"/>
              </a:rPr>
              <a:t>ｂ</a:t>
            </a:r>
            <a:r>
              <a:rPr kumimoji="1" lang="ja-JP" altLang="en-US" dirty="0">
                <a:solidFill>
                  <a:schemeClr val="tx1">
                    <a:lumMod val="65000"/>
                    <a:lumOff val="35000"/>
                  </a:schemeClr>
                </a:solidFill>
                <a:latin typeface="Arial Narrow" panose="020B0606020202030204" pitchFamily="34" charset="0"/>
              </a:rPr>
              <a:t>書けないよ</a:t>
            </a:r>
          </a:p>
        </p:txBody>
      </p:sp>
    </p:spTree>
    <p:extLst>
      <p:ext uri="{BB962C8B-B14F-4D97-AF65-F5344CB8AC3E}">
        <p14:creationId xmlns:p14="http://schemas.microsoft.com/office/powerpoint/2010/main" val="3884891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データ・ハザード</a:t>
            </a:r>
          </a:p>
        </p:txBody>
      </p:sp>
      <p:sp>
        <p:nvSpPr>
          <p:cNvPr id="3" name="テキスト プレースホルダー 2"/>
          <p:cNvSpPr>
            <a:spLocks noGrp="1"/>
          </p:cNvSpPr>
          <p:nvPr>
            <p:ph type="body" sz="quarter" idx="10"/>
          </p:nvPr>
        </p:nvSpPr>
        <p:spPr>
          <a:xfrm>
            <a:off x="611956" y="4149008"/>
            <a:ext cx="8280092" cy="2159717"/>
          </a:xfrm>
        </p:spPr>
        <p:txBody>
          <a:bodyPr/>
          <a:lstStyle/>
          <a:p>
            <a:r>
              <a:rPr kumimoji="1" lang="en-US" altLang="ja-JP" dirty="0"/>
              <a:t>I0 </a:t>
            </a:r>
            <a:r>
              <a:rPr kumimoji="1" lang="ja-JP" altLang="en-US" dirty="0"/>
              <a:t>の </a:t>
            </a:r>
            <a:r>
              <a:rPr kumimoji="1" lang="en-US" altLang="ja-JP" dirty="0"/>
              <a:t>WB </a:t>
            </a:r>
            <a:r>
              <a:rPr kumimoji="1" lang="ja-JP" altLang="en-US" dirty="0"/>
              <a:t>が終わるまで，その結果はレジスタに書き込まれない</a:t>
            </a:r>
            <a:endParaRPr kumimoji="1" lang="en-US" altLang="ja-JP" dirty="0"/>
          </a:p>
          <a:p>
            <a:pPr lvl="1"/>
            <a:r>
              <a:rPr lang="en-US" altLang="ja-JP" dirty="0"/>
              <a:t>I4 </a:t>
            </a:r>
            <a:r>
              <a:rPr lang="ja-JP" altLang="en-US" dirty="0"/>
              <a:t>までは，その値がレジスタから得られない</a:t>
            </a:r>
            <a:endParaRPr lang="en-US" altLang="ja-JP" dirty="0"/>
          </a:p>
          <a:p>
            <a:pPr lvl="1"/>
            <a:r>
              <a:rPr kumimoji="1" lang="en-US" altLang="ja-JP" dirty="0"/>
              <a:t>ID </a:t>
            </a:r>
            <a:r>
              <a:rPr kumimoji="1" lang="ja-JP" altLang="en-US" dirty="0"/>
              <a:t>ステージでレジスタを読むため</a:t>
            </a:r>
          </a:p>
        </p:txBody>
      </p:sp>
      <p:cxnSp>
        <p:nvCxnSpPr>
          <p:cNvPr id="4" name="直線コネクタ 3"/>
          <p:cNvCxnSpPr/>
          <p:nvPr/>
        </p:nvCxnSpPr>
        <p:spPr bwMode="auto">
          <a:xfrm>
            <a:off x="2411976" y="2438989"/>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2411976" y="1988984"/>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2951982"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7" name="Rectangle 70"/>
          <p:cNvSpPr>
            <a:spLocks noChangeArrowheads="1"/>
          </p:cNvSpPr>
          <p:nvPr/>
        </p:nvSpPr>
        <p:spPr bwMode="auto">
          <a:xfrm>
            <a:off x="3401987"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8" name="Rectangle 71"/>
          <p:cNvSpPr>
            <a:spLocks noChangeArrowheads="1"/>
          </p:cNvSpPr>
          <p:nvPr/>
        </p:nvSpPr>
        <p:spPr bwMode="auto">
          <a:xfrm>
            <a:off x="3851992"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9" name="Rectangle 72"/>
          <p:cNvSpPr>
            <a:spLocks noChangeArrowheads="1"/>
          </p:cNvSpPr>
          <p:nvPr/>
        </p:nvSpPr>
        <p:spPr bwMode="auto">
          <a:xfrm>
            <a:off x="4301997"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1" name="Rectangle 69"/>
          <p:cNvSpPr>
            <a:spLocks noChangeArrowheads="1"/>
          </p:cNvSpPr>
          <p:nvPr/>
        </p:nvSpPr>
        <p:spPr bwMode="auto">
          <a:xfrm>
            <a:off x="3401987"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2" name="Rectangle 70"/>
          <p:cNvSpPr>
            <a:spLocks noChangeArrowheads="1"/>
          </p:cNvSpPr>
          <p:nvPr/>
        </p:nvSpPr>
        <p:spPr bwMode="auto">
          <a:xfrm>
            <a:off x="3851992"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3" name="Rectangle 71"/>
          <p:cNvSpPr>
            <a:spLocks noChangeArrowheads="1"/>
          </p:cNvSpPr>
          <p:nvPr/>
        </p:nvSpPr>
        <p:spPr bwMode="auto">
          <a:xfrm>
            <a:off x="4301997"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4" name="Rectangle 72"/>
          <p:cNvSpPr>
            <a:spLocks noChangeArrowheads="1"/>
          </p:cNvSpPr>
          <p:nvPr/>
        </p:nvSpPr>
        <p:spPr bwMode="auto">
          <a:xfrm>
            <a:off x="4752002"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5" name="Rectangle 73"/>
          <p:cNvSpPr>
            <a:spLocks noChangeArrowheads="1"/>
          </p:cNvSpPr>
          <p:nvPr/>
        </p:nvSpPr>
        <p:spPr bwMode="auto">
          <a:xfrm>
            <a:off x="5202007"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6" name="Rectangle 69"/>
          <p:cNvSpPr>
            <a:spLocks noChangeArrowheads="1"/>
          </p:cNvSpPr>
          <p:nvPr/>
        </p:nvSpPr>
        <p:spPr bwMode="auto">
          <a:xfrm>
            <a:off x="3851992"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7" name="Rectangle 70"/>
          <p:cNvSpPr>
            <a:spLocks noChangeArrowheads="1"/>
          </p:cNvSpPr>
          <p:nvPr/>
        </p:nvSpPr>
        <p:spPr bwMode="auto">
          <a:xfrm>
            <a:off x="4301997"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8" name="Rectangle 71"/>
          <p:cNvSpPr>
            <a:spLocks noChangeArrowheads="1"/>
          </p:cNvSpPr>
          <p:nvPr/>
        </p:nvSpPr>
        <p:spPr bwMode="auto">
          <a:xfrm>
            <a:off x="4752002"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9" name="Rectangle 72"/>
          <p:cNvSpPr>
            <a:spLocks noChangeArrowheads="1"/>
          </p:cNvSpPr>
          <p:nvPr/>
        </p:nvSpPr>
        <p:spPr bwMode="auto">
          <a:xfrm>
            <a:off x="5202007"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0" name="Rectangle 73"/>
          <p:cNvSpPr>
            <a:spLocks noChangeArrowheads="1"/>
          </p:cNvSpPr>
          <p:nvPr/>
        </p:nvSpPr>
        <p:spPr bwMode="auto">
          <a:xfrm>
            <a:off x="5652012"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1" name="正方形/長方形 20"/>
          <p:cNvSpPr/>
          <p:nvPr/>
        </p:nvSpPr>
        <p:spPr bwMode="auto">
          <a:xfrm>
            <a:off x="1691968" y="180898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Rectangle 69"/>
          <p:cNvSpPr>
            <a:spLocks noChangeArrowheads="1"/>
          </p:cNvSpPr>
          <p:nvPr/>
        </p:nvSpPr>
        <p:spPr bwMode="auto">
          <a:xfrm>
            <a:off x="4301997"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4" name="Rectangle 70"/>
          <p:cNvSpPr>
            <a:spLocks noChangeArrowheads="1"/>
          </p:cNvSpPr>
          <p:nvPr/>
        </p:nvSpPr>
        <p:spPr bwMode="auto">
          <a:xfrm>
            <a:off x="4752002"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5" name="Rectangle 71"/>
          <p:cNvSpPr>
            <a:spLocks noChangeArrowheads="1"/>
          </p:cNvSpPr>
          <p:nvPr/>
        </p:nvSpPr>
        <p:spPr bwMode="auto">
          <a:xfrm>
            <a:off x="5202007"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6" name="Rectangle 72"/>
          <p:cNvSpPr>
            <a:spLocks noChangeArrowheads="1"/>
          </p:cNvSpPr>
          <p:nvPr/>
        </p:nvSpPr>
        <p:spPr bwMode="auto">
          <a:xfrm>
            <a:off x="5652012"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7" name="Rectangle 73"/>
          <p:cNvSpPr>
            <a:spLocks noChangeArrowheads="1"/>
          </p:cNvSpPr>
          <p:nvPr/>
        </p:nvSpPr>
        <p:spPr bwMode="auto">
          <a:xfrm>
            <a:off x="6102017"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8" name="Rectangle 69"/>
          <p:cNvSpPr>
            <a:spLocks noChangeArrowheads="1"/>
          </p:cNvSpPr>
          <p:nvPr/>
        </p:nvSpPr>
        <p:spPr bwMode="auto">
          <a:xfrm>
            <a:off x="4752002"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9" name="Rectangle 70"/>
          <p:cNvSpPr>
            <a:spLocks noChangeArrowheads="1"/>
          </p:cNvSpPr>
          <p:nvPr/>
        </p:nvSpPr>
        <p:spPr bwMode="auto">
          <a:xfrm>
            <a:off x="5202007" y="360900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30" name="Rectangle 71"/>
          <p:cNvSpPr>
            <a:spLocks noChangeArrowheads="1"/>
          </p:cNvSpPr>
          <p:nvPr/>
        </p:nvSpPr>
        <p:spPr bwMode="auto">
          <a:xfrm>
            <a:off x="5652012"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31" name="Rectangle 72"/>
          <p:cNvSpPr>
            <a:spLocks noChangeArrowheads="1"/>
          </p:cNvSpPr>
          <p:nvPr/>
        </p:nvSpPr>
        <p:spPr bwMode="auto">
          <a:xfrm>
            <a:off x="6102017"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2" name="Rectangle 73"/>
          <p:cNvSpPr>
            <a:spLocks noChangeArrowheads="1"/>
          </p:cNvSpPr>
          <p:nvPr/>
        </p:nvSpPr>
        <p:spPr bwMode="auto">
          <a:xfrm>
            <a:off x="6552022"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7" name="直線コネクタ 36"/>
          <p:cNvCxnSpPr/>
          <p:nvPr/>
        </p:nvCxnSpPr>
        <p:spPr bwMode="auto">
          <a:xfrm>
            <a:off x="2411976" y="2888994"/>
            <a:ext cx="1440088" cy="0"/>
          </a:xfrm>
          <a:prstGeom prst="line">
            <a:avLst/>
          </a:prstGeom>
          <a:noFill/>
          <a:ln w="9525" cap="flat" cmpd="sng" algn="ctr">
            <a:solidFill>
              <a:schemeClr val="tx1"/>
            </a:solidFill>
            <a:prstDash val="dash"/>
            <a:round/>
            <a:headEnd type="none" w="med" len="med"/>
            <a:tailEnd type="none" w="med" len="med"/>
          </a:ln>
          <a:effectLst/>
        </p:spPr>
      </p:cxnSp>
      <p:sp>
        <p:nvSpPr>
          <p:cNvPr id="38" name="正方形/長方形 37"/>
          <p:cNvSpPr/>
          <p:nvPr/>
        </p:nvSpPr>
        <p:spPr bwMode="auto">
          <a:xfrm>
            <a:off x="1691968" y="225898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1691968" y="270899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0" name="直線コネクタ 39"/>
          <p:cNvCxnSpPr/>
          <p:nvPr/>
        </p:nvCxnSpPr>
        <p:spPr bwMode="auto">
          <a:xfrm>
            <a:off x="2411976" y="3338999"/>
            <a:ext cx="1890093" cy="0"/>
          </a:xfrm>
          <a:prstGeom prst="line">
            <a:avLst/>
          </a:prstGeom>
          <a:noFill/>
          <a:ln w="9525" cap="flat" cmpd="sng" algn="ctr">
            <a:solidFill>
              <a:schemeClr val="tx1"/>
            </a:solidFill>
            <a:prstDash val="dash"/>
            <a:round/>
            <a:headEnd type="none" w="med" len="med"/>
            <a:tailEnd type="none" w="med" len="med"/>
          </a:ln>
          <a:effectLst/>
        </p:spPr>
      </p:cxnSp>
      <p:sp>
        <p:nvSpPr>
          <p:cNvPr id="41" name="正方形/長方形 40"/>
          <p:cNvSpPr/>
          <p:nvPr/>
        </p:nvSpPr>
        <p:spPr bwMode="auto">
          <a:xfrm>
            <a:off x="1691968" y="315899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2" name="直線コネクタ 41"/>
          <p:cNvCxnSpPr>
            <a:endCxn id="28" idx="1"/>
          </p:cNvCxnSpPr>
          <p:nvPr/>
        </p:nvCxnSpPr>
        <p:spPr bwMode="auto">
          <a:xfrm flipV="1">
            <a:off x="2411976" y="3789002"/>
            <a:ext cx="2340026" cy="2"/>
          </a:xfrm>
          <a:prstGeom prst="line">
            <a:avLst/>
          </a:prstGeom>
          <a:noFill/>
          <a:ln w="9525" cap="flat" cmpd="sng" algn="ctr">
            <a:solidFill>
              <a:schemeClr val="tx1"/>
            </a:solidFill>
            <a:prstDash val="dash"/>
            <a:round/>
            <a:headEnd type="none" w="med" len="med"/>
            <a:tailEnd type="none" w="med" len="med"/>
          </a:ln>
          <a:effectLst/>
        </p:spPr>
      </p:cxnSp>
      <p:sp>
        <p:nvSpPr>
          <p:cNvPr id="43" name="正方形/長方形 42"/>
          <p:cNvSpPr/>
          <p:nvPr/>
        </p:nvSpPr>
        <p:spPr bwMode="auto">
          <a:xfrm>
            <a:off x="1691968" y="360900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I4</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4" name="Rectangle 73"/>
          <p:cNvSpPr>
            <a:spLocks noChangeArrowheads="1"/>
          </p:cNvSpPr>
          <p:nvPr/>
        </p:nvSpPr>
        <p:spPr bwMode="auto">
          <a:xfrm>
            <a:off x="4752002" y="180898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45" name="直線コネクタ 44"/>
          <p:cNvCxnSpPr/>
          <p:nvPr/>
        </p:nvCxnSpPr>
        <p:spPr bwMode="auto">
          <a:xfrm>
            <a:off x="5164837" y="1748717"/>
            <a:ext cx="0" cy="2340026"/>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336145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データ・ハザードの解消方法</a:t>
            </a:r>
          </a:p>
        </p:txBody>
      </p:sp>
      <p:sp>
        <p:nvSpPr>
          <p:cNvPr id="3" name="テキスト プレースホルダー 2"/>
          <p:cNvSpPr>
            <a:spLocks noGrp="1"/>
          </p:cNvSpPr>
          <p:nvPr>
            <p:ph type="body" sz="quarter" idx="10"/>
          </p:nvPr>
        </p:nvSpPr>
        <p:spPr/>
        <p:txBody>
          <a:bodyPr/>
          <a:lstStyle/>
          <a:p>
            <a:r>
              <a:rPr kumimoji="1" lang="ja-JP" altLang="en-US" dirty="0"/>
              <a:t>解消方法</a:t>
            </a:r>
            <a:endParaRPr kumimoji="1" lang="en-US" altLang="ja-JP" dirty="0"/>
          </a:p>
          <a:p>
            <a:pPr marL="817200" lvl="1" indent="-457200">
              <a:buFont typeface="+mj-lt"/>
              <a:buAutoNum type="arabicPeriod"/>
            </a:pPr>
            <a:r>
              <a:rPr kumimoji="1" lang="ja-JP" altLang="en-US" dirty="0"/>
              <a:t>ストールさせる</a:t>
            </a:r>
            <a:endParaRPr kumimoji="1" lang="en-US" altLang="ja-JP" dirty="0"/>
          </a:p>
          <a:p>
            <a:pPr marL="817200" lvl="1" indent="-457200">
              <a:buFont typeface="+mj-lt"/>
              <a:buAutoNum type="arabicPeriod"/>
            </a:pPr>
            <a:r>
              <a:rPr kumimoji="1" lang="ja-JP" altLang="en-US" dirty="0"/>
              <a:t>遅延スロット（なにもしない）</a:t>
            </a:r>
            <a:endParaRPr kumimoji="1" lang="en-US" altLang="ja-JP" dirty="0"/>
          </a:p>
          <a:p>
            <a:pPr marL="817200" lvl="1" indent="-457200">
              <a:buFont typeface="+mj-lt"/>
              <a:buAutoNum type="arabicPeriod"/>
            </a:pPr>
            <a:r>
              <a:rPr kumimoji="1" lang="ja-JP" altLang="en-US" dirty="0"/>
              <a:t>フォワーディング</a:t>
            </a:r>
            <a:endParaRPr kumimoji="1" lang="en-US" altLang="ja-JP" dirty="0"/>
          </a:p>
        </p:txBody>
      </p:sp>
    </p:spTree>
    <p:extLst>
      <p:ext uri="{BB962C8B-B14F-4D97-AF65-F5344CB8AC3E}">
        <p14:creationId xmlns:p14="http://schemas.microsoft.com/office/powerpoint/2010/main" val="231790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１．</a:t>
            </a:r>
            <a:r>
              <a:rPr lang="ja-JP" altLang="en-US" dirty="0"/>
              <a:t>ストール</a:t>
            </a:r>
            <a:endParaRPr kumimoji="1" lang="ja-JP" altLang="en-US" dirty="0"/>
          </a:p>
        </p:txBody>
      </p:sp>
      <p:sp>
        <p:nvSpPr>
          <p:cNvPr id="58" name="コンテンツ プレースホルダー 57"/>
          <p:cNvSpPr>
            <a:spLocks noGrp="1"/>
          </p:cNvSpPr>
          <p:nvPr>
            <p:ph idx="4294967295"/>
          </p:nvPr>
        </p:nvSpPr>
        <p:spPr>
          <a:xfrm>
            <a:off x="251952" y="4869016"/>
            <a:ext cx="8730097" cy="1369161"/>
          </a:xfrm>
          <a:prstGeom prst="rect">
            <a:avLst/>
          </a:prstGeom>
        </p:spPr>
        <p:txBody>
          <a:bodyPr/>
          <a:lstStyle/>
          <a:p>
            <a:r>
              <a:rPr lang="ja-JP" altLang="en-US" sz="2000" dirty="0"/>
              <a:t>直前の命令の結果を使う命令が現れた場合：</a:t>
            </a:r>
            <a:endParaRPr lang="en-US" altLang="ja-JP" sz="2000" dirty="0"/>
          </a:p>
          <a:p>
            <a:pPr lvl="1"/>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2000" dirty="0"/>
              <a:t>の人が計算結果をレジスタに書くまで， </a:t>
            </a:r>
            <a:br>
              <a:rPr lang="en-US" altLang="ja-JP" sz="2000" dirty="0"/>
            </a:b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dirty="0"/>
              <a:t>  </a:t>
            </a:r>
            <a:r>
              <a:rPr lang="ja-JP" altLang="en-US" sz="2000" dirty="0"/>
              <a:t>の人と上流のラインを止める</a:t>
            </a:r>
            <a:endParaRPr lang="en-US" altLang="ja-JP" sz="2000" dirty="0"/>
          </a:p>
          <a:p>
            <a:pPr lvl="1"/>
            <a:r>
              <a:rPr lang="ja-JP" altLang="en-US" sz="2000" dirty="0"/>
              <a:t>間にバブル（何もしないステージ）が入る</a:t>
            </a:r>
            <a:endParaRPr lang="en-US" altLang="ja-JP" sz="2000" dirty="0"/>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p:cNvSpPr/>
          <p:nvPr/>
        </p:nvSpPr>
        <p:spPr bwMode="auto">
          <a:xfrm>
            <a:off x="521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1">
                    <a:lumMod val="75000"/>
                  </a:schemeClr>
                </a:solidFill>
              </a:rPr>
              <a:t>命令メモリ</a:t>
            </a:r>
            <a:endParaRPr kumimoji="1" lang="en-US" altLang="ja-JP" sz="1600" dirty="0">
              <a:solidFill>
                <a:schemeClr val="accent1">
                  <a:lumMod val="75000"/>
                </a:schemeClr>
              </a:solidFill>
            </a:endParaRPr>
          </a:p>
          <a:p>
            <a:pPr algn="ctr"/>
            <a:r>
              <a:rPr kumimoji="1" lang="ja-JP" altLang="en-US" sz="1600" dirty="0">
                <a:solidFill>
                  <a:schemeClr val="accent1">
                    <a:lumMod val="75000"/>
                  </a:schemeClr>
                </a:solidFill>
              </a:rPr>
              <a:t>（プログラム）</a:t>
            </a:r>
          </a:p>
        </p:txBody>
      </p:sp>
      <p:sp>
        <p:nvSpPr>
          <p:cNvPr id="30" name="Freeform 25"/>
          <p:cNvSpPr>
            <a:spLocks/>
          </p:cNvSpPr>
          <p:nvPr/>
        </p:nvSpPr>
        <p:spPr bwMode="auto">
          <a:xfrm>
            <a:off x="3221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4842165"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grpSp>
        <p:nvGrpSpPr>
          <p:cNvPr id="32" name="グループ化 31"/>
          <p:cNvGrpSpPr/>
          <p:nvPr/>
        </p:nvGrpSpPr>
        <p:grpSpPr>
          <a:xfrm>
            <a:off x="3510017" y="1719053"/>
            <a:ext cx="1008112" cy="432048"/>
            <a:chOff x="3563888" y="2708920"/>
            <a:chExt cx="1296144" cy="432048"/>
          </a:xfrm>
        </p:grpSpPr>
        <p:sp>
          <p:nvSpPr>
            <p:cNvPr id="33"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5958289"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611956"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gr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kumimoji="1" lang="en-US" altLang="ja-JP" sz="2000" b="1" dirty="0">
                <a:solidFill>
                  <a:schemeClr val="tx2"/>
                </a:solidFill>
                <a:latin typeface="Arial Narrow" panose="020B0606020202030204" pitchFamily="34" charset="0"/>
              </a:rPr>
              <a:t>b</a:t>
            </a:r>
            <a:r>
              <a:rPr kumimoji="1" lang="en-US" altLang="ja-JP" sz="2000" dirty="0">
                <a:solidFill>
                  <a:schemeClr val="bg1"/>
                </a:solidFill>
                <a:latin typeface="Arial Narrow" panose="020B0606020202030204" pitchFamily="34" charset="0"/>
              </a:rPr>
              <a:t>=a+1</a:t>
            </a:r>
          </a:p>
          <a:p>
            <a:pPr>
              <a:lnSpc>
                <a:spcPct val="80000"/>
              </a:lnSpc>
            </a:pPr>
            <a:r>
              <a:rPr kumimoji="1" lang="en-US" altLang="ja-JP" sz="2000" dirty="0">
                <a:solidFill>
                  <a:schemeClr val="bg1"/>
                </a:solidFill>
                <a:latin typeface="Arial Narrow" panose="020B0606020202030204" pitchFamily="34" charset="0"/>
              </a:rPr>
              <a:t>c=</a:t>
            </a:r>
            <a:r>
              <a:rPr kumimoji="1" lang="en-US" altLang="ja-JP" sz="2000" b="1" dirty="0">
                <a:solidFill>
                  <a:schemeClr val="tx2"/>
                </a:solidFill>
                <a:latin typeface="Arial Narrow" panose="020B0606020202030204" pitchFamily="34" charset="0"/>
              </a:rPr>
              <a:t>b</a:t>
            </a:r>
            <a:r>
              <a:rPr kumimoji="1" lang="en-US" altLang="ja-JP" sz="2000" dirty="0">
                <a:solidFill>
                  <a:schemeClr val="bg1"/>
                </a:solidFill>
                <a:latin typeface="Arial Narrow" panose="020B0606020202030204" pitchFamily="34" charset="0"/>
              </a:rPr>
              <a:t>-1</a:t>
            </a:r>
          </a:p>
          <a:p>
            <a:pPr>
              <a:lnSpc>
                <a:spcPct val="80000"/>
              </a:lnSpc>
            </a:pPr>
            <a:r>
              <a:rPr lang="en-US" altLang="ja-JP" sz="2000" dirty="0">
                <a:solidFill>
                  <a:schemeClr val="bg1"/>
                </a:solidFill>
                <a:latin typeface="Arial Narrow" panose="020B0606020202030204" pitchFamily="34" charset="0"/>
              </a:rPr>
              <a:t>...</a:t>
            </a:r>
            <a:endParaRPr kumimoji="1" lang="en-US" altLang="ja-JP" sz="2000" dirty="0">
              <a:solidFill>
                <a:schemeClr val="bg1"/>
              </a:solidFill>
              <a:latin typeface="Arial Narrow" panose="020B0606020202030204" pitchFamily="34" charset="0"/>
            </a:endParaRPr>
          </a:p>
          <a:p>
            <a:pPr>
              <a:lnSpc>
                <a:spcPct val="80000"/>
              </a:lnSpc>
            </a:pPr>
            <a:r>
              <a:rPr lang="en-US" altLang="ja-JP" sz="2000" dirty="0">
                <a:solidFill>
                  <a:schemeClr val="bg1"/>
                </a:solidFill>
                <a:latin typeface="Arial Narrow" panose="020B0606020202030204" pitchFamily="34" charset="0"/>
              </a:rPr>
              <a:t>…</a:t>
            </a:r>
          </a:p>
          <a:p>
            <a:pPr>
              <a:lnSpc>
                <a:spcPct val="80000"/>
              </a:lnSpc>
            </a:pPr>
            <a:r>
              <a:rPr kumimoji="1" lang="en-US" altLang="ja-JP" sz="2000" dirty="0">
                <a:solidFill>
                  <a:schemeClr val="bg1"/>
                </a:solidFill>
                <a:latin typeface="Arial Narrow" panose="020B0606020202030204" pitchFamily="34" charset="0"/>
              </a:rPr>
              <a:t>...</a:t>
            </a:r>
            <a:endParaRPr kumimoji="1" lang="ja-JP" altLang="en-US" sz="2000" dirty="0">
              <a:solidFill>
                <a:schemeClr val="bg1"/>
              </a:solidFill>
              <a:latin typeface="Arial Narrow" panose="020B0606020202030204" pitchFamily="34" charset="0"/>
            </a:endParaRPr>
          </a:p>
        </p:txBody>
      </p:sp>
      <p:sp>
        <p:nvSpPr>
          <p:cNvPr id="43" name="角丸四角形吹き出し 42"/>
          <p:cNvSpPr/>
          <p:nvPr/>
        </p:nvSpPr>
        <p:spPr bwMode="auto">
          <a:xfrm>
            <a:off x="5202007" y="1808982"/>
            <a:ext cx="900010" cy="432646"/>
          </a:xfrm>
          <a:prstGeom prst="wedgeRoundRectCallout">
            <a:avLst>
              <a:gd name="adj1" fmla="val -51493"/>
              <a:gd name="adj2" fmla="val 139793"/>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休憩中</a:t>
            </a:r>
          </a:p>
        </p:txBody>
      </p:sp>
      <p:sp>
        <p:nvSpPr>
          <p:cNvPr id="45" name="角丸四角形吹き出し 44"/>
          <p:cNvSpPr/>
          <p:nvPr/>
        </p:nvSpPr>
        <p:spPr bwMode="auto">
          <a:xfrm>
            <a:off x="3671990" y="1808982"/>
            <a:ext cx="1260014"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tx1">
                    <a:lumMod val="65000"/>
                    <a:lumOff val="35000"/>
                  </a:schemeClr>
                </a:solidFill>
                <a:latin typeface="Arial Narrow" panose="020B0606020202030204" pitchFamily="34" charset="0"/>
              </a:rPr>
              <a:t>b </a:t>
            </a:r>
            <a:r>
              <a:rPr kumimoji="1" lang="ja-JP" altLang="en-US" dirty="0">
                <a:solidFill>
                  <a:schemeClr val="tx1">
                    <a:lumMod val="65000"/>
                    <a:lumOff val="35000"/>
                  </a:schemeClr>
                </a:solidFill>
                <a:latin typeface="Arial Narrow" panose="020B0606020202030204" pitchFamily="34" charset="0"/>
              </a:rPr>
              <a:t>まちます</a:t>
            </a:r>
          </a:p>
        </p:txBody>
      </p:sp>
      <p:sp>
        <p:nvSpPr>
          <p:cNvPr id="46" name="角丸四角形 45"/>
          <p:cNvSpPr/>
          <p:nvPr/>
        </p:nvSpPr>
        <p:spPr bwMode="auto">
          <a:xfrm>
            <a:off x="6462021"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b="1" dirty="0">
                <a:solidFill>
                  <a:schemeClr val="tx2"/>
                </a:solidFill>
                <a:latin typeface="Arial Narrow" panose="020B0606020202030204" pitchFamily="34" charset="0"/>
              </a:rPr>
              <a:t>b</a:t>
            </a:r>
            <a:r>
              <a:rPr kumimoji="1" lang="en-US" altLang="ja-JP" dirty="0">
                <a:latin typeface="Arial Narrow" panose="020B0606020202030204" pitchFamily="34" charset="0"/>
              </a:rPr>
              <a:t>=a+1</a:t>
            </a:r>
            <a:endParaRPr kumimoji="1" lang="ja-JP" altLang="en-US" dirty="0">
              <a:latin typeface="Arial Narrow" panose="020B0606020202030204" pitchFamily="34" charset="0"/>
            </a:endParaRPr>
          </a:p>
        </p:txBody>
      </p:sp>
      <p:sp>
        <p:nvSpPr>
          <p:cNvPr id="47" name="角丸四角形 46"/>
          <p:cNvSpPr/>
          <p:nvPr/>
        </p:nvSpPr>
        <p:spPr bwMode="auto">
          <a:xfrm>
            <a:off x="3491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c=</a:t>
            </a:r>
            <a:r>
              <a:rPr lang="en-US" altLang="ja-JP" b="1" dirty="0">
                <a:solidFill>
                  <a:schemeClr val="tx2"/>
                </a:solidFill>
                <a:latin typeface="Arial Narrow" panose="020B0606020202030204" pitchFamily="34" charset="0"/>
              </a:rPr>
              <a:t>b</a:t>
            </a:r>
            <a:r>
              <a:rPr lang="en-US" altLang="ja-JP" dirty="0">
                <a:latin typeface="Arial Narrow" panose="020B0606020202030204" pitchFamily="34" charset="0"/>
              </a:rPr>
              <a:t>-1</a:t>
            </a:r>
            <a:endParaRPr kumimoji="1" lang="ja-JP" altLang="en-US" dirty="0">
              <a:latin typeface="Arial Narrow" panose="020B0606020202030204" pitchFamily="34" charset="0"/>
            </a:endParaRPr>
          </a:p>
        </p:txBody>
      </p:sp>
      <p:sp>
        <p:nvSpPr>
          <p:cNvPr id="48" name="角丸四角形 47"/>
          <p:cNvSpPr/>
          <p:nvPr/>
        </p:nvSpPr>
        <p:spPr bwMode="auto">
          <a:xfrm>
            <a:off x="2051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sp>
        <p:nvSpPr>
          <p:cNvPr id="59" name="角丸四角形吹き出し 58"/>
          <p:cNvSpPr/>
          <p:nvPr/>
        </p:nvSpPr>
        <p:spPr bwMode="auto">
          <a:xfrm>
            <a:off x="6642023" y="1808981"/>
            <a:ext cx="2340026" cy="450005"/>
          </a:xfrm>
          <a:prstGeom prst="wedgeRoundRectCallout">
            <a:avLst>
              <a:gd name="adj1" fmla="val -49124"/>
              <a:gd name="adj2" fmla="val 10124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ｂを書くまで待って</a:t>
            </a:r>
          </a:p>
        </p:txBody>
      </p:sp>
    </p:spTree>
    <p:extLst>
      <p:ext uri="{BB962C8B-B14F-4D97-AF65-F5344CB8AC3E}">
        <p14:creationId xmlns:p14="http://schemas.microsoft.com/office/powerpoint/2010/main" val="1821442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１．ストールさせる</a:t>
            </a:r>
          </a:p>
        </p:txBody>
      </p:sp>
      <p:sp>
        <p:nvSpPr>
          <p:cNvPr id="3" name="テキスト プレースホルダー 2"/>
          <p:cNvSpPr>
            <a:spLocks noGrp="1"/>
          </p:cNvSpPr>
          <p:nvPr>
            <p:ph type="body" sz="quarter" idx="10"/>
          </p:nvPr>
        </p:nvSpPr>
        <p:spPr>
          <a:xfrm>
            <a:off x="611956" y="4149008"/>
            <a:ext cx="8280092" cy="2159717"/>
          </a:xfrm>
        </p:spPr>
        <p:txBody>
          <a:bodyPr/>
          <a:lstStyle/>
          <a:p>
            <a:r>
              <a:rPr kumimoji="1" lang="en-US" altLang="ja-JP" dirty="0"/>
              <a:t>I0 </a:t>
            </a:r>
            <a:r>
              <a:rPr kumimoji="1" lang="ja-JP" altLang="en-US" dirty="0"/>
              <a:t>の </a:t>
            </a:r>
            <a:r>
              <a:rPr kumimoji="1" lang="en-US" altLang="ja-JP" dirty="0"/>
              <a:t>WB </a:t>
            </a:r>
            <a:r>
              <a:rPr kumimoji="1" lang="ja-JP" altLang="en-US" dirty="0"/>
              <a:t>が終わるまで，後続の命令を遅らせる</a:t>
            </a:r>
            <a:endParaRPr kumimoji="1" lang="en-US" altLang="ja-JP" dirty="0"/>
          </a:p>
          <a:p>
            <a:pPr lvl="1"/>
            <a:r>
              <a:rPr lang="en-US" altLang="ja-JP" dirty="0"/>
              <a:t>I1 </a:t>
            </a:r>
            <a:r>
              <a:rPr lang="ja-JP" altLang="en-US" dirty="0"/>
              <a:t>の </a:t>
            </a:r>
            <a:r>
              <a:rPr lang="en-US" altLang="ja-JP" dirty="0"/>
              <a:t>ID </a:t>
            </a:r>
            <a:r>
              <a:rPr lang="ja-JP" altLang="en-US" dirty="0"/>
              <a:t>が，</a:t>
            </a:r>
            <a:r>
              <a:rPr lang="en-US" altLang="ja-JP" dirty="0"/>
              <a:t>I0 </a:t>
            </a:r>
            <a:r>
              <a:rPr lang="ja-JP" altLang="en-US" dirty="0"/>
              <a:t>の </a:t>
            </a:r>
            <a:r>
              <a:rPr lang="en-US" altLang="ja-JP" dirty="0"/>
              <a:t>WB </a:t>
            </a:r>
            <a:r>
              <a:rPr lang="ja-JP" altLang="en-US" dirty="0"/>
              <a:t>の右にくるまでストール</a:t>
            </a:r>
            <a:endParaRPr lang="en-US" altLang="ja-JP" dirty="0"/>
          </a:p>
          <a:p>
            <a:pPr lvl="1"/>
            <a:r>
              <a:rPr kumimoji="1" lang="en-US" altLang="ja-JP" dirty="0"/>
              <a:t>I1 </a:t>
            </a:r>
            <a:r>
              <a:rPr kumimoji="1" lang="ja-JP" altLang="en-US" dirty="0"/>
              <a:t>は </a:t>
            </a:r>
            <a:r>
              <a:rPr kumimoji="1" lang="en-US" altLang="ja-JP" dirty="0"/>
              <a:t>I0 </a:t>
            </a:r>
            <a:r>
              <a:rPr kumimoji="1" lang="ja-JP" altLang="en-US" dirty="0"/>
              <a:t>の結果を使える</a:t>
            </a:r>
            <a:endParaRPr kumimoji="1" lang="en-US" altLang="ja-JP" dirty="0"/>
          </a:p>
          <a:p>
            <a:r>
              <a:rPr kumimoji="1" lang="ja-JP" altLang="en-US" dirty="0"/>
              <a:t>欠点：プログラムの実行がとても遅くなる</a:t>
            </a:r>
          </a:p>
        </p:txBody>
      </p:sp>
      <p:cxnSp>
        <p:nvCxnSpPr>
          <p:cNvPr id="4" name="直線コネクタ 3"/>
          <p:cNvCxnSpPr/>
          <p:nvPr/>
        </p:nvCxnSpPr>
        <p:spPr bwMode="auto">
          <a:xfrm>
            <a:off x="2411976" y="2438989"/>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2411976" y="1988984"/>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2951982"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7" name="Rectangle 70"/>
          <p:cNvSpPr>
            <a:spLocks noChangeArrowheads="1"/>
          </p:cNvSpPr>
          <p:nvPr/>
        </p:nvSpPr>
        <p:spPr bwMode="auto">
          <a:xfrm>
            <a:off x="3401987"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8" name="Rectangle 71"/>
          <p:cNvSpPr>
            <a:spLocks noChangeArrowheads="1"/>
          </p:cNvSpPr>
          <p:nvPr/>
        </p:nvSpPr>
        <p:spPr bwMode="auto">
          <a:xfrm>
            <a:off x="3851992"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9" name="Rectangle 72"/>
          <p:cNvSpPr>
            <a:spLocks noChangeArrowheads="1"/>
          </p:cNvSpPr>
          <p:nvPr/>
        </p:nvSpPr>
        <p:spPr bwMode="auto">
          <a:xfrm>
            <a:off x="4301997"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1" name="Rectangle 69"/>
          <p:cNvSpPr>
            <a:spLocks noChangeArrowheads="1"/>
          </p:cNvSpPr>
          <p:nvPr/>
        </p:nvSpPr>
        <p:spPr bwMode="auto">
          <a:xfrm>
            <a:off x="3401987"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2" name="Rectangle 70"/>
          <p:cNvSpPr>
            <a:spLocks noChangeArrowheads="1"/>
          </p:cNvSpPr>
          <p:nvPr/>
        </p:nvSpPr>
        <p:spPr bwMode="auto">
          <a:xfrm>
            <a:off x="5292008" y="225898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3" name="Rectangle 71"/>
          <p:cNvSpPr>
            <a:spLocks noChangeArrowheads="1"/>
          </p:cNvSpPr>
          <p:nvPr/>
        </p:nvSpPr>
        <p:spPr bwMode="auto">
          <a:xfrm>
            <a:off x="5742013"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4" name="Rectangle 72"/>
          <p:cNvSpPr>
            <a:spLocks noChangeArrowheads="1"/>
          </p:cNvSpPr>
          <p:nvPr/>
        </p:nvSpPr>
        <p:spPr bwMode="auto">
          <a:xfrm>
            <a:off x="6192018"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5" name="Rectangle 73"/>
          <p:cNvSpPr>
            <a:spLocks noChangeArrowheads="1"/>
          </p:cNvSpPr>
          <p:nvPr/>
        </p:nvSpPr>
        <p:spPr bwMode="auto">
          <a:xfrm>
            <a:off x="6642023"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6" name="Rectangle 69"/>
          <p:cNvSpPr>
            <a:spLocks noChangeArrowheads="1"/>
          </p:cNvSpPr>
          <p:nvPr/>
        </p:nvSpPr>
        <p:spPr bwMode="auto">
          <a:xfrm>
            <a:off x="5292008"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7" name="Rectangle 70"/>
          <p:cNvSpPr>
            <a:spLocks noChangeArrowheads="1"/>
          </p:cNvSpPr>
          <p:nvPr/>
        </p:nvSpPr>
        <p:spPr bwMode="auto">
          <a:xfrm>
            <a:off x="5742013"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8" name="Rectangle 71"/>
          <p:cNvSpPr>
            <a:spLocks noChangeArrowheads="1"/>
          </p:cNvSpPr>
          <p:nvPr/>
        </p:nvSpPr>
        <p:spPr bwMode="auto">
          <a:xfrm>
            <a:off x="6192018"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9" name="Rectangle 72"/>
          <p:cNvSpPr>
            <a:spLocks noChangeArrowheads="1"/>
          </p:cNvSpPr>
          <p:nvPr/>
        </p:nvSpPr>
        <p:spPr bwMode="auto">
          <a:xfrm>
            <a:off x="6642023"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0" name="Rectangle 73"/>
          <p:cNvSpPr>
            <a:spLocks noChangeArrowheads="1"/>
          </p:cNvSpPr>
          <p:nvPr/>
        </p:nvSpPr>
        <p:spPr bwMode="auto">
          <a:xfrm>
            <a:off x="7092028"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1" name="正方形/長方形 20"/>
          <p:cNvSpPr/>
          <p:nvPr/>
        </p:nvSpPr>
        <p:spPr bwMode="auto">
          <a:xfrm>
            <a:off x="1691968" y="180898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Rectangle 69"/>
          <p:cNvSpPr>
            <a:spLocks noChangeArrowheads="1"/>
          </p:cNvSpPr>
          <p:nvPr/>
        </p:nvSpPr>
        <p:spPr bwMode="auto">
          <a:xfrm>
            <a:off x="5742013"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4" name="Rectangle 70"/>
          <p:cNvSpPr>
            <a:spLocks noChangeArrowheads="1"/>
          </p:cNvSpPr>
          <p:nvPr/>
        </p:nvSpPr>
        <p:spPr bwMode="auto">
          <a:xfrm>
            <a:off x="6192018"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5" name="Rectangle 71"/>
          <p:cNvSpPr>
            <a:spLocks noChangeArrowheads="1"/>
          </p:cNvSpPr>
          <p:nvPr/>
        </p:nvSpPr>
        <p:spPr bwMode="auto">
          <a:xfrm>
            <a:off x="6642023"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6" name="Rectangle 72"/>
          <p:cNvSpPr>
            <a:spLocks noChangeArrowheads="1"/>
          </p:cNvSpPr>
          <p:nvPr/>
        </p:nvSpPr>
        <p:spPr bwMode="auto">
          <a:xfrm>
            <a:off x="7092028"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7" name="Rectangle 73"/>
          <p:cNvSpPr>
            <a:spLocks noChangeArrowheads="1"/>
          </p:cNvSpPr>
          <p:nvPr/>
        </p:nvSpPr>
        <p:spPr bwMode="auto">
          <a:xfrm>
            <a:off x="7542033"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8" name="Rectangle 69"/>
          <p:cNvSpPr>
            <a:spLocks noChangeArrowheads="1"/>
          </p:cNvSpPr>
          <p:nvPr/>
        </p:nvSpPr>
        <p:spPr bwMode="auto">
          <a:xfrm>
            <a:off x="6192018"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9" name="Rectangle 70"/>
          <p:cNvSpPr>
            <a:spLocks noChangeArrowheads="1"/>
          </p:cNvSpPr>
          <p:nvPr/>
        </p:nvSpPr>
        <p:spPr bwMode="auto">
          <a:xfrm>
            <a:off x="6642023"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30" name="Rectangle 71"/>
          <p:cNvSpPr>
            <a:spLocks noChangeArrowheads="1"/>
          </p:cNvSpPr>
          <p:nvPr/>
        </p:nvSpPr>
        <p:spPr bwMode="auto">
          <a:xfrm>
            <a:off x="7092028"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31" name="Rectangle 72"/>
          <p:cNvSpPr>
            <a:spLocks noChangeArrowheads="1"/>
          </p:cNvSpPr>
          <p:nvPr/>
        </p:nvSpPr>
        <p:spPr bwMode="auto">
          <a:xfrm>
            <a:off x="7542033"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2" name="Rectangle 73"/>
          <p:cNvSpPr>
            <a:spLocks noChangeArrowheads="1"/>
          </p:cNvSpPr>
          <p:nvPr/>
        </p:nvSpPr>
        <p:spPr bwMode="auto">
          <a:xfrm>
            <a:off x="7992038"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7" name="直線コネクタ 36"/>
          <p:cNvCxnSpPr>
            <a:endCxn id="16" idx="1"/>
          </p:cNvCxnSpPr>
          <p:nvPr/>
        </p:nvCxnSpPr>
        <p:spPr bwMode="auto">
          <a:xfrm flipV="1">
            <a:off x="2411976" y="2888992"/>
            <a:ext cx="2880032" cy="2"/>
          </a:xfrm>
          <a:prstGeom prst="line">
            <a:avLst/>
          </a:prstGeom>
          <a:noFill/>
          <a:ln w="9525" cap="flat" cmpd="sng" algn="ctr">
            <a:solidFill>
              <a:schemeClr val="tx1"/>
            </a:solidFill>
            <a:prstDash val="dash"/>
            <a:round/>
            <a:headEnd type="none" w="med" len="med"/>
            <a:tailEnd type="none" w="med" len="med"/>
          </a:ln>
          <a:effectLst/>
        </p:spPr>
      </p:cxnSp>
      <p:sp>
        <p:nvSpPr>
          <p:cNvPr id="38" name="正方形/長方形 37"/>
          <p:cNvSpPr/>
          <p:nvPr/>
        </p:nvSpPr>
        <p:spPr bwMode="auto">
          <a:xfrm>
            <a:off x="1691968" y="225898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1691968" y="270899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0" name="直線コネクタ 39"/>
          <p:cNvCxnSpPr>
            <a:endCxn id="23" idx="1"/>
          </p:cNvCxnSpPr>
          <p:nvPr/>
        </p:nvCxnSpPr>
        <p:spPr bwMode="auto">
          <a:xfrm flipV="1">
            <a:off x="2411976" y="3338997"/>
            <a:ext cx="3330037" cy="2"/>
          </a:xfrm>
          <a:prstGeom prst="line">
            <a:avLst/>
          </a:prstGeom>
          <a:noFill/>
          <a:ln w="9525" cap="flat" cmpd="sng" algn="ctr">
            <a:solidFill>
              <a:schemeClr val="tx1"/>
            </a:solidFill>
            <a:prstDash val="dash"/>
            <a:round/>
            <a:headEnd type="none" w="med" len="med"/>
            <a:tailEnd type="none" w="med" len="med"/>
          </a:ln>
          <a:effectLst/>
        </p:spPr>
      </p:cxnSp>
      <p:sp>
        <p:nvSpPr>
          <p:cNvPr id="41" name="正方形/長方形 40"/>
          <p:cNvSpPr/>
          <p:nvPr/>
        </p:nvSpPr>
        <p:spPr bwMode="auto">
          <a:xfrm>
            <a:off x="1691968" y="315899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2" name="直線コネクタ 41"/>
          <p:cNvCxnSpPr>
            <a:stCxn id="43" idx="3"/>
            <a:endCxn id="28" idx="1"/>
          </p:cNvCxnSpPr>
          <p:nvPr/>
        </p:nvCxnSpPr>
        <p:spPr bwMode="auto">
          <a:xfrm flipV="1">
            <a:off x="2411976" y="3789002"/>
            <a:ext cx="3780042" cy="2"/>
          </a:xfrm>
          <a:prstGeom prst="line">
            <a:avLst/>
          </a:prstGeom>
          <a:noFill/>
          <a:ln w="9525" cap="flat" cmpd="sng" algn="ctr">
            <a:solidFill>
              <a:schemeClr val="tx1"/>
            </a:solidFill>
            <a:prstDash val="dash"/>
            <a:round/>
            <a:headEnd type="none" w="med" len="med"/>
            <a:tailEnd type="none" w="med" len="med"/>
          </a:ln>
          <a:effectLst/>
        </p:spPr>
      </p:cxnSp>
      <p:sp>
        <p:nvSpPr>
          <p:cNvPr id="43" name="正方形/長方形 42"/>
          <p:cNvSpPr/>
          <p:nvPr/>
        </p:nvSpPr>
        <p:spPr bwMode="auto">
          <a:xfrm>
            <a:off x="1691968" y="360900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I4</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4" name="Rectangle 73"/>
          <p:cNvSpPr>
            <a:spLocks noChangeArrowheads="1"/>
          </p:cNvSpPr>
          <p:nvPr/>
        </p:nvSpPr>
        <p:spPr bwMode="auto">
          <a:xfrm>
            <a:off x="4752002" y="180898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45" name="直線コネクタ 44"/>
          <p:cNvCxnSpPr/>
          <p:nvPr/>
        </p:nvCxnSpPr>
        <p:spPr bwMode="auto">
          <a:xfrm>
            <a:off x="5194573" y="1748717"/>
            <a:ext cx="0" cy="2340026"/>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46" name="Rectangle 73"/>
          <p:cNvSpPr>
            <a:spLocks noChangeArrowheads="1"/>
          </p:cNvSpPr>
          <p:nvPr/>
        </p:nvSpPr>
        <p:spPr bwMode="auto">
          <a:xfrm>
            <a:off x="3851992" y="225898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47" name="Rectangle 73"/>
          <p:cNvSpPr>
            <a:spLocks noChangeArrowheads="1"/>
          </p:cNvSpPr>
          <p:nvPr/>
        </p:nvSpPr>
        <p:spPr bwMode="auto">
          <a:xfrm>
            <a:off x="4301997" y="225898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48" name="Rectangle 73"/>
          <p:cNvSpPr>
            <a:spLocks noChangeArrowheads="1"/>
          </p:cNvSpPr>
          <p:nvPr/>
        </p:nvSpPr>
        <p:spPr bwMode="auto">
          <a:xfrm>
            <a:off x="4752002" y="225898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Tree>
    <p:extLst>
      <p:ext uri="{BB962C8B-B14F-4D97-AF65-F5344CB8AC3E}">
        <p14:creationId xmlns:p14="http://schemas.microsoft.com/office/powerpoint/2010/main" val="112822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1658179"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ｲｲﾉｶｿﾚ･･･</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1478033"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ｼﾖｳﾃﾞｽ</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en-US" altLang="ja-JP" dirty="0"/>
              <a:t>2. </a:t>
            </a:r>
            <a:r>
              <a:rPr lang="ja-JP" altLang="en-US" dirty="0"/>
              <a:t>遅延スロット（なにもしない）</a:t>
            </a:r>
            <a:endParaRPr kumimoji="1" lang="ja-JP" altLang="en-US" dirty="0"/>
          </a:p>
        </p:txBody>
      </p:sp>
      <p:sp>
        <p:nvSpPr>
          <p:cNvPr id="58" name="コンテンツ プレースホルダー 57"/>
          <p:cNvSpPr>
            <a:spLocks noGrp="1"/>
          </p:cNvSpPr>
          <p:nvPr>
            <p:ph idx="4294967295"/>
          </p:nvPr>
        </p:nvSpPr>
        <p:spPr>
          <a:xfrm>
            <a:off x="251952" y="4869016"/>
            <a:ext cx="8730097" cy="1369161"/>
          </a:xfrm>
          <a:prstGeom prst="rect">
            <a:avLst/>
          </a:prstGeom>
        </p:spPr>
        <p:txBody>
          <a:bodyPr/>
          <a:lstStyle/>
          <a:p>
            <a:r>
              <a:rPr lang="ja-JP" altLang="en-US" sz="2000" dirty="0"/>
              <a:t>直前の命令の結果を使う命令が現れた場合：</a:t>
            </a:r>
            <a:endParaRPr lang="en-US" altLang="ja-JP" sz="2000" dirty="0"/>
          </a:p>
          <a:p>
            <a:pPr lvl="1"/>
            <a:r>
              <a:rPr lang="ja-JP" altLang="en-US" sz="2000" dirty="0"/>
              <a:t> </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20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2000" dirty="0"/>
              <a:t>  </a:t>
            </a:r>
            <a:r>
              <a:rPr lang="ja-JP" altLang="en-US" sz="2000" dirty="0"/>
              <a:t>の人は，その時レジスタ・ファイルにある </a:t>
            </a:r>
            <a:r>
              <a:rPr lang="en-US" altLang="ja-JP" sz="2000" dirty="0"/>
              <a:t>b</a:t>
            </a:r>
            <a:r>
              <a:rPr lang="ja-JP" altLang="en-US" dirty="0"/>
              <a:t> を気にせず読んでしまう</a:t>
            </a:r>
            <a:endParaRPr lang="en-US" altLang="ja-JP" dirty="0"/>
          </a:p>
          <a:p>
            <a:pPr lvl="1"/>
            <a:r>
              <a:rPr lang="ja-JP" altLang="en-US" dirty="0"/>
              <a:t>２つ前の命令の結果の </a:t>
            </a:r>
            <a:r>
              <a:rPr lang="en-US" altLang="ja-JP" dirty="0"/>
              <a:t>b</a:t>
            </a:r>
            <a:r>
              <a:rPr lang="ja-JP" altLang="en-US" dirty="0"/>
              <a:t> が読めてしまう</a:t>
            </a:r>
            <a:endParaRPr lang="en-US" altLang="ja-JP" dirty="0"/>
          </a:p>
          <a:p>
            <a:pPr lvl="2"/>
            <a:r>
              <a:rPr lang="ja-JP" altLang="en-US" dirty="0">
                <a:solidFill>
                  <a:schemeClr val="accent5"/>
                </a:solidFill>
              </a:rPr>
              <a:t>そう言う仕様ということにする</a:t>
            </a:r>
            <a:endParaRPr lang="en-US" altLang="ja-JP" dirty="0">
              <a:solidFill>
                <a:schemeClr val="accent5"/>
              </a:solidFill>
            </a:endParaRPr>
          </a:p>
          <a:p>
            <a:pPr lvl="1"/>
            <a:endParaRPr lang="en-US" altLang="ja-JP" sz="2000" dirty="0"/>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p:cNvSpPr/>
          <p:nvPr/>
        </p:nvSpPr>
        <p:spPr bwMode="auto">
          <a:xfrm>
            <a:off x="521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1">
                    <a:lumMod val="75000"/>
                  </a:schemeClr>
                </a:solidFill>
              </a:rPr>
              <a:t>命令メモリ</a:t>
            </a:r>
            <a:endParaRPr kumimoji="1" lang="en-US" altLang="ja-JP" sz="1600" dirty="0">
              <a:solidFill>
                <a:schemeClr val="accent1">
                  <a:lumMod val="75000"/>
                </a:schemeClr>
              </a:solidFill>
            </a:endParaRPr>
          </a:p>
          <a:p>
            <a:pPr algn="ctr"/>
            <a:r>
              <a:rPr kumimoji="1" lang="ja-JP" altLang="en-US" sz="1600" dirty="0">
                <a:solidFill>
                  <a:schemeClr val="accent1">
                    <a:lumMod val="75000"/>
                  </a:schemeClr>
                </a:solidFill>
              </a:rPr>
              <a:t>（プログラム）</a:t>
            </a:r>
          </a:p>
        </p:txBody>
      </p:sp>
      <p:sp>
        <p:nvSpPr>
          <p:cNvPr id="30" name="Freeform 25"/>
          <p:cNvSpPr>
            <a:spLocks/>
          </p:cNvSpPr>
          <p:nvPr/>
        </p:nvSpPr>
        <p:spPr bwMode="auto">
          <a:xfrm>
            <a:off x="3221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4842165"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grpSp>
        <p:nvGrpSpPr>
          <p:cNvPr id="32" name="グループ化 31"/>
          <p:cNvGrpSpPr/>
          <p:nvPr/>
        </p:nvGrpSpPr>
        <p:grpSpPr>
          <a:xfrm>
            <a:off x="3510017" y="1719053"/>
            <a:ext cx="1008112" cy="432048"/>
            <a:chOff x="3563888" y="2708920"/>
            <a:chExt cx="1296144" cy="432048"/>
          </a:xfrm>
        </p:grpSpPr>
        <p:sp>
          <p:nvSpPr>
            <p:cNvPr id="33"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5958289"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611956"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gr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b="1" dirty="0">
                <a:solidFill>
                  <a:schemeClr val="tx2"/>
                </a:solidFill>
                <a:latin typeface="Arial Narrow" panose="020B0606020202030204" pitchFamily="34" charset="0"/>
              </a:rPr>
              <a:t>b</a:t>
            </a:r>
            <a:r>
              <a:rPr lang="en-US" altLang="ja-JP" sz="2000" dirty="0">
                <a:solidFill>
                  <a:schemeClr val="bg1"/>
                </a:solidFill>
                <a:latin typeface="Arial Narrow" panose="020B0606020202030204" pitchFamily="34" charset="0"/>
              </a:rPr>
              <a:t>=...</a:t>
            </a:r>
          </a:p>
          <a:p>
            <a:pPr>
              <a:lnSpc>
                <a:spcPct val="80000"/>
              </a:lnSpc>
            </a:pPr>
            <a:r>
              <a:rPr kumimoji="1" lang="en-US" altLang="ja-JP" sz="2000" b="1" dirty="0">
                <a:solidFill>
                  <a:schemeClr val="tx2"/>
                </a:solidFill>
                <a:latin typeface="Arial Narrow" panose="020B0606020202030204" pitchFamily="34" charset="0"/>
              </a:rPr>
              <a:t>...</a:t>
            </a:r>
            <a:br>
              <a:rPr kumimoji="1" lang="en-US" altLang="ja-JP" sz="2000" b="1" dirty="0">
                <a:solidFill>
                  <a:schemeClr val="tx2"/>
                </a:solidFill>
                <a:latin typeface="Arial Narrow" panose="020B0606020202030204" pitchFamily="34" charset="0"/>
              </a:rPr>
            </a:br>
            <a:r>
              <a:rPr kumimoji="1" lang="en-US" altLang="ja-JP" sz="2000" b="1" dirty="0">
                <a:solidFill>
                  <a:schemeClr val="tx2"/>
                </a:solidFill>
                <a:latin typeface="Arial Narrow" panose="020B0606020202030204" pitchFamily="34" charset="0"/>
              </a:rPr>
              <a:t>b</a:t>
            </a:r>
            <a:r>
              <a:rPr kumimoji="1" lang="en-US" altLang="ja-JP" sz="2000" dirty="0">
                <a:solidFill>
                  <a:schemeClr val="bg1"/>
                </a:solidFill>
                <a:latin typeface="Arial Narrow" panose="020B0606020202030204" pitchFamily="34" charset="0"/>
              </a:rPr>
              <a:t>=a+1</a:t>
            </a:r>
          </a:p>
          <a:p>
            <a:pPr>
              <a:lnSpc>
                <a:spcPct val="80000"/>
              </a:lnSpc>
            </a:pPr>
            <a:r>
              <a:rPr kumimoji="1" lang="en-US" altLang="ja-JP" sz="2000" dirty="0">
                <a:solidFill>
                  <a:schemeClr val="bg1"/>
                </a:solidFill>
                <a:latin typeface="Arial Narrow" panose="020B0606020202030204" pitchFamily="34" charset="0"/>
              </a:rPr>
              <a:t>c=</a:t>
            </a:r>
            <a:r>
              <a:rPr kumimoji="1" lang="en-US" altLang="ja-JP" sz="2000" b="1" dirty="0">
                <a:solidFill>
                  <a:schemeClr val="tx2"/>
                </a:solidFill>
                <a:latin typeface="Arial Narrow" panose="020B0606020202030204" pitchFamily="34" charset="0"/>
              </a:rPr>
              <a:t>b</a:t>
            </a:r>
            <a:r>
              <a:rPr kumimoji="1" lang="en-US" altLang="ja-JP" sz="2000" dirty="0">
                <a:solidFill>
                  <a:schemeClr val="bg1"/>
                </a:solidFill>
                <a:latin typeface="Arial Narrow" panose="020B0606020202030204" pitchFamily="34" charset="0"/>
              </a:rPr>
              <a:t>-1</a:t>
            </a:r>
          </a:p>
          <a:p>
            <a:pPr>
              <a:lnSpc>
                <a:spcPct val="80000"/>
              </a:lnSpc>
            </a:pPr>
            <a:r>
              <a:rPr lang="en-US" altLang="ja-JP" sz="2000" dirty="0">
                <a:solidFill>
                  <a:schemeClr val="bg1"/>
                </a:solidFill>
                <a:latin typeface="Arial Narrow" panose="020B0606020202030204" pitchFamily="34" charset="0"/>
              </a:rPr>
              <a:t>…</a:t>
            </a:r>
          </a:p>
          <a:p>
            <a:pPr>
              <a:lnSpc>
                <a:spcPct val="80000"/>
              </a:lnSpc>
            </a:pPr>
            <a:r>
              <a:rPr kumimoji="1" lang="en-US" altLang="ja-JP" sz="2000" dirty="0">
                <a:solidFill>
                  <a:schemeClr val="bg1"/>
                </a:solidFill>
                <a:latin typeface="Arial Narrow" panose="020B0606020202030204" pitchFamily="34" charset="0"/>
              </a:rPr>
              <a:t>...</a:t>
            </a:r>
            <a:endParaRPr kumimoji="1" lang="ja-JP" altLang="en-US" sz="2000" dirty="0">
              <a:solidFill>
                <a:schemeClr val="bg1"/>
              </a:solidFill>
              <a:latin typeface="Arial Narrow" panose="020B0606020202030204" pitchFamily="34" charset="0"/>
            </a:endParaRPr>
          </a:p>
        </p:txBody>
      </p:sp>
      <p:sp>
        <p:nvSpPr>
          <p:cNvPr id="43" name="角丸四角形吹き出し 42"/>
          <p:cNvSpPr/>
          <p:nvPr/>
        </p:nvSpPr>
        <p:spPr bwMode="auto">
          <a:xfrm>
            <a:off x="5202007" y="1808982"/>
            <a:ext cx="1260014" cy="432646"/>
          </a:xfrm>
          <a:prstGeom prst="wedgeRoundRectCallout">
            <a:avLst>
              <a:gd name="adj1" fmla="val -51493"/>
              <a:gd name="adj2" fmla="val 139793"/>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計算中･･･</a:t>
            </a:r>
          </a:p>
        </p:txBody>
      </p:sp>
      <p:sp>
        <p:nvSpPr>
          <p:cNvPr id="45" name="角丸四角形吹き出し 44"/>
          <p:cNvSpPr/>
          <p:nvPr/>
        </p:nvSpPr>
        <p:spPr bwMode="auto">
          <a:xfrm>
            <a:off x="3671990" y="1088974"/>
            <a:ext cx="1530017" cy="882651"/>
          </a:xfrm>
          <a:prstGeom prst="wedgeRoundRectCallout">
            <a:avLst>
              <a:gd name="adj1" fmla="val -42120"/>
              <a:gd name="adj2" fmla="val 1210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古い </a:t>
            </a:r>
            <a:r>
              <a:rPr kumimoji="1" lang="en-US" altLang="ja-JP" dirty="0">
                <a:solidFill>
                  <a:schemeClr val="tx1">
                    <a:lumMod val="65000"/>
                    <a:lumOff val="35000"/>
                  </a:schemeClr>
                </a:solidFill>
                <a:latin typeface="Arial Narrow" panose="020B0606020202030204" pitchFamily="34" charset="0"/>
              </a:rPr>
              <a:t>b </a:t>
            </a:r>
            <a:r>
              <a:rPr kumimoji="1" lang="ja-JP" altLang="en-US" dirty="0">
                <a:solidFill>
                  <a:schemeClr val="tx1">
                    <a:lumMod val="65000"/>
                    <a:lumOff val="35000"/>
                  </a:schemeClr>
                </a:solidFill>
                <a:latin typeface="Arial Narrow" panose="020B0606020202030204" pitchFamily="34" charset="0"/>
              </a:rPr>
              <a:t>が</a:t>
            </a:r>
            <a:br>
              <a:rPr kumimoji="1" lang="en-US" altLang="ja-JP" dirty="0">
                <a:solidFill>
                  <a:schemeClr val="tx1">
                    <a:lumMod val="65000"/>
                    <a:lumOff val="35000"/>
                  </a:schemeClr>
                </a:solidFill>
                <a:latin typeface="Arial Narrow" panose="020B0606020202030204" pitchFamily="34" charset="0"/>
              </a:rPr>
            </a:br>
            <a:r>
              <a:rPr kumimoji="1" lang="ja-JP" altLang="en-US" dirty="0">
                <a:solidFill>
                  <a:schemeClr val="tx1">
                    <a:lumMod val="65000"/>
                    <a:lumOff val="35000"/>
                  </a:schemeClr>
                </a:solidFill>
                <a:latin typeface="Arial Narrow" panose="020B0606020202030204" pitchFamily="34" charset="0"/>
              </a:rPr>
              <a:t>見えてるけど</a:t>
            </a:r>
            <a:endParaRPr kumimoji="1" lang="en-US" altLang="ja-JP" dirty="0">
              <a:solidFill>
                <a:schemeClr val="tx1">
                  <a:lumMod val="65000"/>
                  <a:lumOff val="35000"/>
                </a:schemeClr>
              </a:solidFill>
              <a:latin typeface="Arial Narrow" panose="020B0606020202030204" pitchFamily="34" charset="0"/>
            </a:endParaRPr>
          </a:p>
          <a:p>
            <a:r>
              <a:rPr kumimoji="1" lang="ja-JP" altLang="en-US" dirty="0">
                <a:solidFill>
                  <a:schemeClr val="tx1">
                    <a:lumMod val="65000"/>
                    <a:lumOff val="35000"/>
                  </a:schemeClr>
                </a:solidFill>
                <a:latin typeface="Arial Narrow" panose="020B0606020202030204" pitchFamily="34" charset="0"/>
              </a:rPr>
              <a:t>気にしない</a:t>
            </a:r>
          </a:p>
        </p:txBody>
      </p:sp>
      <p:sp>
        <p:nvSpPr>
          <p:cNvPr id="46" name="角丸四角形 45"/>
          <p:cNvSpPr/>
          <p:nvPr/>
        </p:nvSpPr>
        <p:spPr bwMode="auto">
          <a:xfrm>
            <a:off x="4932004"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b="1" dirty="0">
                <a:solidFill>
                  <a:schemeClr val="tx2"/>
                </a:solidFill>
                <a:latin typeface="Arial Narrow" panose="020B0606020202030204" pitchFamily="34" charset="0"/>
              </a:rPr>
              <a:t>b</a:t>
            </a:r>
            <a:r>
              <a:rPr kumimoji="1" lang="en-US" altLang="ja-JP" dirty="0">
                <a:latin typeface="Arial Narrow" panose="020B0606020202030204" pitchFamily="34" charset="0"/>
              </a:rPr>
              <a:t>=a+1</a:t>
            </a:r>
            <a:endParaRPr kumimoji="1" lang="ja-JP" altLang="en-US" dirty="0">
              <a:latin typeface="Arial Narrow" panose="020B0606020202030204" pitchFamily="34" charset="0"/>
            </a:endParaRPr>
          </a:p>
        </p:txBody>
      </p:sp>
      <p:sp>
        <p:nvSpPr>
          <p:cNvPr id="47" name="角丸四角形 46"/>
          <p:cNvSpPr/>
          <p:nvPr/>
        </p:nvSpPr>
        <p:spPr bwMode="auto">
          <a:xfrm>
            <a:off x="3491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c=</a:t>
            </a:r>
            <a:r>
              <a:rPr lang="en-US" altLang="ja-JP" b="1" dirty="0">
                <a:solidFill>
                  <a:schemeClr val="tx2"/>
                </a:solidFill>
                <a:latin typeface="Arial Narrow" panose="020B0606020202030204" pitchFamily="34" charset="0"/>
              </a:rPr>
              <a:t>b</a:t>
            </a:r>
            <a:r>
              <a:rPr lang="en-US" altLang="ja-JP" dirty="0">
                <a:latin typeface="Arial Narrow" panose="020B0606020202030204" pitchFamily="34" charset="0"/>
              </a:rPr>
              <a:t>-1</a:t>
            </a:r>
            <a:endParaRPr kumimoji="1" lang="ja-JP" altLang="en-US" dirty="0">
              <a:latin typeface="Arial Narrow" panose="020B0606020202030204" pitchFamily="34" charset="0"/>
            </a:endParaRPr>
          </a:p>
        </p:txBody>
      </p:sp>
      <p:sp>
        <p:nvSpPr>
          <p:cNvPr id="48" name="角丸四角形 47"/>
          <p:cNvSpPr/>
          <p:nvPr/>
        </p:nvSpPr>
        <p:spPr bwMode="auto">
          <a:xfrm>
            <a:off x="2051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sp>
        <p:nvSpPr>
          <p:cNvPr id="59" name="角丸四角形吹き出し 58"/>
          <p:cNvSpPr/>
          <p:nvPr/>
        </p:nvSpPr>
        <p:spPr bwMode="auto">
          <a:xfrm>
            <a:off x="6642023" y="1808981"/>
            <a:ext cx="2160024" cy="450005"/>
          </a:xfrm>
          <a:prstGeom prst="wedgeRoundRectCallout">
            <a:avLst>
              <a:gd name="adj1" fmla="val -49124"/>
              <a:gd name="adj2" fmla="val 10124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まだ</a:t>
            </a:r>
            <a:r>
              <a:rPr kumimoji="1" lang="ja-JP" altLang="en-US" dirty="0" err="1">
                <a:solidFill>
                  <a:schemeClr val="tx1">
                    <a:lumMod val="65000"/>
                    <a:lumOff val="35000"/>
                  </a:schemeClr>
                </a:solidFill>
                <a:latin typeface="Arial Narrow" panose="020B0606020202030204" pitchFamily="34" charset="0"/>
              </a:rPr>
              <a:t>ｂ</a:t>
            </a:r>
            <a:r>
              <a:rPr kumimoji="1" lang="ja-JP" altLang="en-US" dirty="0">
                <a:solidFill>
                  <a:schemeClr val="tx1">
                    <a:lumMod val="65000"/>
                    <a:lumOff val="35000"/>
                  </a:schemeClr>
                </a:solidFill>
                <a:latin typeface="Arial Narrow" panose="020B0606020202030204" pitchFamily="34" charset="0"/>
              </a:rPr>
              <a:t>書けないよ</a:t>
            </a:r>
          </a:p>
        </p:txBody>
      </p:sp>
      <p:sp>
        <p:nvSpPr>
          <p:cNvPr id="4" name="角丸四角形 47">
            <a:extLst>
              <a:ext uri="{FF2B5EF4-FFF2-40B4-BE49-F238E27FC236}">
                <a16:creationId xmlns:a16="http://schemas.microsoft.com/office/drawing/2014/main" id="{D78167A7-B863-2ECE-C25C-05A8F599CA73}"/>
              </a:ext>
            </a:extLst>
          </p:cNvPr>
          <p:cNvSpPr/>
          <p:nvPr/>
        </p:nvSpPr>
        <p:spPr bwMode="auto">
          <a:xfrm>
            <a:off x="6372020"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sp>
        <p:nvSpPr>
          <p:cNvPr id="5" name="角丸四角形 47">
            <a:extLst>
              <a:ext uri="{FF2B5EF4-FFF2-40B4-BE49-F238E27FC236}">
                <a16:creationId xmlns:a16="http://schemas.microsoft.com/office/drawing/2014/main" id="{A4594095-CA49-3A20-4664-83138D30998D}"/>
              </a:ext>
            </a:extLst>
          </p:cNvPr>
          <p:cNvSpPr/>
          <p:nvPr/>
        </p:nvSpPr>
        <p:spPr bwMode="auto">
          <a:xfrm>
            <a:off x="7902037"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b="1" dirty="0">
                <a:solidFill>
                  <a:srgbClr val="FFFF00"/>
                </a:solidFill>
                <a:latin typeface="Arial Narrow" panose="020B0606020202030204" pitchFamily="34" charset="0"/>
              </a:rPr>
              <a:t>b</a:t>
            </a: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cxnSp>
        <p:nvCxnSpPr>
          <p:cNvPr id="7" name="直線矢印コネクタ 6">
            <a:extLst>
              <a:ext uri="{FF2B5EF4-FFF2-40B4-BE49-F238E27FC236}">
                <a16:creationId xmlns:a16="http://schemas.microsoft.com/office/drawing/2014/main" id="{A185FAD6-861C-B4C6-BA9D-B772943E94B5}"/>
              </a:ext>
            </a:extLst>
          </p:cNvPr>
          <p:cNvCxnSpPr>
            <a:cxnSpLocks/>
          </p:cNvCxnSpPr>
          <p:nvPr/>
        </p:nvCxnSpPr>
        <p:spPr bwMode="auto">
          <a:xfrm>
            <a:off x="431954" y="2798993"/>
            <a:ext cx="180002" cy="450005"/>
          </a:xfrm>
          <a:prstGeom prst="straightConnector1">
            <a:avLst/>
          </a:prstGeom>
          <a:noFill/>
          <a:ln w="38100" cap="flat" cmpd="sng" algn="ctr">
            <a:solidFill>
              <a:schemeClr val="tx2"/>
            </a:solidFill>
            <a:prstDash val="solid"/>
            <a:round/>
            <a:headEnd type="none" w="med" len="med"/>
            <a:tailEnd type="triangle"/>
          </a:ln>
          <a:effectLst/>
        </p:spPr>
      </p:cxnSp>
      <p:sp>
        <p:nvSpPr>
          <p:cNvPr id="10" name="円弧 9">
            <a:extLst>
              <a:ext uri="{FF2B5EF4-FFF2-40B4-BE49-F238E27FC236}">
                <a16:creationId xmlns:a16="http://schemas.microsoft.com/office/drawing/2014/main" id="{46D5A372-89C5-E4C7-8D6B-0BBF884B554E}"/>
              </a:ext>
            </a:extLst>
          </p:cNvPr>
          <p:cNvSpPr/>
          <p:nvPr/>
        </p:nvSpPr>
        <p:spPr bwMode="auto">
          <a:xfrm flipV="1">
            <a:off x="3941993" y="3068996"/>
            <a:ext cx="4230047" cy="360004"/>
          </a:xfrm>
          <a:prstGeom prst="arc">
            <a:avLst>
              <a:gd name="adj1" fmla="val 10801253"/>
              <a:gd name="adj2" fmla="val 0"/>
            </a:avLst>
          </a:prstGeom>
          <a:ln>
            <a:solidFill>
              <a:schemeClr val="tx2"/>
            </a:solidFill>
            <a:headEnd type="triangle" w="med" len="med"/>
            <a:tailEnd type="none" w="med" len="med"/>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Verdana" pitchFamily="34" charset="0"/>
              <a:ea typeface="HG丸ｺﾞｼｯｸM-PRO" pitchFamily="50" charset="-128"/>
            </a:endParaRPr>
          </a:p>
        </p:txBody>
      </p:sp>
    </p:spTree>
    <p:extLst>
      <p:ext uri="{BB962C8B-B14F-4D97-AF65-F5344CB8AC3E}">
        <p14:creationId xmlns:p14="http://schemas.microsoft.com/office/powerpoint/2010/main" val="3773683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遅延スロット（なにもしない）</a:t>
            </a:r>
            <a:endParaRPr kumimoji="1" lang="ja-JP" altLang="en-US" dirty="0"/>
          </a:p>
        </p:txBody>
      </p:sp>
      <p:sp>
        <p:nvSpPr>
          <p:cNvPr id="3" name="テキスト プレースホルダー 2"/>
          <p:cNvSpPr>
            <a:spLocks noGrp="1"/>
          </p:cNvSpPr>
          <p:nvPr>
            <p:ph type="body" sz="quarter" idx="10"/>
          </p:nvPr>
        </p:nvSpPr>
        <p:spPr>
          <a:xfrm>
            <a:off x="611956" y="4239009"/>
            <a:ext cx="8280092" cy="1799713"/>
          </a:xfrm>
        </p:spPr>
        <p:txBody>
          <a:bodyPr/>
          <a:lstStyle/>
          <a:p>
            <a:r>
              <a:rPr lang="ja-JP" altLang="en-US" dirty="0"/>
              <a:t>ここに </a:t>
            </a:r>
            <a:r>
              <a:rPr lang="en-US" altLang="ja-JP" dirty="0"/>
              <a:t>I0 </a:t>
            </a:r>
            <a:r>
              <a:rPr lang="ja-JP" altLang="en-US" dirty="0"/>
              <a:t>の結果を使わない命令を入れれば，性能低下はない</a:t>
            </a:r>
            <a:endParaRPr lang="en-US" altLang="ja-JP" dirty="0"/>
          </a:p>
          <a:p>
            <a:pPr lvl="1"/>
            <a:r>
              <a:rPr lang="ja-JP" altLang="en-US" dirty="0"/>
              <a:t>この直前の命令の結果が見えない部分を「遅延スロット」と呼ぶ</a:t>
            </a:r>
            <a:endParaRPr lang="en-US" altLang="ja-JP" dirty="0"/>
          </a:p>
          <a:p>
            <a:pPr lvl="2"/>
            <a:r>
              <a:rPr lang="ja-JP" altLang="en-US" dirty="0"/>
              <a:t>この図では，遅延スロットが３命令分ある</a:t>
            </a:r>
            <a:endParaRPr lang="en-US" altLang="ja-JP" dirty="0"/>
          </a:p>
          <a:p>
            <a:pPr lvl="2"/>
            <a:r>
              <a:rPr lang="ja-JP" altLang="en-US" dirty="0"/>
              <a:t>それらは </a:t>
            </a:r>
            <a:r>
              <a:rPr lang="en-US" altLang="ja-JP" dirty="0"/>
              <a:t>I1, I2, I3 </a:t>
            </a:r>
            <a:r>
              <a:rPr lang="ja-JP" altLang="en-US" dirty="0"/>
              <a:t>は </a:t>
            </a:r>
            <a:r>
              <a:rPr lang="en-US" altLang="ja-JP" dirty="0"/>
              <a:t>I0 </a:t>
            </a:r>
            <a:r>
              <a:rPr lang="ja-JP" altLang="en-US" dirty="0"/>
              <a:t>の結果を使っていないので問題無い</a:t>
            </a:r>
            <a:endParaRPr lang="en-US" altLang="ja-JP" dirty="0"/>
          </a:p>
          <a:p>
            <a:pPr lvl="1"/>
            <a:r>
              <a:rPr lang="ja-JP" altLang="en-US" dirty="0"/>
              <a:t>遅延スロットへの命令挿入はコンパイラががんばる</a:t>
            </a:r>
            <a:endParaRPr lang="en-US" altLang="ja-JP" dirty="0"/>
          </a:p>
          <a:p>
            <a:pPr lvl="1"/>
            <a:r>
              <a:rPr lang="ja-JP" altLang="en-US" dirty="0"/>
              <a:t>人力でアセンブリ言語でがんばることもある</a:t>
            </a:r>
            <a:endParaRPr lang="en-US" altLang="ja-JP" dirty="0"/>
          </a:p>
        </p:txBody>
      </p:sp>
      <p:cxnSp>
        <p:nvCxnSpPr>
          <p:cNvPr id="4" name="直線コネクタ 3"/>
          <p:cNvCxnSpPr/>
          <p:nvPr/>
        </p:nvCxnSpPr>
        <p:spPr bwMode="auto">
          <a:xfrm>
            <a:off x="2411976" y="1898983"/>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2411976"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295198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7" name="Rectangle 70"/>
          <p:cNvSpPr>
            <a:spLocks noChangeArrowheads="1"/>
          </p:cNvSpPr>
          <p:nvPr/>
        </p:nvSpPr>
        <p:spPr bwMode="auto">
          <a:xfrm>
            <a:off x="3401987"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8" name="Rectangle 71"/>
          <p:cNvSpPr>
            <a:spLocks noChangeArrowheads="1"/>
          </p:cNvSpPr>
          <p:nvPr/>
        </p:nvSpPr>
        <p:spPr bwMode="auto">
          <a:xfrm>
            <a:off x="385199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9" name="Rectangle 72"/>
          <p:cNvSpPr>
            <a:spLocks noChangeArrowheads="1"/>
          </p:cNvSpPr>
          <p:nvPr/>
        </p:nvSpPr>
        <p:spPr bwMode="auto">
          <a:xfrm>
            <a:off x="4301997"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0" name="Rectangle 69"/>
          <p:cNvSpPr>
            <a:spLocks noChangeArrowheads="1"/>
          </p:cNvSpPr>
          <p:nvPr/>
        </p:nvSpPr>
        <p:spPr bwMode="auto">
          <a:xfrm>
            <a:off x="340198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1" name="Rectangle 70"/>
          <p:cNvSpPr>
            <a:spLocks noChangeArrowheads="1"/>
          </p:cNvSpPr>
          <p:nvPr/>
        </p:nvSpPr>
        <p:spPr bwMode="auto">
          <a:xfrm>
            <a:off x="385199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2" name="Rectangle 71"/>
          <p:cNvSpPr>
            <a:spLocks noChangeArrowheads="1"/>
          </p:cNvSpPr>
          <p:nvPr/>
        </p:nvSpPr>
        <p:spPr bwMode="auto">
          <a:xfrm>
            <a:off x="430199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3" name="Rectangle 72"/>
          <p:cNvSpPr>
            <a:spLocks noChangeArrowheads="1"/>
          </p:cNvSpPr>
          <p:nvPr/>
        </p:nvSpPr>
        <p:spPr bwMode="auto">
          <a:xfrm>
            <a:off x="475200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4" name="Rectangle 73"/>
          <p:cNvSpPr>
            <a:spLocks noChangeArrowheads="1"/>
          </p:cNvSpPr>
          <p:nvPr/>
        </p:nvSpPr>
        <p:spPr bwMode="auto">
          <a:xfrm>
            <a:off x="520200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5" name="Rectangle 69"/>
          <p:cNvSpPr>
            <a:spLocks noChangeArrowheads="1"/>
          </p:cNvSpPr>
          <p:nvPr/>
        </p:nvSpPr>
        <p:spPr bwMode="auto">
          <a:xfrm>
            <a:off x="385199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6" name="Rectangle 70"/>
          <p:cNvSpPr>
            <a:spLocks noChangeArrowheads="1"/>
          </p:cNvSpPr>
          <p:nvPr/>
        </p:nvSpPr>
        <p:spPr bwMode="auto">
          <a:xfrm>
            <a:off x="4301997"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7" name="Rectangle 71"/>
          <p:cNvSpPr>
            <a:spLocks noChangeArrowheads="1"/>
          </p:cNvSpPr>
          <p:nvPr/>
        </p:nvSpPr>
        <p:spPr bwMode="auto">
          <a:xfrm>
            <a:off x="475200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8" name="Rectangle 72"/>
          <p:cNvSpPr>
            <a:spLocks noChangeArrowheads="1"/>
          </p:cNvSpPr>
          <p:nvPr/>
        </p:nvSpPr>
        <p:spPr bwMode="auto">
          <a:xfrm>
            <a:off x="5202007"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9" name="Rectangle 73"/>
          <p:cNvSpPr>
            <a:spLocks noChangeArrowheads="1"/>
          </p:cNvSpPr>
          <p:nvPr/>
        </p:nvSpPr>
        <p:spPr bwMode="auto">
          <a:xfrm>
            <a:off x="565201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0" name="正方形/長方形 19"/>
          <p:cNvSpPr/>
          <p:nvPr/>
        </p:nvSpPr>
        <p:spPr bwMode="auto">
          <a:xfrm>
            <a:off x="521955"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 add x1+1</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600" b="1" dirty="0">
                <a:solidFill>
                  <a:schemeClr val="accent6"/>
                </a:solidFill>
                <a:latin typeface="メイリオ" panose="020B0604030504040204" pitchFamily="50" charset="-128"/>
                <a:ea typeface="メイリオ" panose="020B0604030504040204" pitchFamily="50" charset="-128"/>
              </a:rPr>
              <a:t>x1</a:t>
            </a:r>
            <a:endParaRPr kumimoji="1"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21" name="Rectangle 69"/>
          <p:cNvSpPr>
            <a:spLocks noChangeArrowheads="1"/>
          </p:cNvSpPr>
          <p:nvPr/>
        </p:nvSpPr>
        <p:spPr bwMode="auto">
          <a:xfrm>
            <a:off x="430199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2" name="Rectangle 70"/>
          <p:cNvSpPr>
            <a:spLocks noChangeArrowheads="1"/>
          </p:cNvSpPr>
          <p:nvPr/>
        </p:nvSpPr>
        <p:spPr bwMode="auto">
          <a:xfrm>
            <a:off x="4752002"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3" name="Rectangle 71"/>
          <p:cNvSpPr>
            <a:spLocks noChangeArrowheads="1"/>
          </p:cNvSpPr>
          <p:nvPr/>
        </p:nvSpPr>
        <p:spPr bwMode="auto">
          <a:xfrm>
            <a:off x="520200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4" name="Rectangle 72"/>
          <p:cNvSpPr>
            <a:spLocks noChangeArrowheads="1"/>
          </p:cNvSpPr>
          <p:nvPr/>
        </p:nvSpPr>
        <p:spPr bwMode="auto">
          <a:xfrm>
            <a:off x="5652012"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5" name="Rectangle 73"/>
          <p:cNvSpPr>
            <a:spLocks noChangeArrowheads="1"/>
          </p:cNvSpPr>
          <p:nvPr/>
        </p:nvSpPr>
        <p:spPr bwMode="auto">
          <a:xfrm>
            <a:off x="610201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6" name="Rectangle 69"/>
          <p:cNvSpPr>
            <a:spLocks noChangeArrowheads="1"/>
          </p:cNvSpPr>
          <p:nvPr/>
        </p:nvSpPr>
        <p:spPr bwMode="auto">
          <a:xfrm>
            <a:off x="475200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7" name="Rectangle 70"/>
          <p:cNvSpPr>
            <a:spLocks noChangeArrowheads="1"/>
          </p:cNvSpPr>
          <p:nvPr/>
        </p:nvSpPr>
        <p:spPr bwMode="auto">
          <a:xfrm>
            <a:off x="5202007"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8" name="Rectangle 71"/>
          <p:cNvSpPr>
            <a:spLocks noChangeArrowheads="1"/>
          </p:cNvSpPr>
          <p:nvPr/>
        </p:nvSpPr>
        <p:spPr bwMode="auto">
          <a:xfrm>
            <a:off x="565201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9" name="Rectangle 72"/>
          <p:cNvSpPr>
            <a:spLocks noChangeArrowheads="1"/>
          </p:cNvSpPr>
          <p:nvPr/>
        </p:nvSpPr>
        <p:spPr bwMode="auto">
          <a:xfrm>
            <a:off x="6102017"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0" name="Rectangle 73"/>
          <p:cNvSpPr>
            <a:spLocks noChangeArrowheads="1"/>
          </p:cNvSpPr>
          <p:nvPr/>
        </p:nvSpPr>
        <p:spPr bwMode="auto">
          <a:xfrm>
            <a:off x="655202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1" name="直線コネクタ 30"/>
          <p:cNvCxnSpPr/>
          <p:nvPr/>
        </p:nvCxnSpPr>
        <p:spPr bwMode="auto">
          <a:xfrm>
            <a:off x="2411976" y="2348988"/>
            <a:ext cx="1440088" cy="0"/>
          </a:xfrm>
          <a:prstGeom prst="line">
            <a:avLst/>
          </a:prstGeom>
          <a:noFill/>
          <a:ln w="9525" cap="flat" cmpd="sng" algn="ctr">
            <a:solidFill>
              <a:schemeClr val="tx1"/>
            </a:solidFill>
            <a:prstDash val="dash"/>
            <a:round/>
            <a:headEnd type="none" w="med" len="med"/>
            <a:tailEnd type="none" w="med" len="med"/>
          </a:ln>
          <a:effectLst/>
        </p:spPr>
      </p:cxnSp>
      <p:sp>
        <p:nvSpPr>
          <p:cNvPr id="32" name="正方形/長方形 31"/>
          <p:cNvSpPr/>
          <p:nvPr/>
        </p:nvSpPr>
        <p:spPr bwMode="auto">
          <a:xfrm>
            <a:off x="521955"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 add </a:t>
            </a:r>
            <a:r>
              <a:rPr lang="en-US" altLang="ja-JP" sz="1600" b="1" dirty="0">
                <a:solidFill>
                  <a:schemeClr val="accent5"/>
                </a:solidFill>
                <a:latin typeface="メイリオ" panose="020B0604030504040204" pitchFamily="50" charset="-128"/>
                <a:ea typeface="メイリオ" panose="020B0604030504040204" pitchFamily="50" charset="-128"/>
              </a:rPr>
              <a:t>x4</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521955"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sub </a:t>
            </a:r>
            <a:r>
              <a:rPr lang="en-US" altLang="ja-JP" sz="1600" b="1" dirty="0">
                <a:solidFill>
                  <a:schemeClr val="accent5"/>
                </a:solidFill>
                <a:latin typeface="メイリオ" panose="020B0604030504040204" pitchFamily="50" charset="-128"/>
                <a:ea typeface="メイリオ" panose="020B0604030504040204" pitchFamily="50" charset="-128"/>
              </a:rPr>
              <a:t>x7</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4" name="直線コネクタ 33"/>
          <p:cNvCxnSpPr/>
          <p:nvPr/>
        </p:nvCxnSpPr>
        <p:spPr bwMode="auto">
          <a:xfrm>
            <a:off x="2411976" y="2798993"/>
            <a:ext cx="1890093" cy="0"/>
          </a:xfrm>
          <a:prstGeom prst="line">
            <a:avLst/>
          </a:prstGeom>
          <a:noFill/>
          <a:ln w="9525" cap="flat" cmpd="sng" algn="ctr">
            <a:solidFill>
              <a:schemeClr val="tx1"/>
            </a:solidFill>
            <a:prstDash val="dash"/>
            <a:round/>
            <a:headEnd type="none" w="med" len="med"/>
            <a:tailEnd type="none" w="med" len="med"/>
          </a:ln>
          <a:effectLst/>
        </p:spPr>
      </p:cxnSp>
      <p:sp>
        <p:nvSpPr>
          <p:cNvPr id="35" name="正方形/長方形 34"/>
          <p:cNvSpPr/>
          <p:nvPr/>
        </p:nvSpPr>
        <p:spPr bwMode="auto">
          <a:xfrm>
            <a:off x="521955"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 and </a:t>
            </a:r>
            <a:r>
              <a:rPr lang="en-US" altLang="ja-JP" sz="1600" b="1" dirty="0">
                <a:solidFill>
                  <a:schemeClr val="accent5"/>
                </a:solidFill>
                <a:latin typeface="メイリオ" panose="020B0604030504040204" pitchFamily="50" charset="-128"/>
                <a:ea typeface="メイリオ" panose="020B0604030504040204" pitchFamily="50" charset="-128"/>
              </a:rPr>
              <a:t>x8</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&amp;1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6" name="直線コネクタ 35"/>
          <p:cNvCxnSpPr>
            <a:endCxn id="26" idx="1"/>
          </p:cNvCxnSpPr>
          <p:nvPr/>
        </p:nvCxnSpPr>
        <p:spPr bwMode="auto">
          <a:xfrm flipV="1">
            <a:off x="2411976" y="3248996"/>
            <a:ext cx="2340026" cy="2"/>
          </a:xfrm>
          <a:prstGeom prst="line">
            <a:avLst/>
          </a:prstGeom>
          <a:noFill/>
          <a:ln w="9525" cap="flat" cmpd="sng" algn="ctr">
            <a:solidFill>
              <a:schemeClr val="tx1"/>
            </a:solidFill>
            <a:prstDash val="dash"/>
            <a:round/>
            <a:headEnd type="none" w="med" len="med"/>
            <a:tailEnd type="none" w="med" len="med"/>
          </a:ln>
          <a:effectLst/>
        </p:spPr>
      </p:cxnSp>
      <p:sp>
        <p:nvSpPr>
          <p:cNvPr id="37" name="正方形/長方形 36"/>
          <p:cNvSpPr/>
          <p:nvPr/>
        </p:nvSpPr>
        <p:spPr bwMode="auto">
          <a:xfrm>
            <a:off x="521955"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I4: and </a:t>
            </a:r>
            <a:r>
              <a:rPr kumimoji="1" lang="en-US" altLang="ja-JP" sz="1600" b="1" dirty="0">
                <a:solidFill>
                  <a:schemeClr val="accent6"/>
                </a:solidFill>
                <a:latin typeface="メイリオ" panose="020B0604030504040204" pitchFamily="50" charset="-128"/>
                <a:ea typeface="メイリオ" panose="020B0604030504040204" pitchFamily="50" charset="-128"/>
              </a:rPr>
              <a:t>x1</a:t>
            </a: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&amp;1</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x1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Rectangle 73"/>
          <p:cNvSpPr>
            <a:spLocks noChangeArrowheads="1"/>
          </p:cNvSpPr>
          <p:nvPr/>
        </p:nvSpPr>
        <p:spPr bwMode="auto">
          <a:xfrm>
            <a:off x="475200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9" name="直線コネクタ 38"/>
          <p:cNvCxnSpPr/>
          <p:nvPr/>
        </p:nvCxnSpPr>
        <p:spPr bwMode="auto">
          <a:xfrm>
            <a:off x="5164837" y="1208711"/>
            <a:ext cx="0" cy="2340026"/>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542034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NOP </a:t>
            </a:r>
            <a:r>
              <a:rPr kumimoji="1" lang="ja-JP" altLang="en-US" dirty="0"/>
              <a:t>の挿入</a:t>
            </a:r>
          </a:p>
        </p:txBody>
      </p:sp>
      <p:sp>
        <p:nvSpPr>
          <p:cNvPr id="3" name="テキスト プレースホルダー 2"/>
          <p:cNvSpPr>
            <a:spLocks noGrp="1"/>
          </p:cNvSpPr>
          <p:nvPr>
            <p:ph type="body" sz="quarter" idx="10"/>
          </p:nvPr>
        </p:nvSpPr>
        <p:spPr>
          <a:xfrm>
            <a:off x="611956" y="4239009"/>
            <a:ext cx="8280092" cy="1799713"/>
          </a:xfrm>
        </p:spPr>
        <p:txBody>
          <a:bodyPr/>
          <a:lstStyle/>
          <a:p>
            <a:r>
              <a:rPr lang="ja-JP" altLang="en-US" dirty="0"/>
              <a:t>もしそのような命令がない場合，</a:t>
            </a:r>
            <a:endParaRPr lang="en-US" altLang="ja-JP" dirty="0"/>
          </a:p>
          <a:p>
            <a:pPr lvl="1"/>
            <a:r>
              <a:rPr lang="en-US" altLang="ja-JP" dirty="0"/>
              <a:t>NOP</a:t>
            </a:r>
            <a:r>
              <a:rPr lang="ja-JP" altLang="en-US" dirty="0"/>
              <a:t>（</a:t>
            </a:r>
            <a:r>
              <a:rPr lang="en-US" altLang="ja-JP" dirty="0"/>
              <a:t>No Operation</a:t>
            </a:r>
            <a:r>
              <a:rPr lang="ja-JP" altLang="en-US" dirty="0"/>
              <a:t>）と呼ぶ何もしない命令をいれる</a:t>
            </a:r>
            <a:endParaRPr lang="en-US" altLang="ja-JP" dirty="0"/>
          </a:p>
          <a:p>
            <a:pPr lvl="1"/>
            <a:r>
              <a:rPr lang="ja-JP" altLang="en-US" dirty="0"/>
              <a:t>これもコンパイル時にいれておくる必要がある</a:t>
            </a:r>
            <a:endParaRPr lang="en-US" altLang="ja-JP" dirty="0"/>
          </a:p>
          <a:p>
            <a:r>
              <a:rPr lang="ja-JP" altLang="en-US" dirty="0"/>
              <a:t>上の例は，</a:t>
            </a:r>
            <a:r>
              <a:rPr lang="en-US" altLang="ja-JP" dirty="0"/>
              <a:t>x1 </a:t>
            </a:r>
            <a:r>
              <a:rPr lang="ja-JP" altLang="en-US" dirty="0"/>
              <a:t>に１を足した結果を使う以外の処理がなかった場合</a:t>
            </a:r>
            <a:endParaRPr lang="en-US" altLang="ja-JP" dirty="0"/>
          </a:p>
        </p:txBody>
      </p:sp>
      <p:cxnSp>
        <p:nvCxnSpPr>
          <p:cNvPr id="4" name="直線コネクタ 3"/>
          <p:cNvCxnSpPr/>
          <p:nvPr/>
        </p:nvCxnSpPr>
        <p:spPr bwMode="auto">
          <a:xfrm>
            <a:off x="2411976" y="1898983"/>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2411976"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295198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7" name="Rectangle 70"/>
          <p:cNvSpPr>
            <a:spLocks noChangeArrowheads="1"/>
          </p:cNvSpPr>
          <p:nvPr/>
        </p:nvSpPr>
        <p:spPr bwMode="auto">
          <a:xfrm>
            <a:off x="3401987"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8" name="Rectangle 71"/>
          <p:cNvSpPr>
            <a:spLocks noChangeArrowheads="1"/>
          </p:cNvSpPr>
          <p:nvPr/>
        </p:nvSpPr>
        <p:spPr bwMode="auto">
          <a:xfrm>
            <a:off x="385199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9" name="Rectangle 72"/>
          <p:cNvSpPr>
            <a:spLocks noChangeArrowheads="1"/>
          </p:cNvSpPr>
          <p:nvPr/>
        </p:nvSpPr>
        <p:spPr bwMode="auto">
          <a:xfrm>
            <a:off x="4301997"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0" name="Rectangle 69"/>
          <p:cNvSpPr>
            <a:spLocks noChangeArrowheads="1"/>
          </p:cNvSpPr>
          <p:nvPr/>
        </p:nvSpPr>
        <p:spPr bwMode="auto">
          <a:xfrm>
            <a:off x="340198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1" name="Rectangle 70"/>
          <p:cNvSpPr>
            <a:spLocks noChangeArrowheads="1"/>
          </p:cNvSpPr>
          <p:nvPr/>
        </p:nvSpPr>
        <p:spPr bwMode="auto">
          <a:xfrm>
            <a:off x="385199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2" name="Rectangle 71"/>
          <p:cNvSpPr>
            <a:spLocks noChangeArrowheads="1"/>
          </p:cNvSpPr>
          <p:nvPr/>
        </p:nvSpPr>
        <p:spPr bwMode="auto">
          <a:xfrm>
            <a:off x="430199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3" name="Rectangle 72"/>
          <p:cNvSpPr>
            <a:spLocks noChangeArrowheads="1"/>
          </p:cNvSpPr>
          <p:nvPr/>
        </p:nvSpPr>
        <p:spPr bwMode="auto">
          <a:xfrm>
            <a:off x="475200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4" name="Rectangle 73"/>
          <p:cNvSpPr>
            <a:spLocks noChangeArrowheads="1"/>
          </p:cNvSpPr>
          <p:nvPr/>
        </p:nvSpPr>
        <p:spPr bwMode="auto">
          <a:xfrm>
            <a:off x="520200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5" name="Rectangle 69"/>
          <p:cNvSpPr>
            <a:spLocks noChangeArrowheads="1"/>
          </p:cNvSpPr>
          <p:nvPr/>
        </p:nvSpPr>
        <p:spPr bwMode="auto">
          <a:xfrm>
            <a:off x="385199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6" name="Rectangle 70"/>
          <p:cNvSpPr>
            <a:spLocks noChangeArrowheads="1"/>
          </p:cNvSpPr>
          <p:nvPr/>
        </p:nvSpPr>
        <p:spPr bwMode="auto">
          <a:xfrm>
            <a:off x="4301997"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7" name="Rectangle 71"/>
          <p:cNvSpPr>
            <a:spLocks noChangeArrowheads="1"/>
          </p:cNvSpPr>
          <p:nvPr/>
        </p:nvSpPr>
        <p:spPr bwMode="auto">
          <a:xfrm>
            <a:off x="475200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8" name="Rectangle 72"/>
          <p:cNvSpPr>
            <a:spLocks noChangeArrowheads="1"/>
          </p:cNvSpPr>
          <p:nvPr/>
        </p:nvSpPr>
        <p:spPr bwMode="auto">
          <a:xfrm>
            <a:off x="5202007"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9" name="Rectangle 73"/>
          <p:cNvSpPr>
            <a:spLocks noChangeArrowheads="1"/>
          </p:cNvSpPr>
          <p:nvPr/>
        </p:nvSpPr>
        <p:spPr bwMode="auto">
          <a:xfrm>
            <a:off x="565201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0" name="正方形/長方形 19"/>
          <p:cNvSpPr/>
          <p:nvPr/>
        </p:nvSpPr>
        <p:spPr bwMode="auto">
          <a:xfrm>
            <a:off x="521955"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 add x1+1</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600" dirty="0">
                <a:solidFill>
                  <a:schemeClr val="accent6"/>
                </a:solidFill>
                <a:latin typeface="メイリオ" panose="020B0604030504040204" pitchFamily="50" charset="-128"/>
                <a:ea typeface="メイリオ" panose="020B0604030504040204" pitchFamily="50" charset="-128"/>
              </a:rPr>
              <a:t>x1</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sp>
        <p:nvSpPr>
          <p:cNvPr id="21" name="Rectangle 69"/>
          <p:cNvSpPr>
            <a:spLocks noChangeArrowheads="1"/>
          </p:cNvSpPr>
          <p:nvPr/>
        </p:nvSpPr>
        <p:spPr bwMode="auto">
          <a:xfrm>
            <a:off x="430199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2" name="Rectangle 70"/>
          <p:cNvSpPr>
            <a:spLocks noChangeArrowheads="1"/>
          </p:cNvSpPr>
          <p:nvPr/>
        </p:nvSpPr>
        <p:spPr bwMode="auto">
          <a:xfrm>
            <a:off x="4752002"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3" name="Rectangle 71"/>
          <p:cNvSpPr>
            <a:spLocks noChangeArrowheads="1"/>
          </p:cNvSpPr>
          <p:nvPr/>
        </p:nvSpPr>
        <p:spPr bwMode="auto">
          <a:xfrm>
            <a:off x="520200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4" name="Rectangle 72"/>
          <p:cNvSpPr>
            <a:spLocks noChangeArrowheads="1"/>
          </p:cNvSpPr>
          <p:nvPr/>
        </p:nvSpPr>
        <p:spPr bwMode="auto">
          <a:xfrm>
            <a:off x="5652012"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5" name="Rectangle 73"/>
          <p:cNvSpPr>
            <a:spLocks noChangeArrowheads="1"/>
          </p:cNvSpPr>
          <p:nvPr/>
        </p:nvSpPr>
        <p:spPr bwMode="auto">
          <a:xfrm>
            <a:off x="610201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6" name="Rectangle 69"/>
          <p:cNvSpPr>
            <a:spLocks noChangeArrowheads="1"/>
          </p:cNvSpPr>
          <p:nvPr/>
        </p:nvSpPr>
        <p:spPr bwMode="auto">
          <a:xfrm>
            <a:off x="475200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7" name="Rectangle 70"/>
          <p:cNvSpPr>
            <a:spLocks noChangeArrowheads="1"/>
          </p:cNvSpPr>
          <p:nvPr/>
        </p:nvSpPr>
        <p:spPr bwMode="auto">
          <a:xfrm>
            <a:off x="5202007"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8" name="Rectangle 71"/>
          <p:cNvSpPr>
            <a:spLocks noChangeArrowheads="1"/>
          </p:cNvSpPr>
          <p:nvPr/>
        </p:nvSpPr>
        <p:spPr bwMode="auto">
          <a:xfrm>
            <a:off x="565201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9" name="Rectangle 72"/>
          <p:cNvSpPr>
            <a:spLocks noChangeArrowheads="1"/>
          </p:cNvSpPr>
          <p:nvPr/>
        </p:nvSpPr>
        <p:spPr bwMode="auto">
          <a:xfrm>
            <a:off x="6102017"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0" name="Rectangle 73"/>
          <p:cNvSpPr>
            <a:spLocks noChangeArrowheads="1"/>
          </p:cNvSpPr>
          <p:nvPr/>
        </p:nvSpPr>
        <p:spPr bwMode="auto">
          <a:xfrm>
            <a:off x="655202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1" name="直線コネクタ 30"/>
          <p:cNvCxnSpPr/>
          <p:nvPr/>
        </p:nvCxnSpPr>
        <p:spPr bwMode="auto">
          <a:xfrm>
            <a:off x="2411976" y="2348988"/>
            <a:ext cx="1440088" cy="0"/>
          </a:xfrm>
          <a:prstGeom prst="line">
            <a:avLst/>
          </a:prstGeom>
          <a:noFill/>
          <a:ln w="9525" cap="flat" cmpd="sng" algn="ctr">
            <a:solidFill>
              <a:schemeClr val="tx1"/>
            </a:solidFill>
            <a:prstDash val="dash"/>
            <a:round/>
            <a:headEnd type="none" w="med" len="med"/>
            <a:tailEnd type="none" w="med" len="med"/>
          </a:ln>
          <a:effectLst/>
        </p:spPr>
      </p:cxnSp>
      <p:sp>
        <p:nvSpPr>
          <p:cNvPr id="32" name="正方形/長方形 31"/>
          <p:cNvSpPr/>
          <p:nvPr/>
        </p:nvSpPr>
        <p:spPr bwMode="auto">
          <a:xfrm>
            <a:off x="521955"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 </a:t>
            </a:r>
            <a:r>
              <a:rPr lang="en-US" altLang="ja-JP" sz="1600" dirty="0">
                <a:solidFill>
                  <a:schemeClr val="accent6"/>
                </a:solidFill>
                <a:latin typeface="メイリオ" panose="020B0604030504040204" pitchFamily="50" charset="-128"/>
                <a:ea typeface="メイリオ" panose="020B0604030504040204" pitchFamily="50" charset="-128"/>
              </a:rPr>
              <a:t>NOP</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521955"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600" dirty="0">
                <a:solidFill>
                  <a:schemeClr val="accent6"/>
                </a:solidFill>
                <a:latin typeface="メイリオ" panose="020B0604030504040204" pitchFamily="50" charset="-128"/>
                <a:ea typeface="メイリオ" panose="020B0604030504040204" pitchFamily="50" charset="-128"/>
              </a:rPr>
              <a:t>NOP</a:t>
            </a:r>
            <a:endParaRPr lang="ja-JP" altLang="en-US" sz="1600" dirty="0">
              <a:solidFill>
                <a:schemeClr val="accent6"/>
              </a:solidFill>
              <a:latin typeface="メイリオ" panose="020B0604030504040204" pitchFamily="50" charset="-128"/>
              <a:ea typeface="メイリオ" panose="020B0604030504040204" pitchFamily="50" charset="-128"/>
            </a:endParaRPr>
          </a:p>
        </p:txBody>
      </p:sp>
      <p:cxnSp>
        <p:nvCxnSpPr>
          <p:cNvPr id="34" name="直線コネクタ 33"/>
          <p:cNvCxnSpPr/>
          <p:nvPr/>
        </p:nvCxnSpPr>
        <p:spPr bwMode="auto">
          <a:xfrm>
            <a:off x="2411976" y="2798993"/>
            <a:ext cx="1890093" cy="0"/>
          </a:xfrm>
          <a:prstGeom prst="line">
            <a:avLst/>
          </a:prstGeom>
          <a:noFill/>
          <a:ln w="9525" cap="flat" cmpd="sng" algn="ctr">
            <a:solidFill>
              <a:schemeClr val="tx1"/>
            </a:solidFill>
            <a:prstDash val="dash"/>
            <a:round/>
            <a:headEnd type="none" w="med" len="med"/>
            <a:tailEnd type="none" w="med" len="med"/>
          </a:ln>
          <a:effectLst/>
        </p:spPr>
      </p:cxnSp>
      <p:sp>
        <p:nvSpPr>
          <p:cNvPr id="35" name="正方形/長方形 34"/>
          <p:cNvSpPr/>
          <p:nvPr/>
        </p:nvSpPr>
        <p:spPr bwMode="auto">
          <a:xfrm>
            <a:off x="521955"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 </a:t>
            </a:r>
            <a:r>
              <a:rPr lang="en-US" altLang="ja-JP" sz="1600" dirty="0">
                <a:solidFill>
                  <a:schemeClr val="accent6"/>
                </a:solidFill>
                <a:latin typeface="メイリオ" panose="020B0604030504040204" pitchFamily="50" charset="-128"/>
                <a:ea typeface="メイリオ" panose="020B0604030504040204" pitchFamily="50" charset="-128"/>
              </a:rPr>
              <a:t>NOP</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cxnSp>
        <p:nvCxnSpPr>
          <p:cNvPr id="36" name="直線コネクタ 35"/>
          <p:cNvCxnSpPr>
            <a:endCxn id="26" idx="1"/>
          </p:cNvCxnSpPr>
          <p:nvPr/>
        </p:nvCxnSpPr>
        <p:spPr bwMode="auto">
          <a:xfrm flipV="1">
            <a:off x="2411976" y="3248996"/>
            <a:ext cx="2340026" cy="2"/>
          </a:xfrm>
          <a:prstGeom prst="line">
            <a:avLst/>
          </a:prstGeom>
          <a:noFill/>
          <a:ln w="9525" cap="flat" cmpd="sng" algn="ctr">
            <a:solidFill>
              <a:schemeClr val="tx1"/>
            </a:solidFill>
            <a:prstDash val="dash"/>
            <a:round/>
            <a:headEnd type="none" w="med" len="med"/>
            <a:tailEnd type="none" w="med" len="med"/>
          </a:ln>
          <a:effectLst/>
        </p:spPr>
      </p:cxnSp>
      <p:sp>
        <p:nvSpPr>
          <p:cNvPr id="37" name="正方形/長方形 36"/>
          <p:cNvSpPr/>
          <p:nvPr/>
        </p:nvSpPr>
        <p:spPr bwMode="auto">
          <a:xfrm>
            <a:off x="521955"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I4</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sub </a:t>
            </a:r>
            <a:r>
              <a:rPr lang="en-US" altLang="ja-JP" sz="1600" dirty="0">
                <a:solidFill>
                  <a:schemeClr val="accent6"/>
                </a:solidFill>
                <a:latin typeface="メイリオ" panose="020B0604030504040204" pitchFamily="50" charset="-128"/>
                <a:ea typeface="メイリオ" panose="020B0604030504040204" pitchFamily="50" charset="-128"/>
              </a:rPr>
              <a:t>x1</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Rectangle 73"/>
          <p:cNvSpPr>
            <a:spLocks noChangeArrowheads="1"/>
          </p:cNvSpPr>
          <p:nvPr/>
        </p:nvSpPr>
        <p:spPr bwMode="auto">
          <a:xfrm>
            <a:off x="475200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9" name="直線コネクタ 38"/>
          <p:cNvCxnSpPr/>
          <p:nvPr/>
        </p:nvCxnSpPr>
        <p:spPr bwMode="auto">
          <a:xfrm>
            <a:off x="5164837" y="1208711"/>
            <a:ext cx="0" cy="2340026"/>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512897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遅延スロットの利点</a:t>
            </a:r>
          </a:p>
        </p:txBody>
      </p:sp>
      <p:sp>
        <p:nvSpPr>
          <p:cNvPr id="3" name="テキスト プレースホルダー 2"/>
          <p:cNvSpPr>
            <a:spLocks noGrp="1"/>
          </p:cNvSpPr>
          <p:nvPr>
            <p:ph type="body" sz="quarter" idx="10"/>
          </p:nvPr>
        </p:nvSpPr>
        <p:spPr/>
        <p:txBody>
          <a:bodyPr/>
          <a:lstStyle/>
          <a:p>
            <a:r>
              <a:rPr lang="ja-JP" altLang="en-US" dirty="0"/>
              <a:t>利点：</a:t>
            </a:r>
            <a:endParaRPr lang="en-US" altLang="ja-JP" dirty="0"/>
          </a:p>
          <a:p>
            <a:pPr lvl="1"/>
            <a:r>
              <a:rPr lang="ja-JP" altLang="en-US" dirty="0"/>
              <a:t>なにもしないので，ハードは最も単純</a:t>
            </a:r>
            <a:endParaRPr lang="en-US" altLang="ja-JP" dirty="0"/>
          </a:p>
          <a:p>
            <a:pPr lvl="1"/>
            <a:r>
              <a:rPr lang="ja-JP" altLang="en-US" dirty="0"/>
              <a:t>並列にできる命令があれば，性能も下がらない</a:t>
            </a:r>
            <a:endParaRPr lang="en-US" altLang="ja-JP" dirty="0"/>
          </a:p>
        </p:txBody>
      </p:sp>
    </p:spTree>
    <p:extLst>
      <p:ext uri="{BB962C8B-B14F-4D97-AF65-F5344CB8AC3E}">
        <p14:creationId xmlns:p14="http://schemas.microsoft.com/office/powerpoint/2010/main" val="2910713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遅延スロットの欠点</a:t>
            </a:r>
          </a:p>
        </p:txBody>
      </p:sp>
      <p:sp>
        <p:nvSpPr>
          <p:cNvPr id="3" name="テキスト プレースホルダー 2"/>
          <p:cNvSpPr>
            <a:spLocks noGrp="1"/>
          </p:cNvSpPr>
          <p:nvPr>
            <p:ph type="body" sz="quarter" idx="10"/>
          </p:nvPr>
        </p:nvSpPr>
        <p:spPr>
          <a:xfrm>
            <a:off x="611956" y="908972"/>
            <a:ext cx="8280092" cy="2610028"/>
          </a:xfrm>
        </p:spPr>
        <p:txBody>
          <a:bodyPr/>
          <a:lstStyle/>
          <a:p>
            <a:r>
              <a:rPr lang="ja-JP" altLang="en-US" dirty="0"/>
              <a:t>欠点：「仕様」なので，一度決めると変えられない</a:t>
            </a:r>
            <a:endParaRPr lang="en-US" altLang="ja-JP" dirty="0"/>
          </a:p>
          <a:p>
            <a:pPr lvl="1"/>
            <a:r>
              <a:rPr lang="ja-JP" altLang="en-US" dirty="0"/>
              <a:t>後からパイプラインの段数や構造を変えると互換性がなくなる</a:t>
            </a:r>
            <a:endParaRPr lang="en-US" altLang="ja-JP" dirty="0"/>
          </a:p>
          <a:p>
            <a:pPr lvl="2"/>
            <a:r>
              <a:rPr lang="ja-JP" altLang="en-US" dirty="0"/>
              <a:t>クロックをあげるために，段数を増やせない</a:t>
            </a:r>
            <a:endParaRPr lang="en-US" altLang="ja-JP" dirty="0"/>
          </a:p>
          <a:p>
            <a:pPr lvl="1"/>
            <a:r>
              <a:rPr lang="ja-JP" altLang="en-US" dirty="0"/>
              <a:t>複数の命令を同時処理しようとしたときにも互換性がなくなる</a:t>
            </a:r>
            <a:endParaRPr lang="en-US" altLang="ja-JP" dirty="0"/>
          </a:p>
          <a:p>
            <a:pPr lvl="1"/>
            <a:r>
              <a:rPr lang="en-US" altLang="ja-JP" dirty="0"/>
              <a:t>MIPS </a:t>
            </a:r>
            <a:r>
              <a:rPr lang="ja-JP" altLang="en-US" dirty="0"/>
              <a:t>では遅延スロットが１命令分，仕様として存在</a:t>
            </a:r>
            <a:endParaRPr lang="en-US" altLang="ja-JP" dirty="0"/>
          </a:p>
          <a:p>
            <a:pPr lvl="2"/>
            <a:r>
              <a:rPr lang="ja-JP" altLang="en-US" dirty="0"/>
              <a:t>互換性のためにこれを忠実に再現するため後年は逆に複雑化</a:t>
            </a:r>
            <a:endParaRPr lang="en-US" altLang="ja-JP" dirty="0"/>
          </a:p>
        </p:txBody>
      </p:sp>
      <p:sp>
        <p:nvSpPr>
          <p:cNvPr id="4" name="Rectangle 69"/>
          <p:cNvSpPr>
            <a:spLocks noChangeArrowheads="1"/>
          </p:cNvSpPr>
          <p:nvPr/>
        </p:nvSpPr>
        <p:spPr bwMode="auto">
          <a:xfrm>
            <a:off x="251952"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5" name="Rectangle 70"/>
          <p:cNvSpPr>
            <a:spLocks noChangeArrowheads="1"/>
          </p:cNvSpPr>
          <p:nvPr/>
        </p:nvSpPr>
        <p:spPr bwMode="auto">
          <a:xfrm>
            <a:off x="701957"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6" name="Rectangle 71"/>
          <p:cNvSpPr>
            <a:spLocks noChangeArrowheads="1"/>
          </p:cNvSpPr>
          <p:nvPr/>
        </p:nvSpPr>
        <p:spPr bwMode="auto">
          <a:xfrm>
            <a:off x="1151962"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7" name="Rectangle 72"/>
          <p:cNvSpPr>
            <a:spLocks noChangeArrowheads="1"/>
          </p:cNvSpPr>
          <p:nvPr/>
        </p:nvSpPr>
        <p:spPr bwMode="auto">
          <a:xfrm>
            <a:off x="1601967"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8" name="Rectangle 69"/>
          <p:cNvSpPr>
            <a:spLocks noChangeArrowheads="1"/>
          </p:cNvSpPr>
          <p:nvPr/>
        </p:nvSpPr>
        <p:spPr bwMode="auto">
          <a:xfrm>
            <a:off x="701957"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9" name="Rectangle 70"/>
          <p:cNvSpPr>
            <a:spLocks noChangeArrowheads="1"/>
          </p:cNvSpPr>
          <p:nvPr/>
        </p:nvSpPr>
        <p:spPr bwMode="auto">
          <a:xfrm>
            <a:off x="1151962"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0" name="Rectangle 71"/>
          <p:cNvSpPr>
            <a:spLocks noChangeArrowheads="1"/>
          </p:cNvSpPr>
          <p:nvPr/>
        </p:nvSpPr>
        <p:spPr bwMode="auto">
          <a:xfrm>
            <a:off x="1601967"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1" name="Rectangle 72"/>
          <p:cNvSpPr>
            <a:spLocks noChangeArrowheads="1"/>
          </p:cNvSpPr>
          <p:nvPr/>
        </p:nvSpPr>
        <p:spPr bwMode="auto">
          <a:xfrm>
            <a:off x="2051972"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2" name="Rectangle 73"/>
          <p:cNvSpPr>
            <a:spLocks noChangeArrowheads="1"/>
          </p:cNvSpPr>
          <p:nvPr/>
        </p:nvSpPr>
        <p:spPr bwMode="auto">
          <a:xfrm>
            <a:off x="2501977"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3" name="Rectangle 69"/>
          <p:cNvSpPr>
            <a:spLocks noChangeArrowheads="1"/>
          </p:cNvSpPr>
          <p:nvPr/>
        </p:nvSpPr>
        <p:spPr bwMode="auto">
          <a:xfrm>
            <a:off x="1151962"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4" name="Rectangle 70"/>
          <p:cNvSpPr>
            <a:spLocks noChangeArrowheads="1"/>
          </p:cNvSpPr>
          <p:nvPr/>
        </p:nvSpPr>
        <p:spPr bwMode="auto">
          <a:xfrm>
            <a:off x="1601967"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5" name="Rectangle 71"/>
          <p:cNvSpPr>
            <a:spLocks noChangeArrowheads="1"/>
          </p:cNvSpPr>
          <p:nvPr/>
        </p:nvSpPr>
        <p:spPr bwMode="auto">
          <a:xfrm>
            <a:off x="2051972"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6" name="Rectangle 72"/>
          <p:cNvSpPr>
            <a:spLocks noChangeArrowheads="1"/>
          </p:cNvSpPr>
          <p:nvPr/>
        </p:nvSpPr>
        <p:spPr bwMode="auto">
          <a:xfrm>
            <a:off x="2501977"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7" name="Rectangle 73"/>
          <p:cNvSpPr>
            <a:spLocks noChangeArrowheads="1"/>
          </p:cNvSpPr>
          <p:nvPr/>
        </p:nvSpPr>
        <p:spPr bwMode="auto">
          <a:xfrm>
            <a:off x="2951982"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8" name="Rectangle 69"/>
          <p:cNvSpPr>
            <a:spLocks noChangeArrowheads="1"/>
          </p:cNvSpPr>
          <p:nvPr/>
        </p:nvSpPr>
        <p:spPr bwMode="auto">
          <a:xfrm>
            <a:off x="1601967"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9" name="Rectangle 70"/>
          <p:cNvSpPr>
            <a:spLocks noChangeArrowheads="1"/>
          </p:cNvSpPr>
          <p:nvPr/>
        </p:nvSpPr>
        <p:spPr bwMode="auto">
          <a:xfrm>
            <a:off x="2051972"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0" name="Rectangle 71"/>
          <p:cNvSpPr>
            <a:spLocks noChangeArrowheads="1"/>
          </p:cNvSpPr>
          <p:nvPr/>
        </p:nvSpPr>
        <p:spPr bwMode="auto">
          <a:xfrm>
            <a:off x="2501977"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1" name="Rectangle 72"/>
          <p:cNvSpPr>
            <a:spLocks noChangeArrowheads="1"/>
          </p:cNvSpPr>
          <p:nvPr/>
        </p:nvSpPr>
        <p:spPr bwMode="auto">
          <a:xfrm>
            <a:off x="2951982"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2" name="Rectangle 73"/>
          <p:cNvSpPr>
            <a:spLocks noChangeArrowheads="1"/>
          </p:cNvSpPr>
          <p:nvPr/>
        </p:nvSpPr>
        <p:spPr bwMode="auto">
          <a:xfrm>
            <a:off x="3401987"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3" name="Rectangle 73"/>
          <p:cNvSpPr>
            <a:spLocks noChangeArrowheads="1"/>
          </p:cNvSpPr>
          <p:nvPr/>
        </p:nvSpPr>
        <p:spPr bwMode="auto">
          <a:xfrm>
            <a:off x="2051972"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4" name="Rectangle 69"/>
          <p:cNvSpPr>
            <a:spLocks noChangeArrowheads="1"/>
          </p:cNvSpPr>
          <p:nvPr/>
        </p:nvSpPr>
        <p:spPr bwMode="auto">
          <a:xfrm>
            <a:off x="5112006"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5" name="Rectangle 70"/>
          <p:cNvSpPr>
            <a:spLocks noChangeArrowheads="1"/>
          </p:cNvSpPr>
          <p:nvPr/>
        </p:nvSpPr>
        <p:spPr bwMode="auto">
          <a:xfrm>
            <a:off x="5562011"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6" name="Rectangle 71"/>
          <p:cNvSpPr>
            <a:spLocks noChangeArrowheads="1"/>
          </p:cNvSpPr>
          <p:nvPr/>
        </p:nvSpPr>
        <p:spPr bwMode="auto">
          <a:xfrm>
            <a:off x="6012016"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7" name="Rectangle 72"/>
          <p:cNvSpPr>
            <a:spLocks noChangeArrowheads="1"/>
          </p:cNvSpPr>
          <p:nvPr/>
        </p:nvSpPr>
        <p:spPr bwMode="auto">
          <a:xfrm>
            <a:off x="6462021"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8" name="Rectangle 69"/>
          <p:cNvSpPr>
            <a:spLocks noChangeArrowheads="1"/>
          </p:cNvSpPr>
          <p:nvPr/>
        </p:nvSpPr>
        <p:spPr bwMode="auto">
          <a:xfrm>
            <a:off x="5112006"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9" name="Rectangle 70"/>
          <p:cNvSpPr>
            <a:spLocks noChangeArrowheads="1"/>
          </p:cNvSpPr>
          <p:nvPr/>
        </p:nvSpPr>
        <p:spPr bwMode="auto">
          <a:xfrm>
            <a:off x="5562011"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30" name="Rectangle 71"/>
          <p:cNvSpPr>
            <a:spLocks noChangeArrowheads="1"/>
          </p:cNvSpPr>
          <p:nvPr/>
        </p:nvSpPr>
        <p:spPr bwMode="auto">
          <a:xfrm>
            <a:off x="6012016"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31" name="Rectangle 72"/>
          <p:cNvSpPr>
            <a:spLocks noChangeArrowheads="1"/>
          </p:cNvSpPr>
          <p:nvPr/>
        </p:nvSpPr>
        <p:spPr bwMode="auto">
          <a:xfrm>
            <a:off x="6462021"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2" name="Rectangle 73"/>
          <p:cNvSpPr>
            <a:spLocks noChangeArrowheads="1"/>
          </p:cNvSpPr>
          <p:nvPr/>
        </p:nvSpPr>
        <p:spPr bwMode="auto">
          <a:xfrm>
            <a:off x="6912026"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33" name="Rectangle 69"/>
          <p:cNvSpPr>
            <a:spLocks noChangeArrowheads="1"/>
          </p:cNvSpPr>
          <p:nvPr/>
        </p:nvSpPr>
        <p:spPr bwMode="auto">
          <a:xfrm>
            <a:off x="5562011"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34" name="Rectangle 70"/>
          <p:cNvSpPr>
            <a:spLocks noChangeArrowheads="1"/>
          </p:cNvSpPr>
          <p:nvPr/>
        </p:nvSpPr>
        <p:spPr bwMode="auto">
          <a:xfrm>
            <a:off x="6012016"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35" name="Rectangle 71"/>
          <p:cNvSpPr>
            <a:spLocks noChangeArrowheads="1"/>
          </p:cNvSpPr>
          <p:nvPr/>
        </p:nvSpPr>
        <p:spPr bwMode="auto">
          <a:xfrm>
            <a:off x="6462021"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36" name="Rectangle 72"/>
          <p:cNvSpPr>
            <a:spLocks noChangeArrowheads="1"/>
          </p:cNvSpPr>
          <p:nvPr/>
        </p:nvSpPr>
        <p:spPr bwMode="auto">
          <a:xfrm>
            <a:off x="6912026"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7" name="Rectangle 73"/>
          <p:cNvSpPr>
            <a:spLocks noChangeArrowheads="1"/>
          </p:cNvSpPr>
          <p:nvPr/>
        </p:nvSpPr>
        <p:spPr bwMode="auto">
          <a:xfrm>
            <a:off x="7362031"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38" name="Rectangle 69"/>
          <p:cNvSpPr>
            <a:spLocks noChangeArrowheads="1"/>
          </p:cNvSpPr>
          <p:nvPr/>
        </p:nvSpPr>
        <p:spPr bwMode="auto">
          <a:xfrm>
            <a:off x="5562011"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39" name="Rectangle 70"/>
          <p:cNvSpPr>
            <a:spLocks noChangeArrowheads="1"/>
          </p:cNvSpPr>
          <p:nvPr/>
        </p:nvSpPr>
        <p:spPr bwMode="auto">
          <a:xfrm>
            <a:off x="6012016"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40" name="Rectangle 71"/>
          <p:cNvSpPr>
            <a:spLocks noChangeArrowheads="1"/>
          </p:cNvSpPr>
          <p:nvPr/>
        </p:nvSpPr>
        <p:spPr bwMode="auto">
          <a:xfrm>
            <a:off x="6462021"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41" name="Rectangle 72"/>
          <p:cNvSpPr>
            <a:spLocks noChangeArrowheads="1"/>
          </p:cNvSpPr>
          <p:nvPr/>
        </p:nvSpPr>
        <p:spPr bwMode="auto">
          <a:xfrm>
            <a:off x="6912026"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42" name="Rectangle 73"/>
          <p:cNvSpPr>
            <a:spLocks noChangeArrowheads="1"/>
          </p:cNvSpPr>
          <p:nvPr/>
        </p:nvSpPr>
        <p:spPr bwMode="auto">
          <a:xfrm>
            <a:off x="7362031" y="549902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43" name="Rectangle 73"/>
          <p:cNvSpPr>
            <a:spLocks noChangeArrowheads="1"/>
          </p:cNvSpPr>
          <p:nvPr/>
        </p:nvSpPr>
        <p:spPr bwMode="auto">
          <a:xfrm>
            <a:off x="6912026"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44" name="Rectangle 69"/>
          <p:cNvSpPr>
            <a:spLocks noChangeArrowheads="1"/>
          </p:cNvSpPr>
          <p:nvPr/>
        </p:nvSpPr>
        <p:spPr bwMode="auto">
          <a:xfrm>
            <a:off x="2051972"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45" name="Rectangle 70"/>
          <p:cNvSpPr>
            <a:spLocks noChangeArrowheads="1"/>
          </p:cNvSpPr>
          <p:nvPr/>
        </p:nvSpPr>
        <p:spPr bwMode="auto">
          <a:xfrm>
            <a:off x="2501977"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46" name="Rectangle 71"/>
          <p:cNvSpPr>
            <a:spLocks noChangeArrowheads="1"/>
          </p:cNvSpPr>
          <p:nvPr/>
        </p:nvSpPr>
        <p:spPr bwMode="auto">
          <a:xfrm>
            <a:off x="2951982"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47" name="Rectangle 72"/>
          <p:cNvSpPr>
            <a:spLocks noChangeArrowheads="1"/>
          </p:cNvSpPr>
          <p:nvPr/>
        </p:nvSpPr>
        <p:spPr bwMode="auto">
          <a:xfrm>
            <a:off x="3401987"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48" name="Rectangle 73"/>
          <p:cNvSpPr>
            <a:spLocks noChangeArrowheads="1"/>
          </p:cNvSpPr>
          <p:nvPr/>
        </p:nvSpPr>
        <p:spPr bwMode="auto">
          <a:xfrm>
            <a:off x="3851992"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49" name="Rectangle 69"/>
          <p:cNvSpPr>
            <a:spLocks noChangeArrowheads="1"/>
          </p:cNvSpPr>
          <p:nvPr/>
        </p:nvSpPr>
        <p:spPr bwMode="auto">
          <a:xfrm>
            <a:off x="6012016"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50" name="Rectangle 70"/>
          <p:cNvSpPr>
            <a:spLocks noChangeArrowheads="1"/>
          </p:cNvSpPr>
          <p:nvPr/>
        </p:nvSpPr>
        <p:spPr bwMode="auto">
          <a:xfrm>
            <a:off x="6462021"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51" name="Rectangle 71"/>
          <p:cNvSpPr>
            <a:spLocks noChangeArrowheads="1"/>
          </p:cNvSpPr>
          <p:nvPr/>
        </p:nvSpPr>
        <p:spPr bwMode="auto">
          <a:xfrm>
            <a:off x="6912026"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52" name="Rectangle 72"/>
          <p:cNvSpPr>
            <a:spLocks noChangeArrowheads="1"/>
          </p:cNvSpPr>
          <p:nvPr/>
        </p:nvSpPr>
        <p:spPr bwMode="auto">
          <a:xfrm>
            <a:off x="7362031"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53" name="Rectangle 73"/>
          <p:cNvSpPr>
            <a:spLocks noChangeArrowheads="1"/>
          </p:cNvSpPr>
          <p:nvPr/>
        </p:nvSpPr>
        <p:spPr bwMode="auto">
          <a:xfrm>
            <a:off x="7812036"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54" name="Rectangle 69"/>
          <p:cNvSpPr>
            <a:spLocks noChangeArrowheads="1"/>
          </p:cNvSpPr>
          <p:nvPr/>
        </p:nvSpPr>
        <p:spPr bwMode="auto">
          <a:xfrm>
            <a:off x="6012016" y="639903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55" name="Rectangle 70"/>
          <p:cNvSpPr>
            <a:spLocks noChangeArrowheads="1"/>
          </p:cNvSpPr>
          <p:nvPr/>
        </p:nvSpPr>
        <p:spPr bwMode="auto">
          <a:xfrm>
            <a:off x="6462021" y="639903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56" name="Rectangle 71"/>
          <p:cNvSpPr>
            <a:spLocks noChangeArrowheads="1"/>
          </p:cNvSpPr>
          <p:nvPr/>
        </p:nvSpPr>
        <p:spPr bwMode="auto">
          <a:xfrm>
            <a:off x="6912026" y="639903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57" name="Rectangle 72"/>
          <p:cNvSpPr>
            <a:spLocks noChangeArrowheads="1"/>
          </p:cNvSpPr>
          <p:nvPr/>
        </p:nvSpPr>
        <p:spPr bwMode="auto">
          <a:xfrm>
            <a:off x="7362031" y="639903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58" name="Rectangle 73"/>
          <p:cNvSpPr>
            <a:spLocks noChangeArrowheads="1"/>
          </p:cNvSpPr>
          <p:nvPr/>
        </p:nvSpPr>
        <p:spPr bwMode="auto">
          <a:xfrm>
            <a:off x="7812036" y="639903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59" name="正方形/長方形 58"/>
          <p:cNvSpPr/>
          <p:nvPr/>
        </p:nvSpPr>
        <p:spPr bwMode="auto">
          <a:xfrm>
            <a:off x="4481999" y="378900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２命令同時処理すると，遅延スロットが増える</a:t>
            </a:r>
          </a:p>
        </p:txBody>
      </p:sp>
    </p:spTree>
    <p:extLst>
      <p:ext uri="{BB962C8B-B14F-4D97-AF65-F5344CB8AC3E}">
        <p14:creationId xmlns:p14="http://schemas.microsoft.com/office/powerpoint/2010/main" val="2931371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遅延スロットの欠点２</a:t>
            </a:r>
          </a:p>
        </p:txBody>
      </p:sp>
      <p:sp>
        <p:nvSpPr>
          <p:cNvPr id="3" name="テキスト プレースホルダー 2"/>
          <p:cNvSpPr>
            <a:spLocks noGrp="1"/>
          </p:cNvSpPr>
          <p:nvPr>
            <p:ph type="body" sz="quarter" idx="10"/>
          </p:nvPr>
        </p:nvSpPr>
        <p:spPr>
          <a:xfrm>
            <a:off x="611956" y="4959017"/>
            <a:ext cx="8280092" cy="1349708"/>
          </a:xfrm>
        </p:spPr>
        <p:txBody>
          <a:bodyPr/>
          <a:lstStyle/>
          <a:p>
            <a:r>
              <a:rPr lang="ja-JP" altLang="en-US" dirty="0"/>
              <a:t>欠点２：並列してできる命令が常にあるとは限らない</a:t>
            </a:r>
            <a:endParaRPr lang="en-US" altLang="ja-JP" dirty="0"/>
          </a:p>
          <a:p>
            <a:pPr lvl="1"/>
            <a:r>
              <a:rPr lang="en-US" altLang="ja-JP" dirty="0"/>
              <a:t>NOP </a:t>
            </a:r>
            <a:r>
              <a:rPr lang="ja-JP" altLang="en-US" dirty="0"/>
              <a:t>を入れるしかなくなる</a:t>
            </a:r>
            <a:endParaRPr lang="en-US" altLang="ja-JP" dirty="0"/>
          </a:p>
          <a:p>
            <a:pPr lvl="1"/>
            <a:r>
              <a:rPr lang="ja-JP" altLang="en-US" dirty="0"/>
              <a:t>実質ストールしてバブルを入れるのと同じになってしまう</a:t>
            </a:r>
            <a:endParaRPr lang="en-US" altLang="ja-JP" dirty="0"/>
          </a:p>
        </p:txBody>
      </p:sp>
      <p:cxnSp>
        <p:nvCxnSpPr>
          <p:cNvPr id="42" name="直線コネクタ 41"/>
          <p:cNvCxnSpPr/>
          <p:nvPr/>
        </p:nvCxnSpPr>
        <p:spPr bwMode="auto">
          <a:xfrm>
            <a:off x="2411976" y="1898983"/>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43" name="直線コネクタ 42"/>
          <p:cNvCxnSpPr/>
          <p:nvPr/>
        </p:nvCxnSpPr>
        <p:spPr bwMode="auto">
          <a:xfrm>
            <a:off x="2411976"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44" name="Rectangle 69"/>
          <p:cNvSpPr>
            <a:spLocks noChangeArrowheads="1"/>
          </p:cNvSpPr>
          <p:nvPr/>
        </p:nvSpPr>
        <p:spPr bwMode="auto">
          <a:xfrm>
            <a:off x="295198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45" name="Rectangle 70"/>
          <p:cNvSpPr>
            <a:spLocks noChangeArrowheads="1"/>
          </p:cNvSpPr>
          <p:nvPr/>
        </p:nvSpPr>
        <p:spPr bwMode="auto">
          <a:xfrm>
            <a:off x="3401987"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46" name="Rectangle 71"/>
          <p:cNvSpPr>
            <a:spLocks noChangeArrowheads="1"/>
          </p:cNvSpPr>
          <p:nvPr/>
        </p:nvSpPr>
        <p:spPr bwMode="auto">
          <a:xfrm>
            <a:off x="385199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47" name="Rectangle 72"/>
          <p:cNvSpPr>
            <a:spLocks noChangeArrowheads="1"/>
          </p:cNvSpPr>
          <p:nvPr/>
        </p:nvSpPr>
        <p:spPr bwMode="auto">
          <a:xfrm>
            <a:off x="4301997"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48" name="Rectangle 69"/>
          <p:cNvSpPr>
            <a:spLocks noChangeArrowheads="1"/>
          </p:cNvSpPr>
          <p:nvPr/>
        </p:nvSpPr>
        <p:spPr bwMode="auto">
          <a:xfrm>
            <a:off x="340198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49" name="Rectangle 70"/>
          <p:cNvSpPr>
            <a:spLocks noChangeArrowheads="1"/>
          </p:cNvSpPr>
          <p:nvPr/>
        </p:nvSpPr>
        <p:spPr bwMode="auto">
          <a:xfrm>
            <a:off x="385199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50" name="Rectangle 71"/>
          <p:cNvSpPr>
            <a:spLocks noChangeArrowheads="1"/>
          </p:cNvSpPr>
          <p:nvPr/>
        </p:nvSpPr>
        <p:spPr bwMode="auto">
          <a:xfrm>
            <a:off x="430199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51" name="Rectangle 72"/>
          <p:cNvSpPr>
            <a:spLocks noChangeArrowheads="1"/>
          </p:cNvSpPr>
          <p:nvPr/>
        </p:nvSpPr>
        <p:spPr bwMode="auto">
          <a:xfrm>
            <a:off x="475200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52" name="Rectangle 73"/>
          <p:cNvSpPr>
            <a:spLocks noChangeArrowheads="1"/>
          </p:cNvSpPr>
          <p:nvPr/>
        </p:nvSpPr>
        <p:spPr bwMode="auto">
          <a:xfrm>
            <a:off x="5202007"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53" name="Rectangle 69"/>
          <p:cNvSpPr>
            <a:spLocks noChangeArrowheads="1"/>
          </p:cNvSpPr>
          <p:nvPr/>
        </p:nvSpPr>
        <p:spPr bwMode="auto">
          <a:xfrm>
            <a:off x="385199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54" name="Rectangle 70"/>
          <p:cNvSpPr>
            <a:spLocks noChangeArrowheads="1"/>
          </p:cNvSpPr>
          <p:nvPr/>
        </p:nvSpPr>
        <p:spPr bwMode="auto">
          <a:xfrm>
            <a:off x="4301997"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55" name="Rectangle 71"/>
          <p:cNvSpPr>
            <a:spLocks noChangeArrowheads="1"/>
          </p:cNvSpPr>
          <p:nvPr/>
        </p:nvSpPr>
        <p:spPr bwMode="auto">
          <a:xfrm>
            <a:off x="475200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56" name="Rectangle 72"/>
          <p:cNvSpPr>
            <a:spLocks noChangeArrowheads="1"/>
          </p:cNvSpPr>
          <p:nvPr/>
        </p:nvSpPr>
        <p:spPr bwMode="auto">
          <a:xfrm>
            <a:off x="5202007"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57" name="Rectangle 73"/>
          <p:cNvSpPr>
            <a:spLocks noChangeArrowheads="1"/>
          </p:cNvSpPr>
          <p:nvPr/>
        </p:nvSpPr>
        <p:spPr bwMode="auto">
          <a:xfrm>
            <a:off x="565201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58" name="正方形/長方形 57"/>
          <p:cNvSpPr/>
          <p:nvPr/>
        </p:nvSpPr>
        <p:spPr bwMode="auto">
          <a:xfrm>
            <a:off x="521955"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 add x1+1</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600" dirty="0">
                <a:solidFill>
                  <a:schemeClr val="accent6"/>
                </a:solidFill>
                <a:latin typeface="メイリオ" panose="020B0604030504040204" pitchFamily="50" charset="-128"/>
                <a:ea typeface="メイリオ" panose="020B0604030504040204" pitchFamily="50" charset="-128"/>
              </a:rPr>
              <a:t>x1</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sp>
        <p:nvSpPr>
          <p:cNvPr id="59" name="Rectangle 69"/>
          <p:cNvSpPr>
            <a:spLocks noChangeArrowheads="1"/>
          </p:cNvSpPr>
          <p:nvPr/>
        </p:nvSpPr>
        <p:spPr bwMode="auto">
          <a:xfrm>
            <a:off x="430199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60" name="Rectangle 70"/>
          <p:cNvSpPr>
            <a:spLocks noChangeArrowheads="1"/>
          </p:cNvSpPr>
          <p:nvPr/>
        </p:nvSpPr>
        <p:spPr bwMode="auto">
          <a:xfrm>
            <a:off x="4752002"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61" name="Rectangle 71"/>
          <p:cNvSpPr>
            <a:spLocks noChangeArrowheads="1"/>
          </p:cNvSpPr>
          <p:nvPr/>
        </p:nvSpPr>
        <p:spPr bwMode="auto">
          <a:xfrm>
            <a:off x="520200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62" name="Rectangle 72"/>
          <p:cNvSpPr>
            <a:spLocks noChangeArrowheads="1"/>
          </p:cNvSpPr>
          <p:nvPr/>
        </p:nvSpPr>
        <p:spPr bwMode="auto">
          <a:xfrm>
            <a:off x="5652012"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63" name="Rectangle 73"/>
          <p:cNvSpPr>
            <a:spLocks noChangeArrowheads="1"/>
          </p:cNvSpPr>
          <p:nvPr/>
        </p:nvSpPr>
        <p:spPr bwMode="auto">
          <a:xfrm>
            <a:off x="6102017"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64" name="Rectangle 69"/>
          <p:cNvSpPr>
            <a:spLocks noChangeArrowheads="1"/>
          </p:cNvSpPr>
          <p:nvPr/>
        </p:nvSpPr>
        <p:spPr bwMode="auto">
          <a:xfrm>
            <a:off x="475200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65" name="Rectangle 70"/>
          <p:cNvSpPr>
            <a:spLocks noChangeArrowheads="1"/>
          </p:cNvSpPr>
          <p:nvPr/>
        </p:nvSpPr>
        <p:spPr bwMode="auto">
          <a:xfrm>
            <a:off x="5202007"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66" name="Rectangle 71"/>
          <p:cNvSpPr>
            <a:spLocks noChangeArrowheads="1"/>
          </p:cNvSpPr>
          <p:nvPr/>
        </p:nvSpPr>
        <p:spPr bwMode="auto">
          <a:xfrm>
            <a:off x="565201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67" name="Rectangle 72"/>
          <p:cNvSpPr>
            <a:spLocks noChangeArrowheads="1"/>
          </p:cNvSpPr>
          <p:nvPr/>
        </p:nvSpPr>
        <p:spPr bwMode="auto">
          <a:xfrm>
            <a:off x="6102017"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68" name="Rectangle 73"/>
          <p:cNvSpPr>
            <a:spLocks noChangeArrowheads="1"/>
          </p:cNvSpPr>
          <p:nvPr/>
        </p:nvSpPr>
        <p:spPr bwMode="auto">
          <a:xfrm>
            <a:off x="6552022"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69" name="直線コネクタ 68"/>
          <p:cNvCxnSpPr/>
          <p:nvPr/>
        </p:nvCxnSpPr>
        <p:spPr bwMode="auto">
          <a:xfrm>
            <a:off x="2411976" y="2348988"/>
            <a:ext cx="1440088" cy="0"/>
          </a:xfrm>
          <a:prstGeom prst="line">
            <a:avLst/>
          </a:prstGeom>
          <a:noFill/>
          <a:ln w="9525" cap="flat" cmpd="sng" algn="ctr">
            <a:solidFill>
              <a:schemeClr val="tx1"/>
            </a:solidFill>
            <a:prstDash val="dash"/>
            <a:round/>
            <a:headEnd type="none" w="med" len="med"/>
            <a:tailEnd type="none" w="med" len="med"/>
          </a:ln>
          <a:effectLst/>
        </p:spPr>
      </p:cxnSp>
      <p:sp>
        <p:nvSpPr>
          <p:cNvPr id="70" name="正方形/長方形 69"/>
          <p:cNvSpPr/>
          <p:nvPr/>
        </p:nvSpPr>
        <p:spPr bwMode="auto">
          <a:xfrm>
            <a:off x="521955"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 </a:t>
            </a:r>
            <a:r>
              <a:rPr lang="en-US" altLang="ja-JP" sz="1600" dirty="0">
                <a:solidFill>
                  <a:schemeClr val="accent6"/>
                </a:solidFill>
                <a:latin typeface="メイリオ" panose="020B0604030504040204" pitchFamily="50" charset="-128"/>
                <a:ea typeface="メイリオ" panose="020B0604030504040204" pitchFamily="50" charset="-128"/>
              </a:rPr>
              <a:t>NOP</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sp>
        <p:nvSpPr>
          <p:cNvPr id="71" name="正方形/長方形 70"/>
          <p:cNvSpPr/>
          <p:nvPr/>
        </p:nvSpPr>
        <p:spPr bwMode="auto">
          <a:xfrm>
            <a:off x="521955"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600" dirty="0">
                <a:solidFill>
                  <a:schemeClr val="accent6"/>
                </a:solidFill>
                <a:latin typeface="メイリオ" panose="020B0604030504040204" pitchFamily="50" charset="-128"/>
                <a:ea typeface="メイリオ" panose="020B0604030504040204" pitchFamily="50" charset="-128"/>
              </a:rPr>
              <a:t>NOP</a:t>
            </a:r>
            <a:endParaRPr lang="ja-JP" altLang="en-US" sz="1600" dirty="0">
              <a:solidFill>
                <a:schemeClr val="accent6"/>
              </a:solidFill>
              <a:latin typeface="メイリオ" panose="020B0604030504040204" pitchFamily="50" charset="-128"/>
              <a:ea typeface="メイリオ" panose="020B0604030504040204" pitchFamily="50" charset="-128"/>
            </a:endParaRPr>
          </a:p>
        </p:txBody>
      </p:sp>
      <p:cxnSp>
        <p:nvCxnSpPr>
          <p:cNvPr id="72" name="直線コネクタ 71"/>
          <p:cNvCxnSpPr/>
          <p:nvPr/>
        </p:nvCxnSpPr>
        <p:spPr bwMode="auto">
          <a:xfrm>
            <a:off x="2411976" y="2798993"/>
            <a:ext cx="1890093" cy="0"/>
          </a:xfrm>
          <a:prstGeom prst="line">
            <a:avLst/>
          </a:prstGeom>
          <a:noFill/>
          <a:ln w="9525" cap="flat" cmpd="sng" algn="ctr">
            <a:solidFill>
              <a:schemeClr val="tx1"/>
            </a:solidFill>
            <a:prstDash val="dash"/>
            <a:round/>
            <a:headEnd type="none" w="med" len="med"/>
            <a:tailEnd type="none" w="med" len="med"/>
          </a:ln>
          <a:effectLst/>
        </p:spPr>
      </p:cxnSp>
      <p:sp>
        <p:nvSpPr>
          <p:cNvPr id="73" name="正方形/長方形 72"/>
          <p:cNvSpPr/>
          <p:nvPr/>
        </p:nvSpPr>
        <p:spPr bwMode="auto">
          <a:xfrm>
            <a:off x="521955"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 </a:t>
            </a:r>
            <a:r>
              <a:rPr lang="en-US" altLang="ja-JP" sz="1600" dirty="0">
                <a:solidFill>
                  <a:schemeClr val="accent6"/>
                </a:solidFill>
                <a:latin typeface="メイリオ" panose="020B0604030504040204" pitchFamily="50" charset="-128"/>
                <a:ea typeface="メイリオ" panose="020B0604030504040204" pitchFamily="50" charset="-128"/>
              </a:rPr>
              <a:t>NOP</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cxnSp>
        <p:nvCxnSpPr>
          <p:cNvPr id="74" name="直線コネクタ 73"/>
          <p:cNvCxnSpPr>
            <a:endCxn id="64" idx="1"/>
          </p:cNvCxnSpPr>
          <p:nvPr/>
        </p:nvCxnSpPr>
        <p:spPr bwMode="auto">
          <a:xfrm flipV="1">
            <a:off x="2411976" y="3248996"/>
            <a:ext cx="2340026" cy="2"/>
          </a:xfrm>
          <a:prstGeom prst="line">
            <a:avLst/>
          </a:prstGeom>
          <a:noFill/>
          <a:ln w="9525" cap="flat" cmpd="sng" algn="ctr">
            <a:solidFill>
              <a:schemeClr val="tx1"/>
            </a:solidFill>
            <a:prstDash val="dash"/>
            <a:round/>
            <a:headEnd type="none" w="med" len="med"/>
            <a:tailEnd type="none" w="med" len="med"/>
          </a:ln>
          <a:effectLst/>
        </p:spPr>
      </p:cxnSp>
      <p:sp>
        <p:nvSpPr>
          <p:cNvPr id="75" name="正方形/長方形 74"/>
          <p:cNvSpPr/>
          <p:nvPr/>
        </p:nvSpPr>
        <p:spPr bwMode="auto">
          <a:xfrm>
            <a:off x="521955"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I4</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sub </a:t>
            </a:r>
            <a:r>
              <a:rPr lang="en-US" altLang="ja-JP" sz="1600" dirty="0">
                <a:solidFill>
                  <a:schemeClr val="accent6"/>
                </a:solidFill>
                <a:latin typeface="メイリオ" panose="020B0604030504040204" pitchFamily="50" charset="-128"/>
                <a:ea typeface="メイリオ" panose="020B0604030504040204" pitchFamily="50" charset="-128"/>
              </a:rPr>
              <a:t>x1</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6" name="Rectangle 73"/>
          <p:cNvSpPr>
            <a:spLocks noChangeArrowheads="1"/>
          </p:cNvSpPr>
          <p:nvPr/>
        </p:nvSpPr>
        <p:spPr bwMode="auto">
          <a:xfrm>
            <a:off x="4752002"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77" name="直線コネクタ 76"/>
          <p:cNvCxnSpPr/>
          <p:nvPr/>
        </p:nvCxnSpPr>
        <p:spPr bwMode="auto">
          <a:xfrm>
            <a:off x="5164837" y="1208711"/>
            <a:ext cx="0" cy="2340026"/>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79" name="直線コネクタ 78"/>
          <p:cNvCxnSpPr/>
          <p:nvPr/>
        </p:nvCxnSpPr>
        <p:spPr bwMode="auto">
          <a:xfrm>
            <a:off x="2411976" y="3969006"/>
            <a:ext cx="720080" cy="0"/>
          </a:xfrm>
          <a:prstGeom prst="line">
            <a:avLst/>
          </a:prstGeom>
          <a:noFill/>
          <a:ln w="9525" cap="flat" cmpd="sng" algn="ctr">
            <a:solidFill>
              <a:schemeClr val="tx1"/>
            </a:solidFill>
            <a:prstDash val="dash"/>
            <a:round/>
            <a:headEnd type="none" w="med" len="med"/>
            <a:tailEnd type="none" w="med" len="med"/>
          </a:ln>
          <a:effectLst/>
        </p:spPr>
      </p:cxnSp>
      <p:sp>
        <p:nvSpPr>
          <p:cNvPr id="80" name="Rectangle 69"/>
          <p:cNvSpPr>
            <a:spLocks noChangeArrowheads="1"/>
          </p:cNvSpPr>
          <p:nvPr/>
        </p:nvSpPr>
        <p:spPr bwMode="auto">
          <a:xfrm>
            <a:off x="2951982"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81" name="Rectangle 70"/>
          <p:cNvSpPr>
            <a:spLocks noChangeArrowheads="1"/>
          </p:cNvSpPr>
          <p:nvPr/>
        </p:nvSpPr>
        <p:spPr bwMode="auto">
          <a:xfrm>
            <a:off x="3401987"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82" name="Rectangle 71"/>
          <p:cNvSpPr>
            <a:spLocks noChangeArrowheads="1"/>
          </p:cNvSpPr>
          <p:nvPr/>
        </p:nvSpPr>
        <p:spPr bwMode="auto">
          <a:xfrm>
            <a:off x="3851992"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83" name="Rectangle 72"/>
          <p:cNvSpPr>
            <a:spLocks noChangeArrowheads="1"/>
          </p:cNvSpPr>
          <p:nvPr/>
        </p:nvSpPr>
        <p:spPr bwMode="auto">
          <a:xfrm>
            <a:off x="4301997"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94" name="正方形/長方形 93"/>
          <p:cNvSpPr/>
          <p:nvPr/>
        </p:nvSpPr>
        <p:spPr bwMode="auto">
          <a:xfrm>
            <a:off x="521955" y="378900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 add x1+1</a:t>
            </a:r>
            <a:r>
              <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600" dirty="0">
                <a:solidFill>
                  <a:schemeClr val="accent6"/>
                </a:solidFill>
                <a:latin typeface="メイリオ" panose="020B0604030504040204" pitchFamily="50" charset="-128"/>
                <a:ea typeface="メイリオ" panose="020B0604030504040204" pitchFamily="50" charset="-128"/>
              </a:rPr>
              <a:t>x1</a:t>
            </a:r>
            <a:endParaRPr kumimoji="1" lang="ja-JP" altLang="en-US" sz="1600" dirty="0">
              <a:solidFill>
                <a:schemeClr val="accent6"/>
              </a:solidFill>
              <a:latin typeface="メイリオ" panose="020B0604030504040204" pitchFamily="50" charset="-128"/>
              <a:ea typeface="メイリオ" panose="020B0604030504040204" pitchFamily="50" charset="-128"/>
            </a:endParaRPr>
          </a:p>
        </p:txBody>
      </p:sp>
      <p:sp>
        <p:nvSpPr>
          <p:cNvPr id="100" name="Rectangle 69"/>
          <p:cNvSpPr>
            <a:spLocks noChangeArrowheads="1"/>
          </p:cNvSpPr>
          <p:nvPr/>
        </p:nvSpPr>
        <p:spPr bwMode="auto">
          <a:xfrm>
            <a:off x="3401987"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01" name="Rectangle 70"/>
          <p:cNvSpPr>
            <a:spLocks noChangeArrowheads="1"/>
          </p:cNvSpPr>
          <p:nvPr/>
        </p:nvSpPr>
        <p:spPr bwMode="auto">
          <a:xfrm>
            <a:off x="5202007"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02" name="Rectangle 71"/>
          <p:cNvSpPr>
            <a:spLocks noChangeArrowheads="1"/>
          </p:cNvSpPr>
          <p:nvPr/>
        </p:nvSpPr>
        <p:spPr bwMode="auto">
          <a:xfrm>
            <a:off x="5652012"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03" name="Rectangle 72"/>
          <p:cNvSpPr>
            <a:spLocks noChangeArrowheads="1"/>
          </p:cNvSpPr>
          <p:nvPr/>
        </p:nvSpPr>
        <p:spPr bwMode="auto">
          <a:xfrm>
            <a:off x="6102017"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04" name="Rectangle 73"/>
          <p:cNvSpPr>
            <a:spLocks noChangeArrowheads="1"/>
          </p:cNvSpPr>
          <p:nvPr/>
        </p:nvSpPr>
        <p:spPr bwMode="auto">
          <a:xfrm>
            <a:off x="6552022"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110" name="直線コネクタ 109"/>
          <p:cNvCxnSpPr>
            <a:endCxn id="100" idx="1"/>
          </p:cNvCxnSpPr>
          <p:nvPr/>
        </p:nvCxnSpPr>
        <p:spPr bwMode="auto">
          <a:xfrm flipV="1">
            <a:off x="2411976" y="4419009"/>
            <a:ext cx="990011" cy="4"/>
          </a:xfrm>
          <a:prstGeom prst="line">
            <a:avLst/>
          </a:prstGeom>
          <a:noFill/>
          <a:ln w="9525" cap="flat" cmpd="sng" algn="ctr">
            <a:solidFill>
              <a:schemeClr val="tx1"/>
            </a:solidFill>
            <a:prstDash val="dash"/>
            <a:round/>
            <a:headEnd type="none" w="med" len="med"/>
            <a:tailEnd type="none" w="med" len="med"/>
          </a:ln>
          <a:effectLst/>
        </p:spPr>
      </p:cxnSp>
      <p:sp>
        <p:nvSpPr>
          <p:cNvPr id="111" name="正方形/長方形 110"/>
          <p:cNvSpPr/>
          <p:nvPr/>
        </p:nvSpPr>
        <p:spPr bwMode="auto">
          <a:xfrm>
            <a:off x="521955" y="423900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sub </a:t>
            </a:r>
            <a:r>
              <a:rPr lang="en-US" altLang="ja-JP" sz="1600" dirty="0">
                <a:solidFill>
                  <a:schemeClr val="accent6"/>
                </a:solidFill>
                <a:latin typeface="メイリオ" panose="020B0604030504040204" pitchFamily="50" charset="-128"/>
                <a:ea typeface="メイリオ" panose="020B0604030504040204" pitchFamily="50" charset="-128"/>
              </a:rPr>
              <a:t>x1</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12" name="Rectangle 73"/>
          <p:cNvSpPr>
            <a:spLocks noChangeArrowheads="1"/>
          </p:cNvSpPr>
          <p:nvPr/>
        </p:nvSpPr>
        <p:spPr bwMode="auto">
          <a:xfrm>
            <a:off x="4752002"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113" name="直線コネクタ 112"/>
          <p:cNvCxnSpPr/>
          <p:nvPr/>
        </p:nvCxnSpPr>
        <p:spPr bwMode="auto">
          <a:xfrm>
            <a:off x="5156610" y="3781570"/>
            <a:ext cx="1" cy="900010"/>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116" name="Rectangle 73"/>
          <p:cNvSpPr>
            <a:spLocks noChangeArrowheads="1"/>
          </p:cNvSpPr>
          <p:nvPr/>
        </p:nvSpPr>
        <p:spPr bwMode="auto">
          <a:xfrm>
            <a:off x="3851992" y="423900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117" name="Rectangle 73"/>
          <p:cNvSpPr>
            <a:spLocks noChangeArrowheads="1"/>
          </p:cNvSpPr>
          <p:nvPr/>
        </p:nvSpPr>
        <p:spPr bwMode="auto">
          <a:xfrm>
            <a:off x="4301997" y="423900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sp>
        <p:nvSpPr>
          <p:cNvPr id="118" name="Rectangle 73"/>
          <p:cNvSpPr>
            <a:spLocks noChangeArrowheads="1"/>
          </p:cNvSpPr>
          <p:nvPr/>
        </p:nvSpPr>
        <p:spPr bwMode="auto">
          <a:xfrm>
            <a:off x="4752002" y="423900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latin typeface="+mn-lt"/>
                <a:ea typeface="+mn-ea"/>
              </a:rPr>
              <a:t>bb</a:t>
            </a:r>
          </a:p>
        </p:txBody>
      </p:sp>
      <p:cxnSp>
        <p:nvCxnSpPr>
          <p:cNvPr id="78" name="直線コネクタ 77">
            <a:extLst>
              <a:ext uri="{FF2B5EF4-FFF2-40B4-BE49-F238E27FC236}">
                <a16:creationId xmlns:a16="http://schemas.microsoft.com/office/drawing/2014/main" id="{330A5556-B0E2-DE34-FB0E-A68C1366273E}"/>
              </a:ext>
            </a:extLst>
          </p:cNvPr>
          <p:cNvCxnSpPr>
            <a:cxnSpLocks/>
          </p:cNvCxnSpPr>
          <p:nvPr/>
        </p:nvCxnSpPr>
        <p:spPr bwMode="auto">
          <a:xfrm>
            <a:off x="6972716" y="1178975"/>
            <a:ext cx="0" cy="3510039"/>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273480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データ・ハザードの解消方法</a:t>
            </a:r>
          </a:p>
        </p:txBody>
      </p:sp>
      <p:sp>
        <p:nvSpPr>
          <p:cNvPr id="3" name="テキスト プレースホルダー 2"/>
          <p:cNvSpPr>
            <a:spLocks noGrp="1"/>
          </p:cNvSpPr>
          <p:nvPr>
            <p:ph type="body" sz="quarter" idx="10"/>
          </p:nvPr>
        </p:nvSpPr>
        <p:spPr/>
        <p:txBody>
          <a:bodyPr/>
          <a:lstStyle/>
          <a:p>
            <a:r>
              <a:rPr kumimoji="1" lang="ja-JP" altLang="en-US" dirty="0"/>
              <a:t>解消方法</a:t>
            </a:r>
            <a:endParaRPr kumimoji="1" lang="en-US" altLang="ja-JP" dirty="0"/>
          </a:p>
          <a:p>
            <a:pPr marL="817200" lvl="1" indent="-457200">
              <a:buFont typeface="+mj-lt"/>
              <a:buAutoNum type="arabicPeriod"/>
            </a:pPr>
            <a:r>
              <a:rPr kumimoji="1" lang="ja-JP" altLang="en-US" dirty="0"/>
              <a:t>ストールさせる</a:t>
            </a:r>
            <a:endParaRPr kumimoji="1" lang="en-US" altLang="ja-JP" dirty="0"/>
          </a:p>
          <a:p>
            <a:pPr marL="817200" lvl="1" indent="-457200">
              <a:buFont typeface="+mj-lt"/>
              <a:buAutoNum type="arabicPeriod"/>
            </a:pPr>
            <a:r>
              <a:rPr kumimoji="1" lang="ja-JP" altLang="en-US" dirty="0"/>
              <a:t>遅延スロット（なにもしない）</a:t>
            </a:r>
            <a:endParaRPr kumimoji="1" lang="en-US" altLang="ja-JP" dirty="0"/>
          </a:p>
          <a:p>
            <a:pPr marL="817200" lvl="1" indent="-457200">
              <a:buFont typeface="+mj-lt"/>
              <a:buAutoNum type="arabicPeriod"/>
            </a:pPr>
            <a:r>
              <a:rPr kumimoji="1" lang="ja-JP" altLang="en-US" b="1" dirty="0"/>
              <a:t>フォワーディング</a:t>
            </a:r>
            <a:endParaRPr kumimoji="1" lang="en-US" altLang="ja-JP" b="1" dirty="0"/>
          </a:p>
        </p:txBody>
      </p:sp>
    </p:spTree>
    <p:extLst>
      <p:ext uri="{BB962C8B-B14F-4D97-AF65-F5344CB8AC3E}">
        <p14:creationId xmlns:p14="http://schemas.microsoft.com/office/powerpoint/2010/main" val="3510966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879005"/>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879005"/>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879005"/>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879005"/>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3014462"/>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3014462"/>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303304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3033046"/>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a:xfrm>
            <a:off x="341953" y="11181"/>
            <a:ext cx="8712046" cy="908972"/>
          </a:xfrm>
        </p:spPr>
        <p:txBody>
          <a:bodyPr/>
          <a:lstStyle/>
          <a:p>
            <a:r>
              <a:rPr lang="ja-JP" altLang="en-US" dirty="0"/>
              <a:t>フォワーディング</a:t>
            </a:r>
            <a:endParaRPr kumimoji="1" lang="ja-JP" altLang="en-US" dirty="0"/>
          </a:p>
        </p:txBody>
      </p:sp>
      <p:sp>
        <p:nvSpPr>
          <p:cNvPr id="58" name="コンテンツ プレースホルダー 57"/>
          <p:cNvSpPr>
            <a:spLocks noGrp="1"/>
          </p:cNvSpPr>
          <p:nvPr>
            <p:ph idx="4294967295"/>
          </p:nvPr>
        </p:nvSpPr>
        <p:spPr>
          <a:xfrm>
            <a:off x="251952" y="5389876"/>
            <a:ext cx="8730097" cy="1009157"/>
          </a:xfrm>
          <a:prstGeom prst="rect">
            <a:avLst/>
          </a:prstGeom>
        </p:spPr>
        <p:txBody>
          <a:bodyPr/>
          <a:lstStyle/>
          <a:p>
            <a:r>
              <a:rPr lang="ja-JP" altLang="en-US" sz="1800" dirty="0"/>
              <a:t>フォワーディング（バイパスとも呼ぶ）</a:t>
            </a:r>
            <a:endParaRPr lang="en-US" altLang="ja-JP" sz="1800" dirty="0"/>
          </a:p>
          <a:p>
            <a:pPr lvl="1"/>
            <a:r>
              <a:rPr lang="ja-JP" altLang="en-US" sz="18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8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8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8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800" dirty="0"/>
              <a:t>の人が，次のサイクルに自分の計算結果を即座に使えるよう，手元にも結果を置いて使う</a:t>
            </a:r>
            <a:endParaRPr lang="en-US" altLang="ja-JP" sz="1800" dirty="0"/>
          </a:p>
          <a:p>
            <a:pPr lvl="1"/>
            <a:r>
              <a:rPr lang="en-US" altLang="ja-JP" sz="18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8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8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8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800" dirty="0"/>
              <a:t>がレジスタ・ファイルから読んできた値は必要に応じて捨てる</a:t>
            </a:r>
            <a:endParaRPr lang="en-US" altLang="ja-JP" sz="1800" dirty="0"/>
          </a:p>
        </p:txBody>
      </p:sp>
      <p:cxnSp>
        <p:nvCxnSpPr>
          <p:cNvPr id="67" name="直線矢印コネクタ 66"/>
          <p:cNvCxnSpPr/>
          <p:nvPr/>
        </p:nvCxnSpPr>
        <p:spPr bwMode="auto">
          <a:xfrm>
            <a:off x="1601967" y="4689014"/>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30" name="Freeform 25"/>
          <p:cNvSpPr>
            <a:spLocks/>
          </p:cNvSpPr>
          <p:nvPr/>
        </p:nvSpPr>
        <p:spPr bwMode="auto">
          <a:xfrm>
            <a:off x="3221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4842165" y="2403057"/>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grpSp>
        <p:nvGrpSpPr>
          <p:cNvPr id="32" name="グループ化 31"/>
          <p:cNvGrpSpPr/>
          <p:nvPr/>
        </p:nvGrpSpPr>
        <p:grpSpPr>
          <a:xfrm>
            <a:off x="3510017" y="1718981"/>
            <a:ext cx="1008112" cy="1152128"/>
            <a:chOff x="3563888" y="2708920"/>
            <a:chExt cx="1296144" cy="432048"/>
          </a:xfrm>
        </p:grpSpPr>
        <p:sp>
          <p:nvSpPr>
            <p:cNvPr id="33" name="Freeform 9"/>
            <p:cNvSpPr>
              <a:spLocks/>
            </p:cNvSpPr>
            <p:nvPr/>
          </p:nvSpPr>
          <p:spPr bwMode="auto">
            <a:xfrm>
              <a:off x="4211960" y="2708920"/>
              <a:ext cx="648072" cy="270003"/>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25400">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25400">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5958289" y="1808982"/>
            <a:ext cx="720080" cy="918111"/>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254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611956" y="3699003"/>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t>
              </a:r>
              <a:endParaRPr kumimoji="1" lang="ja-JP" altLang="en-US" dirty="0">
                <a:latin typeface="Arial Narrow" panose="020B0606020202030204" pitchFamily="34" charset="0"/>
              </a:endParaRPr>
            </a:p>
          </p:txBody>
        </p:sp>
      </p:grpSp>
      <p:sp>
        <p:nvSpPr>
          <p:cNvPr id="96" name="正方形/長方形 95"/>
          <p:cNvSpPr/>
          <p:nvPr/>
        </p:nvSpPr>
        <p:spPr bwMode="auto">
          <a:xfrm>
            <a:off x="251952" y="3158997"/>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kumimoji="1" lang="en-US" altLang="ja-JP" sz="2000" dirty="0">
                <a:solidFill>
                  <a:schemeClr val="bg1"/>
                </a:solidFill>
                <a:latin typeface="Arial Narrow" panose="020B0606020202030204" pitchFamily="34" charset="0"/>
              </a:rPr>
              <a:t>a=a+1</a:t>
            </a:r>
          </a:p>
          <a:p>
            <a:pPr>
              <a:lnSpc>
                <a:spcPct val="80000"/>
              </a:lnSpc>
            </a:pPr>
            <a:r>
              <a:rPr kumimoji="1"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c=a+2</a:t>
            </a:r>
          </a:p>
          <a:p>
            <a:pPr>
              <a:lnSpc>
                <a:spcPct val="80000"/>
              </a:lnSpc>
            </a:pPr>
            <a:r>
              <a:rPr kumimoji="1"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kumimoji="1" lang="ja-JP" altLang="en-US" sz="2000" dirty="0">
              <a:solidFill>
                <a:schemeClr val="bg1"/>
              </a:solidFill>
              <a:latin typeface="Arial Narrow" panose="020B0606020202030204" pitchFamily="34" charset="0"/>
            </a:endParaRPr>
          </a:p>
        </p:txBody>
      </p:sp>
      <p:sp>
        <p:nvSpPr>
          <p:cNvPr id="46" name="角丸四角形 45"/>
          <p:cNvSpPr/>
          <p:nvPr/>
        </p:nvSpPr>
        <p:spPr bwMode="auto">
          <a:xfrm>
            <a:off x="4932004"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a=a+1</a:t>
            </a:r>
            <a:endParaRPr kumimoji="1" lang="ja-JP" altLang="en-US" dirty="0">
              <a:latin typeface="Arial Narrow" panose="020B0606020202030204" pitchFamily="34" charset="0"/>
            </a:endParaRPr>
          </a:p>
        </p:txBody>
      </p:sp>
      <p:sp>
        <p:nvSpPr>
          <p:cNvPr id="47" name="角丸四角形 46"/>
          <p:cNvSpPr/>
          <p:nvPr/>
        </p:nvSpPr>
        <p:spPr bwMode="auto">
          <a:xfrm>
            <a:off x="3491988"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b=a-1</a:t>
            </a:r>
            <a:endParaRPr kumimoji="1" lang="ja-JP" altLang="en-US" dirty="0">
              <a:latin typeface="Arial Narrow" panose="020B0606020202030204" pitchFamily="34" charset="0"/>
            </a:endParaRPr>
          </a:p>
        </p:txBody>
      </p:sp>
      <p:sp>
        <p:nvSpPr>
          <p:cNvPr id="48" name="角丸四角形 47"/>
          <p:cNvSpPr/>
          <p:nvPr/>
        </p:nvSpPr>
        <p:spPr bwMode="auto">
          <a:xfrm>
            <a:off x="2051972"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c=a+2</a:t>
            </a:r>
            <a:endParaRPr kumimoji="1" lang="ja-JP" altLang="en-US" dirty="0">
              <a:latin typeface="Arial Narrow" panose="020B0606020202030204" pitchFamily="34" charset="0"/>
            </a:endParaRPr>
          </a:p>
        </p:txBody>
      </p:sp>
      <p:sp>
        <p:nvSpPr>
          <p:cNvPr id="57" name="Freeform 8"/>
          <p:cNvSpPr>
            <a:spLocks/>
          </p:cNvSpPr>
          <p:nvPr/>
        </p:nvSpPr>
        <p:spPr bwMode="auto">
          <a:xfrm rot="16200000">
            <a:off x="4761016" y="1709966"/>
            <a:ext cx="810009" cy="118804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cap="rnd">
            <a:miter lim="800000"/>
            <a:headEnd/>
            <a:tailEnd type="none" w="med" len="med"/>
          </a:ln>
        </p:spPr>
        <p:style>
          <a:lnRef idx="3">
            <a:schemeClr val="accent2"/>
          </a:lnRef>
          <a:fillRef idx="0">
            <a:schemeClr val="accent2"/>
          </a:fillRef>
          <a:effectRef idx="2">
            <a:schemeClr val="accent2"/>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0" name="Freeform 8"/>
          <p:cNvSpPr>
            <a:spLocks/>
          </p:cNvSpPr>
          <p:nvPr/>
        </p:nvSpPr>
        <p:spPr bwMode="auto">
          <a:xfrm rot="5400000">
            <a:off x="4445977" y="2025006"/>
            <a:ext cx="540078"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cap="rnd">
            <a:miter lim="800000"/>
            <a:headEnd/>
            <a:tailEnd type="triangle" w="med" len="med"/>
          </a:ln>
        </p:spPr>
        <p:style>
          <a:lnRef idx="3">
            <a:schemeClr val="accent2"/>
          </a:lnRef>
          <a:fillRef idx="0">
            <a:schemeClr val="accent2"/>
          </a:fillRef>
          <a:effectRef idx="2">
            <a:schemeClr val="accent2"/>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3" name="Freeform 8"/>
          <p:cNvSpPr>
            <a:spLocks/>
          </p:cNvSpPr>
          <p:nvPr/>
        </p:nvSpPr>
        <p:spPr bwMode="auto">
          <a:xfrm rot="5400000">
            <a:off x="4445977" y="2475011"/>
            <a:ext cx="540078"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cap="rnd">
            <a:miter lim="800000"/>
            <a:headEnd/>
            <a:tailEnd type="triangle" w="med" len="med"/>
          </a:ln>
        </p:spPr>
        <p:style>
          <a:lnRef idx="3">
            <a:schemeClr val="accent2"/>
          </a:lnRef>
          <a:fillRef idx="0">
            <a:schemeClr val="accent2"/>
          </a:fillRef>
          <a:effectRef idx="2">
            <a:schemeClr val="accent2"/>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5" name="角丸四角形吹き出し 64"/>
          <p:cNvSpPr/>
          <p:nvPr/>
        </p:nvSpPr>
        <p:spPr bwMode="auto">
          <a:xfrm>
            <a:off x="5202007" y="2888994"/>
            <a:ext cx="2880032" cy="522647"/>
          </a:xfrm>
          <a:prstGeom prst="wedgeRoundRectCallout">
            <a:avLst>
              <a:gd name="adj1" fmla="val -51558"/>
              <a:gd name="adj2" fmla="val 73833"/>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次の </a:t>
            </a:r>
            <a:r>
              <a:rPr kumimoji="1" lang="en-US" altLang="ja-JP" dirty="0">
                <a:solidFill>
                  <a:schemeClr val="tx1">
                    <a:lumMod val="65000"/>
                    <a:lumOff val="35000"/>
                  </a:schemeClr>
                </a:solidFill>
                <a:latin typeface="Arial Narrow" panose="020B0606020202030204" pitchFamily="34" charset="0"/>
              </a:rPr>
              <a:t>b=a-1 </a:t>
            </a:r>
            <a:r>
              <a:rPr kumimoji="1" lang="ja-JP" altLang="en-US" dirty="0">
                <a:solidFill>
                  <a:schemeClr val="tx1">
                    <a:lumMod val="65000"/>
                    <a:lumOff val="35000"/>
                  </a:schemeClr>
                </a:solidFill>
                <a:latin typeface="Arial Narrow" panose="020B0606020202030204" pitchFamily="34" charset="0"/>
              </a:rPr>
              <a:t>では今の結果を</a:t>
            </a:r>
            <a:br>
              <a:rPr kumimoji="1" lang="en-US" altLang="ja-JP" dirty="0">
                <a:solidFill>
                  <a:schemeClr val="tx1">
                    <a:lumMod val="65000"/>
                    <a:lumOff val="35000"/>
                  </a:schemeClr>
                </a:solidFill>
                <a:latin typeface="Arial Narrow" panose="020B0606020202030204" pitchFamily="34" charset="0"/>
              </a:rPr>
            </a:br>
            <a:r>
              <a:rPr kumimoji="1" lang="ja-JP" altLang="en-US" dirty="0">
                <a:solidFill>
                  <a:schemeClr val="tx1">
                    <a:lumMod val="65000"/>
                    <a:lumOff val="35000"/>
                  </a:schemeClr>
                </a:solidFill>
                <a:latin typeface="Arial Narrow" panose="020B0606020202030204" pitchFamily="34" charset="0"/>
              </a:rPr>
              <a:t>直接使いましょ</a:t>
            </a:r>
          </a:p>
        </p:txBody>
      </p:sp>
    </p:spTree>
    <p:extLst>
      <p:ext uri="{BB962C8B-B14F-4D97-AF65-F5344CB8AC3E}">
        <p14:creationId xmlns:p14="http://schemas.microsoft.com/office/powerpoint/2010/main" val="3762151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フォワーディングの回路</a:t>
            </a:r>
            <a:endParaRPr kumimoji="1" lang="ja-JP" altLang="en-US" dirty="0"/>
          </a:p>
        </p:txBody>
      </p:sp>
      <p:sp>
        <p:nvSpPr>
          <p:cNvPr id="3" name="テキスト プレースホルダー 2"/>
          <p:cNvSpPr>
            <a:spLocks noGrp="1"/>
          </p:cNvSpPr>
          <p:nvPr>
            <p:ph type="body" sz="quarter" idx="10"/>
          </p:nvPr>
        </p:nvSpPr>
        <p:spPr>
          <a:xfrm>
            <a:off x="611956" y="5589024"/>
            <a:ext cx="8280092" cy="719701"/>
          </a:xfrm>
        </p:spPr>
        <p:txBody>
          <a:bodyPr/>
          <a:lstStyle/>
          <a:p>
            <a:r>
              <a:rPr kumimoji="1" lang="ja-JP" altLang="en-US" dirty="0"/>
              <a:t>演算器の結果を，フィードバック</a:t>
            </a:r>
            <a:endParaRPr kumimoji="1" lang="en-US" altLang="ja-JP" dirty="0"/>
          </a:p>
          <a:p>
            <a:pPr lvl="1"/>
            <a:r>
              <a:rPr kumimoji="1" lang="ja-JP" altLang="en-US" dirty="0"/>
              <a:t>レジスタ・ファイルからの読み出し結果と選択して入力に</a:t>
            </a:r>
          </a:p>
        </p:txBody>
      </p:sp>
      <p:sp>
        <p:nvSpPr>
          <p:cNvPr id="4" name="正方形/長方形 3"/>
          <p:cNvSpPr/>
          <p:nvPr/>
        </p:nvSpPr>
        <p:spPr bwMode="auto">
          <a:xfrm>
            <a:off x="971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3131984" y="2708992"/>
            <a:ext cx="990011"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73202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4977005" y="3203997"/>
            <a:ext cx="1260013" cy="450005"/>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251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611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791958" y="2258984"/>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1061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881958"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71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1511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71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2411975"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Freeform 10"/>
          <p:cNvSpPr>
            <a:spLocks/>
          </p:cNvSpPr>
          <p:nvPr/>
        </p:nvSpPr>
        <p:spPr bwMode="auto">
          <a:xfrm flipV="1">
            <a:off x="2951982" y="3248994"/>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8" name="直線矢印コネクタ 17"/>
          <p:cNvCxnSpPr/>
          <p:nvPr/>
        </p:nvCxnSpPr>
        <p:spPr bwMode="auto">
          <a:xfrm>
            <a:off x="2951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19" name="直線矢印コネクタ 18"/>
          <p:cNvCxnSpPr/>
          <p:nvPr/>
        </p:nvCxnSpPr>
        <p:spPr bwMode="auto">
          <a:xfrm>
            <a:off x="2951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0" name="Freeform 10"/>
          <p:cNvSpPr>
            <a:spLocks/>
          </p:cNvSpPr>
          <p:nvPr/>
        </p:nvSpPr>
        <p:spPr bwMode="auto">
          <a:xfrm>
            <a:off x="2951982" y="1808983"/>
            <a:ext cx="180002"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1" name="Freeform 10"/>
          <p:cNvSpPr>
            <a:spLocks/>
          </p:cNvSpPr>
          <p:nvPr/>
        </p:nvSpPr>
        <p:spPr bwMode="auto">
          <a:xfrm rot="10800000" flipH="1">
            <a:off x="8352038" y="2708991"/>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2" name="直線矢印コネクタ 21"/>
          <p:cNvCxnSpPr/>
          <p:nvPr/>
        </p:nvCxnSpPr>
        <p:spPr bwMode="auto">
          <a:xfrm>
            <a:off x="8172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23" name="直線矢印コネクタ 22"/>
          <p:cNvCxnSpPr/>
          <p:nvPr/>
        </p:nvCxnSpPr>
        <p:spPr bwMode="auto">
          <a:xfrm>
            <a:off x="5832014" y="3429000"/>
            <a:ext cx="720008" cy="0"/>
          </a:xfrm>
          <a:prstGeom prst="straightConnector1">
            <a:avLst/>
          </a:prstGeom>
          <a:noFill/>
          <a:ln w="9525" cap="flat" cmpd="sng" algn="ctr">
            <a:solidFill>
              <a:schemeClr val="tx1"/>
            </a:solidFill>
            <a:prstDash val="solid"/>
            <a:round/>
            <a:headEnd type="none" w="sm" len="sm"/>
            <a:tailEnd type="none"/>
          </a:ln>
          <a:effectLst/>
        </p:spPr>
      </p:cxnSp>
      <p:cxnSp>
        <p:nvCxnSpPr>
          <p:cNvPr id="24" name="直線矢印コネクタ 23"/>
          <p:cNvCxnSpPr/>
          <p:nvPr/>
        </p:nvCxnSpPr>
        <p:spPr bwMode="auto">
          <a:xfrm>
            <a:off x="4572000" y="3068996"/>
            <a:ext cx="810009" cy="0"/>
          </a:xfrm>
          <a:prstGeom prst="straightConnector1">
            <a:avLst/>
          </a:prstGeom>
          <a:noFill/>
          <a:ln w="31750" cap="flat" cmpd="sng" algn="ctr">
            <a:solidFill>
              <a:schemeClr val="accent5"/>
            </a:solidFill>
            <a:prstDash val="solid"/>
            <a:round/>
            <a:headEnd type="none" w="sm" len="sm"/>
            <a:tailEnd type="triangle"/>
          </a:ln>
          <a:effectLst/>
        </p:spPr>
      </p:cxnSp>
      <p:cxnSp>
        <p:nvCxnSpPr>
          <p:cNvPr id="25" name="直線矢印コネクタ 24"/>
          <p:cNvCxnSpPr/>
          <p:nvPr/>
        </p:nvCxnSpPr>
        <p:spPr bwMode="auto">
          <a:xfrm>
            <a:off x="4572000" y="3879005"/>
            <a:ext cx="810009" cy="0"/>
          </a:xfrm>
          <a:prstGeom prst="straightConnector1">
            <a:avLst/>
          </a:prstGeom>
          <a:noFill/>
          <a:ln w="31750" cap="flat" cmpd="sng" algn="ctr">
            <a:solidFill>
              <a:schemeClr val="accent5"/>
            </a:solidFill>
            <a:prstDash val="solid"/>
            <a:round/>
            <a:headEnd type="none" w="sm" len="sm"/>
            <a:tailEnd type="triangle"/>
          </a:ln>
          <a:effectLst/>
        </p:spPr>
      </p:cxnSp>
      <p:sp>
        <p:nvSpPr>
          <p:cNvPr id="26" name="正方形/長方形 25"/>
          <p:cNvSpPr/>
          <p:nvPr/>
        </p:nvSpPr>
        <p:spPr bwMode="auto">
          <a:xfrm>
            <a:off x="6732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ja-JP" altLang="en-US" sz="1600" dirty="0">
                <a:latin typeface="メイリオ" panose="020B0604030504040204" pitchFamily="50" charset="-128"/>
                <a:ea typeface="メイリオ" panose="020B0604030504040204" pitchFamily="50" charset="-128"/>
              </a:rPr>
              <a:t>データ・メモリ</a:t>
            </a:r>
          </a:p>
        </p:txBody>
      </p:sp>
      <p:sp>
        <p:nvSpPr>
          <p:cNvPr id="27" name="Freeform 10"/>
          <p:cNvSpPr>
            <a:spLocks/>
          </p:cNvSpPr>
          <p:nvPr/>
        </p:nvSpPr>
        <p:spPr bwMode="auto">
          <a:xfrm>
            <a:off x="5112004"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8" name="Freeform 10"/>
          <p:cNvSpPr>
            <a:spLocks/>
          </p:cNvSpPr>
          <p:nvPr/>
        </p:nvSpPr>
        <p:spPr bwMode="auto">
          <a:xfrm flipV="1">
            <a:off x="6552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flipV="1">
            <a:off x="6552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8532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31" name="直線矢印コネクタ 30"/>
          <p:cNvCxnSpPr/>
          <p:nvPr/>
        </p:nvCxnSpPr>
        <p:spPr bwMode="auto">
          <a:xfrm flipH="1">
            <a:off x="2951982" y="1808982"/>
            <a:ext cx="6030067" cy="0"/>
          </a:xfrm>
          <a:prstGeom prst="straightConnector1">
            <a:avLst/>
          </a:prstGeom>
          <a:noFill/>
          <a:ln w="9525" cap="flat" cmpd="sng" algn="ctr">
            <a:solidFill>
              <a:schemeClr val="tx1"/>
            </a:solidFill>
            <a:prstDash val="solid"/>
            <a:round/>
            <a:headEnd type="none" w="sm" len="sm"/>
            <a:tailEnd type="none"/>
          </a:ln>
          <a:effectLst/>
        </p:spPr>
      </p:cxnSp>
      <p:sp>
        <p:nvSpPr>
          <p:cNvPr id="32" name="Freeform 10"/>
          <p:cNvSpPr>
            <a:spLocks/>
          </p:cNvSpPr>
          <p:nvPr/>
        </p:nvSpPr>
        <p:spPr bwMode="auto">
          <a:xfrm rot="10800000" flipH="1">
            <a:off x="6552022" y="2528986"/>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3" name="Freeform 10"/>
          <p:cNvSpPr>
            <a:spLocks/>
          </p:cNvSpPr>
          <p:nvPr/>
        </p:nvSpPr>
        <p:spPr bwMode="auto">
          <a:xfrm rot="5400000" flipH="1" flipV="1">
            <a:off x="8352043" y="1988984"/>
            <a:ext cx="810009"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4" name="正方形/長方形 33"/>
          <p:cNvSpPr/>
          <p:nvPr/>
        </p:nvSpPr>
        <p:spPr bwMode="auto">
          <a:xfrm>
            <a:off x="521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4</a:t>
            </a:r>
            <a:endParaRPr kumimoji="1"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611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3041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4932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6912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647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kumimoji="1"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40" name="グループ化 39"/>
          <p:cNvGrpSpPr/>
          <p:nvPr/>
        </p:nvGrpSpPr>
        <p:grpSpPr>
          <a:xfrm>
            <a:off x="2501977" y="3068996"/>
            <a:ext cx="360004" cy="720008"/>
            <a:chOff x="2411977" y="3068996"/>
            <a:chExt cx="360004" cy="720008"/>
          </a:xfrm>
        </p:grpSpPr>
        <p:sp>
          <p:nvSpPr>
            <p:cNvPr id="41" name="正方形/長方形 40"/>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42" name="二等辺三角形 41"/>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43" name="正方形/長方形 42"/>
          <p:cNvSpPr/>
          <p:nvPr/>
        </p:nvSpPr>
        <p:spPr bwMode="auto">
          <a:xfrm>
            <a:off x="4752001" y="2438989"/>
            <a:ext cx="270003"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44" name="二等辺三角形 43"/>
          <p:cNvSpPr/>
          <p:nvPr/>
        </p:nvSpPr>
        <p:spPr bwMode="auto">
          <a:xfrm>
            <a:off x="478917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正方形/長方形 44"/>
          <p:cNvSpPr/>
          <p:nvPr/>
        </p:nvSpPr>
        <p:spPr bwMode="auto">
          <a:xfrm>
            <a:off x="6192017" y="2438989"/>
            <a:ext cx="270003"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46" name="二等辺三角形 45"/>
          <p:cNvSpPr/>
          <p:nvPr/>
        </p:nvSpPr>
        <p:spPr bwMode="auto">
          <a:xfrm>
            <a:off x="623662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3" name="Freeform 10"/>
          <p:cNvSpPr>
            <a:spLocks/>
          </p:cNvSpPr>
          <p:nvPr/>
        </p:nvSpPr>
        <p:spPr bwMode="auto">
          <a:xfrm flipH="1" flipV="1">
            <a:off x="4301997" y="2258985"/>
            <a:ext cx="1620018"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4" name="直線矢印コネクタ 53"/>
          <p:cNvCxnSpPr/>
          <p:nvPr/>
        </p:nvCxnSpPr>
        <p:spPr bwMode="auto">
          <a:xfrm>
            <a:off x="4572000" y="2888994"/>
            <a:ext cx="0" cy="360004"/>
          </a:xfrm>
          <a:prstGeom prst="straightConnector1">
            <a:avLst/>
          </a:prstGeom>
          <a:noFill/>
          <a:ln w="38100" cap="flat" cmpd="sng" algn="ctr">
            <a:solidFill>
              <a:schemeClr val="accent5"/>
            </a:solidFill>
            <a:prstDash val="solid"/>
            <a:round/>
            <a:headEnd type="none" w="sm" len="sm"/>
            <a:tailEnd type="none"/>
          </a:ln>
          <a:effectLst/>
        </p:spPr>
      </p:cxnSp>
      <p:cxnSp>
        <p:nvCxnSpPr>
          <p:cNvPr id="55" name="直線矢印コネクタ 54"/>
          <p:cNvCxnSpPr/>
          <p:nvPr/>
        </p:nvCxnSpPr>
        <p:spPr bwMode="auto">
          <a:xfrm>
            <a:off x="4572000" y="3699003"/>
            <a:ext cx="0" cy="360004"/>
          </a:xfrm>
          <a:prstGeom prst="straightConnector1">
            <a:avLst/>
          </a:prstGeom>
          <a:noFill/>
          <a:ln w="38100" cap="flat" cmpd="sng" algn="ctr">
            <a:solidFill>
              <a:schemeClr val="accent5"/>
            </a:solidFill>
            <a:prstDash val="solid"/>
            <a:round/>
            <a:headEnd type="none" w="sm" len="sm"/>
            <a:tailEnd type="none"/>
          </a:ln>
          <a:effectLst/>
        </p:spPr>
      </p:cxnSp>
      <p:sp>
        <p:nvSpPr>
          <p:cNvPr id="56" name="Freeform 10"/>
          <p:cNvSpPr>
            <a:spLocks/>
          </p:cNvSpPr>
          <p:nvPr/>
        </p:nvSpPr>
        <p:spPr bwMode="auto">
          <a:xfrm rot="10800000" flipH="1" flipV="1">
            <a:off x="4301997" y="2258988"/>
            <a:ext cx="270003"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57" name="Freeform 10"/>
          <p:cNvSpPr>
            <a:spLocks/>
          </p:cNvSpPr>
          <p:nvPr/>
        </p:nvSpPr>
        <p:spPr bwMode="auto">
          <a:xfrm rot="10800000" flipH="1" flipV="1">
            <a:off x="4301997" y="2978994"/>
            <a:ext cx="270003"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8" name="直線矢印コネクタ 57"/>
          <p:cNvCxnSpPr/>
          <p:nvPr/>
        </p:nvCxnSpPr>
        <p:spPr bwMode="auto">
          <a:xfrm>
            <a:off x="4121995" y="3158997"/>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60" name="直線矢印コネクタ 59"/>
          <p:cNvCxnSpPr/>
          <p:nvPr/>
        </p:nvCxnSpPr>
        <p:spPr bwMode="auto">
          <a:xfrm>
            <a:off x="4121995" y="3969006"/>
            <a:ext cx="450005" cy="0"/>
          </a:xfrm>
          <a:prstGeom prst="straightConnector1">
            <a:avLst/>
          </a:prstGeom>
          <a:noFill/>
          <a:ln w="9525" cap="flat"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11892200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フォワーディングの利点</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利点：</a:t>
            </a:r>
            <a:endParaRPr kumimoji="1" lang="en-US" altLang="ja-JP" dirty="0"/>
          </a:p>
          <a:p>
            <a:pPr lvl="1"/>
            <a:r>
              <a:rPr kumimoji="1" lang="ja-JP" altLang="en-US" dirty="0"/>
              <a:t>依存関係がある命令が連続できてもパイプラインを動かし続けられる</a:t>
            </a:r>
            <a:endParaRPr kumimoji="1" lang="en-US" altLang="ja-JP" dirty="0"/>
          </a:p>
          <a:p>
            <a:pPr lvl="1"/>
            <a:r>
              <a:rPr lang="ja-JP" altLang="en-US" dirty="0"/>
              <a:t>バブルを発生させることがない</a:t>
            </a:r>
            <a:endParaRPr kumimoji="1" lang="ja-JP" altLang="en-US" dirty="0"/>
          </a:p>
        </p:txBody>
      </p:sp>
    </p:spTree>
    <p:extLst>
      <p:ext uri="{BB962C8B-B14F-4D97-AF65-F5344CB8AC3E}">
        <p14:creationId xmlns:p14="http://schemas.microsoft.com/office/powerpoint/2010/main" val="2168691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ロードについては，完全に解決はできない</a:t>
            </a:r>
          </a:p>
        </p:txBody>
      </p:sp>
      <p:sp>
        <p:nvSpPr>
          <p:cNvPr id="3" name="テキスト プレースホルダー 2"/>
          <p:cNvSpPr>
            <a:spLocks noGrp="1"/>
          </p:cNvSpPr>
          <p:nvPr>
            <p:ph type="body" sz="quarter" idx="10"/>
          </p:nvPr>
        </p:nvSpPr>
        <p:spPr>
          <a:xfrm>
            <a:off x="611956" y="5139019"/>
            <a:ext cx="8280092" cy="629700"/>
          </a:xfrm>
        </p:spPr>
        <p:txBody>
          <a:bodyPr/>
          <a:lstStyle/>
          <a:p>
            <a:r>
              <a:rPr kumimoji="1" lang="ja-JP" altLang="en-US" dirty="0"/>
              <a:t>ロードではデータ・メモリを読むまでその値は取れない</a:t>
            </a:r>
            <a:endParaRPr kumimoji="1" lang="en-US" altLang="ja-JP" dirty="0"/>
          </a:p>
          <a:p>
            <a:pPr lvl="1"/>
            <a:r>
              <a:rPr kumimoji="1" lang="ja-JP" altLang="en-US" dirty="0"/>
              <a:t>次の命令は，</a:t>
            </a:r>
            <a:r>
              <a:rPr kumimoji="1" lang="en-US" altLang="ja-JP" dirty="0"/>
              <a:t>MEM </a:t>
            </a:r>
            <a:r>
              <a:rPr kumimoji="1" lang="ja-JP" altLang="en-US" dirty="0"/>
              <a:t>より後に </a:t>
            </a:r>
            <a:r>
              <a:rPr kumimoji="1" lang="en-US" altLang="ja-JP" dirty="0"/>
              <a:t>EX </a:t>
            </a:r>
            <a:r>
              <a:rPr kumimoji="1" lang="ja-JP" altLang="en-US" dirty="0"/>
              <a:t>がこないといけない</a:t>
            </a:r>
            <a:endParaRPr kumimoji="1" lang="en-US" altLang="ja-JP" dirty="0"/>
          </a:p>
          <a:p>
            <a:pPr lvl="2"/>
            <a:r>
              <a:rPr kumimoji="1" lang="en-US" altLang="ja-JP" dirty="0"/>
              <a:t>I1 </a:t>
            </a:r>
            <a:r>
              <a:rPr kumimoji="1" lang="ja-JP" altLang="en-US" dirty="0"/>
              <a:t>は，</a:t>
            </a:r>
            <a:r>
              <a:rPr kumimoji="1" lang="en-US" altLang="ja-JP" dirty="0"/>
              <a:t>I0 </a:t>
            </a:r>
            <a:r>
              <a:rPr kumimoji="1" lang="ja-JP" altLang="en-US" dirty="0"/>
              <a:t>のロード結果が見えない</a:t>
            </a:r>
            <a:endParaRPr kumimoji="1" lang="en-US" altLang="ja-JP" dirty="0"/>
          </a:p>
          <a:p>
            <a:pPr lvl="1"/>
            <a:r>
              <a:rPr kumimoji="1" lang="ja-JP" altLang="en-US" dirty="0"/>
              <a:t>この部分はストールや遅延スロットでなんとかすることがおおい</a:t>
            </a:r>
          </a:p>
        </p:txBody>
      </p:sp>
      <p:cxnSp>
        <p:nvCxnSpPr>
          <p:cNvPr id="4" name="直線コネクタ 3"/>
          <p:cNvCxnSpPr>
            <a:stCxn id="32" idx="3"/>
            <a:endCxn id="10" idx="1"/>
          </p:cNvCxnSpPr>
          <p:nvPr/>
        </p:nvCxnSpPr>
        <p:spPr bwMode="auto">
          <a:xfrm flipV="1">
            <a:off x="2411976" y="2438987"/>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2411976" y="1988984"/>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2951982"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7" name="Rectangle 70"/>
          <p:cNvSpPr>
            <a:spLocks noChangeArrowheads="1"/>
          </p:cNvSpPr>
          <p:nvPr/>
        </p:nvSpPr>
        <p:spPr bwMode="auto">
          <a:xfrm>
            <a:off x="3401987"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8" name="Rectangle 71"/>
          <p:cNvSpPr>
            <a:spLocks noChangeArrowheads="1"/>
          </p:cNvSpPr>
          <p:nvPr/>
        </p:nvSpPr>
        <p:spPr bwMode="auto">
          <a:xfrm>
            <a:off x="3851992" y="180898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9" name="Rectangle 72"/>
          <p:cNvSpPr>
            <a:spLocks noChangeArrowheads="1"/>
          </p:cNvSpPr>
          <p:nvPr/>
        </p:nvSpPr>
        <p:spPr bwMode="auto">
          <a:xfrm>
            <a:off x="4301997" y="180898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0" name="Rectangle 69"/>
          <p:cNvSpPr>
            <a:spLocks noChangeArrowheads="1"/>
          </p:cNvSpPr>
          <p:nvPr/>
        </p:nvSpPr>
        <p:spPr bwMode="auto">
          <a:xfrm>
            <a:off x="3401987"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1" name="Rectangle 70"/>
          <p:cNvSpPr>
            <a:spLocks noChangeArrowheads="1"/>
          </p:cNvSpPr>
          <p:nvPr/>
        </p:nvSpPr>
        <p:spPr bwMode="auto">
          <a:xfrm>
            <a:off x="3851992"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2" name="Rectangle 71"/>
          <p:cNvSpPr>
            <a:spLocks noChangeArrowheads="1"/>
          </p:cNvSpPr>
          <p:nvPr/>
        </p:nvSpPr>
        <p:spPr bwMode="auto">
          <a:xfrm>
            <a:off x="4301997" y="225898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3" name="Rectangle 72"/>
          <p:cNvSpPr>
            <a:spLocks noChangeArrowheads="1"/>
          </p:cNvSpPr>
          <p:nvPr/>
        </p:nvSpPr>
        <p:spPr bwMode="auto">
          <a:xfrm>
            <a:off x="4752002"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4" name="Rectangle 73"/>
          <p:cNvSpPr>
            <a:spLocks noChangeArrowheads="1"/>
          </p:cNvSpPr>
          <p:nvPr/>
        </p:nvSpPr>
        <p:spPr bwMode="auto">
          <a:xfrm>
            <a:off x="5202007"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15" name="Rectangle 69"/>
          <p:cNvSpPr>
            <a:spLocks noChangeArrowheads="1"/>
          </p:cNvSpPr>
          <p:nvPr/>
        </p:nvSpPr>
        <p:spPr bwMode="auto">
          <a:xfrm>
            <a:off x="3851992"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16" name="Rectangle 70"/>
          <p:cNvSpPr>
            <a:spLocks noChangeArrowheads="1"/>
          </p:cNvSpPr>
          <p:nvPr/>
        </p:nvSpPr>
        <p:spPr bwMode="auto">
          <a:xfrm>
            <a:off x="4301997"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17" name="Rectangle 71"/>
          <p:cNvSpPr>
            <a:spLocks noChangeArrowheads="1"/>
          </p:cNvSpPr>
          <p:nvPr/>
        </p:nvSpPr>
        <p:spPr bwMode="auto">
          <a:xfrm>
            <a:off x="4752002" y="270899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18" name="Rectangle 72"/>
          <p:cNvSpPr>
            <a:spLocks noChangeArrowheads="1"/>
          </p:cNvSpPr>
          <p:nvPr/>
        </p:nvSpPr>
        <p:spPr bwMode="auto">
          <a:xfrm>
            <a:off x="5202007"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19" name="Rectangle 73"/>
          <p:cNvSpPr>
            <a:spLocks noChangeArrowheads="1"/>
          </p:cNvSpPr>
          <p:nvPr/>
        </p:nvSpPr>
        <p:spPr bwMode="auto">
          <a:xfrm>
            <a:off x="5652012"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0" name="正方形/長方形 19"/>
          <p:cNvSpPr/>
          <p:nvPr/>
        </p:nvSpPr>
        <p:spPr bwMode="auto">
          <a:xfrm>
            <a:off x="1691968" y="180898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I0</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1" name="Rectangle 69"/>
          <p:cNvSpPr>
            <a:spLocks noChangeArrowheads="1"/>
          </p:cNvSpPr>
          <p:nvPr/>
        </p:nvSpPr>
        <p:spPr bwMode="auto">
          <a:xfrm>
            <a:off x="4301997"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2" name="Rectangle 70"/>
          <p:cNvSpPr>
            <a:spLocks noChangeArrowheads="1"/>
          </p:cNvSpPr>
          <p:nvPr/>
        </p:nvSpPr>
        <p:spPr bwMode="auto">
          <a:xfrm>
            <a:off x="4752002"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3" name="Rectangle 71"/>
          <p:cNvSpPr>
            <a:spLocks noChangeArrowheads="1"/>
          </p:cNvSpPr>
          <p:nvPr/>
        </p:nvSpPr>
        <p:spPr bwMode="auto">
          <a:xfrm>
            <a:off x="5202007"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4" name="Rectangle 72"/>
          <p:cNvSpPr>
            <a:spLocks noChangeArrowheads="1"/>
          </p:cNvSpPr>
          <p:nvPr/>
        </p:nvSpPr>
        <p:spPr bwMode="auto">
          <a:xfrm>
            <a:off x="5652012"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25" name="Rectangle 73"/>
          <p:cNvSpPr>
            <a:spLocks noChangeArrowheads="1"/>
          </p:cNvSpPr>
          <p:nvPr/>
        </p:nvSpPr>
        <p:spPr bwMode="auto">
          <a:xfrm>
            <a:off x="6102017"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sp>
        <p:nvSpPr>
          <p:cNvPr id="26" name="Rectangle 69"/>
          <p:cNvSpPr>
            <a:spLocks noChangeArrowheads="1"/>
          </p:cNvSpPr>
          <p:nvPr/>
        </p:nvSpPr>
        <p:spPr bwMode="auto">
          <a:xfrm>
            <a:off x="4752002"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IF</a:t>
            </a:r>
          </a:p>
        </p:txBody>
      </p:sp>
      <p:sp>
        <p:nvSpPr>
          <p:cNvPr id="27" name="Rectangle 70"/>
          <p:cNvSpPr>
            <a:spLocks noChangeArrowheads="1"/>
          </p:cNvSpPr>
          <p:nvPr/>
        </p:nvSpPr>
        <p:spPr bwMode="auto">
          <a:xfrm>
            <a:off x="5202007"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ID</a:t>
            </a:r>
          </a:p>
        </p:txBody>
      </p:sp>
      <p:sp>
        <p:nvSpPr>
          <p:cNvPr id="28" name="Rectangle 71"/>
          <p:cNvSpPr>
            <a:spLocks noChangeArrowheads="1"/>
          </p:cNvSpPr>
          <p:nvPr/>
        </p:nvSpPr>
        <p:spPr bwMode="auto">
          <a:xfrm>
            <a:off x="5652012"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latin typeface="+mn-lt"/>
                <a:ea typeface="+mn-ea"/>
              </a:rPr>
              <a:t>EX</a:t>
            </a:r>
          </a:p>
        </p:txBody>
      </p:sp>
      <p:sp>
        <p:nvSpPr>
          <p:cNvPr id="29" name="Rectangle 72"/>
          <p:cNvSpPr>
            <a:spLocks noChangeArrowheads="1"/>
          </p:cNvSpPr>
          <p:nvPr/>
        </p:nvSpPr>
        <p:spPr bwMode="auto">
          <a:xfrm>
            <a:off x="6102017"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latin typeface="+mn-lt"/>
                <a:ea typeface="+mn-ea"/>
              </a:rPr>
              <a:t>MEM</a:t>
            </a:r>
          </a:p>
        </p:txBody>
      </p:sp>
      <p:sp>
        <p:nvSpPr>
          <p:cNvPr id="30" name="Rectangle 73"/>
          <p:cNvSpPr>
            <a:spLocks noChangeArrowheads="1"/>
          </p:cNvSpPr>
          <p:nvPr/>
        </p:nvSpPr>
        <p:spPr bwMode="auto">
          <a:xfrm>
            <a:off x="6552022"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1" name="直線コネクタ 30"/>
          <p:cNvCxnSpPr>
            <a:stCxn id="33" idx="3"/>
            <a:endCxn id="15" idx="1"/>
          </p:cNvCxnSpPr>
          <p:nvPr/>
        </p:nvCxnSpPr>
        <p:spPr bwMode="auto">
          <a:xfrm flipV="1">
            <a:off x="2411976" y="2888992"/>
            <a:ext cx="1440016" cy="2"/>
          </a:xfrm>
          <a:prstGeom prst="line">
            <a:avLst/>
          </a:prstGeom>
          <a:noFill/>
          <a:ln w="9525" cap="flat" cmpd="sng" algn="ctr">
            <a:solidFill>
              <a:schemeClr val="tx1"/>
            </a:solidFill>
            <a:prstDash val="dash"/>
            <a:round/>
            <a:headEnd type="none" w="med" len="med"/>
            <a:tailEnd type="none" w="med" len="med"/>
          </a:ln>
          <a:effectLst/>
        </p:spPr>
      </p:cxnSp>
      <p:sp>
        <p:nvSpPr>
          <p:cNvPr id="32" name="正方形/長方形 31"/>
          <p:cNvSpPr/>
          <p:nvPr/>
        </p:nvSpPr>
        <p:spPr bwMode="auto">
          <a:xfrm>
            <a:off x="1691968" y="225898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1691968" y="270899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4" name="直線コネクタ 33"/>
          <p:cNvCxnSpPr>
            <a:stCxn id="35" idx="3"/>
            <a:endCxn id="21" idx="1"/>
          </p:cNvCxnSpPr>
          <p:nvPr/>
        </p:nvCxnSpPr>
        <p:spPr bwMode="auto">
          <a:xfrm flipV="1">
            <a:off x="2411976" y="3338997"/>
            <a:ext cx="1890021" cy="2"/>
          </a:xfrm>
          <a:prstGeom prst="line">
            <a:avLst/>
          </a:prstGeom>
          <a:noFill/>
          <a:ln w="9525" cap="flat" cmpd="sng" algn="ctr">
            <a:solidFill>
              <a:schemeClr val="tx1"/>
            </a:solidFill>
            <a:prstDash val="dash"/>
            <a:round/>
            <a:headEnd type="none" w="med" len="med"/>
            <a:tailEnd type="none" w="med" len="med"/>
          </a:ln>
          <a:effectLst/>
        </p:spPr>
      </p:cxnSp>
      <p:sp>
        <p:nvSpPr>
          <p:cNvPr id="35" name="正方形/長方形 34"/>
          <p:cNvSpPr/>
          <p:nvPr/>
        </p:nvSpPr>
        <p:spPr bwMode="auto">
          <a:xfrm>
            <a:off x="1691968" y="315899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6" name="直線コネクタ 35"/>
          <p:cNvCxnSpPr>
            <a:stCxn id="37" idx="3"/>
            <a:endCxn id="26" idx="1"/>
          </p:cNvCxnSpPr>
          <p:nvPr/>
        </p:nvCxnSpPr>
        <p:spPr bwMode="auto">
          <a:xfrm flipV="1">
            <a:off x="2411976" y="3789002"/>
            <a:ext cx="2340026" cy="2"/>
          </a:xfrm>
          <a:prstGeom prst="line">
            <a:avLst/>
          </a:prstGeom>
          <a:noFill/>
          <a:ln w="9525" cap="flat" cmpd="sng" algn="ctr">
            <a:solidFill>
              <a:schemeClr val="tx1"/>
            </a:solidFill>
            <a:prstDash val="dash"/>
            <a:round/>
            <a:headEnd type="none" w="med" len="med"/>
            <a:tailEnd type="none" w="med" len="med"/>
          </a:ln>
          <a:effectLst/>
        </p:spPr>
      </p:cxnSp>
      <p:sp>
        <p:nvSpPr>
          <p:cNvPr id="37" name="正方形/長方形 36"/>
          <p:cNvSpPr/>
          <p:nvPr/>
        </p:nvSpPr>
        <p:spPr bwMode="auto">
          <a:xfrm>
            <a:off x="1691968" y="360900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kumimoji="1"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I4</a:t>
            </a:r>
            <a:endParaRPr kumimoji="1"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Rectangle 73"/>
          <p:cNvSpPr>
            <a:spLocks noChangeArrowheads="1"/>
          </p:cNvSpPr>
          <p:nvPr/>
        </p:nvSpPr>
        <p:spPr bwMode="auto">
          <a:xfrm>
            <a:off x="4752002"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latin typeface="+mn-lt"/>
                <a:ea typeface="+mn-ea"/>
              </a:rPr>
              <a:t>WB</a:t>
            </a:r>
          </a:p>
        </p:txBody>
      </p:sp>
      <p:cxnSp>
        <p:nvCxnSpPr>
          <p:cNvPr id="39" name="直線コネクタ 38"/>
          <p:cNvCxnSpPr/>
          <p:nvPr/>
        </p:nvCxnSpPr>
        <p:spPr bwMode="auto">
          <a:xfrm>
            <a:off x="4707398" y="1718981"/>
            <a:ext cx="0" cy="2340026"/>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742263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制御ハザード</a:t>
            </a:r>
          </a:p>
        </p:txBody>
      </p:sp>
      <p:sp>
        <p:nvSpPr>
          <p:cNvPr id="3" name="テキスト プレースホルダー 2"/>
          <p:cNvSpPr>
            <a:spLocks noGrp="1"/>
          </p:cNvSpPr>
          <p:nvPr>
            <p:ph type="body" sz="quarter" idx="10"/>
          </p:nvPr>
        </p:nvSpPr>
        <p:spPr/>
        <p:txBody>
          <a:bodyPr/>
          <a:lstStyle/>
          <a:p>
            <a:pPr marL="385200" indent="-457200">
              <a:buFont typeface="+mj-lt"/>
              <a:buAutoNum type="arabicPeriod"/>
            </a:pPr>
            <a:r>
              <a:rPr lang="ja-JP" altLang="en-US" dirty="0"/>
              <a:t>構造ハザード</a:t>
            </a:r>
            <a:endParaRPr lang="en-US" altLang="ja-JP" dirty="0"/>
          </a:p>
          <a:p>
            <a:pPr marL="385200" indent="-457200">
              <a:buFont typeface="+mj-lt"/>
              <a:buAutoNum type="arabicPeriod"/>
            </a:pPr>
            <a:r>
              <a:rPr lang="ja-JP" altLang="en-US" dirty="0"/>
              <a:t>非構造ハザード：バックエッジに由来</a:t>
            </a:r>
            <a:endParaRPr lang="en-US" altLang="ja-JP" dirty="0"/>
          </a:p>
          <a:p>
            <a:pPr marL="745200" lvl="1" indent="-457200">
              <a:buFont typeface="+mj-lt"/>
              <a:buAutoNum type="alphaLcPeriod"/>
            </a:pPr>
            <a:r>
              <a:rPr lang="ja-JP" altLang="en-US" dirty="0"/>
              <a:t>データ・ハザード</a:t>
            </a:r>
          </a:p>
          <a:p>
            <a:pPr marL="709200" lvl="1" indent="-457200">
              <a:buFont typeface="+mj-lt"/>
              <a:buAutoNum type="alphaLcPeriod"/>
            </a:pPr>
            <a:r>
              <a:rPr lang="ja-JP" altLang="en-US" b="1" dirty="0"/>
              <a:t>制御ハザード</a:t>
            </a:r>
            <a:endParaRPr lang="en-US" altLang="ja-JP" b="1" dirty="0"/>
          </a:p>
        </p:txBody>
      </p:sp>
    </p:spTree>
    <p:extLst>
      <p:ext uri="{BB962C8B-B14F-4D97-AF65-F5344CB8AC3E}">
        <p14:creationId xmlns:p14="http://schemas.microsoft.com/office/powerpoint/2010/main" val="4092251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分岐命令の処理と制御ハザード</a:t>
            </a:r>
          </a:p>
        </p:txBody>
      </p:sp>
      <p:sp>
        <p:nvSpPr>
          <p:cNvPr id="58" name="コンテンツ プレースホルダー 57"/>
          <p:cNvSpPr>
            <a:spLocks noGrp="1"/>
          </p:cNvSpPr>
          <p:nvPr>
            <p:ph idx="4294967295"/>
          </p:nvPr>
        </p:nvSpPr>
        <p:spPr>
          <a:xfrm>
            <a:off x="127205" y="4329010"/>
            <a:ext cx="9000100" cy="2250025"/>
          </a:xfrm>
          <a:prstGeom prst="rect">
            <a:avLst/>
          </a:prstGeom>
        </p:spPr>
        <p:txBody>
          <a:bodyPr/>
          <a:lstStyle/>
          <a:p>
            <a:r>
              <a:rPr lang="ja-JP" altLang="en-US" dirty="0"/>
              <a:t>「</a:t>
            </a:r>
            <a:r>
              <a:rPr lang="en-US" altLang="ja-JP" dirty="0">
                <a:solidFill>
                  <a:schemeClr val="accent5"/>
                </a:solidFill>
              </a:rPr>
              <a:t>if a &gt; 0</a:t>
            </a:r>
            <a:r>
              <a:rPr lang="ja-JP" altLang="en-US" dirty="0"/>
              <a:t>」の結果は</a:t>
            </a:r>
            <a:r>
              <a:rPr lang="ja-JP" altLang="en-US" dirty="0">
                <a:solidFill>
                  <a:schemeClr val="accent4"/>
                </a:solidFill>
              </a:rPr>
              <a:t>最終段の </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の人まで反映出来ない</a:t>
            </a:r>
            <a:endParaRPr lang="en-US" altLang="ja-JP" sz="1800" dirty="0"/>
          </a:p>
          <a:p>
            <a:pPr lvl="1"/>
            <a:r>
              <a:rPr lang="ja-JP" altLang="en-US" dirty="0"/>
              <a:t>先頭は次に </a:t>
            </a:r>
            <a:r>
              <a:rPr lang="en-US" altLang="ja-JP" dirty="0">
                <a:solidFill>
                  <a:schemeClr val="accent5"/>
                </a:solidFill>
              </a:rPr>
              <a:t>a=a+1 </a:t>
            </a:r>
            <a:r>
              <a:rPr lang="ja-JP" altLang="en-US" dirty="0"/>
              <a:t>と </a:t>
            </a:r>
            <a:r>
              <a:rPr lang="en-US" altLang="ja-JP" dirty="0">
                <a:solidFill>
                  <a:schemeClr val="accent5"/>
                </a:solidFill>
              </a:rPr>
              <a:t>a=a-1</a:t>
            </a:r>
            <a:r>
              <a:rPr lang="en-US" altLang="ja-JP" dirty="0"/>
              <a:t> </a:t>
            </a:r>
            <a:r>
              <a:rPr lang="ja-JP" altLang="en-US" dirty="0"/>
              <a:t>のどちらを取り込めばいいのかわからない</a:t>
            </a:r>
            <a:endParaRPr lang="en-US" altLang="ja-JP" dirty="0"/>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2051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if a &gt; 0</a:t>
            </a:r>
            <a:endParaRPr kumimoji="1" lang="ja-JP" altLang="en-US" dirty="0">
              <a:latin typeface="Arial Narrow" panose="020B0606020202030204" pitchFamily="34" charset="0"/>
            </a:endParaRPr>
          </a:p>
        </p:txBody>
      </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kumimoji="1" lang="en-US" altLang="ja-JP" sz="2400" b="1" dirty="0">
                <a:solidFill>
                  <a:schemeClr val="tx2"/>
                </a:solidFill>
                <a:latin typeface="Arial Narrow" panose="020B0606020202030204" pitchFamily="34" charset="0"/>
              </a:rPr>
              <a:t>if a &gt; 0:</a:t>
            </a:r>
          </a:p>
          <a:p>
            <a:pPr>
              <a:lnSpc>
                <a:spcPct val="80000"/>
              </a:lnSpc>
            </a:pPr>
            <a:r>
              <a:rPr kumimoji="1"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kumimoji="1" lang="en-US" altLang="ja-JP" sz="2400" dirty="0">
                <a:solidFill>
                  <a:schemeClr val="bg1"/>
                </a:solidFill>
                <a:latin typeface="Arial Narrow" panose="020B0606020202030204" pitchFamily="34" charset="0"/>
              </a:rPr>
              <a:t>    a=a-1</a:t>
            </a:r>
          </a:p>
          <a:p>
            <a:pPr>
              <a:lnSpc>
                <a:spcPct val="80000"/>
              </a:lnSpc>
            </a:pPr>
            <a:r>
              <a:rPr kumimoji="1"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521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tx1">
                    <a:lumMod val="65000"/>
                    <a:lumOff val="35000"/>
                  </a:schemeClr>
                </a:solidFill>
              </a:rPr>
              <a:t>命令メモリ</a:t>
            </a:r>
          </a:p>
        </p:txBody>
      </p:sp>
      <p:sp>
        <p:nvSpPr>
          <p:cNvPr id="24" name="角丸四角形吹き出し 23"/>
          <p:cNvSpPr/>
          <p:nvPr/>
        </p:nvSpPr>
        <p:spPr bwMode="auto">
          <a:xfrm>
            <a:off x="2141973" y="1718981"/>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65000"/>
                    <a:lumOff val="35000"/>
                  </a:schemeClr>
                </a:solidFill>
                <a:latin typeface="Arial Narrow" panose="020B0606020202030204" pitchFamily="34" charset="0"/>
              </a:rPr>
              <a:t>次どう</a:t>
            </a:r>
            <a:r>
              <a:rPr kumimoji="1" lang="ja-JP" altLang="en-US" sz="1400" dirty="0" err="1">
                <a:solidFill>
                  <a:schemeClr val="tx1">
                    <a:lumMod val="65000"/>
                    <a:lumOff val="35000"/>
                  </a:schemeClr>
                </a:solidFill>
                <a:latin typeface="Arial Narrow" panose="020B0606020202030204" pitchFamily="34" charset="0"/>
              </a:rPr>
              <a:t>すんねん</a:t>
            </a:r>
            <a:endParaRPr kumimoji="1" lang="ja-JP" altLang="en-US" sz="1400"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86955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制御ハザードの解消方法</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sz="1800" dirty="0"/>
              <a:t>解消方法</a:t>
            </a:r>
            <a:endParaRPr lang="en-US" altLang="ja-JP" sz="1800" dirty="0"/>
          </a:p>
          <a:p>
            <a:pPr marL="817200" lvl="1" indent="-457200">
              <a:buFont typeface="+mj-lt"/>
              <a:buAutoNum type="arabicPeriod"/>
            </a:pPr>
            <a:r>
              <a:rPr lang="ja-JP" altLang="en-US" sz="1800" dirty="0"/>
              <a:t>ストールさせる</a:t>
            </a:r>
            <a:endParaRPr lang="en-US" altLang="ja-JP" sz="1800" dirty="0"/>
          </a:p>
          <a:p>
            <a:pPr marL="817200" lvl="1" indent="-457200">
              <a:buFont typeface="+mj-lt"/>
              <a:buAutoNum type="arabicPeriod"/>
            </a:pPr>
            <a:r>
              <a:rPr lang="ja-JP" altLang="en-US" sz="1800" dirty="0"/>
              <a:t>遅延スロット（なにもしない）</a:t>
            </a:r>
            <a:endParaRPr lang="en-US" altLang="ja-JP" sz="1800" dirty="0"/>
          </a:p>
          <a:p>
            <a:pPr marL="817200" lvl="1" indent="-457200">
              <a:buFont typeface="+mj-lt"/>
              <a:buAutoNum type="arabicPeriod"/>
            </a:pPr>
            <a:endParaRPr lang="en-US" altLang="ja-JP" sz="1800" dirty="0"/>
          </a:p>
          <a:p>
            <a:pPr lvl="1"/>
            <a:r>
              <a:rPr lang="ja-JP" altLang="en-US" sz="1800" dirty="0"/>
              <a:t>上記は基本的にデータ・ハザードと同様にして適用できる</a:t>
            </a:r>
            <a:endParaRPr lang="en-US" altLang="ja-JP" sz="1800" dirty="0"/>
          </a:p>
          <a:p>
            <a:pPr lvl="2"/>
            <a:r>
              <a:rPr lang="ja-JP" altLang="en-US" sz="1800" dirty="0"/>
              <a:t>ただしフォワーディングは，制御ハザードでは意味的に無理</a:t>
            </a:r>
            <a:br>
              <a:rPr lang="en-US" altLang="ja-JP" sz="1800" dirty="0"/>
            </a:br>
            <a:endParaRPr lang="en-US" altLang="ja-JP" sz="1800" dirty="0"/>
          </a:p>
          <a:p>
            <a:pPr marL="817200" lvl="1" indent="-457200">
              <a:buFont typeface="+mj-lt"/>
              <a:buAutoNum type="arabicPeriod" startAt="3"/>
            </a:pPr>
            <a:r>
              <a:rPr lang="ja-JP" altLang="en-US" sz="1800" b="1" dirty="0"/>
              <a:t>分岐予測による投機実行</a:t>
            </a:r>
            <a:endParaRPr kumimoji="1" lang="ja-JP" altLang="en-US" sz="1800" dirty="0"/>
          </a:p>
        </p:txBody>
      </p:sp>
    </p:spTree>
    <p:extLst>
      <p:ext uri="{BB962C8B-B14F-4D97-AF65-F5344CB8AC3E}">
        <p14:creationId xmlns:p14="http://schemas.microsoft.com/office/powerpoint/2010/main" val="2997240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a:t>
            </a:r>
            <a:endParaRPr kumimoji="1" lang="ja-JP" altLang="en-US" dirty="0"/>
          </a:p>
        </p:txBody>
      </p:sp>
      <p:sp>
        <p:nvSpPr>
          <p:cNvPr id="58" name="コンテンツ プレースホルダー 57"/>
          <p:cNvSpPr>
            <a:spLocks noGrp="1"/>
          </p:cNvSpPr>
          <p:nvPr>
            <p:ph idx="4294967295"/>
          </p:nvPr>
        </p:nvSpPr>
        <p:spPr>
          <a:xfrm>
            <a:off x="251952" y="4689014"/>
            <a:ext cx="8550095" cy="1369161"/>
          </a:xfrm>
          <a:prstGeom prst="rect">
            <a:avLst/>
          </a:prstGeom>
        </p:spPr>
        <p:txBody>
          <a:bodyPr/>
          <a:lstStyle/>
          <a:p>
            <a:r>
              <a:rPr lang="ja-JP" altLang="en-US" sz="2000" dirty="0"/>
              <a:t>動作</a:t>
            </a:r>
            <a:endParaRPr lang="en-US" altLang="ja-JP" sz="2000" dirty="0"/>
          </a:p>
          <a:p>
            <a:pPr lvl="1"/>
            <a:r>
              <a:rPr lang="ja-JP" altLang="en-US" sz="2000" dirty="0"/>
              <a:t>「</a:t>
            </a:r>
            <a:r>
              <a:rPr lang="en-US" altLang="ja-JP" sz="2000" dirty="0">
                <a:solidFill>
                  <a:schemeClr val="accent5"/>
                </a:solidFill>
              </a:rPr>
              <a:t>if a &gt; 0</a:t>
            </a:r>
            <a:r>
              <a:rPr lang="ja-JP" altLang="en-US" sz="2000" dirty="0"/>
              <a:t>」の結果を予測して，命令を取り込む</a:t>
            </a:r>
            <a:endParaRPr lang="en-US" altLang="ja-JP" sz="2000" dirty="0"/>
          </a:p>
          <a:p>
            <a:pPr lvl="2"/>
            <a:r>
              <a:rPr lang="ja-JP" altLang="en-US" sz="2000" dirty="0"/>
              <a:t>前回はこっちに行ったので，次もこっちに違いないとかで予測</a:t>
            </a:r>
            <a:endParaRPr lang="en-US" altLang="ja-JP" sz="2000" dirty="0"/>
          </a:p>
          <a:p>
            <a:pPr lvl="1"/>
            <a:r>
              <a:rPr lang="ja-JP" altLang="en-US" sz="2000" dirty="0"/>
              <a:t>あとから予測が正しいか確認する</a:t>
            </a:r>
            <a:endParaRPr lang="en-US" altLang="ja-JP" sz="2000" dirty="0"/>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3491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if a &gt; 0</a:t>
            </a:r>
            <a:endParaRPr kumimoji="1" lang="ja-JP" altLang="en-US" dirty="0">
              <a:latin typeface="Arial Narrow" panose="020B0606020202030204" pitchFamily="34" charset="0"/>
            </a:endParaRPr>
          </a:p>
        </p:txBody>
      </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521955"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tx1">
                    <a:lumMod val="65000"/>
                    <a:lumOff val="35000"/>
                  </a:schemeClr>
                </a:solidFill>
              </a:rPr>
              <a:t>プログラム</a:t>
            </a:r>
          </a:p>
        </p:txBody>
      </p:sp>
      <p:sp>
        <p:nvSpPr>
          <p:cNvPr id="24" name="角丸四角形 23"/>
          <p:cNvSpPr/>
          <p:nvPr/>
        </p:nvSpPr>
        <p:spPr bwMode="auto">
          <a:xfrm>
            <a:off x="2051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a=a-1</a:t>
            </a:r>
            <a:endParaRPr kumimoji="1" lang="ja-JP" altLang="en-US" dirty="0">
              <a:latin typeface="Arial Narrow" panose="020B0606020202030204" pitchFamily="34" charset="0"/>
            </a:endParaRPr>
          </a:p>
        </p:txBody>
      </p:sp>
      <p:sp>
        <p:nvSpPr>
          <p:cNvPr id="4" name="角丸四角形吹き出し 3"/>
          <p:cNvSpPr/>
          <p:nvPr/>
        </p:nvSpPr>
        <p:spPr bwMode="auto">
          <a:xfrm>
            <a:off x="2051972" y="1268976"/>
            <a:ext cx="2520028"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err="1">
                <a:solidFill>
                  <a:schemeClr val="tx1">
                    <a:lumMod val="65000"/>
                    <a:lumOff val="35000"/>
                  </a:schemeClr>
                </a:solidFill>
                <a:latin typeface="Arial Narrow" panose="020B0606020202030204" pitchFamily="34" charset="0"/>
              </a:rPr>
              <a:t>わいの</a:t>
            </a:r>
            <a:r>
              <a:rPr kumimoji="1" lang="ja-JP" altLang="en-US" dirty="0">
                <a:solidFill>
                  <a:schemeClr val="tx1">
                    <a:lumMod val="65000"/>
                    <a:lumOff val="35000"/>
                  </a:schemeClr>
                </a:solidFill>
                <a:latin typeface="Arial Narrow" panose="020B0606020202030204" pitchFamily="34" charset="0"/>
              </a:rPr>
              <a:t>予想では </a:t>
            </a:r>
            <a:r>
              <a:rPr kumimoji="1" lang="en-US" altLang="ja-JP" dirty="0">
                <a:solidFill>
                  <a:schemeClr val="tx1">
                    <a:lumMod val="65000"/>
                    <a:lumOff val="35000"/>
                  </a:schemeClr>
                </a:solidFill>
                <a:latin typeface="Arial Narrow" panose="020B0606020202030204" pitchFamily="34" charset="0"/>
              </a:rPr>
              <a:t>else </a:t>
            </a:r>
            <a:r>
              <a:rPr kumimoji="1" lang="ja-JP" altLang="en-US" dirty="0">
                <a:solidFill>
                  <a:schemeClr val="tx1">
                    <a:lumMod val="65000"/>
                    <a:lumOff val="35000"/>
                  </a:schemeClr>
                </a:solidFill>
                <a:latin typeface="Arial Narrow" panose="020B0606020202030204" pitchFamily="34" charset="0"/>
              </a:rPr>
              <a:t>や</a:t>
            </a:r>
            <a:endParaRPr kumimoji="1" lang="en-US" altLang="ja-JP" dirty="0">
              <a:solidFill>
                <a:schemeClr val="tx1">
                  <a:lumMod val="65000"/>
                  <a:lumOff val="35000"/>
                </a:schemeClr>
              </a:solidFill>
              <a:latin typeface="Arial Narrow" panose="020B0606020202030204" pitchFamily="34" charset="0"/>
            </a:endParaRPr>
          </a:p>
        </p:txBody>
      </p:sp>
      <p:sp>
        <p:nvSpPr>
          <p:cNvPr id="27" name="角丸四角形吹き出し 26"/>
          <p:cNvSpPr/>
          <p:nvPr/>
        </p:nvSpPr>
        <p:spPr bwMode="auto">
          <a:xfrm>
            <a:off x="6552022" y="1268976"/>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ほんまかいな</a:t>
            </a:r>
            <a:endParaRPr kumimoji="1" lang="en-US" altLang="ja-JP" dirty="0">
              <a:solidFill>
                <a:schemeClr val="tx1">
                  <a:lumMod val="65000"/>
                  <a:lumOff val="35000"/>
                </a:schemeClr>
              </a:solidFill>
              <a:latin typeface="Arial Narrow" panose="020B0606020202030204" pitchFamily="34" charset="0"/>
            </a:endParaRPr>
          </a:p>
          <a:p>
            <a:r>
              <a:rPr kumimoji="1" lang="ja-JP" altLang="en-US" dirty="0">
                <a:solidFill>
                  <a:schemeClr val="tx1">
                    <a:lumMod val="65000"/>
                    <a:lumOff val="35000"/>
                  </a:schemeClr>
                </a:solidFill>
                <a:latin typeface="Arial Narrow" panose="020B0606020202030204" pitchFamily="34" charset="0"/>
              </a:rPr>
              <a:t>後でたしかめるで</a:t>
            </a:r>
          </a:p>
        </p:txBody>
      </p:sp>
      <p:sp>
        <p:nvSpPr>
          <p:cNvPr id="28" name="正方形/長方形 27"/>
          <p:cNvSpPr/>
          <p:nvPr/>
        </p:nvSpPr>
        <p:spPr bwMode="auto">
          <a:xfrm>
            <a:off x="5112006"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2"/>
                </a:solidFill>
              </a:rPr>
              <a:t>ｳｿｸｻｰ</a:t>
            </a:r>
          </a:p>
        </p:txBody>
      </p:sp>
      <p:sp>
        <p:nvSpPr>
          <p:cNvPr id="29" name="正方形/長方形 28"/>
          <p:cNvSpPr/>
          <p:nvPr/>
        </p:nvSpPr>
        <p:spPr bwMode="auto">
          <a:xfrm>
            <a:off x="3761991"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3">
                    <a:lumMod val="75000"/>
                  </a:schemeClr>
                </a:solidFill>
              </a:rPr>
              <a:t>ﾎﾝﾄｶﾅｰ</a:t>
            </a:r>
          </a:p>
        </p:txBody>
      </p:sp>
      <p:sp>
        <p:nvSpPr>
          <p:cNvPr id="5" name="正方形/長方形 4">
            <a:extLst>
              <a:ext uri="{FF2B5EF4-FFF2-40B4-BE49-F238E27FC236}">
                <a16:creationId xmlns:a16="http://schemas.microsoft.com/office/drawing/2014/main" id="{98688416-EB24-28D9-B4EE-E708B686A8ED}"/>
              </a:ext>
            </a:extLst>
          </p:cNvPr>
          <p:cNvSpPr/>
          <p:nvPr/>
        </p:nvSpPr>
        <p:spPr bwMode="auto">
          <a:xfrm>
            <a:off x="2231974"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1"/>
                </a:solidFill>
              </a:rPr>
              <a:t>ﾏﾁｶﾞｲﾅｲ</a:t>
            </a:r>
          </a:p>
        </p:txBody>
      </p:sp>
    </p:spTree>
    <p:extLst>
      <p:ext uri="{BB962C8B-B14F-4D97-AF65-F5344CB8AC3E}">
        <p14:creationId xmlns:p14="http://schemas.microsoft.com/office/powerpoint/2010/main" val="2527385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1601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 name="グループ化 37"/>
          <p:cNvGrpSpPr/>
          <p:nvPr/>
        </p:nvGrpSpPr>
        <p:grpSpPr>
          <a:xfrm>
            <a:off x="3042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 name="グループ化 51"/>
          <p:cNvGrpSpPr/>
          <p:nvPr/>
        </p:nvGrpSpPr>
        <p:grpSpPr>
          <a:xfrm>
            <a:off x="4482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 name="グループ化 55"/>
          <p:cNvGrpSpPr/>
          <p:nvPr/>
        </p:nvGrpSpPr>
        <p:grpSpPr>
          <a:xfrm>
            <a:off x="5922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3" name="正方形/長方形 2"/>
          <p:cNvSpPr/>
          <p:nvPr/>
        </p:nvSpPr>
        <p:spPr>
          <a:xfrm>
            <a:off x="1563806"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003966"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4446013"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5886173"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予測ペナルティ</a:t>
            </a:r>
            <a:endParaRPr kumimoji="1" lang="ja-JP" altLang="en-US" dirty="0"/>
          </a:p>
        </p:txBody>
      </p:sp>
      <p:sp>
        <p:nvSpPr>
          <p:cNvPr id="58" name="コンテンツ プレースホルダー 57"/>
          <p:cNvSpPr>
            <a:spLocks noGrp="1"/>
          </p:cNvSpPr>
          <p:nvPr>
            <p:ph idx="4294967295"/>
          </p:nvPr>
        </p:nvSpPr>
        <p:spPr>
          <a:xfrm>
            <a:off x="701957" y="4869016"/>
            <a:ext cx="8190091" cy="1369161"/>
          </a:xfrm>
          <a:prstGeom prst="rect">
            <a:avLst/>
          </a:prstGeom>
        </p:spPr>
        <p:txBody>
          <a:bodyPr/>
          <a:lstStyle/>
          <a:p>
            <a:r>
              <a:rPr lang="ja-JP" altLang="en-US" dirty="0"/>
              <a:t>予測が間違っていた場合，以降の処理を</a:t>
            </a:r>
            <a:br>
              <a:rPr lang="en-US" altLang="ja-JP" dirty="0"/>
            </a:br>
            <a:r>
              <a:rPr lang="ja-JP" altLang="en-US" dirty="0"/>
              <a:t>取り消してやり直す</a:t>
            </a:r>
            <a:endParaRPr lang="en-US" altLang="ja-JP" dirty="0"/>
          </a:p>
          <a:p>
            <a:r>
              <a:rPr lang="ja-JP" altLang="en-US" dirty="0"/>
              <a:t>この図では，無駄になるのは</a:t>
            </a:r>
            <a:r>
              <a:rPr lang="en-US" altLang="ja-JP" dirty="0"/>
              <a:t>3</a:t>
            </a:r>
            <a:r>
              <a:rPr lang="ja-JP" altLang="en-US" dirty="0"/>
              <a:t>命令分</a:t>
            </a:r>
            <a:endParaRPr lang="en-US" altLang="ja-JP" dirty="0"/>
          </a:p>
        </p:txBody>
      </p:sp>
      <p:cxnSp>
        <p:nvCxnSpPr>
          <p:cNvPr id="67" name="直線矢印コネクタ 66"/>
          <p:cNvCxnSpPr/>
          <p:nvPr/>
        </p:nvCxnSpPr>
        <p:spPr bwMode="auto">
          <a:xfrm>
            <a:off x="1601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6372020"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if a &gt; 0</a:t>
            </a:r>
            <a:endParaRPr kumimoji="1" lang="ja-JP" altLang="en-US" dirty="0">
              <a:latin typeface="Arial Narrow" panose="020B0606020202030204" pitchFamily="34" charset="0"/>
            </a:endParaRPr>
          </a:p>
        </p:txBody>
      </p:sp>
      <p:sp>
        <p:nvSpPr>
          <p:cNvPr id="96" name="正方形/長方形 95"/>
          <p:cNvSpPr/>
          <p:nvPr/>
        </p:nvSpPr>
        <p:spPr bwMode="auto">
          <a:xfrm>
            <a:off x="251952" y="2438989"/>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521955"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tx1">
                    <a:lumMod val="65000"/>
                    <a:lumOff val="35000"/>
                  </a:schemeClr>
                </a:solidFill>
              </a:rPr>
              <a:t>プログラム</a:t>
            </a:r>
          </a:p>
        </p:txBody>
      </p:sp>
      <p:sp>
        <p:nvSpPr>
          <p:cNvPr id="24" name="角丸四角形 23"/>
          <p:cNvSpPr/>
          <p:nvPr/>
        </p:nvSpPr>
        <p:spPr bwMode="auto">
          <a:xfrm>
            <a:off x="4932004"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 name="角丸四角形吹き出し 3"/>
          <p:cNvSpPr/>
          <p:nvPr/>
        </p:nvSpPr>
        <p:spPr bwMode="auto">
          <a:xfrm>
            <a:off x="1871970" y="1358977"/>
            <a:ext cx="2880032" cy="612648"/>
          </a:xfrm>
          <a:prstGeom prst="wedgeRoundRectCallout">
            <a:avLst>
              <a:gd name="adj1" fmla="val -38140"/>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Arial Narrow" panose="020B0606020202030204" pitchFamily="34" charset="0"/>
              </a:rPr>
              <a:t>a=a+1 </a:t>
            </a:r>
            <a:r>
              <a:rPr kumimoji="1" lang="ja-JP" altLang="en-US" dirty="0">
                <a:solidFill>
                  <a:schemeClr val="tx1">
                    <a:lumMod val="65000"/>
                    <a:lumOff val="35000"/>
                  </a:schemeClr>
                </a:solidFill>
                <a:latin typeface="Arial Narrow" panose="020B0606020202030204" pitchFamily="34" charset="0"/>
              </a:rPr>
              <a:t>からやりなおしや！</a:t>
            </a:r>
          </a:p>
        </p:txBody>
      </p:sp>
      <p:sp>
        <p:nvSpPr>
          <p:cNvPr id="27" name="角丸四角形吹き出し 26"/>
          <p:cNvSpPr/>
          <p:nvPr/>
        </p:nvSpPr>
        <p:spPr bwMode="auto">
          <a:xfrm>
            <a:off x="6552022" y="1358977"/>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65000"/>
                    <a:lumOff val="35000"/>
                  </a:schemeClr>
                </a:solidFill>
                <a:latin typeface="Arial Narrow" panose="020B0606020202030204" pitchFamily="34" charset="0"/>
              </a:rPr>
              <a:t>間違っとるが</a:t>
            </a:r>
            <a:r>
              <a:rPr kumimoji="1" lang="ja-JP" altLang="en-US" dirty="0" err="1">
                <a:solidFill>
                  <a:schemeClr val="tx1">
                    <a:lumMod val="65000"/>
                    <a:lumOff val="35000"/>
                  </a:schemeClr>
                </a:solidFill>
                <a:latin typeface="Arial Narrow" panose="020B0606020202030204" pitchFamily="34" charset="0"/>
              </a:rPr>
              <a:t>な</a:t>
            </a:r>
            <a:endParaRPr kumimoji="1" lang="ja-JP" altLang="en-US" dirty="0">
              <a:solidFill>
                <a:schemeClr val="tx1">
                  <a:lumMod val="65000"/>
                  <a:lumOff val="35000"/>
                </a:schemeClr>
              </a:solidFill>
              <a:latin typeface="Arial Narrow" panose="020B0606020202030204" pitchFamily="34" charset="0"/>
            </a:endParaRPr>
          </a:p>
        </p:txBody>
      </p:sp>
      <p:sp>
        <p:nvSpPr>
          <p:cNvPr id="28" name="角丸四角形 27"/>
          <p:cNvSpPr/>
          <p:nvPr/>
        </p:nvSpPr>
        <p:spPr bwMode="auto">
          <a:xfrm>
            <a:off x="3491988"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sp>
        <p:nvSpPr>
          <p:cNvPr id="29" name="角丸四角形 28"/>
          <p:cNvSpPr/>
          <p:nvPr/>
        </p:nvSpPr>
        <p:spPr bwMode="auto">
          <a:xfrm>
            <a:off x="2051972"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kumimoji="1" lang="en-US" altLang="ja-JP" dirty="0">
                <a:latin typeface="Arial Narrow" panose="020B0606020202030204" pitchFamily="34" charset="0"/>
              </a:rPr>
              <a:t>…</a:t>
            </a:r>
            <a:endParaRPr kumimoji="1" lang="ja-JP" altLang="en-US" dirty="0">
              <a:latin typeface="Arial Narrow" panose="020B0606020202030204" pitchFamily="34" charset="0"/>
            </a:endParaRPr>
          </a:p>
        </p:txBody>
      </p:sp>
      <p:sp>
        <p:nvSpPr>
          <p:cNvPr id="30" name="正方形/長方形 29"/>
          <p:cNvSpPr/>
          <p:nvPr/>
        </p:nvSpPr>
        <p:spPr bwMode="auto">
          <a:xfrm>
            <a:off x="5112006"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2"/>
                </a:solidFill>
              </a:rPr>
              <a:t>ﾓｳﾔﾀﾞ</a:t>
            </a:r>
          </a:p>
        </p:txBody>
      </p:sp>
      <p:sp>
        <p:nvSpPr>
          <p:cNvPr id="31" name="正方形/長方形 30"/>
          <p:cNvSpPr/>
          <p:nvPr/>
        </p:nvSpPr>
        <p:spPr bwMode="auto">
          <a:xfrm>
            <a:off x="3761991"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3">
                    <a:lumMod val="75000"/>
                  </a:schemeClr>
                </a:solidFill>
              </a:rPr>
              <a:t>ﾏｼﾞﾃﾞ</a:t>
            </a:r>
          </a:p>
        </p:txBody>
      </p:sp>
    </p:spTree>
    <p:extLst>
      <p:ext uri="{BB962C8B-B14F-4D97-AF65-F5344CB8AC3E}">
        <p14:creationId xmlns:p14="http://schemas.microsoft.com/office/powerpoint/2010/main" val="8120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4"/>
                                        </p:tgtEl>
                                      </p:cBhvr>
                                    </p:animEffect>
                                    <p:anim calcmode="lin" valueType="num">
                                      <p:cBhvr>
                                        <p:cTn id="7" dur="1000"/>
                                        <p:tgtEl>
                                          <p:spTgt spid="24"/>
                                        </p:tgtEl>
                                        <p:attrNameLst>
                                          <p:attrName>ppt_x</p:attrName>
                                        </p:attrNameLst>
                                      </p:cBhvr>
                                      <p:tavLst>
                                        <p:tav tm="0">
                                          <p:val>
                                            <p:strVal val="ppt_x"/>
                                          </p:val>
                                        </p:tav>
                                        <p:tav tm="100000">
                                          <p:val>
                                            <p:strVal val="ppt_x"/>
                                          </p:val>
                                        </p:tav>
                                      </p:tavLst>
                                    </p:anim>
                                    <p:anim calcmode="lin" valueType="num">
                                      <p:cBhvr>
                                        <p:cTn id="8" dur="1000"/>
                                        <p:tgtEl>
                                          <p:spTgt spid="24"/>
                                        </p:tgtEl>
                                        <p:attrNameLst>
                                          <p:attrName>ppt_y</p:attrName>
                                        </p:attrNameLst>
                                      </p:cBhvr>
                                      <p:tavLst>
                                        <p:tav tm="0">
                                          <p:val>
                                            <p:strVal val="ppt_y"/>
                                          </p:val>
                                        </p:tav>
                                        <p:tav tm="100000">
                                          <p:val>
                                            <p:strVal val="ppt_y+.1"/>
                                          </p:val>
                                        </p:tav>
                                      </p:tavLst>
                                    </p:anim>
                                    <p:set>
                                      <p:cBhvr>
                                        <p:cTn id="9" dur="1" fill="hold">
                                          <p:stCondLst>
                                            <p:cond delay="999"/>
                                          </p:stCondLst>
                                        </p:cTn>
                                        <p:tgtEl>
                                          <p:spTgt spid="24"/>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28"/>
                                        </p:tgtEl>
                                      </p:cBhvr>
                                    </p:animEffect>
                                    <p:anim calcmode="lin" valueType="num">
                                      <p:cBhvr>
                                        <p:cTn id="12" dur="1000"/>
                                        <p:tgtEl>
                                          <p:spTgt spid="28"/>
                                        </p:tgtEl>
                                        <p:attrNameLst>
                                          <p:attrName>ppt_x</p:attrName>
                                        </p:attrNameLst>
                                      </p:cBhvr>
                                      <p:tavLst>
                                        <p:tav tm="0">
                                          <p:val>
                                            <p:strVal val="ppt_x"/>
                                          </p:val>
                                        </p:tav>
                                        <p:tav tm="100000">
                                          <p:val>
                                            <p:strVal val="ppt_x"/>
                                          </p:val>
                                        </p:tav>
                                      </p:tavLst>
                                    </p:anim>
                                    <p:anim calcmode="lin" valueType="num">
                                      <p:cBhvr>
                                        <p:cTn id="13" dur="1000"/>
                                        <p:tgtEl>
                                          <p:spTgt spid="28"/>
                                        </p:tgtEl>
                                        <p:attrNameLst>
                                          <p:attrName>ppt_y</p:attrName>
                                        </p:attrNameLst>
                                      </p:cBhvr>
                                      <p:tavLst>
                                        <p:tav tm="0">
                                          <p:val>
                                            <p:strVal val="ppt_y"/>
                                          </p:val>
                                        </p:tav>
                                        <p:tav tm="100000">
                                          <p:val>
                                            <p:strVal val="ppt_y+.1"/>
                                          </p:val>
                                        </p:tav>
                                      </p:tavLst>
                                    </p:anim>
                                    <p:set>
                                      <p:cBhvr>
                                        <p:cTn id="14" dur="1" fill="hold">
                                          <p:stCondLst>
                                            <p:cond delay="999"/>
                                          </p:stCondLst>
                                        </p:cTn>
                                        <p:tgtEl>
                                          <p:spTgt spid="28"/>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29"/>
                                        </p:tgtEl>
                                      </p:cBhvr>
                                    </p:animEffect>
                                    <p:anim calcmode="lin" valueType="num">
                                      <p:cBhvr>
                                        <p:cTn id="17" dur="1000"/>
                                        <p:tgtEl>
                                          <p:spTgt spid="29"/>
                                        </p:tgtEl>
                                        <p:attrNameLst>
                                          <p:attrName>ppt_x</p:attrName>
                                        </p:attrNameLst>
                                      </p:cBhvr>
                                      <p:tavLst>
                                        <p:tav tm="0">
                                          <p:val>
                                            <p:strVal val="ppt_x"/>
                                          </p:val>
                                        </p:tav>
                                        <p:tav tm="100000">
                                          <p:val>
                                            <p:strVal val="ppt_x"/>
                                          </p:val>
                                        </p:tav>
                                      </p:tavLst>
                                    </p:anim>
                                    <p:anim calcmode="lin" valueType="num">
                                      <p:cBhvr>
                                        <p:cTn id="18" dur="1000"/>
                                        <p:tgtEl>
                                          <p:spTgt spid="29"/>
                                        </p:tgtEl>
                                        <p:attrNameLst>
                                          <p:attrName>ppt_y</p:attrName>
                                        </p:attrNameLst>
                                      </p:cBhvr>
                                      <p:tavLst>
                                        <p:tav tm="0">
                                          <p:val>
                                            <p:strVal val="ppt_y"/>
                                          </p:val>
                                        </p:tav>
                                        <p:tav tm="100000">
                                          <p:val>
                                            <p:strVal val="ppt_y+.1"/>
                                          </p:val>
                                        </p:tav>
                                      </p:tavLst>
                                    </p:anim>
                                    <p:set>
                                      <p:cBhvr>
                                        <p:cTn id="19" dur="1" fill="hold">
                                          <p:stCondLst>
                                            <p:cond delay="9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P spid="2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大規模な高性能プロセッサの場合</a:t>
            </a:r>
          </a:p>
        </p:txBody>
      </p:sp>
      <p:sp>
        <p:nvSpPr>
          <p:cNvPr id="3" name="テキスト プレースホルダー 2"/>
          <p:cNvSpPr>
            <a:spLocks noGrp="1"/>
          </p:cNvSpPr>
          <p:nvPr>
            <p:ph type="body" sz="quarter" idx="10"/>
          </p:nvPr>
        </p:nvSpPr>
        <p:spPr>
          <a:xfrm>
            <a:off x="791958" y="5949335"/>
            <a:ext cx="8010089" cy="719701"/>
          </a:xfrm>
        </p:spPr>
        <p:txBody>
          <a:bodyPr/>
          <a:lstStyle/>
          <a:p>
            <a:r>
              <a:rPr kumimoji="1" lang="ja-JP" altLang="en-US" dirty="0"/>
              <a:t>取り消しは最悪</a:t>
            </a:r>
            <a:r>
              <a:rPr lang="ja-JP" altLang="en-US" dirty="0"/>
              <a:t>数十命令以上に</a:t>
            </a:r>
            <a:endParaRPr lang="en-US" altLang="ja-JP" dirty="0"/>
          </a:p>
          <a:p>
            <a:pPr lvl="1"/>
            <a:r>
              <a:rPr kumimoji="1" lang="en-US" altLang="ja-JP" dirty="0"/>
              <a:t>Apple </a:t>
            </a:r>
            <a:r>
              <a:rPr kumimoji="1" lang="ja-JP" altLang="en-US" dirty="0"/>
              <a:t>の </a:t>
            </a:r>
            <a:r>
              <a:rPr kumimoji="1" lang="en-US" altLang="ja-JP" dirty="0"/>
              <a:t>M4P </a:t>
            </a:r>
            <a:r>
              <a:rPr kumimoji="1" lang="ja-JP" altLang="en-US" dirty="0"/>
              <a:t>という </a:t>
            </a:r>
            <a:r>
              <a:rPr kumimoji="1" lang="en-US" altLang="ja-JP" dirty="0"/>
              <a:t>CPU </a:t>
            </a:r>
            <a:r>
              <a:rPr kumimoji="1" lang="ja-JP" altLang="en-US" dirty="0"/>
              <a:t>だと </a:t>
            </a:r>
            <a:r>
              <a:rPr kumimoji="1" lang="en-US" altLang="ja-JP" dirty="0"/>
              <a:t>10</a:t>
            </a:r>
            <a:r>
              <a:rPr kumimoji="1" lang="ja-JP" altLang="en-US" dirty="0"/>
              <a:t>命令同時 </a:t>
            </a:r>
            <a:r>
              <a:rPr kumimoji="1" lang="en-US" altLang="ja-JP" dirty="0"/>
              <a:t>× 10</a:t>
            </a:r>
            <a:r>
              <a:rPr kumimoji="1" lang="ja-JP" altLang="en-US" dirty="0"/>
              <a:t>数段 </a:t>
            </a:r>
            <a:endParaRPr kumimoji="1" lang="ja-JP" altLang="en-US" sz="2000" dirty="0"/>
          </a:p>
        </p:txBody>
      </p:sp>
      <p:grpSp>
        <p:nvGrpSpPr>
          <p:cNvPr id="4" name="グループ化 3"/>
          <p:cNvGrpSpPr/>
          <p:nvPr/>
        </p:nvGrpSpPr>
        <p:grpSpPr>
          <a:xfrm>
            <a:off x="1601967" y="1574446"/>
            <a:ext cx="630007" cy="360000"/>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92" name="グループ化 291"/>
          <p:cNvGrpSpPr/>
          <p:nvPr/>
        </p:nvGrpSpPr>
        <p:grpSpPr>
          <a:xfrm>
            <a:off x="2141973" y="1574446"/>
            <a:ext cx="630007" cy="360000"/>
            <a:chOff x="971600" y="5445224"/>
            <a:chExt cx="7200800" cy="576064"/>
          </a:xfrm>
        </p:grpSpPr>
        <p:sp>
          <p:nvSpPr>
            <p:cNvPr id="293" name="平行四辺形 29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94" name="平行四辺形 29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95" name="グループ化 294"/>
          <p:cNvGrpSpPr/>
          <p:nvPr/>
        </p:nvGrpSpPr>
        <p:grpSpPr>
          <a:xfrm>
            <a:off x="2681979" y="1574446"/>
            <a:ext cx="630007" cy="360000"/>
            <a:chOff x="971600" y="5445224"/>
            <a:chExt cx="7200800" cy="576064"/>
          </a:xfrm>
        </p:grpSpPr>
        <p:sp>
          <p:nvSpPr>
            <p:cNvPr id="296" name="平行四辺形 2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97" name="平行四辺形 29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98" name="グループ化 297"/>
          <p:cNvGrpSpPr/>
          <p:nvPr/>
        </p:nvGrpSpPr>
        <p:grpSpPr>
          <a:xfrm>
            <a:off x="3221985" y="1574446"/>
            <a:ext cx="630007" cy="360000"/>
            <a:chOff x="971600" y="5445224"/>
            <a:chExt cx="7200800" cy="576064"/>
          </a:xfrm>
        </p:grpSpPr>
        <p:sp>
          <p:nvSpPr>
            <p:cNvPr id="299" name="平行四辺形 29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0" name="平行四辺形 29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01" name="グループ化 300"/>
          <p:cNvGrpSpPr/>
          <p:nvPr/>
        </p:nvGrpSpPr>
        <p:grpSpPr>
          <a:xfrm>
            <a:off x="3761991" y="1574446"/>
            <a:ext cx="630007" cy="360000"/>
            <a:chOff x="971600" y="5445224"/>
            <a:chExt cx="7200800" cy="576064"/>
          </a:xfrm>
        </p:grpSpPr>
        <p:sp>
          <p:nvSpPr>
            <p:cNvPr id="302" name="平行四辺形 30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3" name="平行四辺形 30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04" name="グループ化 303"/>
          <p:cNvGrpSpPr/>
          <p:nvPr/>
        </p:nvGrpSpPr>
        <p:grpSpPr>
          <a:xfrm>
            <a:off x="4301997" y="1574446"/>
            <a:ext cx="630007" cy="360000"/>
            <a:chOff x="971600" y="5445224"/>
            <a:chExt cx="7200800" cy="576064"/>
          </a:xfrm>
        </p:grpSpPr>
        <p:sp>
          <p:nvSpPr>
            <p:cNvPr id="305" name="平行四辺形 30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6" name="平行四辺形 30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07" name="グループ化 306"/>
          <p:cNvGrpSpPr/>
          <p:nvPr/>
        </p:nvGrpSpPr>
        <p:grpSpPr>
          <a:xfrm>
            <a:off x="4842003" y="1574446"/>
            <a:ext cx="630007" cy="360000"/>
            <a:chOff x="971600" y="5445224"/>
            <a:chExt cx="7200800" cy="576064"/>
          </a:xfrm>
        </p:grpSpPr>
        <p:sp>
          <p:nvSpPr>
            <p:cNvPr id="308" name="平行四辺形 30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9" name="平行四辺形 30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10" name="グループ化 309"/>
          <p:cNvGrpSpPr/>
          <p:nvPr/>
        </p:nvGrpSpPr>
        <p:grpSpPr>
          <a:xfrm>
            <a:off x="5382009" y="1574446"/>
            <a:ext cx="630007" cy="360000"/>
            <a:chOff x="971600" y="5445224"/>
            <a:chExt cx="7200800" cy="576064"/>
          </a:xfrm>
        </p:grpSpPr>
        <p:sp>
          <p:nvSpPr>
            <p:cNvPr id="311" name="平行四辺形 31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12" name="平行四辺形 31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13" name="グループ化 312"/>
          <p:cNvGrpSpPr/>
          <p:nvPr/>
        </p:nvGrpSpPr>
        <p:grpSpPr>
          <a:xfrm>
            <a:off x="5922015" y="1574446"/>
            <a:ext cx="630007" cy="360000"/>
            <a:chOff x="971600" y="5445224"/>
            <a:chExt cx="7200800" cy="576064"/>
          </a:xfrm>
        </p:grpSpPr>
        <p:sp>
          <p:nvSpPr>
            <p:cNvPr id="314" name="平行四辺形 31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15" name="平行四辺形 31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16" name="グループ化 315"/>
          <p:cNvGrpSpPr/>
          <p:nvPr/>
        </p:nvGrpSpPr>
        <p:grpSpPr>
          <a:xfrm>
            <a:off x="6462021" y="1574446"/>
            <a:ext cx="630007" cy="360000"/>
            <a:chOff x="971600" y="5445224"/>
            <a:chExt cx="7200800" cy="576064"/>
          </a:xfrm>
        </p:grpSpPr>
        <p:sp>
          <p:nvSpPr>
            <p:cNvPr id="317" name="平行四辺形 31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18" name="平行四辺形 31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19" name="グループ化 318"/>
          <p:cNvGrpSpPr/>
          <p:nvPr/>
        </p:nvGrpSpPr>
        <p:grpSpPr>
          <a:xfrm>
            <a:off x="7002027" y="1574446"/>
            <a:ext cx="630007" cy="360000"/>
            <a:chOff x="971600" y="5445224"/>
            <a:chExt cx="7200800" cy="576064"/>
          </a:xfrm>
        </p:grpSpPr>
        <p:sp>
          <p:nvSpPr>
            <p:cNvPr id="320" name="平行四辺形 31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21" name="平行四辺形 32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22" name="グループ化 321"/>
          <p:cNvGrpSpPr/>
          <p:nvPr/>
        </p:nvGrpSpPr>
        <p:grpSpPr>
          <a:xfrm>
            <a:off x="7542033" y="1574446"/>
            <a:ext cx="630007" cy="360000"/>
            <a:chOff x="971600" y="5445224"/>
            <a:chExt cx="7200800" cy="576064"/>
          </a:xfrm>
        </p:grpSpPr>
        <p:sp>
          <p:nvSpPr>
            <p:cNvPr id="323" name="平行四辺形 32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24" name="平行四辺形 32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61" name="グループ化 360"/>
          <p:cNvGrpSpPr/>
          <p:nvPr/>
        </p:nvGrpSpPr>
        <p:grpSpPr>
          <a:xfrm>
            <a:off x="1601967" y="2114452"/>
            <a:ext cx="630007" cy="360000"/>
            <a:chOff x="971600" y="5445224"/>
            <a:chExt cx="7200800" cy="576064"/>
          </a:xfrm>
        </p:grpSpPr>
        <p:sp>
          <p:nvSpPr>
            <p:cNvPr id="362" name="平行四辺形 36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63" name="平行四辺形 36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64" name="グループ化 363"/>
          <p:cNvGrpSpPr/>
          <p:nvPr/>
        </p:nvGrpSpPr>
        <p:grpSpPr>
          <a:xfrm>
            <a:off x="2141973" y="2114452"/>
            <a:ext cx="630007" cy="360000"/>
            <a:chOff x="971600" y="5445224"/>
            <a:chExt cx="7200800" cy="576064"/>
          </a:xfrm>
        </p:grpSpPr>
        <p:sp>
          <p:nvSpPr>
            <p:cNvPr id="365" name="平行四辺形 36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66" name="平行四辺形 36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67" name="グループ化 366"/>
          <p:cNvGrpSpPr/>
          <p:nvPr/>
        </p:nvGrpSpPr>
        <p:grpSpPr>
          <a:xfrm>
            <a:off x="2681979" y="2114452"/>
            <a:ext cx="630007" cy="360000"/>
            <a:chOff x="971600" y="5445224"/>
            <a:chExt cx="7200800" cy="576064"/>
          </a:xfrm>
        </p:grpSpPr>
        <p:sp>
          <p:nvSpPr>
            <p:cNvPr id="368" name="平行四辺形 36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69" name="平行四辺形 36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70" name="グループ化 369"/>
          <p:cNvGrpSpPr/>
          <p:nvPr/>
        </p:nvGrpSpPr>
        <p:grpSpPr>
          <a:xfrm>
            <a:off x="3221985" y="2114452"/>
            <a:ext cx="630007" cy="360000"/>
            <a:chOff x="971600" y="5445224"/>
            <a:chExt cx="7200800" cy="576064"/>
          </a:xfrm>
        </p:grpSpPr>
        <p:sp>
          <p:nvSpPr>
            <p:cNvPr id="371" name="平行四辺形 37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2" name="平行四辺形 37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73" name="グループ化 372"/>
          <p:cNvGrpSpPr/>
          <p:nvPr/>
        </p:nvGrpSpPr>
        <p:grpSpPr>
          <a:xfrm>
            <a:off x="3761991" y="2114452"/>
            <a:ext cx="630007" cy="360000"/>
            <a:chOff x="971600" y="5445224"/>
            <a:chExt cx="7200800" cy="576064"/>
          </a:xfrm>
        </p:grpSpPr>
        <p:sp>
          <p:nvSpPr>
            <p:cNvPr id="374" name="平行四辺形 37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5" name="平行四辺形 37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76" name="グループ化 375"/>
          <p:cNvGrpSpPr/>
          <p:nvPr/>
        </p:nvGrpSpPr>
        <p:grpSpPr>
          <a:xfrm>
            <a:off x="4301997" y="2114452"/>
            <a:ext cx="630007" cy="360000"/>
            <a:chOff x="971600" y="5445224"/>
            <a:chExt cx="7200800" cy="576064"/>
          </a:xfrm>
        </p:grpSpPr>
        <p:sp>
          <p:nvSpPr>
            <p:cNvPr id="377" name="平行四辺形 37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8" name="平行四辺形 37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79" name="グループ化 378"/>
          <p:cNvGrpSpPr/>
          <p:nvPr/>
        </p:nvGrpSpPr>
        <p:grpSpPr>
          <a:xfrm>
            <a:off x="4842003" y="2114452"/>
            <a:ext cx="630007" cy="360000"/>
            <a:chOff x="971600" y="5445224"/>
            <a:chExt cx="7200800" cy="576064"/>
          </a:xfrm>
        </p:grpSpPr>
        <p:sp>
          <p:nvSpPr>
            <p:cNvPr id="380" name="平行四辺形 37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81" name="平行四辺形 38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2" name="グループ化 381"/>
          <p:cNvGrpSpPr/>
          <p:nvPr/>
        </p:nvGrpSpPr>
        <p:grpSpPr>
          <a:xfrm>
            <a:off x="5382009" y="2114452"/>
            <a:ext cx="630007" cy="360000"/>
            <a:chOff x="971600" y="5445224"/>
            <a:chExt cx="7200800" cy="576064"/>
          </a:xfrm>
        </p:grpSpPr>
        <p:sp>
          <p:nvSpPr>
            <p:cNvPr id="383" name="平行四辺形 3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84" name="平行四辺形 38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5" name="グループ化 384"/>
          <p:cNvGrpSpPr/>
          <p:nvPr/>
        </p:nvGrpSpPr>
        <p:grpSpPr>
          <a:xfrm>
            <a:off x="5922015" y="2114452"/>
            <a:ext cx="630007" cy="360000"/>
            <a:chOff x="971600" y="5445224"/>
            <a:chExt cx="7200800" cy="576064"/>
          </a:xfrm>
        </p:grpSpPr>
        <p:sp>
          <p:nvSpPr>
            <p:cNvPr id="386" name="平行四辺形 38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87" name="平行四辺形 38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88" name="グループ化 387"/>
          <p:cNvGrpSpPr/>
          <p:nvPr/>
        </p:nvGrpSpPr>
        <p:grpSpPr>
          <a:xfrm>
            <a:off x="6462021" y="2114452"/>
            <a:ext cx="630007" cy="360000"/>
            <a:chOff x="971600" y="5445224"/>
            <a:chExt cx="7200800" cy="576064"/>
          </a:xfrm>
        </p:grpSpPr>
        <p:sp>
          <p:nvSpPr>
            <p:cNvPr id="389" name="平行四辺形 38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90" name="平行四辺形 38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91" name="グループ化 390"/>
          <p:cNvGrpSpPr/>
          <p:nvPr/>
        </p:nvGrpSpPr>
        <p:grpSpPr>
          <a:xfrm>
            <a:off x="7002027" y="2114452"/>
            <a:ext cx="630007" cy="360000"/>
            <a:chOff x="971600" y="5445224"/>
            <a:chExt cx="7200800" cy="576064"/>
          </a:xfrm>
        </p:grpSpPr>
        <p:sp>
          <p:nvSpPr>
            <p:cNvPr id="392" name="平行四辺形 39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93" name="平行四辺形 39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94" name="グループ化 393"/>
          <p:cNvGrpSpPr/>
          <p:nvPr/>
        </p:nvGrpSpPr>
        <p:grpSpPr>
          <a:xfrm>
            <a:off x="7542033" y="2114452"/>
            <a:ext cx="630007" cy="360000"/>
            <a:chOff x="971600" y="5445224"/>
            <a:chExt cx="7200800" cy="576064"/>
          </a:xfrm>
        </p:grpSpPr>
        <p:sp>
          <p:nvSpPr>
            <p:cNvPr id="395" name="平行四辺形 39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96" name="平行四辺形 39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397" name="グループ化 396"/>
          <p:cNvGrpSpPr/>
          <p:nvPr/>
        </p:nvGrpSpPr>
        <p:grpSpPr>
          <a:xfrm>
            <a:off x="1601967" y="2654458"/>
            <a:ext cx="630007" cy="360000"/>
            <a:chOff x="971600" y="5445224"/>
            <a:chExt cx="7200800" cy="576064"/>
          </a:xfrm>
        </p:grpSpPr>
        <p:sp>
          <p:nvSpPr>
            <p:cNvPr id="398" name="平行四辺形 39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99" name="平行四辺形 39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00" name="グループ化 399"/>
          <p:cNvGrpSpPr/>
          <p:nvPr/>
        </p:nvGrpSpPr>
        <p:grpSpPr>
          <a:xfrm>
            <a:off x="2141973" y="2654458"/>
            <a:ext cx="630007" cy="360000"/>
            <a:chOff x="971600" y="5445224"/>
            <a:chExt cx="7200800" cy="576064"/>
          </a:xfrm>
        </p:grpSpPr>
        <p:sp>
          <p:nvSpPr>
            <p:cNvPr id="401" name="平行四辺形 4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02" name="平行四辺形 40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03" name="グループ化 402"/>
          <p:cNvGrpSpPr/>
          <p:nvPr/>
        </p:nvGrpSpPr>
        <p:grpSpPr>
          <a:xfrm>
            <a:off x="2681979" y="2654458"/>
            <a:ext cx="630007" cy="360000"/>
            <a:chOff x="971600" y="5445224"/>
            <a:chExt cx="7200800" cy="576064"/>
          </a:xfrm>
        </p:grpSpPr>
        <p:sp>
          <p:nvSpPr>
            <p:cNvPr id="404" name="平行四辺形 4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05" name="平行四辺形 40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06" name="グループ化 405"/>
          <p:cNvGrpSpPr/>
          <p:nvPr/>
        </p:nvGrpSpPr>
        <p:grpSpPr>
          <a:xfrm>
            <a:off x="3221985" y="2654458"/>
            <a:ext cx="630007" cy="360000"/>
            <a:chOff x="971600" y="5445224"/>
            <a:chExt cx="7200800" cy="576064"/>
          </a:xfrm>
        </p:grpSpPr>
        <p:sp>
          <p:nvSpPr>
            <p:cNvPr id="407" name="平行四辺形 40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08" name="平行四辺形 40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09" name="グループ化 408"/>
          <p:cNvGrpSpPr/>
          <p:nvPr/>
        </p:nvGrpSpPr>
        <p:grpSpPr>
          <a:xfrm>
            <a:off x="3761991" y="2654458"/>
            <a:ext cx="630007" cy="360000"/>
            <a:chOff x="971600" y="5445224"/>
            <a:chExt cx="7200800" cy="576064"/>
          </a:xfrm>
        </p:grpSpPr>
        <p:sp>
          <p:nvSpPr>
            <p:cNvPr id="410" name="平行四辺形 40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11" name="平行四辺形 41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12" name="グループ化 411"/>
          <p:cNvGrpSpPr/>
          <p:nvPr/>
        </p:nvGrpSpPr>
        <p:grpSpPr>
          <a:xfrm>
            <a:off x="4301997" y="2654458"/>
            <a:ext cx="630007" cy="360000"/>
            <a:chOff x="971600" y="5445224"/>
            <a:chExt cx="7200800" cy="576064"/>
          </a:xfrm>
        </p:grpSpPr>
        <p:sp>
          <p:nvSpPr>
            <p:cNvPr id="413" name="平行四辺形 41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14" name="平行四辺形 41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15" name="グループ化 414"/>
          <p:cNvGrpSpPr/>
          <p:nvPr/>
        </p:nvGrpSpPr>
        <p:grpSpPr>
          <a:xfrm>
            <a:off x="4842003" y="2654458"/>
            <a:ext cx="630007" cy="360000"/>
            <a:chOff x="971600" y="5445224"/>
            <a:chExt cx="7200800" cy="576064"/>
          </a:xfrm>
        </p:grpSpPr>
        <p:sp>
          <p:nvSpPr>
            <p:cNvPr id="416" name="平行四辺形 41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17" name="平行四辺形 41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18" name="グループ化 417"/>
          <p:cNvGrpSpPr/>
          <p:nvPr/>
        </p:nvGrpSpPr>
        <p:grpSpPr>
          <a:xfrm>
            <a:off x="5382009" y="2654458"/>
            <a:ext cx="630007" cy="360000"/>
            <a:chOff x="971600" y="5445224"/>
            <a:chExt cx="7200800" cy="576064"/>
          </a:xfrm>
        </p:grpSpPr>
        <p:sp>
          <p:nvSpPr>
            <p:cNvPr id="419" name="平行四辺形 41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0" name="平行四辺形 41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21" name="グループ化 420"/>
          <p:cNvGrpSpPr/>
          <p:nvPr/>
        </p:nvGrpSpPr>
        <p:grpSpPr>
          <a:xfrm>
            <a:off x="5922015" y="2654458"/>
            <a:ext cx="630007" cy="360000"/>
            <a:chOff x="971600" y="5445224"/>
            <a:chExt cx="7200800" cy="576064"/>
          </a:xfrm>
        </p:grpSpPr>
        <p:sp>
          <p:nvSpPr>
            <p:cNvPr id="422" name="平行四辺形 42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3" name="平行四辺形 42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24" name="グループ化 423"/>
          <p:cNvGrpSpPr/>
          <p:nvPr/>
        </p:nvGrpSpPr>
        <p:grpSpPr>
          <a:xfrm>
            <a:off x="6462021" y="2654458"/>
            <a:ext cx="630007" cy="360000"/>
            <a:chOff x="971600" y="5445224"/>
            <a:chExt cx="7200800" cy="576064"/>
          </a:xfrm>
        </p:grpSpPr>
        <p:sp>
          <p:nvSpPr>
            <p:cNvPr id="425" name="平行四辺形 42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6" name="平行四辺形 42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27" name="グループ化 426"/>
          <p:cNvGrpSpPr/>
          <p:nvPr/>
        </p:nvGrpSpPr>
        <p:grpSpPr>
          <a:xfrm>
            <a:off x="7002027" y="2654458"/>
            <a:ext cx="630007" cy="360000"/>
            <a:chOff x="971600" y="5445224"/>
            <a:chExt cx="7200800" cy="576064"/>
          </a:xfrm>
        </p:grpSpPr>
        <p:sp>
          <p:nvSpPr>
            <p:cNvPr id="428" name="平行四辺形 42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9" name="平行四辺形 42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30" name="グループ化 429"/>
          <p:cNvGrpSpPr/>
          <p:nvPr/>
        </p:nvGrpSpPr>
        <p:grpSpPr>
          <a:xfrm>
            <a:off x="7542033" y="2654458"/>
            <a:ext cx="630007" cy="360000"/>
            <a:chOff x="971600" y="5445224"/>
            <a:chExt cx="7200800" cy="576064"/>
          </a:xfrm>
        </p:grpSpPr>
        <p:sp>
          <p:nvSpPr>
            <p:cNvPr id="431" name="平行四辺形 43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32" name="平行四辺形 43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33" name="グループ化 432"/>
          <p:cNvGrpSpPr/>
          <p:nvPr/>
        </p:nvGrpSpPr>
        <p:grpSpPr>
          <a:xfrm>
            <a:off x="1601967" y="3194464"/>
            <a:ext cx="630007" cy="360000"/>
            <a:chOff x="971600" y="5445224"/>
            <a:chExt cx="7200800" cy="576064"/>
          </a:xfrm>
        </p:grpSpPr>
        <p:sp>
          <p:nvSpPr>
            <p:cNvPr id="434" name="平行四辺形 43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35" name="平行四辺形 43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36" name="グループ化 435"/>
          <p:cNvGrpSpPr/>
          <p:nvPr/>
        </p:nvGrpSpPr>
        <p:grpSpPr>
          <a:xfrm>
            <a:off x="2141973" y="3194464"/>
            <a:ext cx="630007" cy="360000"/>
            <a:chOff x="971600" y="5445224"/>
            <a:chExt cx="7200800" cy="576064"/>
          </a:xfrm>
        </p:grpSpPr>
        <p:sp>
          <p:nvSpPr>
            <p:cNvPr id="437" name="平行四辺形 43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38" name="平行四辺形 43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39" name="グループ化 438"/>
          <p:cNvGrpSpPr/>
          <p:nvPr/>
        </p:nvGrpSpPr>
        <p:grpSpPr>
          <a:xfrm>
            <a:off x="2681979" y="3194464"/>
            <a:ext cx="630007" cy="360000"/>
            <a:chOff x="971600" y="5445224"/>
            <a:chExt cx="7200800" cy="576064"/>
          </a:xfrm>
        </p:grpSpPr>
        <p:sp>
          <p:nvSpPr>
            <p:cNvPr id="440" name="平行四辺形 43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41" name="平行四辺形 44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42" name="グループ化 441"/>
          <p:cNvGrpSpPr/>
          <p:nvPr/>
        </p:nvGrpSpPr>
        <p:grpSpPr>
          <a:xfrm>
            <a:off x="3221985" y="3194464"/>
            <a:ext cx="630007" cy="360000"/>
            <a:chOff x="971600" y="5445224"/>
            <a:chExt cx="7200800" cy="576064"/>
          </a:xfrm>
        </p:grpSpPr>
        <p:sp>
          <p:nvSpPr>
            <p:cNvPr id="443" name="平行四辺形 44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44" name="平行四辺形 44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45" name="グループ化 444"/>
          <p:cNvGrpSpPr/>
          <p:nvPr/>
        </p:nvGrpSpPr>
        <p:grpSpPr>
          <a:xfrm>
            <a:off x="3761991" y="3194464"/>
            <a:ext cx="630007" cy="360000"/>
            <a:chOff x="971600" y="5445224"/>
            <a:chExt cx="7200800" cy="576064"/>
          </a:xfrm>
        </p:grpSpPr>
        <p:sp>
          <p:nvSpPr>
            <p:cNvPr id="446" name="平行四辺形 44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47" name="平行四辺形 44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48" name="グループ化 447"/>
          <p:cNvGrpSpPr/>
          <p:nvPr/>
        </p:nvGrpSpPr>
        <p:grpSpPr>
          <a:xfrm>
            <a:off x="4301997" y="3194464"/>
            <a:ext cx="630007" cy="360000"/>
            <a:chOff x="971600" y="5445224"/>
            <a:chExt cx="7200800" cy="576064"/>
          </a:xfrm>
        </p:grpSpPr>
        <p:sp>
          <p:nvSpPr>
            <p:cNvPr id="449" name="平行四辺形 44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50" name="平行四辺形 44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51" name="グループ化 450"/>
          <p:cNvGrpSpPr/>
          <p:nvPr/>
        </p:nvGrpSpPr>
        <p:grpSpPr>
          <a:xfrm>
            <a:off x="4842003" y="3194464"/>
            <a:ext cx="630007" cy="360000"/>
            <a:chOff x="971600" y="5445224"/>
            <a:chExt cx="7200800" cy="576064"/>
          </a:xfrm>
        </p:grpSpPr>
        <p:sp>
          <p:nvSpPr>
            <p:cNvPr id="452" name="平行四辺形 45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53" name="平行四辺形 45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54" name="グループ化 453"/>
          <p:cNvGrpSpPr/>
          <p:nvPr/>
        </p:nvGrpSpPr>
        <p:grpSpPr>
          <a:xfrm>
            <a:off x="5382009" y="3194464"/>
            <a:ext cx="630007" cy="360000"/>
            <a:chOff x="971600" y="5445224"/>
            <a:chExt cx="7200800" cy="576064"/>
          </a:xfrm>
        </p:grpSpPr>
        <p:sp>
          <p:nvSpPr>
            <p:cNvPr id="455" name="平行四辺形 45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56" name="平行四辺形 45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57" name="グループ化 456"/>
          <p:cNvGrpSpPr/>
          <p:nvPr/>
        </p:nvGrpSpPr>
        <p:grpSpPr>
          <a:xfrm>
            <a:off x="5922015" y="3194464"/>
            <a:ext cx="630007" cy="360000"/>
            <a:chOff x="971600" y="5445224"/>
            <a:chExt cx="7200800" cy="576064"/>
          </a:xfrm>
        </p:grpSpPr>
        <p:sp>
          <p:nvSpPr>
            <p:cNvPr id="458" name="平行四辺形 45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59" name="平行四辺形 45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60" name="グループ化 459"/>
          <p:cNvGrpSpPr/>
          <p:nvPr/>
        </p:nvGrpSpPr>
        <p:grpSpPr>
          <a:xfrm>
            <a:off x="6462021" y="3194464"/>
            <a:ext cx="630007" cy="360000"/>
            <a:chOff x="971600" y="5445224"/>
            <a:chExt cx="7200800" cy="576064"/>
          </a:xfrm>
        </p:grpSpPr>
        <p:sp>
          <p:nvSpPr>
            <p:cNvPr id="461" name="平行四辺形 46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62" name="平行四辺形 46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63" name="グループ化 462"/>
          <p:cNvGrpSpPr/>
          <p:nvPr/>
        </p:nvGrpSpPr>
        <p:grpSpPr>
          <a:xfrm>
            <a:off x="7002027" y="3194464"/>
            <a:ext cx="630007" cy="360000"/>
            <a:chOff x="971600" y="5445224"/>
            <a:chExt cx="7200800" cy="576064"/>
          </a:xfrm>
        </p:grpSpPr>
        <p:sp>
          <p:nvSpPr>
            <p:cNvPr id="464" name="平行四辺形 46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65" name="平行四辺形 46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66" name="グループ化 465"/>
          <p:cNvGrpSpPr/>
          <p:nvPr/>
        </p:nvGrpSpPr>
        <p:grpSpPr>
          <a:xfrm>
            <a:off x="7542033" y="3194464"/>
            <a:ext cx="630007" cy="360000"/>
            <a:chOff x="971600" y="5445224"/>
            <a:chExt cx="7200800" cy="576064"/>
          </a:xfrm>
        </p:grpSpPr>
        <p:sp>
          <p:nvSpPr>
            <p:cNvPr id="467" name="平行四辺形 46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68" name="平行四辺形 46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69" name="グループ化 468"/>
          <p:cNvGrpSpPr/>
          <p:nvPr/>
        </p:nvGrpSpPr>
        <p:grpSpPr>
          <a:xfrm>
            <a:off x="1601967" y="3699007"/>
            <a:ext cx="630007" cy="360000"/>
            <a:chOff x="971600" y="5445224"/>
            <a:chExt cx="7200800" cy="576064"/>
          </a:xfrm>
        </p:grpSpPr>
        <p:sp>
          <p:nvSpPr>
            <p:cNvPr id="470" name="平行四辺形 46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71" name="平行四辺形 47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72" name="グループ化 471"/>
          <p:cNvGrpSpPr/>
          <p:nvPr/>
        </p:nvGrpSpPr>
        <p:grpSpPr>
          <a:xfrm>
            <a:off x="2141973" y="3699007"/>
            <a:ext cx="630007" cy="360000"/>
            <a:chOff x="971600" y="5445224"/>
            <a:chExt cx="7200800" cy="576064"/>
          </a:xfrm>
        </p:grpSpPr>
        <p:sp>
          <p:nvSpPr>
            <p:cNvPr id="473" name="平行四辺形 47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74" name="平行四辺形 47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75" name="グループ化 474"/>
          <p:cNvGrpSpPr/>
          <p:nvPr/>
        </p:nvGrpSpPr>
        <p:grpSpPr>
          <a:xfrm>
            <a:off x="2681979" y="3699007"/>
            <a:ext cx="630007" cy="360000"/>
            <a:chOff x="971600" y="5445224"/>
            <a:chExt cx="7200800" cy="576064"/>
          </a:xfrm>
        </p:grpSpPr>
        <p:sp>
          <p:nvSpPr>
            <p:cNvPr id="476" name="平行四辺形 47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77" name="平行四辺形 47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78" name="グループ化 477"/>
          <p:cNvGrpSpPr/>
          <p:nvPr/>
        </p:nvGrpSpPr>
        <p:grpSpPr>
          <a:xfrm>
            <a:off x="3221985" y="3699007"/>
            <a:ext cx="630007" cy="360000"/>
            <a:chOff x="971600" y="5445224"/>
            <a:chExt cx="7200800" cy="576064"/>
          </a:xfrm>
        </p:grpSpPr>
        <p:sp>
          <p:nvSpPr>
            <p:cNvPr id="479" name="平行四辺形 47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80" name="平行四辺形 47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81" name="グループ化 480"/>
          <p:cNvGrpSpPr/>
          <p:nvPr/>
        </p:nvGrpSpPr>
        <p:grpSpPr>
          <a:xfrm>
            <a:off x="3761991" y="3699007"/>
            <a:ext cx="630007" cy="360000"/>
            <a:chOff x="971600" y="5445224"/>
            <a:chExt cx="7200800" cy="576064"/>
          </a:xfrm>
        </p:grpSpPr>
        <p:sp>
          <p:nvSpPr>
            <p:cNvPr id="482" name="平行四辺形 48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83" name="平行四辺形 48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84" name="グループ化 483"/>
          <p:cNvGrpSpPr/>
          <p:nvPr/>
        </p:nvGrpSpPr>
        <p:grpSpPr>
          <a:xfrm>
            <a:off x="4301997" y="3699007"/>
            <a:ext cx="630007" cy="360000"/>
            <a:chOff x="971600" y="5445224"/>
            <a:chExt cx="7200800" cy="576064"/>
          </a:xfrm>
        </p:grpSpPr>
        <p:sp>
          <p:nvSpPr>
            <p:cNvPr id="485" name="平行四辺形 48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86" name="平行四辺形 48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87" name="グループ化 486"/>
          <p:cNvGrpSpPr/>
          <p:nvPr/>
        </p:nvGrpSpPr>
        <p:grpSpPr>
          <a:xfrm>
            <a:off x="4842003" y="3699007"/>
            <a:ext cx="630007" cy="360000"/>
            <a:chOff x="971600" y="5445224"/>
            <a:chExt cx="7200800" cy="576064"/>
          </a:xfrm>
        </p:grpSpPr>
        <p:sp>
          <p:nvSpPr>
            <p:cNvPr id="488" name="平行四辺形 48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89" name="平行四辺形 48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90" name="グループ化 489"/>
          <p:cNvGrpSpPr/>
          <p:nvPr/>
        </p:nvGrpSpPr>
        <p:grpSpPr>
          <a:xfrm>
            <a:off x="5382009" y="3699007"/>
            <a:ext cx="630007" cy="360000"/>
            <a:chOff x="971600" y="5445224"/>
            <a:chExt cx="7200800" cy="576064"/>
          </a:xfrm>
        </p:grpSpPr>
        <p:sp>
          <p:nvSpPr>
            <p:cNvPr id="491" name="平行四辺形 49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92" name="平行四辺形 49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93" name="グループ化 492"/>
          <p:cNvGrpSpPr/>
          <p:nvPr/>
        </p:nvGrpSpPr>
        <p:grpSpPr>
          <a:xfrm>
            <a:off x="5922015" y="3699007"/>
            <a:ext cx="630007" cy="360000"/>
            <a:chOff x="971600" y="5445224"/>
            <a:chExt cx="7200800" cy="576064"/>
          </a:xfrm>
        </p:grpSpPr>
        <p:sp>
          <p:nvSpPr>
            <p:cNvPr id="494" name="平行四辺形 49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95" name="平行四辺形 49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96" name="グループ化 495"/>
          <p:cNvGrpSpPr/>
          <p:nvPr/>
        </p:nvGrpSpPr>
        <p:grpSpPr>
          <a:xfrm>
            <a:off x="6462021" y="3699007"/>
            <a:ext cx="630007" cy="360000"/>
            <a:chOff x="971600" y="5445224"/>
            <a:chExt cx="7200800" cy="576064"/>
          </a:xfrm>
        </p:grpSpPr>
        <p:sp>
          <p:nvSpPr>
            <p:cNvPr id="497" name="平行四辺形 49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98" name="平行四辺形 49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499" name="グループ化 498"/>
          <p:cNvGrpSpPr/>
          <p:nvPr/>
        </p:nvGrpSpPr>
        <p:grpSpPr>
          <a:xfrm>
            <a:off x="7002027" y="3699007"/>
            <a:ext cx="630007" cy="360000"/>
            <a:chOff x="971600" y="5445224"/>
            <a:chExt cx="7200800" cy="576064"/>
          </a:xfrm>
        </p:grpSpPr>
        <p:sp>
          <p:nvSpPr>
            <p:cNvPr id="500" name="平行四辺形 49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01" name="平行四辺形 50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02" name="グループ化 501"/>
          <p:cNvGrpSpPr/>
          <p:nvPr/>
        </p:nvGrpSpPr>
        <p:grpSpPr>
          <a:xfrm>
            <a:off x="7542033" y="3699007"/>
            <a:ext cx="630007" cy="360000"/>
            <a:chOff x="971600" y="5445224"/>
            <a:chExt cx="7200800" cy="576064"/>
          </a:xfrm>
        </p:grpSpPr>
        <p:sp>
          <p:nvSpPr>
            <p:cNvPr id="503" name="平行四辺形 50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04" name="平行四辺形 50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05" name="グループ化 504"/>
          <p:cNvGrpSpPr/>
          <p:nvPr/>
        </p:nvGrpSpPr>
        <p:grpSpPr>
          <a:xfrm>
            <a:off x="1601967" y="4239013"/>
            <a:ext cx="630007" cy="360000"/>
            <a:chOff x="971600" y="5445224"/>
            <a:chExt cx="7200800" cy="576064"/>
          </a:xfrm>
        </p:grpSpPr>
        <p:sp>
          <p:nvSpPr>
            <p:cNvPr id="506" name="平行四辺形 50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07" name="平行四辺形 50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08" name="グループ化 507"/>
          <p:cNvGrpSpPr/>
          <p:nvPr/>
        </p:nvGrpSpPr>
        <p:grpSpPr>
          <a:xfrm>
            <a:off x="2141973" y="4239013"/>
            <a:ext cx="630007" cy="360000"/>
            <a:chOff x="971600" y="5445224"/>
            <a:chExt cx="7200800" cy="576064"/>
          </a:xfrm>
        </p:grpSpPr>
        <p:sp>
          <p:nvSpPr>
            <p:cNvPr id="509" name="平行四辺形 5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0" name="平行四辺形 50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11" name="グループ化 510"/>
          <p:cNvGrpSpPr/>
          <p:nvPr/>
        </p:nvGrpSpPr>
        <p:grpSpPr>
          <a:xfrm>
            <a:off x="2681979" y="4239013"/>
            <a:ext cx="630007" cy="360000"/>
            <a:chOff x="971600" y="5445224"/>
            <a:chExt cx="7200800" cy="576064"/>
          </a:xfrm>
        </p:grpSpPr>
        <p:sp>
          <p:nvSpPr>
            <p:cNvPr id="512" name="平行四辺形 51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3" name="平行四辺形 51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14" name="グループ化 513"/>
          <p:cNvGrpSpPr/>
          <p:nvPr/>
        </p:nvGrpSpPr>
        <p:grpSpPr>
          <a:xfrm>
            <a:off x="3221985" y="4239013"/>
            <a:ext cx="630007" cy="360000"/>
            <a:chOff x="971600" y="5445224"/>
            <a:chExt cx="7200800" cy="576064"/>
          </a:xfrm>
        </p:grpSpPr>
        <p:sp>
          <p:nvSpPr>
            <p:cNvPr id="515" name="平行四辺形 51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6" name="平行四辺形 51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17" name="グループ化 516"/>
          <p:cNvGrpSpPr/>
          <p:nvPr/>
        </p:nvGrpSpPr>
        <p:grpSpPr>
          <a:xfrm>
            <a:off x="3761991" y="4239013"/>
            <a:ext cx="630007" cy="360000"/>
            <a:chOff x="971600" y="5445224"/>
            <a:chExt cx="7200800" cy="576064"/>
          </a:xfrm>
        </p:grpSpPr>
        <p:sp>
          <p:nvSpPr>
            <p:cNvPr id="518" name="平行四辺形 51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9" name="平行四辺形 51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0" name="グループ化 519"/>
          <p:cNvGrpSpPr/>
          <p:nvPr/>
        </p:nvGrpSpPr>
        <p:grpSpPr>
          <a:xfrm>
            <a:off x="4301997" y="4239013"/>
            <a:ext cx="630007" cy="360000"/>
            <a:chOff x="971600" y="5445224"/>
            <a:chExt cx="7200800" cy="576064"/>
          </a:xfrm>
        </p:grpSpPr>
        <p:sp>
          <p:nvSpPr>
            <p:cNvPr id="521" name="平行四辺形 5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22" name="平行四辺形 5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3" name="グループ化 522"/>
          <p:cNvGrpSpPr/>
          <p:nvPr/>
        </p:nvGrpSpPr>
        <p:grpSpPr>
          <a:xfrm>
            <a:off x="4842003" y="4239013"/>
            <a:ext cx="630007" cy="360000"/>
            <a:chOff x="971600" y="5445224"/>
            <a:chExt cx="7200800" cy="576064"/>
          </a:xfrm>
        </p:grpSpPr>
        <p:sp>
          <p:nvSpPr>
            <p:cNvPr id="524" name="平行四辺形 52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25" name="平行四辺形 52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6" name="グループ化 525"/>
          <p:cNvGrpSpPr/>
          <p:nvPr/>
        </p:nvGrpSpPr>
        <p:grpSpPr>
          <a:xfrm>
            <a:off x="5382009" y="4239013"/>
            <a:ext cx="630007" cy="360000"/>
            <a:chOff x="971600" y="5445224"/>
            <a:chExt cx="7200800" cy="576064"/>
          </a:xfrm>
        </p:grpSpPr>
        <p:sp>
          <p:nvSpPr>
            <p:cNvPr id="527" name="平行四辺形 52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28" name="平行四辺形 52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29" name="グループ化 528"/>
          <p:cNvGrpSpPr/>
          <p:nvPr/>
        </p:nvGrpSpPr>
        <p:grpSpPr>
          <a:xfrm>
            <a:off x="5922015" y="4239013"/>
            <a:ext cx="630007" cy="360000"/>
            <a:chOff x="971600" y="5445224"/>
            <a:chExt cx="7200800" cy="576064"/>
          </a:xfrm>
        </p:grpSpPr>
        <p:sp>
          <p:nvSpPr>
            <p:cNvPr id="530" name="平行四辺形 52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31" name="平行四辺形 53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32" name="グループ化 531"/>
          <p:cNvGrpSpPr/>
          <p:nvPr/>
        </p:nvGrpSpPr>
        <p:grpSpPr>
          <a:xfrm>
            <a:off x="6462021" y="4239013"/>
            <a:ext cx="630007" cy="360000"/>
            <a:chOff x="971600" y="5445224"/>
            <a:chExt cx="7200800" cy="576064"/>
          </a:xfrm>
        </p:grpSpPr>
        <p:sp>
          <p:nvSpPr>
            <p:cNvPr id="533" name="平行四辺形 53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34" name="平行四辺形 53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35" name="グループ化 534"/>
          <p:cNvGrpSpPr/>
          <p:nvPr/>
        </p:nvGrpSpPr>
        <p:grpSpPr>
          <a:xfrm>
            <a:off x="7002027" y="4239013"/>
            <a:ext cx="630007" cy="360000"/>
            <a:chOff x="971600" y="5445224"/>
            <a:chExt cx="7200800" cy="576064"/>
          </a:xfrm>
        </p:grpSpPr>
        <p:sp>
          <p:nvSpPr>
            <p:cNvPr id="536" name="平行四辺形 53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37" name="平行四辺形 5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38" name="グループ化 537"/>
          <p:cNvGrpSpPr/>
          <p:nvPr/>
        </p:nvGrpSpPr>
        <p:grpSpPr>
          <a:xfrm>
            <a:off x="7542033" y="4239013"/>
            <a:ext cx="630007" cy="360000"/>
            <a:chOff x="971600" y="5445224"/>
            <a:chExt cx="7200800" cy="576064"/>
          </a:xfrm>
        </p:grpSpPr>
        <p:sp>
          <p:nvSpPr>
            <p:cNvPr id="539" name="平行四辺形 53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0" name="平行四辺形 53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41" name="グループ化 540"/>
          <p:cNvGrpSpPr/>
          <p:nvPr/>
        </p:nvGrpSpPr>
        <p:grpSpPr>
          <a:xfrm>
            <a:off x="1601967" y="4779019"/>
            <a:ext cx="630007" cy="360000"/>
            <a:chOff x="971600" y="5445224"/>
            <a:chExt cx="7200800" cy="576064"/>
          </a:xfrm>
        </p:grpSpPr>
        <p:sp>
          <p:nvSpPr>
            <p:cNvPr id="542" name="平行四辺形 54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3" name="平行四辺形 54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44" name="グループ化 543"/>
          <p:cNvGrpSpPr/>
          <p:nvPr/>
        </p:nvGrpSpPr>
        <p:grpSpPr>
          <a:xfrm>
            <a:off x="2141973" y="4779019"/>
            <a:ext cx="630007" cy="360000"/>
            <a:chOff x="971600" y="5445224"/>
            <a:chExt cx="7200800" cy="576064"/>
          </a:xfrm>
        </p:grpSpPr>
        <p:sp>
          <p:nvSpPr>
            <p:cNvPr id="545" name="平行四辺形 54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6" name="平行四辺形 54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47" name="グループ化 546"/>
          <p:cNvGrpSpPr/>
          <p:nvPr/>
        </p:nvGrpSpPr>
        <p:grpSpPr>
          <a:xfrm>
            <a:off x="2681979" y="4779019"/>
            <a:ext cx="630007" cy="360000"/>
            <a:chOff x="971600" y="5445224"/>
            <a:chExt cx="7200800" cy="576064"/>
          </a:xfrm>
        </p:grpSpPr>
        <p:sp>
          <p:nvSpPr>
            <p:cNvPr id="548" name="平行四辺形 54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49" name="平行四辺形 54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50" name="グループ化 549"/>
          <p:cNvGrpSpPr/>
          <p:nvPr/>
        </p:nvGrpSpPr>
        <p:grpSpPr>
          <a:xfrm>
            <a:off x="3221985" y="4779019"/>
            <a:ext cx="630007" cy="360000"/>
            <a:chOff x="971600" y="5445224"/>
            <a:chExt cx="7200800" cy="576064"/>
          </a:xfrm>
        </p:grpSpPr>
        <p:sp>
          <p:nvSpPr>
            <p:cNvPr id="551" name="平行四辺形 55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52" name="平行四辺形 55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53" name="グループ化 552"/>
          <p:cNvGrpSpPr/>
          <p:nvPr/>
        </p:nvGrpSpPr>
        <p:grpSpPr>
          <a:xfrm>
            <a:off x="3761991" y="4779019"/>
            <a:ext cx="630007" cy="360000"/>
            <a:chOff x="971600" y="5445224"/>
            <a:chExt cx="7200800" cy="576064"/>
          </a:xfrm>
        </p:grpSpPr>
        <p:sp>
          <p:nvSpPr>
            <p:cNvPr id="554" name="平行四辺形 55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55" name="平行四辺形 55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56" name="グループ化 555"/>
          <p:cNvGrpSpPr/>
          <p:nvPr/>
        </p:nvGrpSpPr>
        <p:grpSpPr>
          <a:xfrm>
            <a:off x="4301997" y="4779019"/>
            <a:ext cx="630007" cy="360000"/>
            <a:chOff x="971600" y="5445224"/>
            <a:chExt cx="7200800" cy="576064"/>
          </a:xfrm>
        </p:grpSpPr>
        <p:sp>
          <p:nvSpPr>
            <p:cNvPr id="557" name="平行四辺形 55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58" name="平行四辺形 55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59" name="グループ化 558"/>
          <p:cNvGrpSpPr/>
          <p:nvPr/>
        </p:nvGrpSpPr>
        <p:grpSpPr>
          <a:xfrm>
            <a:off x="4842003" y="4779019"/>
            <a:ext cx="630007" cy="360000"/>
            <a:chOff x="971600" y="5445224"/>
            <a:chExt cx="7200800" cy="576064"/>
          </a:xfrm>
        </p:grpSpPr>
        <p:sp>
          <p:nvSpPr>
            <p:cNvPr id="560" name="平行四辺形 55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61" name="平行四辺形 56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2" name="グループ化 561"/>
          <p:cNvGrpSpPr/>
          <p:nvPr/>
        </p:nvGrpSpPr>
        <p:grpSpPr>
          <a:xfrm>
            <a:off x="5382009" y="4779019"/>
            <a:ext cx="630007" cy="360000"/>
            <a:chOff x="971600" y="5445224"/>
            <a:chExt cx="7200800" cy="576064"/>
          </a:xfrm>
        </p:grpSpPr>
        <p:sp>
          <p:nvSpPr>
            <p:cNvPr id="563" name="平行四辺形 56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64" name="平行四辺形 56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5" name="グループ化 564"/>
          <p:cNvGrpSpPr/>
          <p:nvPr/>
        </p:nvGrpSpPr>
        <p:grpSpPr>
          <a:xfrm>
            <a:off x="5922015" y="4779019"/>
            <a:ext cx="630007" cy="360000"/>
            <a:chOff x="971600" y="5445224"/>
            <a:chExt cx="7200800" cy="576064"/>
          </a:xfrm>
        </p:grpSpPr>
        <p:sp>
          <p:nvSpPr>
            <p:cNvPr id="566" name="平行四辺形 56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67" name="平行四辺形 56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68" name="グループ化 567"/>
          <p:cNvGrpSpPr/>
          <p:nvPr/>
        </p:nvGrpSpPr>
        <p:grpSpPr>
          <a:xfrm>
            <a:off x="6462021" y="4779019"/>
            <a:ext cx="630007" cy="360000"/>
            <a:chOff x="971600" y="5445224"/>
            <a:chExt cx="7200800" cy="576064"/>
          </a:xfrm>
        </p:grpSpPr>
        <p:sp>
          <p:nvSpPr>
            <p:cNvPr id="569" name="平行四辺形 56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0" name="平行四辺形 56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71" name="グループ化 570"/>
          <p:cNvGrpSpPr/>
          <p:nvPr/>
        </p:nvGrpSpPr>
        <p:grpSpPr>
          <a:xfrm>
            <a:off x="7002027" y="4779019"/>
            <a:ext cx="630007" cy="360000"/>
            <a:chOff x="971600" y="5445224"/>
            <a:chExt cx="7200800" cy="576064"/>
          </a:xfrm>
        </p:grpSpPr>
        <p:sp>
          <p:nvSpPr>
            <p:cNvPr id="572" name="平行四辺形 57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3" name="平行四辺形 57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74" name="グループ化 573"/>
          <p:cNvGrpSpPr/>
          <p:nvPr/>
        </p:nvGrpSpPr>
        <p:grpSpPr>
          <a:xfrm>
            <a:off x="7542033" y="4779019"/>
            <a:ext cx="630007" cy="360000"/>
            <a:chOff x="971600" y="5445224"/>
            <a:chExt cx="7200800" cy="576064"/>
          </a:xfrm>
        </p:grpSpPr>
        <p:sp>
          <p:nvSpPr>
            <p:cNvPr id="575" name="平行四辺形 57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6" name="平行四辺形 57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77" name="グループ化 576"/>
          <p:cNvGrpSpPr/>
          <p:nvPr/>
        </p:nvGrpSpPr>
        <p:grpSpPr>
          <a:xfrm>
            <a:off x="1601967" y="5319025"/>
            <a:ext cx="630007" cy="360000"/>
            <a:chOff x="971600" y="5445224"/>
            <a:chExt cx="7200800" cy="576064"/>
          </a:xfrm>
        </p:grpSpPr>
        <p:sp>
          <p:nvSpPr>
            <p:cNvPr id="578" name="平行四辺形 57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9" name="平行四辺形 57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80" name="グループ化 579"/>
          <p:cNvGrpSpPr/>
          <p:nvPr/>
        </p:nvGrpSpPr>
        <p:grpSpPr>
          <a:xfrm>
            <a:off x="2141973" y="5319025"/>
            <a:ext cx="630007" cy="360000"/>
            <a:chOff x="971600" y="5445224"/>
            <a:chExt cx="7200800" cy="576064"/>
          </a:xfrm>
        </p:grpSpPr>
        <p:sp>
          <p:nvSpPr>
            <p:cNvPr id="581" name="平行四辺形 58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82" name="平行四辺形 58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83" name="グループ化 582"/>
          <p:cNvGrpSpPr/>
          <p:nvPr/>
        </p:nvGrpSpPr>
        <p:grpSpPr>
          <a:xfrm>
            <a:off x="2681979" y="5319025"/>
            <a:ext cx="630007" cy="360000"/>
            <a:chOff x="971600" y="5445224"/>
            <a:chExt cx="7200800" cy="576064"/>
          </a:xfrm>
        </p:grpSpPr>
        <p:sp>
          <p:nvSpPr>
            <p:cNvPr id="584" name="平行四辺形 58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85" name="平行四辺形 584"/>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86" name="グループ化 585"/>
          <p:cNvGrpSpPr/>
          <p:nvPr/>
        </p:nvGrpSpPr>
        <p:grpSpPr>
          <a:xfrm>
            <a:off x="3221985" y="5319025"/>
            <a:ext cx="630007" cy="360000"/>
            <a:chOff x="971600" y="5445224"/>
            <a:chExt cx="7200800" cy="576064"/>
          </a:xfrm>
        </p:grpSpPr>
        <p:sp>
          <p:nvSpPr>
            <p:cNvPr id="587" name="平行四辺形 58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88" name="平行四辺形 58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89" name="グループ化 588"/>
          <p:cNvGrpSpPr/>
          <p:nvPr/>
        </p:nvGrpSpPr>
        <p:grpSpPr>
          <a:xfrm>
            <a:off x="3761991" y="5319025"/>
            <a:ext cx="630007" cy="360000"/>
            <a:chOff x="971600" y="5445224"/>
            <a:chExt cx="7200800" cy="576064"/>
          </a:xfrm>
        </p:grpSpPr>
        <p:sp>
          <p:nvSpPr>
            <p:cNvPr id="590" name="平行四辺形 58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91" name="平行四辺形 59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92" name="グループ化 591"/>
          <p:cNvGrpSpPr/>
          <p:nvPr/>
        </p:nvGrpSpPr>
        <p:grpSpPr>
          <a:xfrm>
            <a:off x="4301997" y="5319025"/>
            <a:ext cx="630007" cy="360000"/>
            <a:chOff x="971600" y="5445224"/>
            <a:chExt cx="7200800" cy="576064"/>
          </a:xfrm>
        </p:grpSpPr>
        <p:sp>
          <p:nvSpPr>
            <p:cNvPr id="593" name="平行四辺形 59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94" name="平行四辺形 593"/>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95" name="グループ化 594"/>
          <p:cNvGrpSpPr/>
          <p:nvPr/>
        </p:nvGrpSpPr>
        <p:grpSpPr>
          <a:xfrm>
            <a:off x="4842003" y="5319025"/>
            <a:ext cx="630007" cy="360000"/>
            <a:chOff x="971600" y="5445224"/>
            <a:chExt cx="7200800" cy="576064"/>
          </a:xfrm>
        </p:grpSpPr>
        <p:sp>
          <p:nvSpPr>
            <p:cNvPr id="596" name="平行四辺形 5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97" name="平行四辺形 59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598" name="グループ化 597"/>
          <p:cNvGrpSpPr/>
          <p:nvPr/>
        </p:nvGrpSpPr>
        <p:grpSpPr>
          <a:xfrm>
            <a:off x="5382009" y="5319025"/>
            <a:ext cx="630007" cy="360000"/>
            <a:chOff x="971600" y="5445224"/>
            <a:chExt cx="7200800" cy="576064"/>
          </a:xfrm>
        </p:grpSpPr>
        <p:sp>
          <p:nvSpPr>
            <p:cNvPr id="599" name="平行四辺形 59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00" name="平行四辺形 599"/>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601" name="グループ化 600"/>
          <p:cNvGrpSpPr/>
          <p:nvPr/>
        </p:nvGrpSpPr>
        <p:grpSpPr>
          <a:xfrm>
            <a:off x="5922015" y="5319025"/>
            <a:ext cx="630007" cy="360000"/>
            <a:chOff x="971600" y="5445224"/>
            <a:chExt cx="7200800" cy="576064"/>
          </a:xfrm>
        </p:grpSpPr>
        <p:sp>
          <p:nvSpPr>
            <p:cNvPr id="602" name="平行四辺形 60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03" name="平行四辺形 60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604" name="グループ化 603"/>
          <p:cNvGrpSpPr/>
          <p:nvPr/>
        </p:nvGrpSpPr>
        <p:grpSpPr>
          <a:xfrm>
            <a:off x="6462021" y="5319025"/>
            <a:ext cx="630007" cy="360000"/>
            <a:chOff x="971600" y="5445224"/>
            <a:chExt cx="7200800" cy="576064"/>
          </a:xfrm>
        </p:grpSpPr>
        <p:sp>
          <p:nvSpPr>
            <p:cNvPr id="605" name="平行四辺形 60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06" name="平行四辺形 60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607" name="グループ化 606"/>
          <p:cNvGrpSpPr/>
          <p:nvPr/>
        </p:nvGrpSpPr>
        <p:grpSpPr>
          <a:xfrm>
            <a:off x="7002027" y="5319025"/>
            <a:ext cx="630007" cy="360000"/>
            <a:chOff x="971600" y="5445224"/>
            <a:chExt cx="7200800" cy="576064"/>
          </a:xfrm>
        </p:grpSpPr>
        <p:sp>
          <p:nvSpPr>
            <p:cNvPr id="608" name="平行四辺形 607"/>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09" name="平行四辺形 608"/>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610" name="グループ化 609"/>
          <p:cNvGrpSpPr/>
          <p:nvPr/>
        </p:nvGrpSpPr>
        <p:grpSpPr>
          <a:xfrm>
            <a:off x="7542033" y="5319025"/>
            <a:ext cx="630007" cy="360000"/>
            <a:chOff x="971600" y="5445224"/>
            <a:chExt cx="7200800" cy="576064"/>
          </a:xfrm>
        </p:grpSpPr>
        <p:sp>
          <p:nvSpPr>
            <p:cNvPr id="611" name="平行四辺形 61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2" name="平行四辺形 61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613" name="正方形/長方形 612"/>
          <p:cNvSpPr/>
          <p:nvPr/>
        </p:nvSpPr>
        <p:spPr>
          <a:xfrm>
            <a:off x="1331964" y="908972"/>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14" name="角丸四角形吹き出し 613"/>
          <p:cNvSpPr/>
          <p:nvPr/>
        </p:nvSpPr>
        <p:spPr bwMode="auto">
          <a:xfrm>
            <a:off x="2321975" y="638969"/>
            <a:ext cx="2160024" cy="612648"/>
          </a:xfrm>
          <a:prstGeom prst="wedgeRoundRectCallout">
            <a:avLst>
              <a:gd name="adj1" fmla="val -67072"/>
              <a:gd name="adj2" fmla="val 49646"/>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65000"/>
                    <a:lumOff val="35000"/>
                  </a:schemeClr>
                </a:solidFill>
                <a:latin typeface="Arial Narrow" panose="020B0606020202030204" pitchFamily="34" charset="0"/>
              </a:rPr>
              <a:t>どうしてこうなった</a:t>
            </a:r>
          </a:p>
        </p:txBody>
      </p:sp>
      <p:sp>
        <p:nvSpPr>
          <p:cNvPr id="615" name="正方形/長方形 614"/>
          <p:cNvSpPr/>
          <p:nvPr/>
        </p:nvSpPr>
        <p:spPr>
          <a:xfrm>
            <a:off x="8206009" y="495901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17" name="角丸四角形 616"/>
          <p:cNvSpPr/>
          <p:nvPr/>
        </p:nvSpPr>
        <p:spPr bwMode="auto">
          <a:xfrm>
            <a:off x="7632034" y="5229020"/>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if …</a:t>
            </a:r>
            <a:endParaRPr kumimoji="1" lang="ja-JP" altLang="en-US" dirty="0">
              <a:latin typeface="Arial Narrow" panose="020B0606020202030204" pitchFamily="34" charset="0"/>
            </a:endParaRPr>
          </a:p>
        </p:txBody>
      </p:sp>
      <p:sp>
        <p:nvSpPr>
          <p:cNvPr id="618" name="角丸四角形 617"/>
          <p:cNvSpPr/>
          <p:nvPr/>
        </p:nvSpPr>
        <p:spPr bwMode="auto">
          <a:xfrm>
            <a:off x="7632034" y="461808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grpSp>
        <p:nvGrpSpPr>
          <p:cNvPr id="713" name="グループ化 712"/>
          <p:cNvGrpSpPr/>
          <p:nvPr/>
        </p:nvGrpSpPr>
        <p:grpSpPr>
          <a:xfrm>
            <a:off x="1691968" y="1429903"/>
            <a:ext cx="6390071" cy="4159121"/>
            <a:chOff x="1691968" y="1429903"/>
            <a:chExt cx="6390071" cy="4159121"/>
          </a:xfrm>
        </p:grpSpPr>
        <p:sp>
          <p:nvSpPr>
            <p:cNvPr id="619" name="角丸四角形 618"/>
            <p:cNvSpPr/>
            <p:nvPr/>
          </p:nvSpPr>
          <p:spPr bwMode="auto">
            <a:xfrm>
              <a:off x="7632034" y="407808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0" name="角丸四角形 619"/>
            <p:cNvSpPr/>
            <p:nvPr/>
          </p:nvSpPr>
          <p:spPr bwMode="auto">
            <a:xfrm>
              <a:off x="7632034" y="353807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1" name="角丸四角形 620"/>
            <p:cNvSpPr/>
            <p:nvPr/>
          </p:nvSpPr>
          <p:spPr bwMode="auto">
            <a:xfrm>
              <a:off x="7632034" y="303353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2" name="角丸四角形 621"/>
            <p:cNvSpPr/>
            <p:nvPr/>
          </p:nvSpPr>
          <p:spPr bwMode="auto">
            <a:xfrm>
              <a:off x="7632034" y="249352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3" name="角丸四角形 622"/>
            <p:cNvSpPr/>
            <p:nvPr/>
          </p:nvSpPr>
          <p:spPr bwMode="auto">
            <a:xfrm>
              <a:off x="7632034" y="195352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4" name="角丸四角形 623"/>
            <p:cNvSpPr/>
            <p:nvPr/>
          </p:nvSpPr>
          <p:spPr bwMode="auto">
            <a:xfrm>
              <a:off x="7632034" y="144897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5" name="角丸四角形 624"/>
            <p:cNvSpPr/>
            <p:nvPr/>
          </p:nvSpPr>
          <p:spPr bwMode="auto">
            <a:xfrm>
              <a:off x="7092028" y="461808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6" name="角丸四角形 625"/>
            <p:cNvSpPr/>
            <p:nvPr/>
          </p:nvSpPr>
          <p:spPr bwMode="auto">
            <a:xfrm>
              <a:off x="7092028" y="407808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7" name="角丸四角形 626"/>
            <p:cNvSpPr/>
            <p:nvPr/>
          </p:nvSpPr>
          <p:spPr bwMode="auto">
            <a:xfrm>
              <a:off x="7092028" y="353807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8" name="角丸四角形 627"/>
            <p:cNvSpPr/>
            <p:nvPr/>
          </p:nvSpPr>
          <p:spPr bwMode="auto">
            <a:xfrm>
              <a:off x="7092028" y="303353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29" name="角丸四角形 628"/>
            <p:cNvSpPr/>
            <p:nvPr/>
          </p:nvSpPr>
          <p:spPr bwMode="auto">
            <a:xfrm>
              <a:off x="7092028" y="249352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0" name="角丸四角形 629"/>
            <p:cNvSpPr/>
            <p:nvPr/>
          </p:nvSpPr>
          <p:spPr bwMode="auto">
            <a:xfrm>
              <a:off x="7092028" y="195352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1" name="角丸四角形 630"/>
            <p:cNvSpPr/>
            <p:nvPr/>
          </p:nvSpPr>
          <p:spPr bwMode="auto">
            <a:xfrm>
              <a:off x="7092028" y="144897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2" name="角丸四角形 631"/>
            <p:cNvSpPr/>
            <p:nvPr/>
          </p:nvSpPr>
          <p:spPr bwMode="auto">
            <a:xfrm>
              <a:off x="7092028" y="5229020"/>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3" name="角丸四角形 632"/>
            <p:cNvSpPr/>
            <p:nvPr/>
          </p:nvSpPr>
          <p:spPr bwMode="auto">
            <a:xfrm>
              <a:off x="6552022" y="461808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4" name="角丸四角形 633"/>
            <p:cNvSpPr/>
            <p:nvPr/>
          </p:nvSpPr>
          <p:spPr bwMode="auto">
            <a:xfrm>
              <a:off x="6552022" y="407808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5" name="角丸四角形 634"/>
            <p:cNvSpPr/>
            <p:nvPr/>
          </p:nvSpPr>
          <p:spPr bwMode="auto">
            <a:xfrm>
              <a:off x="6552022" y="353807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6" name="角丸四角形 635"/>
            <p:cNvSpPr/>
            <p:nvPr/>
          </p:nvSpPr>
          <p:spPr bwMode="auto">
            <a:xfrm>
              <a:off x="6552022" y="303353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7" name="角丸四角形 636"/>
            <p:cNvSpPr/>
            <p:nvPr/>
          </p:nvSpPr>
          <p:spPr bwMode="auto">
            <a:xfrm>
              <a:off x="6552022" y="249352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8" name="角丸四角形 637"/>
            <p:cNvSpPr/>
            <p:nvPr/>
          </p:nvSpPr>
          <p:spPr bwMode="auto">
            <a:xfrm>
              <a:off x="6552022" y="195352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39" name="角丸四角形 638"/>
            <p:cNvSpPr/>
            <p:nvPr/>
          </p:nvSpPr>
          <p:spPr bwMode="auto">
            <a:xfrm>
              <a:off x="6552022" y="144897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0" name="角丸四角形 639"/>
            <p:cNvSpPr/>
            <p:nvPr/>
          </p:nvSpPr>
          <p:spPr bwMode="auto">
            <a:xfrm>
              <a:off x="6552022" y="5229020"/>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1" name="角丸四角形 640"/>
            <p:cNvSpPr/>
            <p:nvPr/>
          </p:nvSpPr>
          <p:spPr bwMode="auto">
            <a:xfrm>
              <a:off x="6012016" y="461808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2" name="角丸四角形 641"/>
            <p:cNvSpPr/>
            <p:nvPr/>
          </p:nvSpPr>
          <p:spPr bwMode="auto">
            <a:xfrm>
              <a:off x="6012016" y="407808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3" name="角丸四角形 642"/>
            <p:cNvSpPr/>
            <p:nvPr/>
          </p:nvSpPr>
          <p:spPr bwMode="auto">
            <a:xfrm>
              <a:off x="6012016" y="353807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4" name="角丸四角形 643"/>
            <p:cNvSpPr/>
            <p:nvPr/>
          </p:nvSpPr>
          <p:spPr bwMode="auto">
            <a:xfrm>
              <a:off x="6012016" y="303353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5" name="角丸四角形 644"/>
            <p:cNvSpPr/>
            <p:nvPr/>
          </p:nvSpPr>
          <p:spPr bwMode="auto">
            <a:xfrm>
              <a:off x="6012016" y="249352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6" name="角丸四角形 645"/>
            <p:cNvSpPr/>
            <p:nvPr/>
          </p:nvSpPr>
          <p:spPr bwMode="auto">
            <a:xfrm>
              <a:off x="6012016" y="195352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7" name="角丸四角形 646"/>
            <p:cNvSpPr/>
            <p:nvPr/>
          </p:nvSpPr>
          <p:spPr bwMode="auto">
            <a:xfrm>
              <a:off x="6012016" y="144897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8" name="角丸四角形 647"/>
            <p:cNvSpPr/>
            <p:nvPr/>
          </p:nvSpPr>
          <p:spPr bwMode="auto">
            <a:xfrm>
              <a:off x="6012016" y="5229020"/>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49" name="角丸四角形 648"/>
            <p:cNvSpPr/>
            <p:nvPr/>
          </p:nvSpPr>
          <p:spPr bwMode="auto">
            <a:xfrm>
              <a:off x="5472010" y="461808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0" name="角丸四角形 649"/>
            <p:cNvSpPr/>
            <p:nvPr/>
          </p:nvSpPr>
          <p:spPr bwMode="auto">
            <a:xfrm>
              <a:off x="5472010" y="407808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1" name="角丸四角形 650"/>
            <p:cNvSpPr/>
            <p:nvPr/>
          </p:nvSpPr>
          <p:spPr bwMode="auto">
            <a:xfrm>
              <a:off x="5472010" y="353807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2" name="角丸四角形 651"/>
            <p:cNvSpPr/>
            <p:nvPr/>
          </p:nvSpPr>
          <p:spPr bwMode="auto">
            <a:xfrm>
              <a:off x="5472010" y="303353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3" name="角丸四角形 652"/>
            <p:cNvSpPr/>
            <p:nvPr/>
          </p:nvSpPr>
          <p:spPr bwMode="auto">
            <a:xfrm>
              <a:off x="5472010" y="249352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4" name="角丸四角形 653"/>
            <p:cNvSpPr/>
            <p:nvPr/>
          </p:nvSpPr>
          <p:spPr bwMode="auto">
            <a:xfrm>
              <a:off x="5472010" y="195352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5" name="角丸四角形 654"/>
            <p:cNvSpPr/>
            <p:nvPr/>
          </p:nvSpPr>
          <p:spPr bwMode="auto">
            <a:xfrm>
              <a:off x="5472010" y="144897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6" name="角丸四角形 655"/>
            <p:cNvSpPr/>
            <p:nvPr/>
          </p:nvSpPr>
          <p:spPr bwMode="auto">
            <a:xfrm>
              <a:off x="5472010" y="5229020"/>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7" name="角丸四角形 656"/>
            <p:cNvSpPr/>
            <p:nvPr/>
          </p:nvSpPr>
          <p:spPr bwMode="auto">
            <a:xfrm>
              <a:off x="4932004"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8" name="角丸四角形 657"/>
            <p:cNvSpPr/>
            <p:nvPr/>
          </p:nvSpPr>
          <p:spPr bwMode="auto">
            <a:xfrm>
              <a:off x="4932004"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59" name="角丸四角形 658"/>
            <p:cNvSpPr/>
            <p:nvPr/>
          </p:nvSpPr>
          <p:spPr bwMode="auto">
            <a:xfrm>
              <a:off x="4932004"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0" name="角丸四角形 659"/>
            <p:cNvSpPr/>
            <p:nvPr/>
          </p:nvSpPr>
          <p:spPr bwMode="auto">
            <a:xfrm>
              <a:off x="4932004"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1" name="角丸四角形 660"/>
            <p:cNvSpPr/>
            <p:nvPr/>
          </p:nvSpPr>
          <p:spPr bwMode="auto">
            <a:xfrm>
              <a:off x="4932004"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2" name="角丸四角形 661"/>
            <p:cNvSpPr/>
            <p:nvPr/>
          </p:nvSpPr>
          <p:spPr bwMode="auto">
            <a:xfrm>
              <a:off x="4932004"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3" name="角丸四角形 662"/>
            <p:cNvSpPr/>
            <p:nvPr/>
          </p:nvSpPr>
          <p:spPr bwMode="auto">
            <a:xfrm>
              <a:off x="4932004"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4" name="角丸四角形 663"/>
            <p:cNvSpPr/>
            <p:nvPr/>
          </p:nvSpPr>
          <p:spPr bwMode="auto">
            <a:xfrm>
              <a:off x="4932004"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5" name="角丸四角形 664"/>
            <p:cNvSpPr/>
            <p:nvPr/>
          </p:nvSpPr>
          <p:spPr bwMode="auto">
            <a:xfrm>
              <a:off x="4391998"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6" name="角丸四角形 665"/>
            <p:cNvSpPr/>
            <p:nvPr/>
          </p:nvSpPr>
          <p:spPr bwMode="auto">
            <a:xfrm>
              <a:off x="4391998"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7" name="角丸四角形 666"/>
            <p:cNvSpPr/>
            <p:nvPr/>
          </p:nvSpPr>
          <p:spPr bwMode="auto">
            <a:xfrm>
              <a:off x="4391998"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8" name="角丸四角形 667"/>
            <p:cNvSpPr/>
            <p:nvPr/>
          </p:nvSpPr>
          <p:spPr bwMode="auto">
            <a:xfrm>
              <a:off x="4391998"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69" name="角丸四角形 668"/>
            <p:cNvSpPr/>
            <p:nvPr/>
          </p:nvSpPr>
          <p:spPr bwMode="auto">
            <a:xfrm>
              <a:off x="4391998"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0" name="角丸四角形 669"/>
            <p:cNvSpPr/>
            <p:nvPr/>
          </p:nvSpPr>
          <p:spPr bwMode="auto">
            <a:xfrm>
              <a:off x="4391998"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1" name="角丸四角形 670"/>
            <p:cNvSpPr/>
            <p:nvPr/>
          </p:nvSpPr>
          <p:spPr bwMode="auto">
            <a:xfrm>
              <a:off x="4391998"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2" name="角丸四角形 671"/>
            <p:cNvSpPr/>
            <p:nvPr/>
          </p:nvSpPr>
          <p:spPr bwMode="auto">
            <a:xfrm>
              <a:off x="4391998"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3" name="角丸四角形 672"/>
            <p:cNvSpPr/>
            <p:nvPr/>
          </p:nvSpPr>
          <p:spPr bwMode="auto">
            <a:xfrm>
              <a:off x="3851992"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4" name="角丸四角形 673"/>
            <p:cNvSpPr/>
            <p:nvPr/>
          </p:nvSpPr>
          <p:spPr bwMode="auto">
            <a:xfrm>
              <a:off x="3851992"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5" name="角丸四角形 674"/>
            <p:cNvSpPr/>
            <p:nvPr/>
          </p:nvSpPr>
          <p:spPr bwMode="auto">
            <a:xfrm>
              <a:off x="3851992"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6" name="角丸四角形 675"/>
            <p:cNvSpPr/>
            <p:nvPr/>
          </p:nvSpPr>
          <p:spPr bwMode="auto">
            <a:xfrm>
              <a:off x="3851992"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7" name="角丸四角形 676"/>
            <p:cNvSpPr/>
            <p:nvPr/>
          </p:nvSpPr>
          <p:spPr bwMode="auto">
            <a:xfrm>
              <a:off x="3851992"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8" name="角丸四角形 677"/>
            <p:cNvSpPr/>
            <p:nvPr/>
          </p:nvSpPr>
          <p:spPr bwMode="auto">
            <a:xfrm>
              <a:off x="3851992"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79" name="角丸四角形 678"/>
            <p:cNvSpPr/>
            <p:nvPr/>
          </p:nvSpPr>
          <p:spPr bwMode="auto">
            <a:xfrm>
              <a:off x="3851992"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0" name="角丸四角形 679"/>
            <p:cNvSpPr/>
            <p:nvPr/>
          </p:nvSpPr>
          <p:spPr bwMode="auto">
            <a:xfrm>
              <a:off x="3851992"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1" name="角丸四角形 680"/>
            <p:cNvSpPr/>
            <p:nvPr/>
          </p:nvSpPr>
          <p:spPr bwMode="auto">
            <a:xfrm>
              <a:off x="3311986"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2" name="角丸四角形 681"/>
            <p:cNvSpPr/>
            <p:nvPr/>
          </p:nvSpPr>
          <p:spPr bwMode="auto">
            <a:xfrm>
              <a:off x="3311986"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3" name="角丸四角形 682"/>
            <p:cNvSpPr/>
            <p:nvPr/>
          </p:nvSpPr>
          <p:spPr bwMode="auto">
            <a:xfrm>
              <a:off x="3311986"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4" name="角丸四角形 683"/>
            <p:cNvSpPr/>
            <p:nvPr/>
          </p:nvSpPr>
          <p:spPr bwMode="auto">
            <a:xfrm>
              <a:off x="3311986"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5" name="角丸四角形 684"/>
            <p:cNvSpPr/>
            <p:nvPr/>
          </p:nvSpPr>
          <p:spPr bwMode="auto">
            <a:xfrm>
              <a:off x="3311986"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6" name="角丸四角形 685"/>
            <p:cNvSpPr/>
            <p:nvPr/>
          </p:nvSpPr>
          <p:spPr bwMode="auto">
            <a:xfrm>
              <a:off x="3311986"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7" name="角丸四角形 686"/>
            <p:cNvSpPr/>
            <p:nvPr/>
          </p:nvSpPr>
          <p:spPr bwMode="auto">
            <a:xfrm>
              <a:off x="3311986"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8" name="角丸四角形 687"/>
            <p:cNvSpPr/>
            <p:nvPr/>
          </p:nvSpPr>
          <p:spPr bwMode="auto">
            <a:xfrm>
              <a:off x="3311986"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89" name="角丸四角形 688"/>
            <p:cNvSpPr/>
            <p:nvPr/>
          </p:nvSpPr>
          <p:spPr bwMode="auto">
            <a:xfrm>
              <a:off x="2771980"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0" name="角丸四角形 689"/>
            <p:cNvSpPr/>
            <p:nvPr/>
          </p:nvSpPr>
          <p:spPr bwMode="auto">
            <a:xfrm>
              <a:off x="2771980"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1" name="角丸四角形 690"/>
            <p:cNvSpPr/>
            <p:nvPr/>
          </p:nvSpPr>
          <p:spPr bwMode="auto">
            <a:xfrm>
              <a:off x="2771980"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2" name="角丸四角形 691"/>
            <p:cNvSpPr/>
            <p:nvPr/>
          </p:nvSpPr>
          <p:spPr bwMode="auto">
            <a:xfrm>
              <a:off x="2771980"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3" name="角丸四角形 692"/>
            <p:cNvSpPr/>
            <p:nvPr/>
          </p:nvSpPr>
          <p:spPr bwMode="auto">
            <a:xfrm>
              <a:off x="2771980"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4" name="角丸四角形 693"/>
            <p:cNvSpPr/>
            <p:nvPr/>
          </p:nvSpPr>
          <p:spPr bwMode="auto">
            <a:xfrm>
              <a:off x="2771980"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5" name="角丸四角形 694"/>
            <p:cNvSpPr/>
            <p:nvPr/>
          </p:nvSpPr>
          <p:spPr bwMode="auto">
            <a:xfrm>
              <a:off x="2771980"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6" name="角丸四角形 695"/>
            <p:cNvSpPr/>
            <p:nvPr/>
          </p:nvSpPr>
          <p:spPr bwMode="auto">
            <a:xfrm>
              <a:off x="2771980"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7" name="角丸四角形 696"/>
            <p:cNvSpPr/>
            <p:nvPr/>
          </p:nvSpPr>
          <p:spPr bwMode="auto">
            <a:xfrm>
              <a:off x="2231974"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8" name="角丸四角形 697"/>
            <p:cNvSpPr/>
            <p:nvPr/>
          </p:nvSpPr>
          <p:spPr bwMode="auto">
            <a:xfrm>
              <a:off x="2231974"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699" name="角丸四角形 698"/>
            <p:cNvSpPr/>
            <p:nvPr/>
          </p:nvSpPr>
          <p:spPr bwMode="auto">
            <a:xfrm>
              <a:off x="2231974"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0" name="角丸四角形 699"/>
            <p:cNvSpPr/>
            <p:nvPr/>
          </p:nvSpPr>
          <p:spPr bwMode="auto">
            <a:xfrm>
              <a:off x="2231974"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1" name="角丸四角形 700"/>
            <p:cNvSpPr/>
            <p:nvPr/>
          </p:nvSpPr>
          <p:spPr bwMode="auto">
            <a:xfrm>
              <a:off x="2231974"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2" name="角丸四角形 701"/>
            <p:cNvSpPr/>
            <p:nvPr/>
          </p:nvSpPr>
          <p:spPr bwMode="auto">
            <a:xfrm>
              <a:off x="2231974"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3" name="角丸四角形 702"/>
            <p:cNvSpPr/>
            <p:nvPr/>
          </p:nvSpPr>
          <p:spPr bwMode="auto">
            <a:xfrm>
              <a:off x="2231974"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4" name="角丸四角形 703"/>
            <p:cNvSpPr/>
            <p:nvPr/>
          </p:nvSpPr>
          <p:spPr bwMode="auto">
            <a:xfrm>
              <a:off x="2231974"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5" name="角丸四角形 704"/>
            <p:cNvSpPr/>
            <p:nvPr/>
          </p:nvSpPr>
          <p:spPr bwMode="auto">
            <a:xfrm>
              <a:off x="1691968" y="459901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6" name="角丸四角形 705"/>
            <p:cNvSpPr/>
            <p:nvPr/>
          </p:nvSpPr>
          <p:spPr bwMode="auto">
            <a:xfrm>
              <a:off x="1691968" y="4059007"/>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7" name="角丸四角形 706"/>
            <p:cNvSpPr/>
            <p:nvPr/>
          </p:nvSpPr>
          <p:spPr bwMode="auto">
            <a:xfrm>
              <a:off x="1691968" y="3519001"/>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8" name="角丸四角形 707"/>
            <p:cNvSpPr/>
            <p:nvPr/>
          </p:nvSpPr>
          <p:spPr bwMode="auto">
            <a:xfrm>
              <a:off x="1691968" y="3014458"/>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09" name="角丸四角形 708"/>
            <p:cNvSpPr/>
            <p:nvPr/>
          </p:nvSpPr>
          <p:spPr bwMode="auto">
            <a:xfrm>
              <a:off x="1691968" y="2474452"/>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10" name="角丸四角形 709"/>
            <p:cNvSpPr/>
            <p:nvPr/>
          </p:nvSpPr>
          <p:spPr bwMode="auto">
            <a:xfrm>
              <a:off x="1691968" y="1934446"/>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11" name="角丸四角形 710"/>
            <p:cNvSpPr/>
            <p:nvPr/>
          </p:nvSpPr>
          <p:spPr bwMode="auto">
            <a:xfrm>
              <a:off x="1691968" y="1429903"/>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sp>
          <p:nvSpPr>
            <p:cNvPr id="712" name="角丸四角形 711"/>
            <p:cNvSpPr/>
            <p:nvPr/>
          </p:nvSpPr>
          <p:spPr bwMode="auto">
            <a:xfrm>
              <a:off x="1691968" y="5209945"/>
              <a:ext cx="450005" cy="360004"/>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kumimoji="1" lang="ja-JP" altLang="en-US" dirty="0">
                <a:latin typeface="Arial Narrow" panose="020B0606020202030204" pitchFamily="34" charset="0"/>
              </a:endParaRPr>
            </a:p>
          </p:txBody>
        </p:sp>
      </p:grpSp>
      <p:sp>
        <p:nvSpPr>
          <p:cNvPr id="616" name="角丸四角形吹き出し 615"/>
          <p:cNvSpPr/>
          <p:nvPr/>
        </p:nvSpPr>
        <p:spPr bwMode="auto">
          <a:xfrm>
            <a:off x="6102017" y="4329010"/>
            <a:ext cx="2430027" cy="612648"/>
          </a:xfrm>
          <a:prstGeom prst="wedgeRoundRectCallout">
            <a:avLst>
              <a:gd name="adj1" fmla="val 39915"/>
              <a:gd name="adj2" fmla="val 10039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65000"/>
                    <a:lumOff val="35000"/>
                  </a:schemeClr>
                </a:solidFill>
                <a:latin typeface="Arial Narrow" panose="020B0606020202030204" pitchFamily="34" charset="0"/>
              </a:rPr>
              <a:t>やってしまいましたなぁ</a:t>
            </a:r>
          </a:p>
        </p:txBody>
      </p:sp>
    </p:spTree>
    <p:extLst>
      <p:ext uri="{BB962C8B-B14F-4D97-AF65-F5344CB8AC3E}">
        <p14:creationId xmlns:p14="http://schemas.microsoft.com/office/powerpoint/2010/main" val="36131817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713"/>
                                        </p:tgtEl>
                                      </p:cBhvr>
                                    </p:animEffect>
                                    <p:anim calcmode="lin" valueType="num">
                                      <p:cBhvr>
                                        <p:cTn id="7" dur="1000"/>
                                        <p:tgtEl>
                                          <p:spTgt spid="713"/>
                                        </p:tgtEl>
                                        <p:attrNameLst>
                                          <p:attrName>ppt_x</p:attrName>
                                        </p:attrNameLst>
                                      </p:cBhvr>
                                      <p:tavLst>
                                        <p:tav tm="0">
                                          <p:val>
                                            <p:strVal val="ppt_x"/>
                                          </p:val>
                                        </p:tav>
                                        <p:tav tm="100000">
                                          <p:val>
                                            <p:strVal val="ppt_x"/>
                                          </p:val>
                                        </p:tav>
                                      </p:tavLst>
                                    </p:anim>
                                    <p:anim calcmode="lin" valueType="num">
                                      <p:cBhvr>
                                        <p:cTn id="8" dur="1000"/>
                                        <p:tgtEl>
                                          <p:spTgt spid="713"/>
                                        </p:tgtEl>
                                        <p:attrNameLst>
                                          <p:attrName>ppt_y</p:attrName>
                                        </p:attrNameLst>
                                      </p:cBhvr>
                                      <p:tavLst>
                                        <p:tav tm="0">
                                          <p:val>
                                            <p:strVal val="ppt_y"/>
                                          </p:val>
                                        </p:tav>
                                        <p:tav tm="100000">
                                          <p:val>
                                            <p:strVal val="ppt_y+.1"/>
                                          </p:val>
                                        </p:tav>
                                      </p:tavLst>
                                    </p:anim>
                                    <p:set>
                                      <p:cBhvr>
                                        <p:cTn id="9" dur="1" fill="hold">
                                          <p:stCondLst>
                                            <p:cond delay="999"/>
                                          </p:stCondLst>
                                        </p:cTn>
                                        <p:tgtEl>
                                          <p:spTgt spid="7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5C36FA-4923-9F9A-9B2E-3AD9A2E9DE72}"/>
              </a:ext>
            </a:extLst>
          </p:cNvPr>
          <p:cNvSpPr>
            <a:spLocks noGrp="1"/>
          </p:cNvSpPr>
          <p:nvPr>
            <p:ph type="title"/>
          </p:nvPr>
        </p:nvSpPr>
        <p:spPr/>
        <p:txBody>
          <a:bodyPr/>
          <a:lstStyle/>
          <a:p>
            <a:r>
              <a:rPr kumimoji="1" lang="ja-JP" altLang="en-US" dirty="0"/>
              <a:t>分岐予測のアルゴリズム</a:t>
            </a:r>
            <a:endParaRPr kumimoji="1" lang="en-US" dirty="0"/>
          </a:p>
        </p:txBody>
      </p:sp>
      <p:sp>
        <p:nvSpPr>
          <p:cNvPr id="3" name="コンテンツ プレースホルダー 2">
            <a:extLst>
              <a:ext uri="{FF2B5EF4-FFF2-40B4-BE49-F238E27FC236}">
                <a16:creationId xmlns:a16="http://schemas.microsoft.com/office/drawing/2014/main" id="{3E229215-1F13-D6B9-EF86-F917FBA59DDA}"/>
              </a:ext>
            </a:extLst>
          </p:cNvPr>
          <p:cNvSpPr>
            <a:spLocks noGrp="1"/>
          </p:cNvSpPr>
          <p:nvPr>
            <p:ph sz="quarter" idx="10"/>
          </p:nvPr>
        </p:nvSpPr>
        <p:spPr>
          <a:xfrm>
            <a:off x="431954" y="3248998"/>
            <a:ext cx="8280092" cy="1530017"/>
          </a:xfrm>
        </p:spPr>
        <p:txBody>
          <a:bodyPr anchor="t"/>
          <a:lstStyle/>
          <a:p>
            <a:r>
              <a:rPr lang="en-US" altLang="ja-JP" sz="1800" dirty="0"/>
              <a:t>André Seznec </a:t>
            </a:r>
            <a:r>
              <a:rPr lang="ja-JP" altLang="en-US" sz="1800" dirty="0"/>
              <a:t>先生が作った </a:t>
            </a:r>
            <a:r>
              <a:rPr lang="en-US" altLang="ja-JP" sz="1800" dirty="0"/>
              <a:t>TAGE </a:t>
            </a:r>
            <a:r>
              <a:rPr lang="ja-JP" altLang="en-US" sz="1800" dirty="0"/>
              <a:t>という予測器が</a:t>
            </a:r>
            <a:br>
              <a:rPr lang="en-US" altLang="ja-JP" sz="1800" dirty="0"/>
            </a:br>
            <a:r>
              <a:rPr lang="ja-JP" altLang="en-US" sz="1800" dirty="0"/>
              <a:t>現在最も予測精度が高いと言われている</a:t>
            </a:r>
            <a:endParaRPr lang="en-US" altLang="ja-JP" sz="1800" dirty="0"/>
          </a:p>
          <a:p>
            <a:pPr lvl="1"/>
            <a:r>
              <a:rPr lang="en-US" altLang="ja-JP" sz="1400" i="1" dirty="0"/>
              <a:t>A. Seznec and P. Michaud. A case for (partially)-tagged geometric history length predictors, Journal of Instruction Level Parallelism (http://www.jilp.org/vol8), 2006</a:t>
            </a:r>
            <a:endParaRPr lang="en-US" altLang="ja-JP" sz="1800" dirty="0"/>
          </a:p>
          <a:p>
            <a:pPr lvl="1"/>
            <a:r>
              <a:rPr lang="ja-JP" altLang="en-US" sz="1800" dirty="0"/>
              <a:t>写真 は </a:t>
            </a:r>
            <a:r>
              <a:rPr lang="en-US" sz="1800" dirty="0">
                <a:hlinkClick r:id="rId2"/>
              </a:rPr>
              <a:t>https://team.inria.fr/pacap/members/andre-seznec/</a:t>
            </a:r>
            <a:r>
              <a:rPr lang="en-US" sz="1800" dirty="0"/>
              <a:t> </a:t>
            </a:r>
            <a:r>
              <a:rPr lang="ja-JP" altLang="en-US" sz="1800" dirty="0"/>
              <a:t>より</a:t>
            </a:r>
            <a:endParaRPr lang="en-US" altLang="ja-JP" sz="1800" dirty="0"/>
          </a:p>
          <a:p>
            <a:r>
              <a:rPr kumimoji="1" lang="en-US" altLang="ja-JP" sz="1800" dirty="0"/>
              <a:t>Championship Branch Prediction </a:t>
            </a:r>
            <a:r>
              <a:rPr kumimoji="1" lang="ja-JP" altLang="en-US" sz="1800" dirty="0"/>
              <a:t>と言う大会がある</a:t>
            </a:r>
            <a:endParaRPr kumimoji="1" lang="en-US" altLang="ja-JP" sz="1800" dirty="0"/>
          </a:p>
          <a:p>
            <a:pPr lvl="1"/>
            <a:r>
              <a:rPr kumimoji="1" lang="ja-JP" altLang="en-US" sz="1800" dirty="0"/>
              <a:t>分岐予測は，この大会で出た様々なアイデアを元に発展してきた</a:t>
            </a:r>
            <a:endParaRPr kumimoji="1" lang="en-US" altLang="ja-JP" sz="1800" dirty="0"/>
          </a:p>
          <a:p>
            <a:pPr lvl="1"/>
            <a:r>
              <a:rPr lang="en-US" altLang="ja-JP" sz="1800" dirty="0"/>
              <a:t>Seznec </a:t>
            </a:r>
            <a:r>
              <a:rPr lang="ja-JP" altLang="en-US" sz="1800" dirty="0"/>
              <a:t>先生がもうずっと優勝し続けてる</a:t>
            </a:r>
            <a:endParaRPr lang="en-US" altLang="ja-JP" sz="1800" dirty="0"/>
          </a:p>
          <a:p>
            <a:pPr lvl="1"/>
            <a:r>
              <a:rPr kumimoji="1" lang="ja-JP" altLang="en-US" sz="1800" dirty="0"/>
              <a:t>今年は久々に開催されるので，塩谷も挑戦</a:t>
            </a:r>
            <a:endParaRPr kumimoji="1" lang="en-US" altLang="ja-JP" sz="1800" dirty="0"/>
          </a:p>
        </p:txBody>
      </p:sp>
      <p:pic>
        <p:nvPicPr>
          <p:cNvPr id="5" name="Picture 2" descr="André Seznec">
            <a:extLst>
              <a:ext uri="{FF2B5EF4-FFF2-40B4-BE49-F238E27FC236}">
                <a16:creationId xmlns:a16="http://schemas.microsoft.com/office/drawing/2014/main" id="{E9F29D1A-5CC8-69E9-F12E-7DF2478741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02017" y="368966"/>
            <a:ext cx="1806747" cy="2709179"/>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2520A811-1F7C-0361-14AE-F7D51B8C2274}"/>
              </a:ext>
            </a:extLst>
          </p:cNvPr>
          <p:cNvPicPr>
            <a:picLocks noChangeAspect="1"/>
          </p:cNvPicPr>
          <p:nvPr/>
        </p:nvPicPr>
        <p:blipFill>
          <a:blip r:embed="rId4"/>
          <a:stretch>
            <a:fillRect/>
          </a:stretch>
        </p:blipFill>
        <p:spPr>
          <a:xfrm>
            <a:off x="1511966" y="949482"/>
            <a:ext cx="3420038" cy="2094873"/>
          </a:xfrm>
          <a:prstGeom prst="rect">
            <a:avLst/>
          </a:prstGeom>
        </p:spPr>
      </p:pic>
    </p:spTree>
    <p:extLst>
      <p:ext uri="{BB962C8B-B14F-4D97-AF65-F5344CB8AC3E}">
        <p14:creationId xmlns:p14="http://schemas.microsoft.com/office/powerpoint/2010/main" val="39997249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パイプライン化の限界</a:t>
            </a:r>
          </a:p>
        </p:txBody>
      </p:sp>
      <p:sp>
        <p:nvSpPr>
          <p:cNvPr id="3" name="テキスト プレースホルダー 2"/>
          <p:cNvSpPr>
            <a:spLocks noGrp="1"/>
          </p:cNvSpPr>
          <p:nvPr>
            <p:ph type="body" sz="quarter" idx="10"/>
          </p:nvPr>
        </p:nvSpPr>
        <p:spPr/>
        <p:txBody>
          <a:bodyPr/>
          <a:lstStyle/>
          <a:p>
            <a:r>
              <a:rPr lang="ja-JP" altLang="en-US" dirty="0"/>
              <a:t>速度が上がらなくなる理由：</a:t>
            </a:r>
            <a:endParaRPr lang="en-US" altLang="ja-JP" dirty="0"/>
          </a:p>
          <a:p>
            <a:pPr marL="817200" lvl="1" indent="-457200">
              <a:buFont typeface="+mj-lt"/>
              <a:buAutoNum type="arabicPeriod"/>
            </a:pPr>
            <a:r>
              <a:rPr lang="ja-JP" altLang="en-US" dirty="0"/>
              <a:t>回路的な理由による周波数向上の限界（前回の講義）</a:t>
            </a:r>
            <a:endParaRPr lang="en-US" altLang="ja-JP" dirty="0"/>
          </a:p>
          <a:p>
            <a:pPr marL="817200" lvl="1" indent="-457200">
              <a:buFont typeface="+mj-lt"/>
              <a:buAutoNum type="arabicPeriod"/>
            </a:pPr>
            <a:r>
              <a:rPr lang="ja-JP" altLang="en-US" b="1" dirty="0">
                <a:solidFill>
                  <a:schemeClr val="accent5"/>
                </a:solidFill>
              </a:rPr>
              <a:t>アーキテクチャ的な理由（ハザード）による実効性能の限界</a:t>
            </a:r>
            <a:endParaRPr kumimoji="1" lang="ja-JP" altLang="en-US" b="1" dirty="0">
              <a:solidFill>
                <a:schemeClr val="accent5"/>
              </a:solidFill>
            </a:endParaRPr>
          </a:p>
        </p:txBody>
      </p:sp>
    </p:spTree>
    <p:extLst>
      <p:ext uri="{BB962C8B-B14F-4D97-AF65-F5344CB8AC3E}">
        <p14:creationId xmlns:p14="http://schemas.microsoft.com/office/powerpoint/2010/main" val="31891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アーキテクチャ的な理由による実効性能の限界</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バックエッジがないパイプライン</a:t>
            </a:r>
            <a:endParaRPr kumimoji="1" lang="en-US" altLang="ja-JP" dirty="0"/>
          </a:p>
          <a:p>
            <a:pPr lvl="1"/>
            <a:r>
              <a:rPr kumimoji="1" lang="ja-JP" altLang="en-US" dirty="0"/>
              <a:t>（回路的な限界にあたるまでは</a:t>
            </a:r>
            <a:endParaRPr kumimoji="1" lang="en-US" altLang="ja-JP" dirty="0"/>
          </a:p>
          <a:p>
            <a:pPr lvl="1"/>
            <a:r>
              <a:rPr kumimoji="1" lang="ja-JP" altLang="en-US" dirty="0"/>
              <a:t>パイプライン段数を増やせば増やすほど性能（周波数）が上がる</a:t>
            </a:r>
            <a:endParaRPr kumimoji="1" lang="en-US" altLang="ja-JP" dirty="0"/>
          </a:p>
          <a:p>
            <a:r>
              <a:rPr kumimoji="1" lang="ja-JP" altLang="en-US" dirty="0"/>
              <a:t>バックエッジがあるパイプライン</a:t>
            </a:r>
            <a:endParaRPr kumimoji="1" lang="en-US" altLang="ja-JP" dirty="0"/>
          </a:p>
          <a:p>
            <a:pPr lvl="1"/>
            <a:r>
              <a:rPr kumimoji="1" lang="ja-JP" altLang="en-US" dirty="0"/>
              <a:t>パイプライン段数を増やすと，</a:t>
            </a:r>
            <a:endParaRPr kumimoji="1" lang="en-US" altLang="ja-JP" dirty="0"/>
          </a:p>
          <a:p>
            <a:pPr lvl="2"/>
            <a:r>
              <a:rPr lang="ja-JP" altLang="en-US" dirty="0"/>
              <a:t>周波数そのものは上がる・・・が，</a:t>
            </a:r>
            <a:endParaRPr lang="en-US" altLang="ja-JP" dirty="0"/>
          </a:p>
          <a:p>
            <a:pPr lvl="2"/>
            <a:r>
              <a:rPr kumimoji="1" lang="ja-JP" altLang="en-US" dirty="0"/>
              <a:t>場合によって，命令を処理できる実効的な速度が落ちる</a:t>
            </a:r>
            <a:endParaRPr kumimoji="1" lang="en-US" altLang="ja-JP" dirty="0"/>
          </a:p>
          <a:p>
            <a:pPr lvl="2"/>
            <a:r>
              <a:rPr kumimoji="1" lang="ja-JP" altLang="en-US" dirty="0">
                <a:solidFill>
                  <a:schemeClr val="accent5"/>
                </a:solidFill>
              </a:rPr>
              <a:t>特に分岐予測ミス・ペナルティによる性能低下が大きい</a:t>
            </a:r>
          </a:p>
        </p:txBody>
      </p:sp>
    </p:spTree>
    <p:extLst>
      <p:ext uri="{BB962C8B-B14F-4D97-AF65-F5344CB8AC3E}">
        <p14:creationId xmlns:p14="http://schemas.microsoft.com/office/powerpoint/2010/main" val="909836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余談：実際の </a:t>
            </a:r>
            <a:r>
              <a:rPr lang="en-US" altLang="ja-JP" dirty="0"/>
              <a:t>CPU </a:t>
            </a:r>
            <a:r>
              <a:rPr lang="ja-JP" altLang="en-US" dirty="0"/>
              <a:t>のパイプライン段数</a:t>
            </a:r>
            <a:endParaRPr lang="en-US" altLang="ja-JP" dirty="0"/>
          </a:p>
        </p:txBody>
      </p:sp>
      <p:sp>
        <p:nvSpPr>
          <p:cNvPr id="3" name="テキスト プレースホルダー 2"/>
          <p:cNvSpPr>
            <a:spLocks noGrp="1"/>
          </p:cNvSpPr>
          <p:nvPr>
            <p:ph type="body" sz="quarter" idx="10"/>
          </p:nvPr>
        </p:nvSpPr>
        <p:spPr/>
        <p:txBody>
          <a:bodyPr/>
          <a:lstStyle/>
          <a:p>
            <a:r>
              <a:rPr lang="ja-JP" altLang="en-US" dirty="0"/>
              <a:t>現在は大体１５～２０段</a:t>
            </a:r>
            <a:endParaRPr lang="en-US" altLang="ja-JP" dirty="0"/>
          </a:p>
          <a:p>
            <a:r>
              <a:rPr lang="en-US" altLang="ja-JP" dirty="0"/>
              <a:t>Intel Pentium4 </a:t>
            </a:r>
            <a:r>
              <a:rPr lang="ja-JP" altLang="en-US" dirty="0"/>
              <a:t>（</a:t>
            </a:r>
            <a:r>
              <a:rPr lang="en-US" altLang="ja-JP" dirty="0"/>
              <a:t>Prescott</a:t>
            </a:r>
            <a:r>
              <a:rPr lang="ja-JP" altLang="en-US" dirty="0"/>
              <a:t>）３１段</a:t>
            </a:r>
            <a:endParaRPr lang="en-US" altLang="ja-JP" dirty="0"/>
          </a:p>
          <a:p>
            <a:pPr lvl="1"/>
            <a:r>
              <a:rPr lang="en-US" altLang="ja-JP" dirty="0"/>
              <a:t>2004</a:t>
            </a:r>
            <a:r>
              <a:rPr lang="ja-JP" altLang="en-US" dirty="0"/>
              <a:t>年発売で </a:t>
            </a:r>
            <a:r>
              <a:rPr lang="en-US" altLang="ja-JP" dirty="0"/>
              <a:t>3.8 GHz</a:t>
            </a:r>
          </a:p>
          <a:p>
            <a:pPr lvl="1"/>
            <a:r>
              <a:rPr lang="ja-JP" altLang="en-US" dirty="0"/>
              <a:t>おそらく，歴史上最大の段数</a:t>
            </a:r>
            <a:endParaRPr lang="en-US" altLang="ja-JP" dirty="0"/>
          </a:p>
          <a:p>
            <a:pPr lvl="2"/>
            <a:r>
              <a:rPr lang="ja-JP" altLang="en-US" dirty="0"/>
              <a:t>熱くなりすぎ </a:t>
            </a:r>
            <a:r>
              <a:rPr lang="en-US" altLang="ja-JP" dirty="0"/>
              <a:t>&amp; </a:t>
            </a:r>
            <a:r>
              <a:rPr lang="ja-JP" altLang="en-US" dirty="0"/>
              <a:t>性能が出ずで，この後ステージ数は減少</a:t>
            </a:r>
            <a:endParaRPr lang="en-US" altLang="ja-JP" dirty="0"/>
          </a:p>
          <a:p>
            <a:r>
              <a:rPr lang="en-US" altLang="ja-JP" dirty="0"/>
              <a:t>AMD Zen</a:t>
            </a:r>
            <a:r>
              <a:rPr lang="ja-JP" altLang="en-US" dirty="0"/>
              <a:t>：１９段</a:t>
            </a:r>
            <a:endParaRPr lang="en-US" altLang="ja-JP" dirty="0"/>
          </a:p>
          <a:p>
            <a:pPr lvl="1"/>
            <a:r>
              <a:rPr lang="en-US" altLang="ja-JP" dirty="0"/>
              <a:t>2017</a:t>
            </a:r>
            <a:r>
              <a:rPr lang="ja-JP" altLang="en-US" dirty="0"/>
              <a:t>年発売で </a:t>
            </a:r>
            <a:r>
              <a:rPr lang="en-US" altLang="ja-JP" dirty="0"/>
              <a:t>4.2GHz</a:t>
            </a:r>
            <a:endParaRPr lang="ja-JP" altLang="en-US" dirty="0"/>
          </a:p>
        </p:txBody>
      </p:sp>
    </p:spTree>
    <p:extLst>
      <p:ext uri="{BB962C8B-B14F-4D97-AF65-F5344CB8AC3E}">
        <p14:creationId xmlns:p14="http://schemas.microsoft.com/office/powerpoint/2010/main" val="1941529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Sony/IBM/</a:t>
            </a:r>
            <a:r>
              <a:rPr lang="ja-JP" altLang="en-US" dirty="0"/>
              <a:t>東芝 </a:t>
            </a:r>
            <a:r>
              <a:rPr lang="en-US" altLang="ja-JP" dirty="0"/>
              <a:t>Cell (SPE)</a:t>
            </a:r>
            <a:br>
              <a:rPr lang="en-US" altLang="ja-JP" dirty="0"/>
            </a:br>
            <a:r>
              <a:rPr lang="en-US" altLang="ja-JP" sz="1400" dirty="0"/>
              <a:t>Cell Broadband Engine Architecture and its first implementation—A performance view </a:t>
            </a:r>
            <a:r>
              <a:rPr lang="ja-JP" altLang="en-US" sz="1400" dirty="0"/>
              <a:t>より</a:t>
            </a:r>
            <a:endParaRPr kumimoji="1" lang="ja-JP" altLang="en-US" sz="1600" dirty="0"/>
          </a:p>
        </p:txBody>
      </p:sp>
      <p:pic>
        <p:nvPicPr>
          <p:cNvPr id="4" name="図 3"/>
          <p:cNvPicPr>
            <a:picLocks noChangeAspect="1"/>
          </p:cNvPicPr>
          <p:nvPr/>
        </p:nvPicPr>
        <p:blipFill>
          <a:blip r:embed="rId2"/>
          <a:stretch>
            <a:fillRect/>
          </a:stretch>
        </p:blipFill>
        <p:spPr>
          <a:xfrm>
            <a:off x="431954" y="1808982"/>
            <a:ext cx="8352042" cy="3689818"/>
          </a:xfrm>
          <a:prstGeom prst="rect">
            <a:avLst/>
          </a:prstGeom>
        </p:spPr>
      </p:pic>
    </p:spTree>
    <p:extLst>
      <p:ext uri="{BB962C8B-B14F-4D97-AF65-F5344CB8AC3E}">
        <p14:creationId xmlns:p14="http://schemas.microsoft.com/office/powerpoint/2010/main" val="2742415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sz="2400" dirty="0"/>
              <a:t>AMD JAGUAR</a:t>
            </a:r>
            <a:br>
              <a:rPr lang="en-US" altLang="ja-JP" sz="1800" dirty="0"/>
            </a:br>
            <a:r>
              <a:rPr lang="en-US" altLang="ja-JP" sz="1800" dirty="0"/>
              <a:t>"JAGUAR” AMD’s Next Generation Low Power x86 Core </a:t>
            </a:r>
            <a:r>
              <a:rPr lang="ja-JP" altLang="en-US" sz="1800" dirty="0"/>
              <a:t>より</a:t>
            </a:r>
            <a:endParaRPr kumimoji="1" lang="ja-JP" altLang="en-US" sz="1800" dirty="0"/>
          </a:p>
        </p:txBody>
      </p:sp>
      <p:pic>
        <p:nvPicPr>
          <p:cNvPr id="4" name="図 3"/>
          <p:cNvPicPr>
            <a:picLocks noChangeAspect="1"/>
          </p:cNvPicPr>
          <p:nvPr/>
        </p:nvPicPr>
        <p:blipFill>
          <a:blip r:embed="rId2"/>
          <a:stretch>
            <a:fillRect/>
          </a:stretch>
        </p:blipFill>
        <p:spPr>
          <a:xfrm>
            <a:off x="341953" y="1808982"/>
            <a:ext cx="8532044" cy="3564315"/>
          </a:xfrm>
          <a:prstGeom prst="rect">
            <a:avLst/>
          </a:prstGeom>
        </p:spPr>
      </p:pic>
    </p:spTree>
    <p:extLst>
      <p:ext uri="{BB962C8B-B14F-4D97-AF65-F5344CB8AC3E}">
        <p14:creationId xmlns:p14="http://schemas.microsoft.com/office/powerpoint/2010/main" val="32209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ARM Cortex-A15 </a:t>
            </a:r>
            <a:br>
              <a:rPr lang="en-US" altLang="ja-JP" dirty="0"/>
            </a:br>
            <a:r>
              <a:rPr lang="en-US" altLang="ja-JP" sz="1600" dirty="0"/>
              <a:t>Exploring the Design of the Cortex-A15 Processor</a:t>
            </a:r>
            <a:br>
              <a:rPr lang="en-US" altLang="ja-JP" sz="1600" dirty="0"/>
            </a:br>
            <a:r>
              <a:rPr lang="en-US" altLang="ja-JP" sz="1600" dirty="0"/>
              <a:t>ARM’s next generation mobile applications processor </a:t>
            </a:r>
            <a:r>
              <a:rPr lang="ja-JP" altLang="en-US" sz="1600" dirty="0"/>
              <a:t>より</a:t>
            </a:r>
            <a:endParaRPr kumimoji="1" lang="ja-JP" altLang="en-US" sz="1600" dirty="0"/>
          </a:p>
        </p:txBody>
      </p:sp>
      <p:pic>
        <p:nvPicPr>
          <p:cNvPr id="4" name="図 3"/>
          <p:cNvPicPr>
            <a:picLocks noChangeAspect="1"/>
          </p:cNvPicPr>
          <p:nvPr/>
        </p:nvPicPr>
        <p:blipFill>
          <a:blip r:embed="rId2"/>
          <a:stretch>
            <a:fillRect/>
          </a:stretch>
        </p:blipFill>
        <p:spPr>
          <a:xfrm>
            <a:off x="611956" y="972523"/>
            <a:ext cx="7857758" cy="5859027"/>
          </a:xfrm>
          <a:prstGeom prst="rect">
            <a:avLst/>
          </a:prstGeom>
        </p:spPr>
      </p:pic>
    </p:spTree>
    <p:extLst>
      <p:ext uri="{BB962C8B-B14F-4D97-AF65-F5344CB8AC3E}">
        <p14:creationId xmlns:p14="http://schemas.microsoft.com/office/powerpoint/2010/main" val="1970650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pPr marL="385200" indent="-457200">
              <a:buFont typeface="+mj-lt"/>
              <a:buAutoNum type="arabicPeriod"/>
            </a:pPr>
            <a:r>
              <a:rPr lang="ja-JP" altLang="en-US" dirty="0"/>
              <a:t>構造ハザード：ハード資源の不足に起因</a:t>
            </a:r>
            <a:endParaRPr lang="en-US" altLang="ja-JP" dirty="0"/>
          </a:p>
          <a:p>
            <a:pPr marL="745200" lvl="1" indent="-457200">
              <a:buFont typeface="+mj-lt"/>
              <a:buAutoNum type="arabicPeriod"/>
            </a:pPr>
            <a:r>
              <a:rPr lang="ja-JP" altLang="en-US" dirty="0"/>
              <a:t>構造ハザードとはなにか？</a:t>
            </a:r>
            <a:endParaRPr lang="en-US" altLang="ja-JP" dirty="0"/>
          </a:p>
          <a:p>
            <a:pPr marL="745200" lvl="1" indent="-457200">
              <a:buFont typeface="+mj-lt"/>
              <a:buAutoNum type="arabicPeriod"/>
            </a:pPr>
            <a:r>
              <a:rPr lang="ja-JP" altLang="en-US" dirty="0"/>
              <a:t>その解決方法</a:t>
            </a:r>
          </a:p>
          <a:p>
            <a:pPr marL="385200" indent="-457200">
              <a:buFont typeface="+mj-lt"/>
              <a:buAutoNum type="arabicPeriod"/>
            </a:pPr>
            <a:r>
              <a:rPr lang="ja-JP" altLang="en-US" dirty="0"/>
              <a:t>非構造ハザード：バックエッジに由来</a:t>
            </a:r>
            <a:endParaRPr lang="en-US" altLang="ja-JP" dirty="0"/>
          </a:p>
          <a:p>
            <a:pPr marL="745200" lvl="1" indent="-457200">
              <a:buFont typeface="+mj-lt"/>
              <a:buAutoNum type="alphaLcPeriod"/>
            </a:pPr>
            <a:r>
              <a:rPr lang="ja-JP" altLang="en-US" dirty="0"/>
              <a:t>データ・ハザード</a:t>
            </a:r>
          </a:p>
          <a:p>
            <a:pPr marL="709200" lvl="1" indent="-457200">
              <a:buFont typeface="+mj-lt"/>
              <a:buAutoNum type="alphaLcPeriod"/>
            </a:pPr>
            <a:r>
              <a:rPr lang="ja-JP" altLang="en-US" dirty="0"/>
              <a:t>制御ハザード</a:t>
            </a:r>
            <a:endParaRPr lang="en-US" altLang="ja-JP" dirty="0"/>
          </a:p>
        </p:txBody>
      </p:sp>
    </p:spTree>
    <p:extLst>
      <p:ext uri="{BB962C8B-B14F-4D97-AF65-F5344CB8AC3E}">
        <p14:creationId xmlns:p14="http://schemas.microsoft.com/office/powerpoint/2010/main" val="466488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6</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p:txBody>
          <a:bodyPr/>
          <a:lstStyle/>
          <a:p>
            <a:r>
              <a:rPr lang="en-US" altLang="ja-JP" dirty="0"/>
              <a:t>RISC-V </a:t>
            </a:r>
            <a:r>
              <a:rPr lang="ja-JP" altLang="en-US" dirty="0"/>
              <a:t>の「</a:t>
            </a:r>
            <a:r>
              <a:rPr lang="en-US" altLang="ja-JP" dirty="0"/>
              <a:t>add x1</a:t>
            </a:r>
            <a:r>
              <a:rPr lang="ja-JP" altLang="en-US" dirty="0"/>
              <a:t>←</a:t>
            </a:r>
            <a:r>
              <a:rPr lang="en-US" altLang="ja-JP" dirty="0"/>
              <a:t>x2,x3</a:t>
            </a:r>
            <a:r>
              <a:rPr lang="ja-JP" altLang="en-US" dirty="0"/>
              <a:t>」命令を２進数で表記すると以下の通りとなる</a:t>
            </a:r>
            <a:br>
              <a:rPr lang="en-US" altLang="ja-JP" dirty="0"/>
            </a:br>
            <a:r>
              <a:rPr lang="en-US" altLang="ja-JP" dirty="0"/>
              <a:t>0000000 00011 00010 000 00001 0110011 </a:t>
            </a:r>
            <a:br>
              <a:rPr lang="en-US" altLang="ja-JP" dirty="0"/>
            </a:br>
            <a:r>
              <a:rPr lang="ja-JP" altLang="en-US" dirty="0"/>
              <a:t>（</a:t>
            </a:r>
            <a:r>
              <a:rPr lang="en-US" altLang="ja-JP" dirty="0" err="1"/>
              <a:t>rd</a:t>
            </a:r>
            <a:r>
              <a:rPr lang="ja-JP" altLang="en-US" dirty="0"/>
              <a:t>←</a:t>
            </a:r>
            <a:r>
              <a:rPr lang="en-US" altLang="ja-JP" dirty="0"/>
              <a:t>rs1,rs2 </a:t>
            </a:r>
            <a:r>
              <a:rPr lang="ja-JP" altLang="en-US" dirty="0"/>
              <a:t>として考える）</a:t>
            </a:r>
            <a:endParaRPr lang="en-US" altLang="ja-JP" dirty="0"/>
          </a:p>
          <a:p>
            <a:pPr lvl="1"/>
            <a:r>
              <a:rPr lang="en-US" altLang="ja-JP" dirty="0"/>
              <a:t>(1) </a:t>
            </a:r>
            <a:r>
              <a:rPr lang="ja-JP" altLang="en-US" dirty="0"/>
              <a:t>上記を </a:t>
            </a:r>
            <a:r>
              <a:rPr lang="en-US" altLang="ja-JP" dirty="0"/>
              <a:t>sub x1</a:t>
            </a:r>
            <a:r>
              <a:rPr lang="ja-JP" altLang="en-US" dirty="0"/>
              <a:t>←</a:t>
            </a:r>
            <a:r>
              <a:rPr lang="en-US" altLang="ja-JP" dirty="0"/>
              <a:t>x2,x3 </a:t>
            </a:r>
            <a:r>
              <a:rPr lang="ja-JP" altLang="en-US" dirty="0"/>
              <a:t>に書き換え，２進数と１６進数の双方で表記せよ</a:t>
            </a:r>
            <a:endParaRPr lang="en-US" altLang="ja-JP" dirty="0"/>
          </a:p>
          <a:p>
            <a:pPr lvl="1"/>
            <a:r>
              <a:rPr lang="en-US" altLang="ja-JP" dirty="0"/>
              <a:t>(2) </a:t>
            </a:r>
            <a:r>
              <a:rPr lang="ja-JP" altLang="en-US" dirty="0"/>
              <a:t>上記を </a:t>
            </a:r>
            <a:r>
              <a:rPr lang="en-US" altLang="ja-JP" dirty="0"/>
              <a:t>add x2</a:t>
            </a:r>
            <a:r>
              <a:rPr lang="ja-JP" altLang="en-US" dirty="0"/>
              <a:t>←</a:t>
            </a:r>
            <a:r>
              <a:rPr lang="en-US" altLang="ja-JP" dirty="0"/>
              <a:t>x3,x4 </a:t>
            </a:r>
            <a:r>
              <a:rPr lang="ja-JP" altLang="en-US" dirty="0"/>
              <a:t>に書き換え，２進数と１６進数の双方で表記せよ</a:t>
            </a:r>
            <a:endParaRPr lang="en-US" altLang="ja-JP" dirty="0"/>
          </a:p>
          <a:p>
            <a:pPr lvl="1"/>
            <a:r>
              <a:rPr lang="en-US" altLang="ja-JP" dirty="0"/>
              <a:t>(3) </a:t>
            </a:r>
            <a:r>
              <a:rPr lang="ja-JP" altLang="en-US" dirty="0"/>
              <a:t>上記を </a:t>
            </a:r>
            <a:r>
              <a:rPr lang="en-US" altLang="ja-JP" dirty="0" err="1"/>
              <a:t>addi</a:t>
            </a:r>
            <a:r>
              <a:rPr lang="en-US" altLang="ja-JP" dirty="0"/>
              <a:t> x1</a:t>
            </a:r>
            <a:r>
              <a:rPr lang="ja-JP" altLang="en-US" dirty="0"/>
              <a:t>←</a:t>
            </a:r>
            <a:r>
              <a:rPr lang="en-US" altLang="ja-JP" dirty="0"/>
              <a:t>x2,16 </a:t>
            </a:r>
            <a:r>
              <a:rPr lang="ja-JP" altLang="en-US" dirty="0"/>
              <a:t>に書き換え，２進数と１６進数の双方で表記せよ</a:t>
            </a:r>
            <a:endParaRPr lang="en-US" altLang="ja-JP" dirty="0"/>
          </a:p>
          <a:p>
            <a:r>
              <a:rPr lang="ja-JP" altLang="en-US" dirty="0"/>
              <a:t>第３回目の講義および次のページの仕様を参考にすると良い</a:t>
            </a: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79</a:t>
            </a:fld>
            <a:endParaRPr kumimoji="1" lang="ja-JP" altLang="en-US" dirty="0"/>
          </a:p>
        </p:txBody>
      </p:sp>
    </p:spTree>
    <p:extLst>
      <p:ext uri="{BB962C8B-B14F-4D97-AF65-F5344CB8AC3E}">
        <p14:creationId xmlns:p14="http://schemas.microsoft.com/office/powerpoint/2010/main" val="1104204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 基本整数命令</a:t>
            </a:r>
          </a:p>
        </p:txBody>
      </p:sp>
      <p:sp>
        <p:nvSpPr>
          <p:cNvPr id="3" name="テキスト プレースホルダー 2"/>
          <p:cNvSpPr>
            <a:spLocks noGrp="1"/>
          </p:cNvSpPr>
          <p:nvPr>
            <p:ph type="body" sz="quarter" idx="10"/>
          </p:nvPr>
        </p:nvSpPr>
        <p:spPr>
          <a:xfrm>
            <a:off x="251951" y="1088975"/>
            <a:ext cx="8730097" cy="1260014"/>
          </a:xfrm>
        </p:spPr>
        <p:txBody>
          <a:bodyPr anchor="t"/>
          <a:lstStyle/>
          <a:p>
            <a:r>
              <a:rPr kumimoji="1" lang="ja-JP" altLang="en-US" dirty="0"/>
              <a:t>概要</a:t>
            </a:r>
            <a:endParaRPr kumimoji="1" lang="en-US" altLang="ja-JP" dirty="0"/>
          </a:p>
          <a:p>
            <a:pPr lvl="1"/>
            <a:r>
              <a:rPr kumimoji="1" lang="ja-JP" altLang="en-US" dirty="0"/>
              <a:t>加減算，論理演算，</a:t>
            </a:r>
            <a:br>
              <a:rPr kumimoji="1" lang="en-US" altLang="ja-JP" dirty="0"/>
            </a:br>
            <a:r>
              <a:rPr kumimoji="1" lang="ja-JP" altLang="en-US" dirty="0"/>
              <a:t>ロード・ストア，</a:t>
            </a:r>
            <a:br>
              <a:rPr kumimoji="1" lang="en-US" altLang="ja-JP" dirty="0"/>
            </a:br>
            <a:r>
              <a:rPr kumimoji="1" lang="ja-JP" altLang="en-US" dirty="0"/>
              <a:t>即値，分岐とジャンプなど</a:t>
            </a:r>
            <a:endParaRPr kumimoji="1" lang="en-US" altLang="ja-JP" dirty="0"/>
          </a:p>
          <a:p>
            <a:pPr lvl="1"/>
            <a:r>
              <a:rPr kumimoji="1" lang="ja-JP" altLang="en-US" dirty="0"/>
              <a:t>各命令は </a:t>
            </a:r>
            <a:r>
              <a:rPr kumimoji="1" lang="en-US" altLang="ja-JP" dirty="0"/>
              <a:t>32bit </a:t>
            </a:r>
            <a:r>
              <a:rPr kumimoji="1" lang="ja-JP" altLang="en-US" dirty="0"/>
              <a:t>幅</a:t>
            </a:r>
            <a:endParaRPr lang="en-US" altLang="ja-JP" dirty="0"/>
          </a:p>
        </p:txBody>
      </p:sp>
      <p:sp>
        <p:nvSpPr>
          <p:cNvPr id="6" name="テキスト プレースホルダー 2"/>
          <p:cNvSpPr txBox="1">
            <a:spLocks/>
          </p:cNvSpPr>
          <p:nvPr/>
        </p:nvSpPr>
        <p:spPr bwMode="auto">
          <a:xfrm>
            <a:off x="251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pic>
        <p:nvPicPr>
          <p:cNvPr id="7" name="図 6"/>
          <p:cNvPicPr>
            <a:picLocks noChangeAspect="1"/>
          </p:cNvPicPr>
          <p:nvPr/>
        </p:nvPicPr>
        <p:blipFill>
          <a:blip r:embed="rId2"/>
          <a:stretch>
            <a:fillRect/>
          </a:stretch>
        </p:blipFill>
        <p:spPr>
          <a:xfrm>
            <a:off x="4391998" y="908972"/>
            <a:ext cx="4149780" cy="5564478"/>
          </a:xfrm>
          <a:prstGeom prst="rect">
            <a:avLst/>
          </a:prstGeom>
        </p:spPr>
      </p:pic>
      <p:sp>
        <p:nvSpPr>
          <p:cNvPr id="5" name="矢印: 右 4">
            <a:extLst>
              <a:ext uri="{FF2B5EF4-FFF2-40B4-BE49-F238E27FC236}">
                <a16:creationId xmlns:a16="http://schemas.microsoft.com/office/drawing/2014/main" id="{DB257B52-C8EA-BF6C-57E9-DF70B0149A2F}"/>
              </a:ext>
            </a:extLst>
          </p:cNvPr>
          <p:cNvSpPr/>
          <p:nvPr/>
        </p:nvSpPr>
        <p:spPr bwMode="auto">
          <a:xfrm flipH="1">
            <a:off x="8352042" y="4059007"/>
            <a:ext cx="521955" cy="270003"/>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 name="矢印: 右 3">
            <a:extLst>
              <a:ext uri="{FF2B5EF4-FFF2-40B4-BE49-F238E27FC236}">
                <a16:creationId xmlns:a16="http://schemas.microsoft.com/office/drawing/2014/main" id="{F5CDB554-BA7F-2424-E71B-604579F08DF8}"/>
              </a:ext>
            </a:extLst>
          </p:cNvPr>
          <p:cNvSpPr/>
          <p:nvPr/>
        </p:nvSpPr>
        <p:spPr bwMode="auto">
          <a:xfrm flipH="1">
            <a:off x="8387613" y="3022539"/>
            <a:ext cx="521955" cy="270003"/>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55478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sz="quarter" idx="10"/>
          </p:nvPr>
        </p:nvSpPr>
        <p:spPr/>
        <p:txBody>
          <a:bodyPr/>
          <a:lstStyle/>
          <a:p>
            <a:r>
              <a:rPr kumimoji="1" lang="ja-JP" altLang="en-US" sz="1600" dirty="0"/>
              <a:t>以下を提出：</a:t>
            </a:r>
            <a:endParaRPr kumimoji="1" lang="en-US" altLang="ja-JP" sz="1600" dirty="0"/>
          </a:p>
          <a:p>
            <a:pPr lvl="1">
              <a:buFont typeface="+mj-lt"/>
              <a:buAutoNum type="arabicPeriod"/>
            </a:pPr>
            <a:r>
              <a:rPr kumimoji="1" lang="ja-JP" altLang="en-US" sz="1600" dirty="0"/>
              <a:t>課題 </a:t>
            </a:r>
            <a:r>
              <a:rPr lang="ja-JP" altLang="en-US" sz="1600" dirty="0"/>
              <a:t>６</a:t>
            </a:r>
            <a:r>
              <a:rPr kumimoji="1" lang="ja-JP" altLang="en-US" sz="1600" dirty="0"/>
              <a:t>：　</a:t>
            </a:r>
            <a:endParaRPr kumimoji="1" lang="en-US" altLang="ja-JP" sz="1600" dirty="0"/>
          </a:p>
          <a:p>
            <a:pPr lvl="2"/>
            <a:r>
              <a:rPr kumimoji="1" lang="ja-JP" altLang="en-US" sz="1600" dirty="0"/>
              <a:t>提出は </a:t>
            </a:r>
            <a:r>
              <a:rPr kumimoji="1" lang="en-US" altLang="ja-JP" sz="1600" dirty="0"/>
              <a:t>Moodle </a:t>
            </a:r>
            <a:r>
              <a:rPr kumimoji="1" lang="ja-JP" altLang="en-US" sz="1600" dirty="0"/>
              <a:t>の「課題６」のところからお願いします</a:t>
            </a:r>
            <a:endParaRPr kumimoji="1" lang="en-US" altLang="ja-JP" sz="1600" dirty="0"/>
          </a:p>
          <a:p>
            <a:pPr lvl="1">
              <a:buFont typeface="+mj-lt"/>
              <a:buAutoNum type="arabicPeriod"/>
            </a:pPr>
            <a:r>
              <a:rPr kumimoji="1" lang="ja-JP" altLang="en-US" sz="1600" dirty="0"/>
              <a:t>感想や質問：　</a:t>
            </a:r>
            <a:endParaRPr kumimoji="1" lang="en-US" altLang="ja-JP" sz="1600" dirty="0"/>
          </a:p>
          <a:p>
            <a:pPr lvl="2"/>
            <a:r>
              <a:rPr kumimoji="1" lang="ja-JP" altLang="en-US" sz="1600" dirty="0"/>
              <a:t>「感想や質問」のところに投稿してください</a:t>
            </a:r>
            <a:endParaRPr kumimoji="1" lang="en-US" altLang="ja-JP" sz="1600" dirty="0"/>
          </a:p>
          <a:p>
            <a:pPr lvl="2"/>
            <a:r>
              <a:rPr kumimoji="1" lang="ja-JP" altLang="en-US" sz="1600" dirty="0"/>
              <a:t>わからない場所がある場合，具体的に書いてもらえると良いです</a:t>
            </a:r>
            <a:endParaRPr kumimoji="1" lang="en-US" altLang="ja-JP" sz="1600" dirty="0"/>
          </a:p>
          <a:p>
            <a:r>
              <a:rPr kumimoji="1" lang="ja-JP" altLang="en-US" sz="1600" dirty="0"/>
              <a:t>提出締め切り</a:t>
            </a:r>
            <a:endParaRPr kumimoji="1" lang="en-US" altLang="ja-JP" sz="1600" dirty="0"/>
          </a:p>
          <a:p>
            <a:pPr lvl="1"/>
            <a:r>
              <a:rPr kumimoji="1" lang="ja-JP" altLang="en-US" sz="1600" dirty="0"/>
              <a:t>次回講義開始まで</a:t>
            </a:r>
            <a:endParaRPr kumimoji="1" lang="en-US" altLang="ja-JP" sz="1600" dirty="0"/>
          </a:p>
          <a:p>
            <a:r>
              <a:rPr kumimoji="1" lang="ja-JP" altLang="en-US" sz="1600" dirty="0"/>
              <a:t>注意：</a:t>
            </a:r>
            <a:endParaRPr kumimoji="1" lang="en-US" altLang="ja-JP" sz="1600" dirty="0"/>
          </a:p>
          <a:p>
            <a:pPr lvl="1"/>
            <a:r>
              <a:rPr kumimoji="1" lang="ja-JP" altLang="en-US" sz="1600" dirty="0"/>
              <a:t>課題の出来は，ある程度努力したあとがあれば良しです</a:t>
            </a:r>
            <a:endParaRPr kumimoji="1" lang="en-US" altLang="ja-JP" sz="1600" dirty="0"/>
          </a:p>
          <a:p>
            <a:pPr lvl="2"/>
            <a:r>
              <a:rPr kumimoji="1" lang="ja-JP" altLang="en-US" sz="1600" dirty="0"/>
              <a:t>必ずしも正解していなくても良いです</a:t>
            </a:r>
            <a:endParaRPr kumimoji="1" lang="en-US" altLang="ja-JP" sz="1600" dirty="0"/>
          </a:p>
          <a:p>
            <a:pPr lvl="1"/>
            <a:r>
              <a:rPr kumimoji="1" lang="ja-JP" altLang="en-US" sz="1600" dirty="0"/>
              <a:t>課題は成績の判定にかなり使われます</a:t>
            </a:r>
            <a:endParaRPr kumimoji="1" lang="en-US" altLang="ja-JP" sz="1600" dirty="0"/>
          </a:p>
          <a:p>
            <a:pPr lvl="2"/>
            <a:r>
              <a:rPr kumimoji="1" lang="ja-JP" altLang="en-US" sz="1600" dirty="0"/>
              <a:t>仮に課題を一度も出さなかった場合，</a:t>
            </a:r>
            <a:br>
              <a:rPr kumimoji="1" lang="en-US" altLang="ja-JP" sz="1600" dirty="0"/>
            </a:br>
            <a:r>
              <a:rPr kumimoji="1" lang="ja-JP" altLang="en-US" sz="1600" dirty="0"/>
              <a:t>期末試験だけ受けてもまず通らないと思います</a:t>
            </a:r>
            <a:endParaRPr kumimoji="1" lang="en-US" altLang="ja-JP" sz="16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66E3C0A-2958-3648-B442-236878A5786E}"/>
              </a:ext>
            </a:extLst>
          </p:cNvPr>
          <p:cNvSpPr>
            <a:spLocks noGrp="1"/>
          </p:cNvSpPr>
          <p:nvPr>
            <p:ph type="title"/>
          </p:nvPr>
        </p:nvSpPr>
        <p:spPr/>
        <p:txBody>
          <a:bodyPr/>
          <a:lstStyle/>
          <a:p>
            <a:r>
              <a:rPr lang="ja-JP" altLang="en-US" dirty="0"/>
              <a:t>質問や感想など</a:t>
            </a:r>
          </a:p>
        </p:txBody>
      </p:sp>
    </p:spTree>
    <p:extLst>
      <p:ext uri="{BB962C8B-B14F-4D97-AF65-F5344CB8AC3E}">
        <p14:creationId xmlns:p14="http://schemas.microsoft.com/office/powerpoint/2010/main" val="9867082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9127-10B0-712C-1DB6-E690A9B1FB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1E10E0-EAF4-F1F0-D219-FB8CED8B612B}"/>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C9824F1B-F811-6CCE-C4BE-7E7F8B6BDD8B}"/>
              </a:ext>
            </a:extLst>
          </p:cNvPr>
          <p:cNvSpPr>
            <a:spLocks noGrp="1"/>
          </p:cNvSpPr>
          <p:nvPr>
            <p:ph sz="quarter" idx="10"/>
          </p:nvPr>
        </p:nvSpPr>
        <p:spPr/>
        <p:txBody>
          <a:bodyPr/>
          <a:lstStyle/>
          <a:p>
            <a:r>
              <a:rPr lang="ja-JP" altLang="ja-JP" dirty="0"/>
              <a:t>また、コンピュータの内部は回路であるので、講義で何か電子回路を自分で組んで何かやる実験をしたいなとふと思いました。（昔、電気通信大学の高校生向けプログラムでやって、面白かったことを思い出した。</a:t>
            </a:r>
            <a:r>
              <a:rPr lang="en-US" altLang="ja-JP" dirty="0"/>
              <a:t>)</a:t>
            </a:r>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うちの研究室内の </a:t>
            </a:r>
            <a:r>
              <a:rPr lang="en-US" altLang="ja-JP" b="0" i="0" dirty="0">
                <a:solidFill>
                  <a:srgbClr val="000000"/>
                </a:solidFill>
                <a:effectLst/>
                <a:latin typeface="Meiryo" panose="020B0604030504040204" pitchFamily="50" charset="-128"/>
                <a:ea typeface="Meiryo" panose="020B0604030504040204" pitchFamily="50" charset="-128"/>
              </a:rPr>
              <a:t>CPU </a:t>
            </a:r>
            <a:r>
              <a:rPr lang="ja-JP" altLang="en-US" b="0" i="0" dirty="0">
                <a:solidFill>
                  <a:srgbClr val="000000"/>
                </a:solidFill>
                <a:effectLst/>
                <a:latin typeface="Meiryo" panose="020B0604030504040204" pitchFamily="50" charset="-128"/>
                <a:ea typeface="Meiryo" panose="020B0604030504040204" pitchFamily="50" charset="-128"/>
              </a:rPr>
              <a:t>を実際につくる演習です：</a:t>
            </a:r>
            <a:endParaRPr lang="en-US" altLang="ja-JP" b="0" i="0" dirty="0">
              <a:solidFill>
                <a:srgbClr val="000000"/>
              </a:solidFill>
              <a:effectLst/>
              <a:latin typeface="Meiryo" panose="020B0604030504040204" pitchFamily="50" charset="-128"/>
              <a:ea typeface="Meiryo" panose="020B0604030504040204" pitchFamily="50" charset="-128"/>
            </a:endParaRPr>
          </a:p>
          <a:p>
            <a:pPr lvl="2"/>
            <a:r>
              <a:rPr lang="en-US" altLang="ja-JP" dirty="0">
                <a:solidFill>
                  <a:srgbClr val="000000"/>
                </a:solidFill>
                <a:latin typeface="Meiryo" panose="020B0604030504040204" pitchFamily="50" charset="-128"/>
                <a:ea typeface="Meiryo" panose="020B0604030504040204" pitchFamily="50" charset="-128"/>
                <a:hlinkClick r:id="rId2"/>
              </a:rPr>
              <a:t>https://github.com/shioya-lab/cpu-exercise</a:t>
            </a:r>
            <a:endParaRPr lang="en-US" altLang="ja-JP" dirty="0">
              <a:solidFill>
                <a:srgbClr val="000000"/>
              </a:solidFill>
              <a:latin typeface="Meiryo" panose="020B0604030504040204" pitchFamily="50" charset="-128"/>
              <a:ea typeface="Meiryo" panose="020B0604030504040204" pitchFamily="50" charset="-128"/>
            </a:endParaRPr>
          </a:p>
          <a:p>
            <a:pPr lvl="2"/>
            <a:r>
              <a:rPr lang="ja-JP" altLang="en-US" b="0" i="0" dirty="0">
                <a:solidFill>
                  <a:srgbClr val="000000"/>
                </a:solidFill>
                <a:effectLst/>
                <a:latin typeface="Meiryo" panose="020B0604030504040204" pitchFamily="50" charset="-128"/>
                <a:ea typeface="Meiryo" panose="020B0604030504040204" pitchFamily="50" charset="-128"/>
              </a:rPr>
              <a:t>もともとは名古屋大学の３年生むけ学生実験でした</a:t>
            </a:r>
            <a:endParaRPr lang="en-US" altLang="ja-JP" b="0" i="0" dirty="0">
              <a:solidFill>
                <a:srgbClr val="000000"/>
              </a:solidFill>
              <a:effectLst/>
              <a:latin typeface="Meiryo" panose="020B0604030504040204" pitchFamily="50" charset="-128"/>
              <a:ea typeface="Meiryo" panose="020B0604030504040204" pitchFamily="50" charset="-128"/>
            </a:endParaRPr>
          </a:p>
          <a:p>
            <a:pPr lvl="2"/>
            <a:r>
              <a:rPr lang="ja-JP" altLang="en-US" b="0" i="0" dirty="0">
                <a:solidFill>
                  <a:srgbClr val="000000"/>
                </a:solidFill>
                <a:effectLst/>
                <a:latin typeface="Meiryo" panose="020B0604030504040204" pitchFamily="50" charset="-128"/>
                <a:ea typeface="Meiryo" panose="020B0604030504040204" pitchFamily="50" charset="-128"/>
              </a:rPr>
              <a:t>大半はシミュレーションで実施するので，手元の </a:t>
            </a:r>
            <a:r>
              <a:rPr lang="en-US" altLang="ja-JP" b="0" i="0" dirty="0">
                <a:solidFill>
                  <a:srgbClr val="000000"/>
                </a:solidFill>
                <a:effectLst/>
                <a:latin typeface="Meiryo" panose="020B0604030504040204" pitchFamily="50" charset="-128"/>
                <a:ea typeface="Meiryo" panose="020B0604030504040204" pitchFamily="50" charset="-128"/>
              </a:rPr>
              <a:t>PC </a:t>
            </a:r>
            <a:r>
              <a:rPr lang="ja-JP" altLang="en-US" b="0" i="0" dirty="0">
                <a:solidFill>
                  <a:srgbClr val="000000"/>
                </a:solidFill>
                <a:effectLst/>
                <a:latin typeface="Meiryo" panose="020B0604030504040204" pitchFamily="50" charset="-128"/>
                <a:ea typeface="Meiryo" panose="020B0604030504040204" pitchFamily="50" charset="-128"/>
              </a:rPr>
              <a:t>で出来るはず</a:t>
            </a:r>
            <a:endParaRPr lang="en-US" altLang="ja-JP" b="0" i="0" dirty="0">
              <a:solidFill>
                <a:srgbClr val="000000"/>
              </a:solidFill>
              <a:effectLst/>
              <a:latin typeface="Meiryo" panose="020B0604030504040204" pitchFamily="50" charset="-128"/>
              <a:ea typeface="Meiryo" panose="020B0604030504040204" pitchFamily="50" charset="-128"/>
            </a:endParaRPr>
          </a:p>
          <a:p>
            <a:pPr lvl="2"/>
            <a:r>
              <a:rPr lang="en-US" altLang="ja-JP" dirty="0">
                <a:solidFill>
                  <a:srgbClr val="000000"/>
                </a:solidFill>
                <a:latin typeface="Meiryo" panose="020B0604030504040204" pitchFamily="50" charset="-128"/>
                <a:ea typeface="Meiryo" panose="020B0604030504040204" pitchFamily="50" charset="-128"/>
              </a:rPr>
              <a:t>Mac </a:t>
            </a:r>
            <a:r>
              <a:rPr lang="ja-JP" altLang="en-US" dirty="0">
                <a:solidFill>
                  <a:srgbClr val="000000"/>
                </a:solidFill>
                <a:latin typeface="Meiryo" panose="020B0604030504040204" pitchFamily="50" charset="-128"/>
                <a:ea typeface="Meiryo" panose="020B0604030504040204" pitchFamily="50" charset="-128"/>
              </a:rPr>
              <a:t>の場合はちょっとめんどくさいかも</a:t>
            </a:r>
            <a:endParaRPr lang="en-US" altLang="ja-JP" dirty="0">
              <a:solidFill>
                <a:srgbClr val="000000"/>
              </a:solidFill>
              <a:latin typeface="Meiryo" panose="020B0604030504040204" pitchFamily="50" charset="-128"/>
              <a:ea typeface="Meiryo" panose="020B0604030504040204" pitchFamily="50" charset="-128"/>
            </a:endParaRPr>
          </a:p>
          <a:p>
            <a:pPr lvl="3"/>
            <a:r>
              <a:rPr lang="ja-JP" altLang="en-US" b="0" i="0" dirty="0">
                <a:solidFill>
                  <a:srgbClr val="000000"/>
                </a:solidFill>
                <a:effectLst/>
                <a:latin typeface="Meiryo" panose="020B0604030504040204" pitchFamily="50" charset="-128"/>
                <a:ea typeface="Meiryo" panose="020B0604030504040204" pitchFamily="50" charset="-128"/>
              </a:rPr>
              <a:t>本当にやりたい人がいたら相談してください</a:t>
            </a:r>
            <a:endParaRPr lang="en-US" altLang="ja-JP"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066845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24F5D-4684-0D55-0542-D3F8113FA8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69AC34-800F-44BD-F70F-5257E77A5094}"/>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052C0A63-EE10-0CA4-24BC-11607080A400}"/>
              </a:ext>
            </a:extLst>
          </p:cNvPr>
          <p:cNvSpPr>
            <a:spLocks noGrp="1"/>
          </p:cNvSpPr>
          <p:nvPr>
            <p:ph sz="quarter" idx="10"/>
          </p:nvPr>
        </p:nvSpPr>
        <p:spPr>
          <a:xfrm>
            <a:off x="611956" y="1088974"/>
            <a:ext cx="8280092" cy="1890021"/>
          </a:xfrm>
        </p:spPr>
        <p:txBody>
          <a:bodyPr/>
          <a:lstStyle/>
          <a:p>
            <a:r>
              <a:rPr lang="ja-JP" altLang="en-US" dirty="0"/>
              <a:t>今回の講義資料がダウンロードできずとても閲覧しにくかったので</a:t>
            </a:r>
            <a:r>
              <a:rPr lang="en-US" altLang="ja-JP" dirty="0"/>
              <a:t>Moodle</a:t>
            </a:r>
            <a:r>
              <a:rPr lang="ja-JP" altLang="en-US" dirty="0"/>
              <a:t>での講義資料の掲載を検討していただけると幸いです。</a:t>
            </a:r>
            <a:endParaRPr lang="en-US" altLang="ja-JP" dirty="0"/>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ちょっとわかりづらいかもですが，ダウンロードできるはずです</a:t>
            </a:r>
          </a:p>
        </p:txBody>
      </p:sp>
      <p:pic>
        <p:nvPicPr>
          <p:cNvPr id="5" name="図 4">
            <a:extLst>
              <a:ext uri="{FF2B5EF4-FFF2-40B4-BE49-F238E27FC236}">
                <a16:creationId xmlns:a16="http://schemas.microsoft.com/office/drawing/2014/main" id="{22210E56-BF3F-78C9-CB3C-7B76A949F934}"/>
              </a:ext>
            </a:extLst>
          </p:cNvPr>
          <p:cNvPicPr>
            <a:picLocks noChangeAspect="1"/>
          </p:cNvPicPr>
          <p:nvPr/>
        </p:nvPicPr>
        <p:blipFill>
          <a:blip r:embed="rId2"/>
          <a:stretch>
            <a:fillRect/>
          </a:stretch>
        </p:blipFill>
        <p:spPr>
          <a:xfrm>
            <a:off x="2141973" y="2978995"/>
            <a:ext cx="4932004" cy="3687005"/>
          </a:xfrm>
          <a:prstGeom prst="rect">
            <a:avLst/>
          </a:prstGeom>
        </p:spPr>
      </p:pic>
      <p:sp>
        <p:nvSpPr>
          <p:cNvPr id="6" name="楕円 5">
            <a:extLst>
              <a:ext uri="{FF2B5EF4-FFF2-40B4-BE49-F238E27FC236}">
                <a16:creationId xmlns:a16="http://schemas.microsoft.com/office/drawing/2014/main" id="{F3BEEE59-D481-2683-260A-8385B61EFA81}"/>
              </a:ext>
            </a:extLst>
          </p:cNvPr>
          <p:cNvSpPr/>
          <p:nvPr/>
        </p:nvSpPr>
        <p:spPr bwMode="auto">
          <a:xfrm>
            <a:off x="6552022" y="3248998"/>
            <a:ext cx="270003" cy="270003"/>
          </a:xfrm>
          <a:prstGeom prst="ellipse">
            <a:avLst/>
          </a:prstGeom>
          <a:noFill/>
          <a:ln w="28575">
            <a:solidFill>
              <a:schemeClr val="accent6"/>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1926332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09B5DC-F8CA-C55F-BFBB-1B5752A4BFE8}"/>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3A5A566C-0471-B938-B941-0450ECF50318}"/>
              </a:ext>
            </a:extLst>
          </p:cNvPr>
          <p:cNvSpPr>
            <a:spLocks noGrp="1"/>
          </p:cNvSpPr>
          <p:nvPr>
            <p:ph sz="quarter" idx="10"/>
          </p:nvPr>
        </p:nvSpPr>
        <p:spPr/>
        <p:txBody>
          <a:bodyPr/>
          <a:lstStyle/>
          <a:p>
            <a:r>
              <a:rPr lang="ja-JP" altLang="en-US" dirty="0"/>
              <a:t>今回の課題もより一層テストが不安になりました。</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110439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56E33-B72A-11CD-4378-90C24BC84D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E20AD1-B9E0-EE1B-7BC9-CAD65BD004B6}"/>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3B55697C-11CE-06CC-1A75-5629D8DC0F17}"/>
              </a:ext>
            </a:extLst>
          </p:cNvPr>
          <p:cNvSpPr>
            <a:spLocks noGrp="1"/>
          </p:cNvSpPr>
          <p:nvPr>
            <p:ph sz="quarter" idx="10"/>
          </p:nvPr>
        </p:nvSpPr>
        <p:spPr/>
        <p:txBody>
          <a:bodyPr/>
          <a:lstStyle/>
          <a:p>
            <a:r>
              <a:rPr lang="ja-JP" altLang="en-US" dirty="0"/>
              <a:t>パイプライン段数を増やしていっても無限に早くなるわけではないというのを聞いて、どこかで聞いた「プログラマーの数を増やせば反比例でプログラム作成にかかる日数が短くなるわけではない」という話を思い出した。</a:t>
            </a:r>
            <a:endParaRPr lang="en-US" altLang="ja-JP"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55546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988A6-6E55-1F16-75E3-AFB631D3E8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A7D61B-FA1B-9242-2B2F-66440720B877}"/>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41FC7B77-6EF1-A654-8EBE-9D7299EDD1E9}"/>
              </a:ext>
            </a:extLst>
          </p:cNvPr>
          <p:cNvSpPr>
            <a:spLocks noGrp="1"/>
          </p:cNvSpPr>
          <p:nvPr>
            <p:ph sz="quarter" idx="10"/>
          </p:nvPr>
        </p:nvSpPr>
        <p:spPr/>
        <p:txBody>
          <a:bodyPr/>
          <a:lstStyle/>
          <a:p>
            <a:r>
              <a:rPr lang="ja-JP" altLang="en-US"/>
              <a:t>パイプライン方式では、仮想的にラインを複数同時に扱うために、コストやスペースが多く必要になったりしないのでしょうか。</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4143888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E426A-D592-081D-F9A4-2158B06656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41FA83-8A28-8B1E-1108-93C778CCC94B}"/>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1CD1D835-C9E7-27A5-6A02-F816A4932702}"/>
              </a:ext>
            </a:extLst>
          </p:cNvPr>
          <p:cNvSpPr>
            <a:spLocks noGrp="1"/>
          </p:cNvSpPr>
          <p:nvPr>
            <p:ph sz="quarter" idx="10"/>
          </p:nvPr>
        </p:nvSpPr>
        <p:spPr/>
        <p:txBody>
          <a:bodyPr/>
          <a:lstStyle/>
          <a:p>
            <a:r>
              <a:rPr lang="ja-JP" altLang="en-US" dirty="0"/>
              <a:t>講義資料</a:t>
            </a:r>
            <a:r>
              <a:rPr lang="en-US" altLang="ja-JP" dirty="0"/>
              <a:t>39</a:t>
            </a:r>
            <a:r>
              <a:rPr lang="ja-JP" altLang="en-US" dirty="0"/>
              <a:t>ページのような図は飽きるほど書いたことがあるのですが、課題であるような</a:t>
            </a:r>
            <a:r>
              <a:rPr lang="en-US" altLang="ja-JP" dirty="0"/>
              <a:t>P</a:t>
            </a:r>
            <a:r>
              <a:rPr lang="ja-JP" altLang="en-US" dirty="0"/>
              <a:t>型、</a:t>
            </a:r>
            <a:r>
              <a:rPr lang="en-US" altLang="ja-JP" dirty="0"/>
              <a:t>N</a:t>
            </a:r>
            <a:r>
              <a:rPr lang="ja-JP" altLang="en-US" dirty="0"/>
              <a:t>型で作られる</a:t>
            </a:r>
            <a:r>
              <a:rPr lang="en-US" altLang="ja-JP" dirty="0"/>
              <a:t>NAND</a:t>
            </a:r>
            <a:r>
              <a:rPr lang="ja-JP" altLang="en-US" dirty="0"/>
              <a:t>ゲートは見覚えがないので課題があっているか不安です。</a:t>
            </a:r>
            <a:endParaRPr lang="ja-JP" altLang="en-US" b="0" i="0" dirty="0">
              <a:solidFill>
                <a:srgbClr val="000000"/>
              </a:solidFill>
              <a:effectLst/>
              <a:latin typeface="Meiryo" panose="020B0604030504040204" pitchFamily="50" charset="-128"/>
              <a:ea typeface="Meiryo" panose="020B0604030504040204" pitchFamily="50" charset="-128"/>
            </a:endParaRPr>
          </a:p>
        </p:txBody>
      </p:sp>
      <p:pic>
        <p:nvPicPr>
          <p:cNvPr id="7" name="図 6">
            <a:extLst>
              <a:ext uri="{FF2B5EF4-FFF2-40B4-BE49-F238E27FC236}">
                <a16:creationId xmlns:a16="http://schemas.microsoft.com/office/drawing/2014/main" id="{7AD0B8DC-697E-99C0-92E3-9DEEC3A9C7C6}"/>
              </a:ext>
            </a:extLst>
          </p:cNvPr>
          <p:cNvPicPr>
            <a:picLocks noChangeAspect="1"/>
          </p:cNvPicPr>
          <p:nvPr/>
        </p:nvPicPr>
        <p:blipFill>
          <a:blip r:embed="rId2"/>
          <a:stretch>
            <a:fillRect/>
          </a:stretch>
        </p:blipFill>
        <p:spPr>
          <a:xfrm>
            <a:off x="2591978" y="4509012"/>
            <a:ext cx="3523658" cy="1335020"/>
          </a:xfrm>
          <a:prstGeom prst="rect">
            <a:avLst/>
          </a:prstGeom>
        </p:spPr>
      </p:pic>
    </p:spTree>
    <p:extLst>
      <p:ext uri="{BB962C8B-B14F-4D97-AF65-F5344CB8AC3E}">
        <p14:creationId xmlns:p14="http://schemas.microsoft.com/office/powerpoint/2010/main" val="1093434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EF963-E9C1-B8B3-2A7B-BB1A6B6BA3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6BFB3F-159C-E100-F6C9-D97E68D1AAE7}"/>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65EEB356-A512-DC3F-04CA-ED95F6E28249}"/>
              </a:ext>
            </a:extLst>
          </p:cNvPr>
          <p:cNvSpPr>
            <a:spLocks noGrp="1"/>
          </p:cNvSpPr>
          <p:nvPr>
            <p:ph sz="quarter" idx="10"/>
          </p:nvPr>
        </p:nvSpPr>
        <p:spPr/>
        <p:txBody>
          <a:bodyPr/>
          <a:lstStyle/>
          <a:p>
            <a:r>
              <a:rPr lang="ja-JP" altLang="en-US" dirty="0"/>
              <a:t>コンピュータに使われているような</a:t>
            </a:r>
            <a:r>
              <a:rPr lang="en-US" altLang="ja-JP" dirty="0"/>
              <a:t>CPU</a:t>
            </a:r>
            <a:r>
              <a:rPr lang="ja-JP" altLang="en-US" dirty="0"/>
              <a:t>は</a:t>
            </a:r>
            <a:r>
              <a:rPr lang="en-US" altLang="ja-JP" dirty="0"/>
              <a:t>3,4</a:t>
            </a:r>
            <a:r>
              <a:rPr lang="ja-JP" altLang="en-US" dirty="0"/>
              <a:t>個並行して処理しているとのことですが、それは高速に</a:t>
            </a:r>
            <a:r>
              <a:rPr lang="en-US" altLang="ja-JP" dirty="0"/>
              <a:t>3,4</a:t>
            </a:r>
            <a:r>
              <a:rPr lang="ja-JP" altLang="en-US" dirty="0"/>
              <a:t>個の処理を順番に行なっているのですか？</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9297688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0B758-5259-1022-9287-4D03BCF529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E486DE-4FC1-BA00-3D81-73C137AB46F1}"/>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0F49768F-98D8-2F53-115E-FD559A5A82FF}"/>
              </a:ext>
            </a:extLst>
          </p:cNvPr>
          <p:cNvSpPr>
            <a:spLocks noGrp="1"/>
          </p:cNvSpPr>
          <p:nvPr>
            <p:ph sz="quarter" idx="10"/>
          </p:nvPr>
        </p:nvSpPr>
        <p:spPr/>
        <p:txBody>
          <a:bodyPr/>
          <a:lstStyle/>
          <a:p>
            <a:r>
              <a:rPr lang="ja-JP" altLang="en-US" dirty="0"/>
              <a:t>コンデンサーを高校物理で習っていたが、ここで使われるとは思わなかったです。習ってる時は何を習っているのか、これがなんの役に立つのかもわからなかったのですが、確かに初見でこれをやるよりは前提知識があるので高校で物理を選択していてよかったです。</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982394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533E9-5FEC-C852-72D7-7E5FA472BD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39608D-DD67-BD63-A031-A0C0E36632E1}"/>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004F5C2B-C20B-6FA4-502C-D3F294FD2989}"/>
              </a:ext>
            </a:extLst>
          </p:cNvPr>
          <p:cNvSpPr>
            <a:spLocks noGrp="1"/>
          </p:cNvSpPr>
          <p:nvPr>
            <p:ph sz="quarter" idx="10"/>
          </p:nvPr>
        </p:nvSpPr>
        <p:spPr/>
        <p:txBody>
          <a:bodyPr/>
          <a:lstStyle/>
          <a:p>
            <a:r>
              <a:rPr lang="ja-JP" altLang="en-US" dirty="0"/>
              <a:t>大学に入学したばかりの頃、パソコンを購入する際に「クロック周波数」という項目があるのを見かけましたが、そのときは意味が分からず、特に気にせず選んでいました。</a:t>
            </a:r>
            <a:endParaRPr lang="en-US" altLang="ja-JP" dirty="0"/>
          </a:p>
          <a:p>
            <a:r>
              <a:rPr lang="ja-JP" altLang="en-US" dirty="0"/>
              <a:t>今回の授業でパイプライン化やクロック周期、クロック周波数について学ぶ中で、あのときのクロック周波数はこのことだったのか、と気づき、とても興味深く感じました。</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580474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5D64-CB96-57F4-72AB-DE3B52B649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118880-26DC-9C03-8F26-317DEFC575DA}"/>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CE4D5BAC-2473-5FE5-410D-B33283623510}"/>
              </a:ext>
            </a:extLst>
          </p:cNvPr>
          <p:cNvSpPr>
            <a:spLocks noGrp="1"/>
          </p:cNvSpPr>
          <p:nvPr>
            <p:ph sz="quarter" idx="10"/>
          </p:nvPr>
        </p:nvSpPr>
        <p:spPr/>
        <p:txBody>
          <a:bodyPr/>
          <a:lstStyle/>
          <a:p>
            <a:r>
              <a:rPr lang="ja-JP" altLang="en-US"/>
              <a:t>今回の内容はかなりすんなりと理解できました。ようやく去年勉強したこととこの授業で学んだことが身についてきた感じがします</a:t>
            </a:r>
            <a:r>
              <a:rPr lang="en-US" altLang="ja-JP"/>
              <a:t>(</a:t>
            </a:r>
            <a:r>
              <a:rPr lang="ja-JP" altLang="en-US"/>
              <a:t>涙</a:t>
            </a:r>
            <a:r>
              <a:rPr lang="en-US" altLang="ja-JP"/>
              <a:t>)</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1323971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69B1-7E9E-A49D-0415-D0F76132B5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5273C4-ADEA-F79A-34D8-08E3C1930B4D}"/>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BB9B99CB-DEA0-6B71-FD0C-95C3D235B98C}"/>
              </a:ext>
            </a:extLst>
          </p:cNvPr>
          <p:cNvSpPr>
            <a:spLocks noGrp="1"/>
          </p:cNvSpPr>
          <p:nvPr>
            <p:ph sz="quarter" idx="10"/>
          </p:nvPr>
        </p:nvSpPr>
        <p:spPr/>
        <p:txBody>
          <a:bodyPr/>
          <a:lstStyle/>
          <a:p>
            <a:r>
              <a:rPr lang="ja-JP" altLang="en-US" dirty="0"/>
              <a:t>最後に紹介されていたゲームをやりたいと思ったのですが日本語版がなくて怖気付きました。</a:t>
            </a:r>
            <a:endParaRPr lang="en-US" altLang="ja-JP" dirty="0"/>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たぶん，英語がそんなにわからなくても大丈夫だと思う</a:t>
            </a:r>
          </a:p>
        </p:txBody>
      </p:sp>
    </p:spTree>
    <p:extLst>
      <p:ext uri="{BB962C8B-B14F-4D97-AF65-F5344CB8AC3E}">
        <p14:creationId xmlns:p14="http://schemas.microsoft.com/office/powerpoint/2010/main" val="2542574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8B7C-41E0-AE93-9B89-7121FE578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DBAF9C-0505-0B6C-7C10-A6622FA5F980}"/>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7129E35C-74F2-F60A-ECEE-7E88D41F24B7}"/>
              </a:ext>
            </a:extLst>
          </p:cNvPr>
          <p:cNvSpPr>
            <a:spLocks noGrp="1"/>
          </p:cNvSpPr>
          <p:nvPr>
            <p:ph sz="quarter" idx="10"/>
          </p:nvPr>
        </p:nvSpPr>
        <p:spPr/>
        <p:txBody>
          <a:bodyPr/>
          <a:lstStyle/>
          <a:p>
            <a:r>
              <a:rPr lang="ja-JP" altLang="en-US" dirty="0"/>
              <a:t>課題を取り組む中で思ったのですが、</a:t>
            </a:r>
            <a:r>
              <a:rPr lang="en-US" altLang="ja-JP" dirty="0"/>
              <a:t>P</a:t>
            </a:r>
            <a:r>
              <a:rPr lang="ja-JP" altLang="en-US" dirty="0"/>
              <a:t>型と</a:t>
            </a:r>
            <a:r>
              <a:rPr lang="en-US" altLang="ja-JP" dirty="0"/>
              <a:t>N</a:t>
            </a:r>
            <a:r>
              <a:rPr lang="ja-JP" altLang="en-US" dirty="0"/>
              <a:t>型がどちらも閉じていて直列の時の値はどうなりますか？また、有り得ない組み合わせかたはありますか？</a:t>
            </a:r>
            <a:endParaRPr lang="en-US" altLang="ja-JP" dirty="0"/>
          </a:p>
          <a:p>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どちらも閉じる状態が生じないように回路を組みます</a:t>
            </a:r>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en-US" altLang="ja-JP" b="0" i="0" dirty="0">
                <a:solidFill>
                  <a:srgbClr val="000000"/>
                </a:solidFill>
                <a:effectLst/>
                <a:latin typeface="Meiryo" panose="020B0604030504040204" pitchFamily="50" charset="-128"/>
                <a:ea typeface="Meiryo" panose="020B0604030504040204" pitchFamily="50" charset="-128"/>
              </a:rPr>
              <a:t>=</a:t>
            </a:r>
            <a:r>
              <a:rPr lang="ja-JP" altLang="en-US" b="0" i="0" dirty="0">
                <a:solidFill>
                  <a:srgbClr val="000000"/>
                </a:solidFill>
                <a:effectLst/>
                <a:latin typeface="Meiryo" panose="020B0604030504040204" pitchFamily="50" charset="-128"/>
                <a:ea typeface="Meiryo" panose="020B0604030504040204" pitchFamily="50" charset="-128"/>
              </a:rPr>
              <a:t>どちらも同時に閉じる状態があるなら，何か間違ってる</a:t>
            </a:r>
          </a:p>
        </p:txBody>
      </p:sp>
    </p:spTree>
    <p:extLst>
      <p:ext uri="{BB962C8B-B14F-4D97-AF65-F5344CB8AC3E}">
        <p14:creationId xmlns:p14="http://schemas.microsoft.com/office/powerpoint/2010/main" val="3433828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1B49C-20AE-A158-178F-5A7012F856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2C5240-C56A-45BB-9266-5668723014E8}"/>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BD51550F-E287-84B8-9044-801C849C4C2B}"/>
              </a:ext>
            </a:extLst>
          </p:cNvPr>
          <p:cNvSpPr>
            <a:spLocks noGrp="1"/>
          </p:cNvSpPr>
          <p:nvPr>
            <p:ph sz="quarter" idx="10"/>
          </p:nvPr>
        </p:nvSpPr>
        <p:spPr/>
        <p:txBody>
          <a:bodyPr/>
          <a:lstStyle/>
          <a:p>
            <a:r>
              <a:rPr lang="ja-JP" altLang="en-US" dirty="0"/>
              <a:t>パイプライン化では１つのステージで問題が起きて処理が完了されなくなった時、すでにそのステージを超えている命令の処理もラッチによって止まってしまうのは問題にならないのかなと思いました。</a:t>
            </a:r>
            <a:r>
              <a:rPr lang="en-US" altLang="ja-JP" dirty="0"/>
              <a:t>(</a:t>
            </a:r>
            <a:r>
              <a:rPr lang="ja-JP" altLang="en-US" dirty="0"/>
              <a:t>例えば命令</a:t>
            </a:r>
            <a:r>
              <a:rPr lang="en-US" altLang="ja-JP" dirty="0"/>
              <a:t>I1</a:t>
            </a:r>
            <a:r>
              <a:rPr lang="ja-JP" altLang="en-US" dirty="0"/>
              <a:t>の</a:t>
            </a:r>
            <a:r>
              <a:rPr lang="en-US" altLang="ja-JP" dirty="0"/>
              <a:t>IF</a:t>
            </a:r>
            <a:r>
              <a:rPr lang="ja-JP" altLang="en-US" dirty="0"/>
              <a:t>での処理が止まった時すでに</a:t>
            </a:r>
            <a:r>
              <a:rPr lang="en-US" altLang="ja-JP" dirty="0"/>
              <a:t>ID</a:t>
            </a:r>
            <a:r>
              <a:rPr lang="ja-JP" altLang="en-US" dirty="0"/>
              <a:t>のステージにある命令</a:t>
            </a:r>
            <a:r>
              <a:rPr lang="en-US" altLang="ja-JP" dirty="0"/>
              <a:t>I0</a:t>
            </a:r>
            <a:r>
              <a:rPr lang="ja-JP" altLang="en-US" dirty="0"/>
              <a:t>の処理も止まってしまうみたいな</a:t>
            </a:r>
            <a:r>
              <a:rPr lang="en-US" altLang="ja-JP" dirty="0"/>
              <a:t>)</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867683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14A3-23E9-7184-61FD-B26FE816DD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E4A10B-7673-7CBE-5C7E-F9647F67649A}"/>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87032623-465E-2A3D-CFC0-E5BF24F92104}"/>
              </a:ext>
            </a:extLst>
          </p:cNvPr>
          <p:cNvSpPr>
            <a:spLocks noGrp="1"/>
          </p:cNvSpPr>
          <p:nvPr>
            <p:ph sz="quarter" idx="10"/>
          </p:nvPr>
        </p:nvSpPr>
        <p:spPr/>
        <p:txBody>
          <a:bodyPr/>
          <a:lstStyle/>
          <a:p>
            <a:r>
              <a:rPr lang="ja-JP" altLang="en-US" dirty="0"/>
              <a:t>パイプラインの段数を増やすことと速度の関係が、アキレスと亀の問題みたいだと思った。</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651637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A05D2-1063-7198-E4C6-FCBB55AA7A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58CC99-949B-D696-7210-0E197091542B}"/>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E1A81948-9D9C-7469-18AE-573C25172BFF}"/>
              </a:ext>
            </a:extLst>
          </p:cNvPr>
          <p:cNvSpPr>
            <a:spLocks noGrp="1"/>
          </p:cNvSpPr>
          <p:nvPr>
            <p:ph sz="quarter" idx="10"/>
          </p:nvPr>
        </p:nvSpPr>
        <p:spPr/>
        <p:txBody>
          <a:bodyPr/>
          <a:lstStyle/>
          <a:p>
            <a:r>
              <a:rPr lang="ja-JP" altLang="en-US" dirty="0"/>
              <a:t>パイプライン化の話が難しく、雰囲気を掴む程度しかできませんでした。今後の課題や授業を通して、少しずつ理解していけるといいなと思います。</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914091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AAF86-B58C-5ABD-100E-B73EC6C8FB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B309F5-7179-8706-650B-E85A50AAB855}"/>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4A37705A-39B2-B40B-2198-CCA4BACFA6CE}"/>
              </a:ext>
            </a:extLst>
          </p:cNvPr>
          <p:cNvSpPr>
            <a:spLocks noGrp="1"/>
          </p:cNvSpPr>
          <p:nvPr>
            <p:ph sz="quarter" idx="10"/>
          </p:nvPr>
        </p:nvSpPr>
        <p:spPr/>
        <p:txBody>
          <a:bodyPr/>
          <a:lstStyle/>
          <a:p>
            <a:r>
              <a:rPr lang="en-US" altLang="ja-JP" dirty="0"/>
              <a:t>P</a:t>
            </a:r>
            <a:r>
              <a:rPr lang="ja-JP" altLang="en-US" dirty="0"/>
              <a:t>型</a:t>
            </a:r>
            <a:r>
              <a:rPr lang="en-US" altLang="ja-JP" dirty="0"/>
              <a:t>/N</a:t>
            </a:r>
            <a:r>
              <a:rPr lang="ja-JP" altLang="en-US" dirty="0"/>
              <a:t>型リレーについて、前回理解した気になっていたのですが、実際に今回の課題を解いたことで、自分が理解していない部分が見えてきたので良かったです。課題をやることでやっと理解するという事が多く、演習問題のようなものがあれば解きたいなと思うので、この授業の内容と合った問題が載っている本やサイトがあったら教えていただけると幸いです。</a:t>
            </a:r>
            <a:endParaRPr lang="en-US" altLang="ja-JP" dirty="0"/>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とりあえず講義のページにある演習問題をやってみてください</a:t>
            </a:r>
          </a:p>
        </p:txBody>
      </p:sp>
    </p:spTree>
    <p:extLst>
      <p:ext uri="{BB962C8B-B14F-4D97-AF65-F5344CB8AC3E}">
        <p14:creationId xmlns:p14="http://schemas.microsoft.com/office/powerpoint/2010/main" val="1720516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8093F-3291-4F04-E61E-B2AE573547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705F98-4DD5-218E-F446-D086CB1BD215}"/>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358B5D59-4B72-E683-6FE3-AC7EAA0EFFFA}"/>
              </a:ext>
            </a:extLst>
          </p:cNvPr>
          <p:cNvSpPr>
            <a:spLocks noGrp="1"/>
          </p:cNvSpPr>
          <p:nvPr>
            <p:ph sz="quarter" idx="10"/>
          </p:nvPr>
        </p:nvSpPr>
        <p:spPr/>
        <p:txBody>
          <a:bodyPr/>
          <a:lstStyle/>
          <a:p>
            <a:r>
              <a:rPr lang="ja-JP" altLang="en-US" dirty="0"/>
              <a:t>今回の課題のような</a:t>
            </a:r>
            <a:r>
              <a:rPr lang="en-US" altLang="ja-JP" dirty="0"/>
              <a:t>P</a:t>
            </a:r>
            <a:r>
              <a:rPr lang="ja-JP" altLang="en-US" dirty="0"/>
              <a:t>型</a:t>
            </a:r>
            <a:r>
              <a:rPr lang="en-US" altLang="ja-JP" dirty="0"/>
              <a:t>/N</a:t>
            </a:r>
            <a:r>
              <a:rPr lang="ja-JP" altLang="en-US" dirty="0"/>
              <a:t>型リレーを使って書く問題の場合、スイッチのオンオフは、好きな入力例</a:t>
            </a:r>
            <a:r>
              <a:rPr lang="en-US" altLang="ja-JP" dirty="0"/>
              <a:t>(</a:t>
            </a:r>
            <a:r>
              <a:rPr lang="ja-JP" altLang="en-US" dirty="0"/>
              <a:t>例えば入力</a:t>
            </a:r>
            <a:r>
              <a:rPr lang="en-US" altLang="ja-JP" dirty="0"/>
              <a:t>a</a:t>
            </a:r>
            <a:r>
              <a:rPr lang="ja-JP" altLang="en-US" dirty="0"/>
              <a:t>が</a:t>
            </a:r>
            <a:r>
              <a:rPr lang="en-US" altLang="ja-JP" dirty="0"/>
              <a:t>1</a:t>
            </a:r>
            <a:r>
              <a:rPr lang="ja-JP" altLang="en-US" dirty="0"/>
              <a:t>で入力</a:t>
            </a:r>
            <a:r>
              <a:rPr lang="en-US" altLang="ja-JP" dirty="0"/>
              <a:t>b</a:t>
            </a:r>
            <a:r>
              <a:rPr lang="ja-JP" altLang="en-US" dirty="0"/>
              <a:t>が</a:t>
            </a:r>
            <a:r>
              <a:rPr lang="en-US" altLang="ja-JP" dirty="0"/>
              <a:t>0)</a:t>
            </a:r>
            <a:r>
              <a:rPr lang="ja-JP" altLang="en-US" dirty="0"/>
              <a:t>を選んで書いていいのでしょうか？</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6011995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DB73D-BD38-9B60-F622-FC36C77253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71B791-FC60-065F-0C98-086D4A7E1FEF}"/>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04972CFE-81E9-4810-F071-04D2DE58F5F9}"/>
              </a:ext>
            </a:extLst>
          </p:cNvPr>
          <p:cNvSpPr>
            <a:spLocks noGrp="1"/>
          </p:cNvSpPr>
          <p:nvPr>
            <p:ph sz="quarter" idx="10"/>
          </p:nvPr>
        </p:nvSpPr>
        <p:spPr/>
        <p:txBody>
          <a:bodyPr/>
          <a:lstStyle/>
          <a:p>
            <a:r>
              <a:rPr lang="ja-JP" altLang="en-US" dirty="0"/>
              <a:t>レイテンシとスループットについての話を聞いた時は、他の授業でパイプライン化について学んだ際にパイプライン化はただ処理を速くするものという認識をしていたため、レイテンシは短くならないどころか逆にやや延びることもあると知って驚いた。</a:t>
            </a:r>
            <a:endParaRPr lang="en-US" altLang="ja-JP" dirty="0"/>
          </a:p>
          <a:p>
            <a:r>
              <a:rPr lang="ja-JP" altLang="en-US" dirty="0"/>
              <a:t>また、パイプライン化によって、一続きの処理における処理時間は長くなることがあるが命令数に着目すると単位時間当たりの処理命令数が増えるということは、処理する命令が多くなるにつれてパイプライン化の効果は現れやすくなり、より効果的な手段であると言えるようになるということなのかと疑問に思った。</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4109866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0653-B9A3-A42D-DB33-FC2F247743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841055-8066-CE01-1FCC-B59E58D5BCB2}"/>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DB0C6355-16A9-696F-4EF4-084E92BA95DC}"/>
              </a:ext>
            </a:extLst>
          </p:cNvPr>
          <p:cNvSpPr>
            <a:spLocks noGrp="1"/>
          </p:cNvSpPr>
          <p:nvPr>
            <p:ph sz="quarter" idx="10"/>
          </p:nvPr>
        </p:nvSpPr>
        <p:spPr/>
        <p:txBody>
          <a:bodyPr/>
          <a:lstStyle/>
          <a:p>
            <a:r>
              <a:rPr lang="ja-JP" altLang="en-US" dirty="0"/>
              <a:t>ただ、私は知識が浅く、シングル・サイクル・プロセッサの動作の説明が漠然としか理解できなかったので、もう一度調べながら復習しようと思います。</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448839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D9A8E-E0D1-1716-F3BB-8D5F3A2539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380C6B-A4FB-F115-AB09-DCC266C06315}"/>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28246099-F18D-EA50-FB87-3F6416A6F0AE}"/>
              </a:ext>
            </a:extLst>
          </p:cNvPr>
          <p:cNvSpPr>
            <a:spLocks noGrp="1"/>
          </p:cNvSpPr>
          <p:nvPr>
            <p:ph sz="quarter" idx="10"/>
          </p:nvPr>
        </p:nvSpPr>
        <p:spPr/>
        <p:txBody>
          <a:bodyPr/>
          <a:lstStyle/>
          <a:p>
            <a:r>
              <a:rPr lang="ja-JP" altLang="en-US" dirty="0"/>
              <a:t>課題５のような問題について、スイッチの開閉状態は真理値表のうちどの行を表す状態で書いても良いのでしょうか。普通この行で書くというような基本はありますか？</a:t>
            </a:r>
            <a:endParaRPr lang="en-US" altLang="ja-JP" dirty="0"/>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どれかの行に対応していれば，それで良いです</a:t>
            </a:r>
          </a:p>
        </p:txBody>
      </p:sp>
    </p:spTree>
    <p:extLst>
      <p:ext uri="{BB962C8B-B14F-4D97-AF65-F5344CB8AC3E}">
        <p14:creationId xmlns:p14="http://schemas.microsoft.com/office/powerpoint/2010/main" val="35496216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4746-0B6E-DEC3-617C-F8F3C7EF70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1586B5-AEA1-890A-6BD8-043443F074CE}"/>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DC5295A4-37E1-C93A-AD3B-12ED42120812}"/>
              </a:ext>
            </a:extLst>
          </p:cNvPr>
          <p:cNvSpPr>
            <a:spLocks noGrp="1"/>
          </p:cNvSpPr>
          <p:nvPr>
            <p:ph sz="quarter" idx="10"/>
          </p:nvPr>
        </p:nvSpPr>
        <p:spPr/>
        <p:txBody>
          <a:bodyPr/>
          <a:lstStyle/>
          <a:p>
            <a:r>
              <a:rPr lang="ja-JP" altLang="en-US" dirty="0"/>
              <a:t>数字をレジスタに入れるか数字のまま書くかによって何か違いは出るのでしょうか。どちらに統一した方がよいなどのルールはあればご教示いただきたいです。</a:t>
            </a:r>
            <a:endParaRPr lang="en-US" altLang="ja-JP" dirty="0"/>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数字のまま書く（即値）と命令数が減るので楽です</a:t>
            </a:r>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プログラム中で計算される値は即値に出来ないので注意</a:t>
            </a:r>
          </a:p>
        </p:txBody>
      </p:sp>
    </p:spTree>
    <p:extLst>
      <p:ext uri="{BB962C8B-B14F-4D97-AF65-F5344CB8AC3E}">
        <p14:creationId xmlns:p14="http://schemas.microsoft.com/office/powerpoint/2010/main" val="1404055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4A908-8669-7E3E-59EF-4E0047DBCA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B90059-B683-B14C-25B3-B766F2F119F2}"/>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ED107A0B-DF2E-4AD2-B7A0-7969045C2C6F}"/>
              </a:ext>
            </a:extLst>
          </p:cNvPr>
          <p:cNvSpPr>
            <a:spLocks noGrp="1"/>
          </p:cNvSpPr>
          <p:nvPr>
            <p:ph sz="quarter" idx="10"/>
          </p:nvPr>
        </p:nvSpPr>
        <p:spPr/>
        <p:txBody>
          <a:bodyPr/>
          <a:lstStyle/>
          <a:p>
            <a:r>
              <a:rPr lang="ja-JP" altLang="en-US" dirty="0"/>
              <a:t>第</a:t>
            </a:r>
            <a:r>
              <a:rPr lang="en-US" altLang="ja-JP" dirty="0"/>
              <a:t>4</a:t>
            </a:r>
            <a:r>
              <a:rPr lang="ja-JP" altLang="en-US" dirty="0"/>
              <a:t>回課題について、</a:t>
            </a:r>
            <a:r>
              <a:rPr lang="en-US" altLang="ja-JP" dirty="0"/>
              <a:t>B</a:t>
            </a:r>
            <a:r>
              <a:rPr lang="ja-JP" altLang="en-US" dirty="0"/>
              <a:t>に</a:t>
            </a:r>
            <a:r>
              <a:rPr lang="en-US" altLang="ja-JP" dirty="0"/>
              <a:t>0</a:t>
            </a:r>
            <a:r>
              <a:rPr lang="ja-JP" altLang="en-US" dirty="0"/>
              <a:t>を代入する必要があるのはなぜですか。最後の行で、</a:t>
            </a:r>
            <a:r>
              <a:rPr lang="en-US" altLang="ja-JP" dirty="0"/>
              <a:t>A</a:t>
            </a:r>
            <a:r>
              <a:rPr lang="ja-JP" altLang="en-US" dirty="0"/>
              <a:t>＞</a:t>
            </a:r>
            <a:r>
              <a:rPr lang="en-US" altLang="ja-JP" dirty="0"/>
              <a:t>0</a:t>
            </a:r>
            <a:r>
              <a:rPr lang="ja-JP" altLang="en-US" dirty="0"/>
              <a:t>としてはいけないのですか。</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762415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92690-C360-4B7A-0CD8-D95C553D64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AB74F3-A249-E455-0413-659E5D54A82A}"/>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2BE6C620-1176-4DF4-0311-77F0B960F46D}"/>
              </a:ext>
            </a:extLst>
          </p:cNvPr>
          <p:cNvSpPr>
            <a:spLocks noGrp="1"/>
          </p:cNvSpPr>
          <p:nvPr>
            <p:ph sz="quarter" idx="10"/>
          </p:nvPr>
        </p:nvSpPr>
        <p:spPr/>
        <p:txBody>
          <a:bodyPr/>
          <a:lstStyle/>
          <a:p>
            <a:r>
              <a:rPr lang="ja-JP" altLang="en-US" dirty="0"/>
              <a:t>命令パイプラインを見ていて、カエルの合唱の輪唱をしているようだと感じた。ラッチによってそれぞれの仕事が溜まったり、滞ったりしないようにするという仕組みは、興味深かった。人間の工場ラインと似ているような部分も多く、理解しやすかった。</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561613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5DC8C-512C-1991-1FA9-34351FE5E9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72C283-D209-146A-4663-345E5014981F}"/>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05B7E6DC-BEE5-03D8-813B-0FDF586AF621}"/>
              </a:ext>
            </a:extLst>
          </p:cNvPr>
          <p:cNvSpPr>
            <a:spLocks noGrp="1"/>
          </p:cNvSpPr>
          <p:nvPr>
            <p:ph sz="quarter" idx="10"/>
          </p:nvPr>
        </p:nvSpPr>
        <p:spPr/>
        <p:txBody>
          <a:bodyPr/>
          <a:lstStyle/>
          <a:p>
            <a:r>
              <a:rPr lang="ja-JP" altLang="en-US" sz="1800" dirty="0"/>
              <a:t>パイプライン化において、作業する人の分だけ処理が高速になるという話がありましたが、高速化の程度は何を基準にしてはかられているのか疑問に感じました。</a:t>
            </a:r>
            <a:br>
              <a:rPr lang="en-US" altLang="ja-JP" sz="1800" dirty="0"/>
            </a:br>
            <a:r>
              <a:rPr lang="ja-JP" altLang="en-US" sz="1800" dirty="0"/>
              <a:t>というのは、第５回の資料の</a:t>
            </a:r>
            <a:r>
              <a:rPr lang="en-US" altLang="ja-JP" sz="1800" dirty="0"/>
              <a:t>15</a:t>
            </a:r>
            <a:r>
              <a:rPr lang="ja-JP" altLang="en-US" sz="1800" dirty="0"/>
              <a:t>ページの図を見ると、パイプライン化しなかった場合は</a:t>
            </a:r>
            <a:r>
              <a:rPr lang="en-US" altLang="ja-JP" sz="1800" dirty="0"/>
              <a:t>1</a:t>
            </a:r>
            <a:r>
              <a:rPr lang="ja-JP" altLang="en-US" sz="1800" dirty="0"/>
              <a:t>人で製品を全て作っているためトータルでステージ</a:t>
            </a:r>
            <a:r>
              <a:rPr lang="en-US" altLang="ja-JP" sz="1800" dirty="0"/>
              <a:t>12</a:t>
            </a:r>
            <a:r>
              <a:rPr lang="ja-JP" altLang="en-US" sz="1800" dirty="0"/>
              <a:t>個分の時間がかかり、パイプライン化した場合は製品を作るプロセスを</a:t>
            </a:r>
            <a:r>
              <a:rPr lang="en-US" altLang="ja-JP" sz="1800" dirty="0"/>
              <a:t>4</a:t>
            </a:r>
            <a:r>
              <a:rPr lang="ja-JP" altLang="en-US" sz="1800" dirty="0"/>
              <a:t>つのステージに分けて</a:t>
            </a:r>
            <a:r>
              <a:rPr lang="en-US" altLang="ja-JP" sz="1800" dirty="0"/>
              <a:t>4</a:t>
            </a:r>
            <a:r>
              <a:rPr lang="ja-JP" altLang="en-US" sz="1800" dirty="0"/>
              <a:t>人で作業を並行して行なっていてトータルではステージ</a:t>
            </a:r>
            <a:r>
              <a:rPr lang="en-US" altLang="ja-JP" sz="1800" dirty="0"/>
              <a:t>6</a:t>
            </a:r>
            <a:r>
              <a:rPr lang="ja-JP" altLang="en-US" sz="1800" dirty="0"/>
              <a:t>個分の時間がかかっています。結果、作業する人数は</a:t>
            </a:r>
            <a:r>
              <a:rPr lang="en-US" altLang="ja-JP" sz="1800" dirty="0"/>
              <a:t>4</a:t>
            </a:r>
            <a:r>
              <a:rPr lang="ja-JP" altLang="en-US" sz="1800" dirty="0"/>
              <a:t>倍になりましたが、同じ量の製品を作り終えるまでにかかった時間は</a:t>
            </a:r>
            <a:r>
              <a:rPr lang="en-US" altLang="ja-JP" sz="1800" dirty="0"/>
              <a:t>2</a:t>
            </a:r>
            <a:r>
              <a:rPr lang="ja-JP" altLang="en-US" sz="1800" dirty="0"/>
              <a:t>倍になっています。このとき、パイプライン化によって性能が</a:t>
            </a:r>
            <a:r>
              <a:rPr lang="en-US" altLang="ja-JP" sz="1800" dirty="0"/>
              <a:t>2</a:t>
            </a:r>
            <a:r>
              <a:rPr lang="ja-JP" altLang="en-US" sz="1800" dirty="0"/>
              <a:t>倍に向上したという認識でいいのでしょうか。それとも、時間以外の何かしらの基準に基づいて処理の速度が何倍になったかを決めているのでしょうか。</a:t>
            </a:r>
            <a:endParaRPr lang="en-US" altLang="ja-JP" sz="1800" dirty="0"/>
          </a:p>
          <a:p>
            <a:pPr lvl="1"/>
            <a:endParaRPr lang="en-US" altLang="ja-JP" sz="1800" b="0" i="0" dirty="0">
              <a:solidFill>
                <a:srgbClr val="000000"/>
              </a:solidFill>
              <a:effectLst/>
              <a:latin typeface="Meiryo" panose="020B0604030504040204" pitchFamily="50" charset="-128"/>
              <a:ea typeface="Meiryo" panose="020B0604030504040204" pitchFamily="50" charset="-128"/>
            </a:endParaRPr>
          </a:p>
          <a:p>
            <a:pPr lvl="1"/>
            <a:r>
              <a:rPr lang="ja-JP" altLang="en-US" sz="1800" b="0" i="0" dirty="0">
                <a:solidFill>
                  <a:srgbClr val="000000"/>
                </a:solidFill>
                <a:effectLst/>
                <a:latin typeface="Meiryo" panose="020B0604030504040204" pitchFamily="50" charset="-128"/>
                <a:ea typeface="Meiryo" panose="020B0604030504040204" pitchFamily="50" charset="-128"/>
              </a:rPr>
              <a:t>製品の個数が少ないときは「レイテンシ」が見えてしまう</a:t>
            </a:r>
            <a:endParaRPr lang="en-US" altLang="ja-JP" sz="1800" b="0" i="0" dirty="0">
              <a:solidFill>
                <a:srgbClr val="000000"/>
              </a:solidFill>
              <a:effectLst/>
              <a:latin typeface="Meiryo" panose="020B0604030504040204" pitchFamily="50" charset="-128"/>
              <a:ea typeface="Meiryo" panose="020B0604030504040204" pitchFamily="50" charset="-128"/>
            </a:endParaRPr>
          </a:p>
          <a:p>
            <a:pPr lvl="1"/>
            <a:r>
              <a:rPr lang="ja-JP" altLang="en-US" sz="1800" b="0" i="0" dirty="0">
                <a:solidFill>
                  <a:srgbClr val="000000"/>
                </a:solidFill>
                <a:effectLst/>
                <a:latin typeface="Meiryo" panose="020B0604030504040204" pitchFamily="50" charset="-128"/>
                <a:ea typeface="Meiryo" panose="020B0604030504040204" pitchFamily="50" charset="-128"/>
              </a:rPr>
              <a:t>無限個の製品を作ったときを考えると「スループット」が何倍になったのかがわかる</a:t>
            </a:r>
          </a:p>
        </p:txBody>
      </p:sp>
    </p:spTree>
    <p:extLst>
      <p:ext uri="{BB962C8B-B14F-4D97-AF65-F5344CB8AC3E}">
        <p14:creationId xmlns:p14="http://schemas.microsoft.com/office/powerpoint/2010/main" val="2742191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直線コネクタ 92"/>
          <p:cNvCxnSpPr/>
          <p:nvPr/>
        </p:nvCxnSpPr>
        <p:spPr bwMode="auto">
          <a:xfrm flipH="1">
            <a:off x="6912027" y="3338999"/>
            <a:ext cx="360003" cy="0"/>
          </a:xfrm>
          <a:prstGeom prst="line">
            <a:avLst/>
          </a:prstGeom>
          <a:noFill/>
          <a:ln w="9525" cap="flat" cmpd="sng" algn="ctr">
            <a:solidFill>
              <a:schemeClr val="tx1"/>
            </a:solidFill>
            <a:prstDash val="dash"/>
            <a:round/>
            <a:headEnd type="none" w="med" len="med"/>
            <a:tailEnd type="none" w="med" len="med"/>
          </a:ln>
          <a:effectLst/>
        </p:spPr>
      </p:cxnSp>
      <p:cxnSp>
        <p:nvCxnSpPr>
          <p:cNvPr id="89" name="直線コネクタ 88"/>
          <p:cNvCxnSpPr/>
          <p:nvPr/>
        </p:nvCxnSpPr>
        <p:spPr bwMode="auto">
          <a:xfrm>
            <a:off x="4932004" y="2618991"/>
            <a:ext cx="450005" cy="0"/>
          </a:xfrm>
          <a:prstGeom prst="line">
            <a:avLst/>
          </a:prstGeom>
          <a:noFill/>
          <a:ln w="9525" cap="flat" cmpd="sng" algn="ctr">
            <a:solidFill>
              <a:schemeClr val="tx1"/>
            </a:solidFill>
            <a:prstDash val="dash"/>
            <a:round/>
            <a:headEnd type="none" w="med" len="med"/>
            <a:tailEnd type="none" w="med" len="med"/>
          </a:ln>
          <a:effectLst/>
        </p:spPr>
      </p:cxnSp>
      <p:cxnSp>
        <p:nvCxnSpPr>
          <p:cNvPr id="86" name="直線コネクタ 85"/>
          <p:cNvCxnSpPr/>
          <p:nvPr/>
        </p:nvCxnSpPr>
        <p:spPr bwMode="auto">
          <a:xfrm>
            <a:off x="3131984" y="1988984"/>
            <a:ext cx="450005"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パイプライン化による性能向上</a:t>
            </a:r>
            <a:endParaRPr kumimoji="1" lang="ja-JP" altLang="en-US" dirty="0"/>
          </a:p>
        </p:txBody>
      </p:sp>
      <p:grpSp>
        <p:nvGrpSpPr>
          <p:cNvPr id="5" name="グループ化 4"/>
          <p:cNvGrpSpPr/>
          <p:nvPr/>
        </p:nvGrpSpPr>
        <p:grpSpPr>
          <a:xfrm>
            <a:off x="1205869" y="1845004"/>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cxnSp>
        <p:nvCxnSpPr>
          <p:cNvPr id="96" name="直線矢印コネクタ 95"/>
          <p:cNvCxnSpPr/>
          <p:nvPr/>
        </p:nvCxnSpPr>
        <p:spPr bwMode="auto">
          <a:xfrm>
            <a:off x="701957" y="1628980"/>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98" name="直線コネクタ 97"/>
          <p:cNvCxnSpPr/>
          <p:nvPr/>
        </p:nvCxnSpPr>
        <p:spPr bwMode="auto">
          <a:xfrm>
            <a:off x="4031994" y="5859027"/>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99" name="直線コネクタ 98"/>
          <p:cNvCxnSpPr/>
          <p:nvPr/>
        </p:nvCxnSpPr>
        <p:spPr bwMode="auto">
          <a:xfrm flipV="1">
            <a:off x="3311986" y="4599013"/>
            <a:ext cx="360004" cy="4708"/>
          </a:xfrm>
          <a:prstGeom prst="line">
            <a:avLst/>
          </a:prstGeom>
          <a:noFill/>
          <a:ln w="9525" cap="flat" cmpd="sng" algn="ctr">
            <a:solidFill>
              <a:schemeClr val="tx1"/>
            </a:solidFill>
            <a:prstDash val="dash"/>
            <a:round/>
            <a:headEnd type="none" w="med" len="med"/>
            <a:tailEnd type="none" w="med" len="med"/>
          </a:ln>
          <a:effectLst/>
        </p:spPr>
      </p:cxnSp>
      <p:cxnSp>
        <p:nvCxnSpPr>
          <p:cNvPr id="100" name="直線コネクタ 99"/>
          <p:cNvCxnSpPr/>
          <p:nvPr/>
        </p:nvCxnSpPr>
        <p:spPr bwMode="auto">
          <a:xfrm>
            <a:off x="3671990" y="5229020"/>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143" name="直線矢印コネクタ 142"/>
          <p:cNvCxnSpPr/>
          <p:nvPr/>
        </p:nvCxnSpPr>
        <p:spPr bwMode="auto">
          <a:xfrm>
            <a:off x="629949" y="4221268"/>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611956"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521955" y="378900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grpSp>
        <p:nvGrpSpPr>
          <p:cNvPr id="172" name="グループ化 171"/>
          <p:cNvGrpSpPr/>
          <p:nvPr/>
        </p:nvGrpSpPr>
        <p:grpSpPr>
          <a:xfrm>
            <a:off x="1242251"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grpSp>
        <p:nvGrpSpPr>
          <p:cNvPr id="185" name="グループ化 184"/>
          <p:cNvGrpSpPr/>
          <p:nvPr/>
        </p:nvGrpSpPr>
        <p:grpSpPr>
          <a:xfrm>
            <a:off x="1602255"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grpSp>
        <p:nvGrpSpPr>
          <p:cNvPr id="198" name="グループ化 197"/>
          <p:cNvGrpSpPr/>
          <p:nvPr/>
        </p:nvGrpSpPr>
        <p:grpSpPr>
          <a:xfrm>
            <a:off x="1962259"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sp>
        <p:nvSpPr>
          <p:cNvPr id="212" name="角丸四角形 211"/>
          <p:cNvSpPr/>
          <p:nvPr/>
        </p:nvSpPr>
        <p:spPr bwMode="auto">
          <a:xfrm>
            <a:off x="3581989" y="180898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ja-JP" altLang="en-US" dirty="0">
                <a:latin typeface="Arial Narrow" panose="020B0606020202030204" pitchFamily="34" charset="0"/>
              </a:rPr>
              <a:t>製品</a:t>
            </a:r>
          </a:p>
        </p:txBody>
      </p:sp>
      <p:sp>
        <p:nvSpPr>
          <p:cNvPr id="213" name="角丸四角形 212"/>
          <p:cNvSpPr/>
          <p:nvPr/>
        </p:nvSpPr>
        <p:spPr bwMode="auto">
          <a:xfrm>
            <a:off x="5382009" y="243898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14" name="角丸四角形 213"/>
          <p:cNvSpPr/>
          <p:nvPr/>
        </p:nvSpPr>
        <p:spPr bwMode="auto">
          <a:xfrm>
            <a:off x="7272030" y="315899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16" name="角丸四角形 215"/>
          <p:cNvSpPr/>
          <p:nvPr/>
        </p:nvSpPr>
        <p:spPr bwMode="auto">
          <a:xfrm>
            <a:off x="3671990" y="4419011"/>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17" name="角丸四角形 216"/>
          <p:cNvSpPr/>
          <p:nvPr/>
        </p:nvSpPr>
        <p:spPr bwMode="auto">
          <a:xfrm>
            <a:off x="4031994" y="5049018"/>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sp>
        <p:nvSpPr>
          <p:cNvPr id="218" name="角丸四角形 217"/>
          <p:cNvSpPr/>
          <p:nvPr/>
        </p:nvSpPr>
        <p:spPr bwMode="auto">
          <a:xfrm>
            <a:off x="4391998" y="567902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endParaRPr kumimoji="1" lang="ja-JP" altLang="en-US" dirty="0">
              <a:latin typeface="Arial Narrow" panose="020B0606020202030204" pitchFamily="34" charset="0"/>
            </a:endParaRPr>
          </a:p>
        </p:txBody>
      </p:sp>
      <p:grpSp>
        <p:nvGrpSpPr>
          <p:cNvPr id="97" name="グループ化 96"/>
          <p:cNvGrpSpPr/>
          <p:nvPr/>
        </p:nvGrpSpPr>
        <p:grpSpPr>
          <a:xfrm>
            <a:off x="3005889" y="2456946"/>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03" name="グループ化 102"/>
          <p:cNvGrpSpPr/>
          <p:nvPr/>
        </p:nvGrpSpPr>
        <p:grpSpPr>
          <a:xfrm>
            <a:off x="4895910" y="3176954"/>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106" name="正方形/長方形 105"/>
          <p:cNvSpPr/>
          <p:nvPr/>
        </p:nvSpPr>
        <p:spPr>
          <a:xfrm>
            <a:off x="6102017" y="2438989"/>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082093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F3A6-E5B2-87CD-2A7C-1A2168F902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18F2D0-7095-5AF3-B0FC-345163A5B396}"/>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E304D63F-7BBA-92A6-4B41-30EB15137494}"/>
              </a:ext>
            </a:extLst>
          </p:cNvPr>
          <p:cNvSpPr>
            <a:spLocks noGrp="1"/>
          </p:cNvSpPr>
          <p:nvPr>
            <p:ph sz="quarter" idx="10"/>
          </p:nvPr>
        </p:nvSpPr>
        <p:spPr/>
        <p:txBody>
          <a:bodyPr/>
          <a:lstStyle/>
          <a:p>
            <a:r>
              <a:rPr lang="ja-JP" altLang="en-US" dirty="0"/>
              <a:t>期末試験について、どのような形式で問題が出題されるのかなどを予め把握できた方が勉強しやすいように感じるので、過去問や出題例などを提示していただけるとありがたいです。</a:t>
            </a:r>
            <a:endParaRPr lang="en-US" altLang="ja-JP" dirty="0"/>
          </a:p>
          <a:p>
            <a:pPr lvl="1"/>
            <a:endParaRPr lang="en-US" altLang="ja-JP" b="0" i="0" dirty="0">
              <a:solidFill>
                <a:srgbClr val="000000"/>
              </a:solidFill>
              <a:effectLst/>
              <a:latin typeface="Meiryo" panose="020B0604030504040204" pitchFamily="50" charset="-128"/>
              <a:ea typeface="Meiryo" panose="020B0604030504040204" pitchFamily="50" charset="-128"/>
            </a:endParaRPr>
          </a:p>
          <a:p>
            <a:pPr lvl="1"/>
            <a:r>
              <a:rPr lang="ja-JP" altLang="en-US" b="0" i="0" dirty="0">
                <a:solidFill>
                  <a:srgbClr val="000000"/>
                </a:solidFill>
                <a:effectLst/>
                <a:latin typeface="Meiryo" panose="020B0604030504040204" pitchFamily="50" charset="-128"/>
                <a:ea typeface="Meiryo" panose="020B0604030504040204" pitchFamily="50" charset="-128"/>
              </a:rPr>
              <a:t>基本的に課題と演習問題が解けるようになっていれば大丈夫です</a:t>
            </a:r>
            <a:endParaRPr lang="en-US" altLang="ja-JP" b="0" i="0" dirty="0">
              <a:solidFill>
                <a:srgbClr val="000000"/>
              </a:solidFill>
              <a:effectLst/>
              <a:latin typeface="Meiryo" panose="020B0604030504040204" pitchFamily="50" charset="-128"/>
              <a:ea typeface="Meiryo" panose="020B0604030504040204" pitchFamily="50" charset="-128"/>
            </a:endParaRPr>
          </a:p>
          <a:p>
            <a:pPr lvl="1"/>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47571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30D58-E630-DE92-205B-884FBD52C7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A6DEBD-1C35-14F4-B5CC-FEB7AD15BD6A}"/>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2BF5C303-3F86-ABFE-55C0-D74527A7E41C}"/>
              </a:ext>
            </a:extLst>
          </p:cNvPr>
          <p:cNvSpPr>
            <a:spLocks noGrp="1"/>
          </p:cNvSpPr>
          <p:nvPr>
            <p:ph sz="quarter" idx="10"/>
          </p:nvPr>
        </p:nvSpPr>
        <p:spPr/>
        <p:txBody>
          <a:bodyPr/>
          <a:lstStyle/>
          <a:p>
            <a:r>
              <a:rPr lang="ja-JP" altLang="en-US" dirty="0"/>
              <a:t>期末テスト対策としてどんな練習をすれば今回の課題のような論理ゲートをスラスラかけるようになるでしょうか？やはり色々な論理ゲートを調べて覚えることでしょうか？</a:t>
            </a:r>
            <a:endParaRPr lang="ja-JP" altLang="en-US" b="0" i="0" dirty="0">
              <a:solidFill>
                <a:srgbClr val="000000"/>
              </a:solidFill>
              <a:effectLst/>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65460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D2D2-15CB-30B9-3917-00F9A7E28C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B6E938-0AC9-9B25-E3C4-FC7962DB1596}"/>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0380786F-5A4B-73EE-55E7-4E60DCA58FED}"/>
              </a:ext>
            </a:extLst>
          </p:cNvPr>
          <p:cNvSpPr>
            <a:spLocks noGrp="1"/>
          </p:cNvSpPr>
          <p:nvPr>
            <p:ph sz="quarter" idx="10"/>
          </p:nvPr>
        </p:nvSpPr>
        <p:spPr>
          <a:xfrm>
            <a:off x="611956" y="1088974"/>
            <a:ext cx="8280092" cy="2430027"/>
          </a:xfrm>
        </p:spPr>
        <p:txBody>
          <a:bodyPr/>
          <a:lstStyle/>
          <a:p>
            <a:r>
              <a:rPr lang="ja-JP" altLang="en-US" sz="1600" dirty="0"/>
              <a:t>先生が授業で紹介されていた「実際の</a:t>
            </a:r>
            <a:r>
              <a:rPr lang="en-US" altLang="ja-JP" sz="1600" dirty="0"/>
              <a:t>CPU</a:t>
            </a:r>
            <a:r>
              <a:rPr lang="ja-JP" altLang="en-US" sz="1600" dirty="0"/>
              <a:t>を実行した場合のパイプライン」について、今まで簡略化されたものしか見たことがなかったので興味深かったです。なお、色付けされているのは、見やすいように後から先生が編集したものなのかどうか気になりました。</a:t>
            </a:r>
            <a:endParaRPr lang="en-US" altLang="ja-JP" sz="1600" dirty="0"/>
          </a:p>
          <a:p>
            <a:pPr lvl="1"/>
            <a:endParaRPr lang="en-US" altLang="ja-JP" sz="1600" b="0" i="0" dirty="0">
              <a:solidFill>
                <a:srgbClr val="000000"/>
              </a:solidFill>
              <a:effectLst/>
              <a:latin typeface="Meiryo" panose="020B0604030504040204" pitchFamily="50" charset="-128"/>
              <a:ea typeface="Meiryo" panose="020B0604030504040204" pitchFamily="50" charset="-128"/>
            </a:endParaRPr>
          </a:p>
          <a:p>
            <a:pPr lvl="1"/>
            <a:r>
              <a:rPr lang="en-US" altLang="ja-JP" sz="1600" dirty="0">
                <a:solidFill>
                  <a:srgbClr val="000000"/>
                </a:solidFill>
                <a:latin typeface="Meiryo" panose="020B0604030504040204" pitchFamily="50" charset="-128"/>
                <a:ea typeface="Meiryo" panose="020B0604030504040204" pitchFamily="50" charset="-128"/>
                <a:hlinkClick r:id="rId2"/>
              </a:rPr>
              <a:t>https://github.com/shioyadan/Konata</a:t>
            </a:r>
            <a:endParaRPr lang="en-US" altLang="ja-JP" sz="1600" dirty="0">
              <a:solidFill>
                <a:srgbClr val="000000"/>
              </a:solidFill>
              <a:latin typeface="Meiryo" panose="020B0604030504040204" pitchFamily="50" charset="-128"/>
              <a:ea typeface="Meiryo" panose="020B0604030504040204" pitchFamily="50" charset="-128"/>
            </a:endParaRPr>
          </a:p>
          <a:p>
            <a:pPr lvl="1"/>
            <a:r>
              <a:rPr lang="ja-JP" altLang="en-US" sz="1600" b="0" i="0" dirty="0">
                <a:solidFill>
                  <a:srgbClr val="000000"/>
                </a:solidFill>
                <a:effectLst/>
                <a:latin typeface="Meiryo" panose="020B0604030504040204" pitchFamily="50" charset="-128"/>
                <a:ea typeface="Meiryo" panose="020B0604030504040204" pitchFamily="50" charset="-128"/>
              </a:rPr>
              <a:t>これは私が作ったツールで，こう言う色を出すようにしています</a:t>
            </a:r>
            <a:endParaRPr lang="en-US" altLang="ja-JP" sz="1600" b="0" i="0" dirty="0">
              <a:solidFill>
                <a:srgbClr val="000000"/>
              </a:solidFill>
              <a:effectLst/>
              <a:latin typeface="Meiryo" panose="020B0604030504040204" pitchFamily="50" charset="-128"/>
              <a:ea typeface="Meiryo" panose="020B0604030504040204" pitchFamily="50" charset="-128"/>
            </a:endParaRPr>
          </a:p>
          <a:p>
            <a:pPr lvl="2"/>
            <a:r>
              <a:rPr lang="ja-JP" altLang="en-US" sz="1600" b="0" i="0" dirty="0">
                <a:solidFill>
                  <a:srgbClr val="000000"/>
                </a:solidFill>
                <a:effectLst/>
                <a:latin typeface="Meiryo" panose="020B0604030504040204" pitchFamily="50" charset="-128"/>
                <a:ea typeface="Meiryo" panose="020B0604030504040204" pitchFamily="50" charset="-128"/>
              </a:rPr>
              <a:t>結構いろいろな会社で開発に使われています</a:t>
            </a:r>
          </a:p>
        </p:txBody>
      </p:sp>
      <p:pic>
        <p:nvPicPr>
          <p:cNvPr id="5" name="図 4">
            <a:extLst>
              <a:ext uri="{FF2B5EF4-FFF2-40B4-BE49-F238E27FC236}">
                <a16:creationId xmlns:a16="http://schemas.microsoft.com/office/drawing/2014/main" id="{730B3C77-D270-86D7-43E0-59159D44B6AF}"/>
              </a:ext>
            </a:extLst>
          </p:cNvPr>
          <p:cNvPicPr>
            <a:picLocks noChangeAspect="1"/>
          </p:cNvPicPr>
          <p:nvPr/>
        </p:nvPicPr>
        <p:blipFill>
          <a:blip r:embed="rId3"/>
          <a:stretch>
            <a:fillRect/>
          </a:stretch>
        </p:blipFill>
        <p:spPr>
          <a:xfrm>
            <a:off x="1421965" y="3789004"/>
            <a:ext cx="2876924" cy="2675658"/>
          </a:xfrm>
          <a:prstGeom prst="rect">
            <a:avLst/>
          </a:prstGeom>
        </p:spPr>
      </p:pic>
      <p:pic>
        <p:nvPicPr>
          <p:cNvPr id="11" name="図 10">
            <a:extLst>
              <a:ext uri="{FF2B5EF4-FFF2-40B4-BE49-F238E27FC236}">
                <a16:creationId xmlns:a16="http://schemas.microsoft.com/office/drawing/2014/main" id="{DEB32AC1-3FC5-1E0D-841C-5818E40CD0E8}"/>
              </a:ext>
            </a:extLst>
          </p:cNvPr>
          <p:cNvPicPr>
            <a:picLocks noChangeAspect="1"/>
          </p:cNvPicPr>
          <p:nvPr/>
        </p:nvPicPr>
        <p:blipFill>
          <a:blip r:embed="rId4"/>
          <a:stretch>
            <a:fillRect/>
          </a:stretch>
        </p:blipFill>
        <p:spPr>
          <a:xfrm>
            <a:off x="5022005" y="3879004"/>
            <a:ext cx="2870436" cy="2610029"/>
          </a:xfrm>
          <a:prstGeom prst="rect">
            <a:avLst/>
          </a:prstGeom>
        </p:spPr>
      </p:pic>
    </p:spTree>
    <p:extLst>
      <p:ext uri="{BB962C8B-B14F-4D97-AF65-F5344CB8AC3E}">
        <p14:creationId xmlns:p14="http://schemas.microsoft.com/office/powerpoint/2010/main" val="1567535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244E5-085A-B1CB-0782-D615E8C8BE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5344A7-1224-5AA9-615A-891C8E68C800}"/>
              </a:ext>
            </a:extLst>
          </p:cNvPr>
          <p:cNvSpPr>
            <a:spLocks noGrp="1"/>
          </p:cNvSpPr>
          <p:nvPr>
            <p:ph type="title"/>
          </p:nvPr>
        </p:nvSpPr>
        <p:spPr/>
        <p:txBody>
          <a:bodyPr/>
          <a:lstStyle/>
          <a:p>
            <a:r>
              <a:rPr lang="ja-JP" altLang="en-US" dirty="0"/>
              <a:t>質問や感想など</a:t>
            </a:r>
            <a:endParaRPr lang="en-US" dirty="0"/>
          </a:p>
        </p:txBody>
      </p:sp>
      <p:sp>
        <p:nvSpPr>
          <p:cNvPr id="3" name="コンテンツ プレースホルダー 2">
            <a:extLst>
              <a:ext uri="{FF2B5EF4-FFF2-40B4-BE49-F238E27FC236}">
                <a16:creationId xmlns:a16="http://schemas.microsoft.com/office/drawing/2014/main" id="{9DEADEEC-B47F-733B-4032-A8D10832575A}"/>
              </a:ext>
            </a:extLst>
          </p:cNvPr>
          <p:cNvSpPr>
            <a:spLocks noGrp="1"/>
          </p:cNvSpPr>
          <p:nvPr>
            <p:ph sz="quarter" idx="10"/>
          </p:nvPr>
        </p:nvSpPr>
        <p:spPr>
          <a:xfrm>
            <a:off x="611956" y="1088974"/>
            <a:ext cx="8280092" cy="3420038"/>
          </a:xfrm>
        </p:spPr>
        <p:txBody>
          <a:bodyPr/>
          <a:lstStyle/>
          <a:p>
            <a:r>
              <a:rPr lang="ja-JP" altLang="en-US" dirty="0"/>
              <a:t>今回の授業のスライドはアニメーションでとてもわかりやすかったです。そこはかとなく時代を感じるアスキーアートも可愛かったです。</a:t>
            </a:r>
            <a:endParaRPr lang="en-US" altLang="ja-JP" dirty="0"/>
          </a:p>
          <a:p>
            <a:r>
              <a:rPr lang="ja-JP" altLang="en-US" dirty="0"/>
              <a:t>余談ですが、スライドの絵文字芸に癒されています。</a:t>
            </a:r>
            <a:endParaRPr lang="en-US" altLang="ja-JP" dirty="0"/>
          </a:p>
          <a:p>
            <a:r>
              <a:rPr lang="ja-JP" altLang="en-US" dirty="0"/>
              <a:t>資料の猫が可愛くて分かりやすかったです</a:t>
            </a:r>
            <a:endParaRPr lang="ja-JP" altLang="en-US" b="0" i="0" dirty="0">
              <a:solidFill>
                <a:srgbClr val="000000"/>
              </a:solidFill>
              <a:effectLst/>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4D1632A1-2493-83E5-BDE7-CAFE35C3575B}"/>
              </a:ext>
            </a:extLst>
          </p:cNvPr>
          <p:cNvSpPr/>
          <p:nvPr/>
        </p:nvSpPr>
        <p:spPr>
          <a:xfrm>
            <a:off x="1689793" y="467043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AABF09D6-CE78-2322-7BDD-7FB17A76BD9D}"/>
              </a:ext>
            </a:extLst>
          </p:cNvPr>
          <p:cNvSpPr/>
          <p:nvPr/>
        </p:nvSpPr>
        <p:spPr>
          <a:xfrm>
            <a:off x="3129953" y="4670430"/>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a:extLst>
              <a:ext uri="{FF2B5EF4-FFF2-40B4-BE49-F238E27FC236}">
                <a16:creationId xmlns:a16="http://schemas.microsoft.com/office/drawing/2014/main" id="{4AC8811C-9D8B-A22E-787E-BD3ED8A051F4}"/>
              </a:ext>
            </a:extLst>
          </p:cNvPr>
          <p:cNvSpPr/>
          <p:nvPr/>
        </p:nvSpPr>
        <p:spPr>
          <a:xfrm>
            <a:off x="4572000" y="468901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a:extLst>
              <a:ext uri="{FF2B5EF4-FFF2-40B4-BE49-F238E27FC236}">
                <a16:creationId xmlns:a16="http://schemas.microsoft.com/office/drawing/2014/main" id="{C7557C36-EE6F-E841-53BC-993F8BD271F9}"/>
              </a:ext>
            </a:extLst>
          </p:cNvPr>
          <p:cNvSpPr/>
          <p:nvPr/>
        </p:nvSpPr>
        <p:spPr>
          <a:xfrm>
            <a:off x="6012160" y="468901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403844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コーパス爆発の対策</Template>
  <TotalTime>0</TotalTime>
  <Words>7873</Words>
  <Application>Microsoft Office PowerPoint</Application>
  <PresentationFormat>画面に合わせる (4:3)</PresentationFormat>
  <Paragraphs>1566</Paragraphs>
  <Slides>111</Slides>
  <Notes>17</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111</vt:i4>
      </vt:variant>
    </vt:vector>
  </HeadingPairs>
  <TitlesOfParts>
    <vt:vector size="125" baseType="lpstr">
      <vt:lpstr>HG丸ｺﾞｼｯｸM-PRO</vt:lpstr>
      <vt:lpstr>ＭＳ Ｐゴシック</vt:lpstr>
      <vt:lpstr>メイリオ</vt:lpstr>
      <vt:lpstr>メイリオ</vt:lpstr>
      <vt:lpstr>Arial</vt:lpstr>
      <vt:lpstr>Arial Narrow</vt:lpstr>
      <vt:lpstr>Calibri</vt:lpstr>
      <vt:lpstr>Consolas</vt:lpstr>
      <vt:lpstr>Courier New</vt:lpstr>
      <vt:lpstr>Segoe UI</vt:lpstr>
      <vt:lpstr>Times New Roman</vt:lpstr>
      <vt:lpstr>Verdana</vt:lpstr>
      <vt:lpstr>Wingdings</vt:lpstr>
      <vt:lpstr>cerulean</vt:lpstr>
      <vt:lpstr>塩谷 亮太 (shioya@ci.i.u-tokyo.ac.jp) 東京大学大学院情報理工学系研究科 創造情報学専攻</vt:lpstr>
      <vt:lpstr>課題の解説</vt:lpstr>
      <vt:lpstr>課題 5</vt:lpstr>
      <vt:lpstr>OR の作り方</vt:lpstr>
      <vt:lpstr>NOR （上が直列，下が並列）</vt:lpstr>
      <vt:lpstr>NOR の後ろに NOT を接続</vt:lpstr>
      <vt:lpstr>3入力NOR</vt:lpstr>
      <vt:lpstr>前回の振り返り</vt:lpstr>
      <vt:lpstr>記憶素子の原理</vt:lpstr>
      <vt:lpstr>D ラッチの回路</vt:lpstr>
      <vt:lpstr>D-FF の回路</vt:lpstr>
      <vt:lpstr>工場のラインを考える（再）</vt:lpstr>
      <vt:lpstr>パイプライン・ラッチのイメージ</vt:lpstr>
      <vt:lpstr>パイプライン化（オーバーラップ）の実現方法</vt:lpstr>
      <vt:lpstr>パイプライン化による性能（スループット）向上</vt:lpstr>
      <vt:lpstr>パイプライン化の意味</vt:lpstr>
      <vt:lpstr>パイプライン化の限界</vt:lpstr>
      <vt:lpstr>ハザード</vt:lpstr>
      <vt:lpstr>ハザード（hazard）</vt:lpstr>
      <vt:lpstr>もくじ</vt:lpstr>
      <vt:lpstr>構造ハザード</vt:lpstr>
      <vt:lpstr>構造ハザード</vt:lpstr>
      <vt:lpstr>工場のライン</vt:lpstr>
      <vt:lpstr>釘の本数の変更</vt:lpstr>
      <vt:lpstr>釘打ちの人のところで構造ハザード</vt:lpstr>
      <vt:lpstr>増員による構造ハザードの解消</vt:lpstr>
      <vt:lpstr>コンピュータにおける構造ハザード</vt:lpstr>
      <vt:lpstr>構造ハザードの例１：メモリ間 mov</vt:lpstr>
      <vt:lpstr>mov [rs1]→[rs2] // [rs1]→[rs2] へのコピー</vt:lpstr>
      <vt:lpstr>構造ハザードの例２：push/pop</vt:lpstr>
      <vt:lpstr>pop：[rs1]→rd, rs1+1→rs1</vt:lpstr>
      <vt:lpstr>構造ハザードの例３</vt:lpstr>
      <vt:lpstr>構造ハザードの例３</vt:lpstr>
      <vt:lpstr>ld_inc [rs1]+1→rd  と add が連続した場合</vt:lpstr>
      <vt:lpstr>構造ハザードの解決方法</vt:lpstr>
      <vt:lpstr>解決方法１：ハードウェアの増強</vt:lpstr>
      <vt:lpstr>解決方法１：ハードウェアの増強</vt:lpstr>
      <vt:lpstr>構造ハザードの解決方法</vt:lpstr>
      <vt:lpstr>解決方法２：時分割で処理</vt:lpstr>
      <vt:lpstr>なぜパイプラインを止めるのか</vt:lpstr>
      <vt:lpstr>パイプラインを止めること</vt:lpstr>
      <vt:lpstr>ストールの動作</vt:lpstr>
      <vt:lpstr>ストールの実現方法</vt:lpstr>
      <vt:lpstr>WE つき D-FF の実現方法</vt:lpstr>
      <vt:lpstr>非構造ハザード</vt:lpstr>
      <vt:lpstr>もくじ</vt:lpstr>
      <vt:lpstr>バックエッジとは：逆方向（右から左）にいく信号</vt:lpstr>
      <vt:lpstr>データ・ハザード</vt:lpstr>
      <vt:lpstr>データ・ハザード</vt:lpstr>
      <vt:lpstr>データ・ハザード</vt:lpstr>
      <vt:lpstr>データ・ハザードの解消方法</vt:lpstr>
      <vt:lpstr>１．ストール</vt:lpstr>
      <vt:lpstr>１．ストールさせる</vt:lpstr>
      <vt:lpstr>2. 遅延スロット（なにもしない）</vt:lpstr>
      <vt:lpstr>2. 遅延スロット（なにもしない）</vt:lpstr>
      <vt:lpstr>NOP の挿入</vt:lpstr>
      <vt:lpstr>遅延スロットの利点</vt:lpstr>
      <vt:lpstr>遅延スロットの欠点</vt:lpstr>
      <vt:lpstr>遅延スロットの欠点２</vt:lpstr>
      <vt:lpstr>データ・ハザードの解消方法</vt:lpstr>
      <vt:lpstr>フォワーディング</vt:lpstr>
      <vt:lpstr>フォワーディングの回路</vt:lpstr>
      <vt:lpstr>フォワーディングの利点</vt:lpstr>
      <vt:lpstr>ロードについては，完全に解決はできない</vt:lpstr>
      <vt:lpstr>制御ハザード</vt:lpstr>
      <vt:lpstr>分岐命令の処理と制御ハザード</vt:lpstr>
      <vt:lpstr>制御ハザードの解消方法</vt:lpstr>
      <vt:lpstr>分岐予測</vt:lpstr>
      <vt:lpstr>分岐予測ペナルティ</vt:lpstr>
      <vt:lpstr>大規模な高性能プロセッサの場合</vt:lpstr>
      <vt:lpstr>分岐予測のアルゴリズム</vt:lpstr>
      <vt:lpstr>パイプライン化の限界</vt:lpstr>
      <vt:lpstr>アーキテクチャ的な理由による実効性能の限界</vt:lpstr>
      <vt:lpstr>余談：実際の CPU のパイプライン段数</vt:lpstr>
      <vt:lpstr>Sony/IBM/東芝 Cell (SPE) Cell Broadband Engine Architecture and its first implementation—A performance view より</vt:lpstr>
      <vt:lpstr>AMD JAGUAR "JAGUAR” AMD’s Next Generation Low Power x86 Core より</vt:lpstr>
      <vt:lpstr>ARM Cortex-A15  Exploring the Design of the Cortex-A15 Processor ARM’s next generation mobile applications processor より</vt:lpstr>
      <vt:lpstr>まとめ</vt:lpstr>
      <vt:lpstr>課題 6</vt:lpstr>
      <vt:lpstr>RISC-V の 基本整数命令</vt:lpstr>
      <vt:lpstr>提出方法</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パイプライン化による性能向上</vt:lpstr>
      <vt:lpstr>質問や感想など</vt:lpstr>
      <vt:lpstr>質問や感想など</vt:lpstr>
      <vt:lpstr>質問や感想など</vt:lpstr>
      <vt:lpstr>質問や感想など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2025-06-10T02:33:54Z</dcterms:modified>
</cp:coreProperties>
</file>