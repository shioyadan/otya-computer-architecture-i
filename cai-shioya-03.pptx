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1" r:id="rId1"/>
  </p:sldMasterIdLst>
  <p:notesMasterIdLst>
    <p:notesMasterId r:id="rId99"/>
  </p:notesMasterIdLst>
  <p:sldIdLst>
    <p:sldId id="455" r:id="rId2"/>
    <p:sldId id="457" r:id="rId3"/>
    <p:sldId id="266" r:id="rId4"/>
    <p:sldId id="267" r:id="rId5"/>
    <p:sldId id="269" r:id="rId6"/>
    <p:sldId id="311" r:id="rId7"/>
    <p:sldId id="274" r:id="rId8"/>
    <p:sldId id="281" r:id="rId9"/>
    <p:sldId id="282" r:id="rId10"/>
    <p:sldId id="285" r:id="rId11"/>
    <p:sldId id="291" r:id="rId12"/>
    <p:sldId id="754" r:id="rId13"/>
    <p:sldId id="1176" r:id="rId14"/>
    <p:sldId id="1175" r:id="rId15"/>
    <p:sldId id="1177" r:id="rId16"/>
    <p:sldId id="1180" r:id="rId17"/>
    <p:sldId id="1235" r:id="rId18"/>
    <p:sldId id="1199" r:id="rId19"/>
    <p:sldId id="1184" r:id="rId20"/>
    <p:sldId id="1181" r:id="rId21"/>
    <p:sldId id="1236" r:id="rId22"/>
    <p:sldId id="717" r:id="rId23"/>
    <p:sldId id="700" r:id="rId24"/>
    <p:sldId id="709" r:id="rId25"/>
    <p:sldId id="701" r:id="rId26"/>
    <p:sldId id="715" r:id="rId27"/>
    <p:sldId id="705" r:id="rId28"/>
    <p:sldId id="706" r:id="rId29"/>
    <p:sldId id="707" r:id="rId30"/>
    <p:sldId id="710" r:id="rId31"/>
    <p:sldId id="708" r:id="rId32"/>
    <p:sldId id="704" r:id="rId33"/>
    <p:sldId id="712" r:id="rId34"/>
    <p:sldId id="713" r:id="rId35"/>
    <p:sldId id="711" r:id="rId36"/>
    <p:sldId id="714" r:id="rId37"/>
    <p:sldId id="716" r:id="rId38"/>
    <p:sldId id="718" r:id="rId39"/>
    <p:sldId id="371" r:id="rId40"/>
    <p:sldId id="356" r:id="rId41"/>
    <p:sldId id="357" r:id="rId42"/>
    <p:sldId id="353" r:id="rId43"/>
    <p:sldId id="354" r:id="rId44"/>
    <p:sldId id="355" r:id="rId45"/>
    <p:sldId id="359" r:id="rId46"/>
    <p:sldId id="375" r:id="rId47"/>
    <p:sldId id="377" r:id="rId48"/>
    <p:sldId id="369" r:id="rId49"/>
    <p:sldId id="372" r:id="rId50"/>
    <p:sldId id="380" r:id="rId51"/>
    <p:sldId id="379" r:id="rId52"/>
    <p:sldId id="358" r:id="rId53"/>
    <p:sldId id="378" r:id="rId54"/>
    <p:sldId id="461" r:id="rId55"/>
    <p:sldId id="381" r:id="rId56"/>
    <p:sldId id="449" r:id="rId57"/>
    <p:sldId id="444" r:id="rId58"/>
    <p:sldId id="445" r:id="rId59"/>
    <p:sldId id="446" r:id="rId60"/>
    <p:sldId id="447" r:id="rId61"/>
    <p:sldId id="453" r:id="rId62"/>
    <p:sldId id="719" r:id="rId63"/>
    <p:sldId id="456" r:id="rId64"/>
    <p:sldId id="448" r:id="rId65"/>
    <p:sldId id="452" r:id="rId66"/>
    <p:sldId id="723" r:id="rId67"/>
    <p:sldId id="386" r:id="rId68"/>
    <p:sldId id="1183" r:id="rId69"/>
    <p:sldId id="1167" r:id="rId70"/>
    <p:sldId id="752" r:id="rId71"/>
    <p:sldId id="1208" r:id="rId72"/>
    <p:sldId id="1237" r:id="rId73"/>
    <p:sldId id="1238" r:id="rId74"/>
    <p:sldId id="1239" r:id="rId75"/>
    <p:sldId id="1240" r:id="rId76"/>
    <p:sldId id="1241" r:id="rId77"/>
    <p:sldId id="1242" r:id="rId78"/>
    <p:sldId id="1243" r:id="rId79"/>
    <p:sldId id="1245" r:id="rId80"/>
    <p:sldId id="1244" r:id="rId81"/>
    <p:sldId id="1246" r:id="rId82"/>
    <p:sldId id="1247" r:id="rId83"/>
    <p:sldId id="1248" r:id="rId84"/>
    <p:sldId id="1249" r:id="rId85"/>
    <p:sldId id="1250" r:id="rId86"/>
    <p:sldId id="1251" r:id="rId87"/>
    <p:sldId id="1252" r:id="rId88"/>
    <p:sldId id="1253" r:id="rId89"/>
    <p:sldId id="1254" r:id="rId90"/>
    <p:sldId id="1256" r:id="rId91"/>
    <p:sldId id="1257" r:id="rId92"/>
    <p:sldId id="1258" r:id="rId93"/>
    <p:sldId id="1259" r:id="rId94"/>
    <p:sldId id="1260" r:id="rId95"/>
    <p:sldId id="1255" r:id="rId96"/>
    <p:sldId id="1261" r:id="rId97"/>
    <p:sldId id="1262" r:id="rId98"/>
  </p:sldIdLst>
  <p:sldSz cx="12192000" cy="6858000"/>
  <p:notesSz cx="6858000" cy="9144000"/>
  <p:custDataLst>
    <p:tags r:id="rId100"/>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FAC9AA08-980F-4F24-925B-7983671240FD}">
          <p14:sldIdLst>
            <p14:sldId id="455"/>
            <p14:sldId id="457"/>
          </p14:sldIdLst>
        </p14:section>
        <p14:section name="前回の振り返り" id="{285CBA32-E5A0-470E-B04B-B828305BA90D}">
          <p14:sldIdLst>
            <p14:sldId id="266"/>
            <p14:sldId id="267"/>
            <p14:sldId id="269"/>
            <p14:sldId id="311"/>
            <p14:sldId id="274"/>
            <p14:sldId id="281"/>
            <p14:sldId id="282"/>
            <p14:sldId id="285"/>
            <p14:sldId id="291"/>
          </p14:sldIdLst>
        </p14:section>
        <p14:section name="課題" id="{D0EA7CC0-C57D-4840-B8D4-E24634D47A29}">
          <p14:sldIdLst>
            <p14:sldId id="754"/>
            <p14:sldId id="1176"/>
            <p14:sldId id="1175"/>
            <p14:sldId id="1177"/>
            <p14:sldId id="1180"/>
            <p14:sldId id="1235"/>
            <p14:sldId id="1199"/>
            <p14:sldId id="1184"/>
            <p14:sldId id="1181"/>
            <p14:sldId id="1236"/>
          </p14:sldIdLst>
        </p14:section>
        <p14:section name="2進数や１６進数による数値表現" id="{8F04D2C8-8047-4C80-B088-6A5784FD18FB}">
          <p14:sldIdLst>
            <p14:sldId id="717"/>
            <p14:sldId id="700"/>
            <p14:sldId id="709"/>
            <p14:sldId id="701"/>
            <p14:sldId id="715"/>
            <p14:sldId id="705"/>
            <p14:sldId id="706"/>
            <p14:sldId id="707"/>
            <p14:sldId id="710"/>
            <p14:sldId id="708"/>
            <p14:sldId id="704"/>
            <p14:sldId id="712"/>
            <p14:sldId id="713"/>
            <p14:sldId id="711"/>
            <p14:sldId id="714"/>
            <p14:sldId id="716"/>
          </p14:sldIdLst>
        </p14:section>
        <p14:section name="論理回路と半導体デバイスによる実装" id="{28B72EDF-21D2-415A-AEB2-E9C321C71677}">
          <p14:sldIdLst>
            <p14:sldId id="718"/>
            <p14:sldId id="371"/>
            <p14:sldId id="356"/>
            <p14:sldId id="357"/>
            <p14:sldId id="353"/>
            <p14:sldId id="354"/>
            <p14:sldId id="355"/>
            <p14:sldId id="359"/>
            <p14:sldId id="375"/>
            <p14:sldId id="377"/>
            <p14:sldId id="369"/>
            <p14:sldId id="372"/>
            <p14:sldId id="380"/>
            <p14:sldId id="379"/>
            <p14:sldId id="358"/>
            <p14:sldId id="378"/>
            <p14:sldId id="461"/>
            <p14:sldId id="381"/>
            <p14:sldId id="449"/>
            <p14:sldId id="444"/>
            <p14:sldId id="445"/>
            <p14:sldId id="446"/>
            <p14:sldId id="447"/>
            <p14:sldId id="453"/>
            <p14:sldId id="719"/>
            <p14:sldId id="456"/>
            <p14:sldId id="448"/>
            <p14:sldId id="452"/>
            <p14:sldId id="723"/>
          </p14:sldIdLst>
        </p14:section>
        <p14:section name="まとめと付録" id="{D6F7003C-1866-4D15-BFBC-0F4B503A0E8B}">
          <p14:sldIdLst>
            <p14:sldId id="386"/>
            <p14:sldId id="1183"/>
            <p14:sldId id="1167"/>
            <p14:sldId id="752"/>
            <p14:sldId id="1208"/>
            <p14:sldId id="1237"/>
            <p14:sldId id="1238"/>
            <p14:sldId id="1239"/>
            <p14:sldId id="1240"/>
            <p14:sldId id="1241"/>
            <p14:sldId id="1242"/>
            <p14:sldId id="1243"/>
            <p14:sldId id="1245"/>
            <p14:sldId id="1244"/>
            <p14:sldId id="1246"/>
            <p14:sldId id="1247"/>
            <p14:sldId id="1248"/>
            <p14:sldId id="1249"/>
            <p14:sldId id="1250"/>
            <p14:sldId id="1251"/>
            <p14:sldId id="1252"/>
            <p14:sldId id="1253"/>
            <p14:sldId id="1254"/>
            <p14:sldId id="1256"/>
            <p14:sldId id="1257"/>
            <p14:sldId id="1258"/>
            <p14:sldId id="1259"/>
            <p14:sldId id="1260"/>
            <p14:sldId id="1255"/>
            <p14:sldId id="1261"/>
            <p14:sldId id="126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35" autoAdjust="0"/>
    <p:restoredTop sz="96889" autoAdjust="0"/>
  </p:normalViewPr>
  <p:slideViewPr>
    <p:cSldViewPr>
      <p:cViewPr varScale="1">
        <p:scale>
          <a:sx n="161" d="100"/>
          <a:sy n="161" d="100"/>
        </p:scale>
        <p:origin x="664" y="88"/>
      </p:cViewPr>
      <p:guideLst>
        <p:guide orient="horz" pos="2160"/>
        <p:guide pos="3840"/>
      </p:guideLst>
    </p:cSldViewPr>
  </p:slideViewPr>
  <p:notesTextViewPr>
    <p:cViewPr>
      <p:scale>
        <a:sx n="100" d="100"/>
        <a:sy n="100" d="100"/>
      </p:scale>
      <p:origin x="0" y="0"/>
    </p:cViewPr>
  </p:notesText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2026/5/12</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604EF3-5C7D-4D85-9999-033EF01FAD76}" type="slidenum">
              <a:rPr lang="en-US" altLang="ja-JP"/>
              <a:pPr/>
              <a:t>45</a:t>
            </a:fld>
            <a:endParaRPr lang="en-US" altLang="ja-JP"/>
          </a:p>
        </p:txBody>
      </p:sp>
      <p:sp>
        <p:nvSpPr>
          <p:cNvPr id="476162" name="Rectangle 2"/>
          <p:cNvSpPr>
            <a:spLocks noGrp="1" noRot="1" noChangeAspect="1" noChangeArrowheads="1" noTextEdit="1"/>
          </p:cNvSpPr>
          <p:nvPr>
            <p:ph type="sldImg"/>
          </p:nvPr>
        </p:nvSpPr>
        <p:spPr>
          <a:xfrm>
            <a:off x="-50800" y="161925"/>
            <a:ext cx="6959600" cy="3914775"/>
          </a:xfrm>
          <a:ln/>
        </p:spPr>
      </p:sp>
      <p:sp>
        <p:nvSpPr>
          <p:cNvPr id="476163"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518508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9F8529-20B8-43FB-AD95-7A84D5179899}" type="slidenum">
              <a:rPr lang="en-US" altLang="ja-JP"/>
              <a:pPr/>
              <a:t>46</a:t>
            </a:fld>
            <a:endParaRPr lang="en-US" altLang="ja-JP"/>
          </a:p>
        </p:txBody>
      </p:sp>
      <p:sp>
        <p:nvSpPr>
          <p:cNvPr id="477186" name="Rectangle 2"/>
          <p:cNvSpPr>
            <a:spLocks noGrp="1" noRot="1" noChangeAspect="1" noChangeArrowheads="1" noTextEdit="1"/>
          </p:cNvSpPr>
          <p:nvPr>
            <p:ph type="sldImg"/>
          </p:nvPr>
        </p:nvSpPr>
        <p:spPr>
          <a:xfrm>
            <a:off x="-50800" y="161925"/>
            <a:ext cx="6959600" cy="3914775"/>
          </a:xfrm>
          <a:ln/>
        </p:spPr>
      </p:sp>
      <p:sp>
        <p:nvSpPr>
          <p:cNvPr id="47718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63999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9F8529-20B8-43FB-AD95-7A84D5179899}" type="slidenum">
              <a:rPr lang="en-US" altLang="ja-JP"/>
              <a:pPr/>
              <a:t>47</a:t>
            </a:fld>
            <a:endParaRPr lang="en-US" altLang="ja-JP"/>
          </a:p>
        </p:txBody>
      </p:sp>
      <p:sp>
        <p:nvSpPr>
          <p:cNvPr id="477186" name="Rectangle 2"/>
          <p:cNvSpPr>
            <a:spLocks noGrp="1" noRot="1" noChangeAspect="1" noChangeArrowheads="1" noTextEdit="1"/>
          </p:cNvSpPr>
          <p:nvPr>
            <p:ph type="sldImg"/>
          </p:nvPr>
        </p:nvSpPr>
        <p:spPr>
          <a:xfrm>
            <a:off x="-50800" y="161925"/>
            <a:ext cx="6959600" cy="3914775"/>
          </a:xfrm>
          <a:ln/>
        </p:spPr>
      </p:sp>
      <p:sp>
        <p:nvSpPr>
          <p:cNvPr id="47718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3612299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879E0F-6B73-4EF4-851E-289B8D795FF2}" type="slidenum">
              <a:rPr lang="en-US" altLang="ja-JP"/>
              <a:pPr/>
              <a:t>61</a:t>
            </a:fld>
            <a:endParaRPr lang="en-US" altLang="ja-JP"/>
          </a:p>
        </p:txBody>
      </p:sp>
      <p:sp>
        <p:nvSpPr>
          <p:cNvPr id="717826" name="Rectangle 2"/>
          <p:cNvSpPr>
            <a:spLocks noGrp="1" noRot="1" noChangeAspect="1" noChangeArrowheads="1" noTextEdit="1"/>
          </p:cNvSpPr>
          <p:nvPr>
            <p:ph type="sldImg"/>
          </p:nvPr>
        </p:nvSpPr>
        <p:spPr>
          <a:xfrm>
            <a:off x="-50800" y="161925"/>
            <a:ext cx="6959600" cy="3914775"/>
          </a:xfrm>
          <a:ln/>
        </p:spPr>
      </p:sp>
      <p:sp>
        <p:nvSpPr>
          <p:cNvPr id="71782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929783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62</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875607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63</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3831131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3982933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A7790ABF-EC4C-D526-CD12-0B568CF42733}"/>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A13D5857-366F-6029-7F22-AC34594B54F9}"/>
              </a:ext>
            </a:extLst>
          </p:cNvPr>
          <p:cNvCxnSpPr>
            <a:cxnSpLocks/>
          </p:cNvCxnSpPr>
          <p:nvPr userDrawn="1"/>
        </p:nvCxnSpPr>
        <p:spPr bwMode="auto">
          <a:xfrm>
            <a:off x="815943"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004648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23111283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9000100"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897586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423750848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4" name="フッター プレースホルダー 3"/>
          <p:cNvSpPr>
            <a:spLocks noGrp="1"/>
          </p:cNvSpPr>
          <p:nvPr>
            <p:ph type="ftr" sz="quarter" idx="11"/>
          </p:nvPr>
        </p:nvSpPr>
        <p:spPr>
          <a:xfrm>
            <a:off x="8976384" y="4"/>
            <a:ext cx="3215616" cy="278579"/>
          </a:xfrm>
          <a:prstGeom prst="rect">
            <a:avLst/>
          </a:prstGeom>
        </p:spPr>
        <p:txBody>
          <a:bodyPr/>
          <a:lstStyle/>
          <a:p>
            <a:r>
              <a:rPr lang="ja-JP" altLang="en-US"/>
              <a:t>ディジタル回路</a:t>
            </a:r>
            <a:endParaRPr lang="ja-JP" altLang="ja-JP"/>
          </a:p>
        </p:txBody>
      </p:sp>
      <p:sp>
        <p:nvSpPr>
          <p:cNvPr id="5" name="スライド番号プレースホルダー 4"/>
          <p:cNvSpPr>
            <a:spLocks noGrp="1"/>
          </p:cNvSpPr>
          <p:nvPr>
            <p:ph type="sldNum" sz="quarter" idx="12"/>
          </p:nvPr>
        </p:nvSpPr>
        <p:spPr>
          <a:xfrm>
            <a:off x="11711936" y="6482651"/>
            <a:ext cx="480064" cy="360048"/>
          </a:xfrm>
          <a:prstGeom prst="rect">
            <a:avLst/>
          </a:prstGeom>
        </p:spPr>
        <p:txBody>
          <a:bodyPr/>
          <a:lstStyle/>
          <a:p>
            <a:endParaRPr lang="ja-JP" altLang="ja-JP"/>
          </a:p>
        </p:txBody>
      </p:sp>
      <p:sp>
        <p:nvSpPr>
          <p:cNvPr id="8" name="コンテンツ プレースホルダー 7"/>
          <p:cNvSpPr>
            <a:spLocks noGrp="1"/>
          </p:cNvSpPr>
          <p:nvPr>
            <p:ph sz="quarter" idx="13"/>
          </p:nvPr>
        </p:nvSpPr>
        <p:spPr>
          <a:xfrm>
            <a:off x="335232" y="1268712"/>
            <a:ext cx="11521536"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3780618570"/>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68286239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815941" y="0"/>
            <a:ext cx="11376059"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10896053" y="6309035"/>
            <a:ext cx="960011"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A8271B18-546F-F68E-9712-683F4A1E32F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FF9AD131-2A53-5539-3BB5-77BE50B80DAF}"/>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428467938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66" r:id="rId8"/>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3.xml"/><Relationship Id="rId4" Type="http://schemas.openxmlformats.org/officeDocument/2006/relationships/image" Target="../media/image4.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wmf"/></Relationships>
</file>

<file path=ppt/slides/_rels/slide4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wmf"/><Relationship Id="rId4" Type="http://schemas.openxmlformats.org/officeDocument/2006/relationships/image" Target="../media/image3.wmf"/></Relationships>
</file>

<file path=ppt/slides/_rels/slide4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2.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2.wmf"/><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wmf"/></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7.wmf"/><Relationship Id="rId4" Type="http://schemas.openxmlformats.org/officeDocument/2006/relationships/image" Target="../media/image4.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9"/>
            <a:ext cx="7920088" cy="810153"/>
          </a:xfrm>
        </p:spPr>
        <p:txBody>
          <a:bodyPr>
            <a:noAutofit/>
          </a:bodyPr>
          <a:lstStyle/>
          <a:p>
            <a:pPr>
              <a:lnSpc>
                <a:spcPct val="150000"/>
              </a:lnSpc>
            </a:pPr>
            <a:r>
              <a:rPr lang="ja-JP" altLang="en-US" sz="1800" b="0"/>
              <a:t>塩谷 亮太 </a:t>
            </a:r>
            <a:r>
              <a:rPr lang="en-US" altLang="ja-JP" sz="1800" b="0"/>
              <a:t>(shioya@ci.i.u-tokyo.ac.jp)</a:t>
            </a:r>
            <a:br>
              <a:rPr lang="en-US" altLang="ja-JP" sz="1800" b="0"/>
            </a:br>
            <a:r>
              <a:rPr lang="ja-JP" altLang="en-US" sz="1800" b="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第３回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22ED9B-864A-1402-30ED-6C6149D54DDF}"/>
              </a:ext>
            </a:extLst>
          </p:cNvPr>
          <p:cNvSpPr>
            <a:spLocks noGrp="1"/>
          </p:cNvSpPr>
          <p:nvPr>
            <p:ph type="title"/>
          </p:nvPr>
        </p:nvSpPr>
        <p:spPr/>
        <p:txBody>
          <a:bodyPr/>
          <a:lstStyle/>
          <a:p>
            <a:r>
              <a:rPr kumimoji="1" lang="ja-JP" altLang="en-US"/>
              <a:t>もくじ</a:t>
            </a:r>
            <a:endParaRPr kumimoji="1" lang="en-US" dirty="0"/>
          </a:p>
        </p:txBody>
      </p:sp>
      <p:sp>
        <p:nvSpPr>
          <p:cNvPr id="3" name="コンテンツ プレースホルダー 2">
            <a:extLst>
              <a:ext uri="{FF2B5EF4-FFF2-40B4-BE49-F238E27FC236}">
                <a16:creationId xmlns:a16="http://schemas.microsoft.com/office/drawing/2014/main" id="{C7B8695D-E5E8-A5B0-24B7-9F6BD72944CA}"/>
              </a:ext>
            </a:extLst>
          </p:cNvPr>
          <p:cNvSpPr>
            <a:spLocks noGrp="1"/>
          </p:cNvSpPr>
          <p:nvPr>
            <p:ph type="body" sz="quarter" idx="10"/>
          </p:nvPr>
        </p:nvSpPr>
        <p:spPr/>
        <p:txBody>
          <a:bodyPr/>
          <a:lstStyle/>
          <a:p>
            <a:pPr marL="457200" indent="-457200">
              <a:buFont typeface="+mj-lt"/>
              <a:buAutoNum type="arabicPeriod"/>
            </a:pPr>
            <a:r>
              <a:rPr lang="ja-JP" altLang="en-US"/>
              <a:t>前回の振り返り</a:t>
            </a:r>
            <a:endParaRPr lang="en-US" altLang="ja-JP"/>
          </a:p>
          <a:p>
            <a:pPr marL="457200" indent="-457200">
              <a:buFont typeface="+mj-lt"/>
              <a:buAutoNum type="arabicPeriod"/>
            </a:pPr>
            <a:r>
              <a:rPr lang="ja-JP" altLang="en-US"/>
              <a:t>課題の解説</a:t>
            </a:r>
            <a:endParaRPr lang="en-US" altLang="ja-JP"/>
          </a:p>
          <a:p>
            <a:pPr marL="457200" indent="-457200">
              <a:buFont typeface="+mj-lt"/>
              <a:buAutoNum type="arabicPeriod"/>
            </a:pPr>
            <a:r>
              <a:rPr lang="ja-JP" altLang="en-US"/>
              <a:t>２進数や１６進数による数値表現</a:t>
            </a:r>
            <a:endParaRPr lang="en-US" altLang="ja-JP"/>
          </a:p>
          <a:p>
            <a:pPr marL="457200" indent="-457200">
              <a:buFont typeface="+mj-lt"/>
              <a:buAutoNum type="arabicPeriod"/>
            </a:pPr>
            <a:r>
              <a:rPr lang="ja-JP" altLang="en-US"/>
              <a:t>論理回路による </a:t>
            </a:r>
            <a:r>
              <a:rPr lang="en-US" altLang="ja-JP"/>
              <a:t>CPU </a:t>
            </a:r>
            <a:r>
              <a:rPr lang="ja-JP" altLang="en-US"/>
              <a:t>の実装</a:t>
            </a:r>
            <a:endParaRPr lang="en-US" altLang="ja-JP"/>
          </a:p>
          <a:p>
            <a:pPr marL="457200" indent="-457200">
              <a:buFont typeface="+mj-lt"/>
              <a:buAutoNum type="arabicPeriod"/>
            </a:pPr>
            <a:endParaRPr lang="en-US" altLang="ja-JP" dirty="0"/>
          </a:p>
        </p:txBody>
      </p:sp>
    </p:spTree>
    <p:extLst>
      <p:ext uri="{BB962C8B-B14F-4D97-AF65-F5344CB8AC3E}">
        <p14:creationId xmlns:p14="http://schemas.microsoft.com/office/powerpoint/2010/main" val="43656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b="1" dirty="0"/>
              <a:t>前回の振り返り</a:t>
            </a:r>
            <a:br>
              <a:rPr lang="en-US" altLang="ja-JP" b="1" dirty="0"/>
            </a:br>
            <a:r>
              <a:rPr lang="ja-JP" altLang="en-US" b="1" dirty="0"/>
              <a:t>（プログラムと簡単な </a:t>
            </a:r>
            <a:r>
              <a:rPr lang="en-US" altLang="ja-JP" b="1" dirty="0"/>
              <a:t>CPU</a:t>
            </a:r>
            <a:r>
              <a:rPr lang="ja-JP" altLang="en-US" b="1" dirty="0"/>
              <a:t>）</a:t>
            </a:r>
          </a:p>
        </p:txBody>
      </p:sp>
    </p:spTree>
    <p:extLst>
      <p:ext uri="{BB962C8B-B14F-4D97-AF65-F5344CB8AC3E}">
        <p14:creationId xmlns:p14="http://schemas.microsoft.com/office/powerpoint/2010/main" val="231793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a:t>
            </a:r>
          </a:p>
        </p:txBody>
      </p:sp>
      <p:sp>
        <p:nvSpPr>
          <p:cNvPr id="3" name="コンテンツ プレースホルダー 2"/>
          <p:cNvSpPr>
            <a:spLocks noGrp="1"/>
          </p:cNvSpPr>
          <p:nvPr>
            <p:ph type="body" sz="quarter" idx="10"/>
          </p:nvPr>
        </p:nvSpPr>
        <p:spPr>
          <a:prstGeom prst="rect">
            <a:avLst/>
          </a:prstGeom>
        </p:spPr>
        <p:txBody>
          <a:bodyPr/>
          <a:lstStyle/>
          <a:p>
            <a:r>
              <a:rPr lang="ja-JP" altLang="en-US" dirty="0"/>
              <a:t>プログラムとは</a:t>
            </a:r>
            <a:endParaRPr lang="en-US" altLang="ja-JP" dirty="0"/>
          </a:p>
          <a:p>
            <a:pPr lvl="1"/>
            <a:r>
              <a:rPr lang="ja-JP" altLang="en-US" dirty="0"/>
              <a:t>計算の手順を表したもの</a:t>
            </a:r>
            <a:endParaRPr lang="en-US" altLang="ja-JP" dirty="0"/>
          </a:p>
          <a:p>
            <a:pPr lvl="1"/>
            <a:r>
              <a:rPr lang="ja-JP" altLang="en-US" dirty="0"/>
              <a:t>実体：メモリの上にある，計算方法を指示する数字（命令）の列</a:t>
            </a:r>
            <a:endParaRPr lang="en-US" altLang="ja-JP" dirty="0"/>
          </a:p>
          <a:p>
            <a:r>
              <a:rPr lang="ja-JP" altLang="en-US" dirty="0"/>
              <a:t>（フォン）ノイマン型 </a:t>
            </a:r>
            <a:r>
              <a:rPr lang="en-US" altLang="ja-JP" dirty="0"/>
              <a:t>(von Neumann-type) </a:t>
            </a:r>
            <a:r>
              <a:rPr lang="ja-JP" altLang="en-US" dirty="0"/>
              <a:t>コンピュータ</a:t>
            </a:r>
            <a:endParaRPr lang="en-US" altLang="ja-JP" dirty="0"/>
          </a:p>
          <a:p>
            <a:pPr lvl="1"/>
            <a:r>
              <a:rPr lang="ja-JP" altLang="en-US" dirty="0"/>
              <a:t>プログラムに従って計算をする機械</a:t>
            </a:r>
            <a:endParaRPr lang="en-US" altLang="ja-JP" dirty="0"/>
          </a:p>
          <a:p>
            <a:pPr lvl="1"/>
            <a:r>
              <a:rPr lang="ja-JP" altLang="en-US" dirty="0"/>
              <a:t>メモリに格納された命令を取り出して順に実行</a:t>
            </a:r>
            <a:endParaRPr lang="en-US" altLang="ja-JP" dirty="0"/>
          </a:p>
          <a:p>
            <a:pPr lvl="1"/>
            <a:r>
              <a:rPr lang="ja-JP" altLang="en-US" dirty="0"/>
              <a:t>他にもあるけど，これが今日では主流</a:t>
            </a:r>
            <a:endParaRPr lang="en-US" altLang="ja-JP" dirty="0"/>
          </a:p>
          <a:p>
            <a:r>
              <a:rPr lang="ja-JP" altLang="en-US" dirty="0"/>
              <a:t>次項から，簡単な例を使って説明</a:t>
            </a:r>
            <a:endParaRPr lang="en-US" altLang="ja-JP" dirty="0"/>
          </a:p>
        </p:txBody>
      </p:sp>
    </p:spTree>
    <p:extLst>
      <p:ext uri="{BB962C8B-B14F-4D97-AF65-F5344CB8AC3E}">
        <p14:creationId xmlns:p14="http://schemas.microsoft.com/office/powerpoint/2010/main" val="2558990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lang="en-US" altLang="ja-JP" dirty="0"/>
              <a:t>A + B - C</a:t>
            </a:r>
          </a:p>
        </p:txBody>
      </p:sp>
      <p:sp>
        <p:nvSpPr>
          <p:cNvPr id="3" name="コンテンツ プレースホルダー 2"/>
          <p:cNvSpPr>
            <a:spLocks noGrp="1"/>
          </p:cNvSpPr>
          <p:nvPr>
            <p:ph type="body" sz="quarter" idx="10"/>
          </p:nvPr>
        </p:nvSpPr>
        <p:spPr>
          <a:xfrm>
            <a:off x="2135956" y="1178975"/>
            <a:ext cx="7848600" cy="4903788"/>
          </a:xfrm>
          <a:prstGeom prst="rect">
            <a:avLst/>
          </a:prstGeom>
        </p:spPr>
        <p:txBody>
          <a:bodyPr/>
          <a:lstStyle/>
          <a:p>
            <a:r>
              <a:rPr lang="ja-JP" altLang="en-US" dirty="0"/>
              <a:t>形式的に表すと</a:t>
            </a:r>
            <a:r>
              <a:rPr kumimoji="1" lang="ja-JP" altLang="en-US" dirty="0"/>
              <a:t>：</a:t>
            </a:r>
            <a:endParaRPr kumimoji="1" lang="en-US" altLang="ja-JP" dirty="0"/>
          </a:p>
          <a:p>
            <a:pPr marL="906462" lvl="1" indent="-457200">
              <a:buFont typeface="+mj-lt"/>
              <a:buAutoNum type="arabicPeriod"/>
            </a:pPr>
            <a:r>
              <a:rPr lang="en-US" altLang="ja-JP" dirty="0">
                <a:latin typeface="Consolas" panose="020B0609020204030204" pitchFamily="49" charset="0"/>
              </a:rPr>
              <a:t>add A, B </a:t>
            </a:r>
            <a:r>
              <a:rPr lang="ja-JP" altLang="en-US" dirty="0">
                <a:latin typeface="Consolas" panose="020B0609020204030204" pitchFamily="49" charset="0"/>
              </a:rPr>
              <a:t>→ </a:t>
            </a:r>
            <a:r>
              <a:rPr lang="en-US" altLang="ja-JP" dirty="0">
                <a:latin typeface="Consolas" panose="020B0609020204030204" pitchFamily="49" charset="0"/>
              </a:rPr>
              <a:t>D</a:t>
            </a:r>
            <a:r>
              <a:rPr lang="en-US" altLang="ja-JP" dirty="0"/>
              <a:t>	  </a:t>
            </a:r>
            <a:r>
              <a:rPr lang="en-US" altLang="ja-JP" dirty="0">
                <a:solidFill>
                  <a:schemeClr val="accent3">
                    <a:lumMod val="75000"/>
                  </a:schemeClr>
                </a:solidFill>
              </a:rPr>
              <a:t>// D </a:t>
            </a:r>
            <a:r>
              <a:rPr lang="ja-JP" altLang="en-US" dirty="0">
                <a:solidFill>
                  <a:schemeClr val="accent3">
                    <a:lumMod val="75000"/>
                  </a:schemeClr>
                </a:solidFill>
              </a:rPr>
              <a:t>は一時的に結果をおいておく変数</a:t>
            </a:r>
            <a:endParaRPr lang="en-US" altLang="ja-JP" dirty="0">
              <a:solidFill>
                <a:schemeClr val="accent3">
                  <a:lumMod val="75000"/>
                </a:schemeClr>
              </a:solidFill>
            </a:endParaRPr>
          </a:p>
          <a:p>
            <a:pPr marL="906462" lvl="1" indent="-457200">
              <a:buFont typeface="+mj-lt"/>
              <a:buAutoNum type="arabicPeriod"/>
            </a:pPr>
            <a:r>
              <a:rPr lang="en-US" altLang="ja-JP" dirty="0">
                <a:latin typeface="Consolas" panose="020B0609020204030204" pitchFamily="49" charset="0"/>
              </a:rPr>
              <a:t>sub D, C </a:t>
            </a:r>
            <a:r>
              <a:rPr lang="ja-JP" altLang="en-US" dirty="0">
                <a:latin typeface="Consolas" panose="020B0609020204030204" pitchFamily="49" charset="0"/>
              </a:rPr>
              <a:t>→ </a:t>
            </a:r>
            <a:r>
              <a:rPr lang="en-US" altLang="ja-JP" dirty="0">
                <a:latin typeface="Consolas" panose="020B0609020204030204" pitchFamily="49" charset="0"/>
              </a:rPr>
              <a:t>E</a:t>
            </a:r>
            <a:r>
              <a:rPr lang="en-US" altLang="ja-JP" dirty="0"/>
              <a:t>	  </a:t>
            </a:r>
            <a:r>
              <a:rPr lang="en-US" altLang="ja-JP" dirty="0">
                <a:solidFill>
                  <a:schemeClr val="accent3">
                    <a:lumMod val="75000"/>
                  </a:schemeClr>
                </a:solidFill>
              </a:rPr>
              <a:t>// E </a:t>
            </a:r>
            <a:r>
              <a:rPr lang="ja-JP" altLang="en-US" dirty="0">
                <a:solidFill>
                  <a:schemeClr val="accent3">
                    <a:lumMod val="75000"/>
                  </a:schemeClr>
                </a:solidFill>
              </a:rPr>
              <a:t>に </a:t>
            </a:r>
            <a:r>
              <a:rPr lang="en-US" altLang="ja-JP" dirty="0">
                <a:solidFill>
                  <a:schemeClr val="accent3">
                    <a:lumMod val="75000"/>
                  </a:schemeClr>
                </a:solidFill>
              </a:rPr>
              <a:t>A + B - C </a:t>
            </a:r>
            <a:r>
              <a:rPr lang="ja-JP" altLang="en-US" dirty="0">
                <a:solidFill>
                  <a:schemeClr val="accent3">
                    <a:lumMod val="75000"/>
                  </a:schemeClr>
                </a:solidFill>
              </a:rPr>
              <a:t>の結果</a:t>
            </a:r>
            <a:endParaRPr lang="en-US" altLang="ja-JP" dirty="0">
              <a:solidFill>
                <a:schemeClr val="accent3">
                  <a:lumMod val="75000"/>
                </a:schemeClr>
              </a:solidFill>
            </a:endParaRPr>
          </a:p>
          <a:p>
            <a:r>
              <a:rPr lang="ja-JP" altLang="en-US" dirty="0"/>
              <a:t>数字の列で表してみる：</a:t>
            </a:r>
            <a:endParaRPr lang="en-US" altLang="ja-JP" dirty="0"/>
          </a:p>
          <a:p>
            <a:pPr lvl="1"/>
            <a:r>
              <a:rPr lang="ja-JP" altLang="en-US" dirty="0"/>
              <a:t>変換の規則：</a:t>
            </a:r>
            <a:endParaRPr lang="en-US" altLang="ja-JP" dirty="0"/>
          </a:p>
          <a:p>
            <a:pPr lvl="1"/>
            <a:endParaRPr lang="en-US" altLang="ja-JP" dirty="0"/>
          </a:p>
          <a:p>
            <a:pPr lvl="1"/>
            <a:endParaRPr lang="en-US" altLang="ja-JP" dirty="0"/>
          </a:p>
          <a:p>
            <a:pPr lvl="1"/>
            <a:endParaRPr lang="en-US" altLang="ja-JP" dirty="0"/>
          </a:p>
          <a:p>
            <a:pPr lvl="1"/>
            <a:r>
              <a:rPr lang="ja-JP" altLang="en-US" dirty="0"/>
              <a:t>数列：</a:t>
            </a:r>
            <a:endParaRPr lang="en-US" altLang="ja-JP" dirty="0"/>
          </a:p>
          <a:p>
            <a:pPr marL="1354138" lvl="2" indent="-457200">
              <a:buFont typeface="+mj-lt"/>
              <a:buAutoNum type="arabicPeriod"/>
            </a:pPr>
            <a:r>
              <a:rPr lang="en-US" altLang="ja-JP" dirty="0"/>
              <a:t>0, 2, 3, 5		</a:t>
            </a:r>
            <a:r>
              <a:rPr lang="en-US" altLang="ja-JP" dirty="0">
                <a:solidFill>
                  <a:schemeClr val="accent5"/>
                </a:solidFill>
              </a:rPr>
              <a:t>// </a:t>
            </a:r>
            <a:r>
              <a:rPr lang="en-US" altLang="ja-JP" dirty="0">
                <a:solidFill>
                  <a:schemeClr val="accent5"/>
                </a:solidFill>
                <a:latin typeface="Consolas" panose="020B0609020204030204" pitchFamily="49" charset="0"/>
              </a:rPr>
              <a:t>add(0) A(2), B(3)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D(5)</a:t>
            </a:r>
          </a:p>
          <a:p>
            <a:pPr marL="1354138" lvl="2" indent="-457200">
              <a:buFont typeface="+mj-lt"/>
              <a:buAutoNum type="arabicPeriod"/>
            </a:pPr>
            <a:r>
              <a:rPr lang="en-US" altLang="ja-JP" dirty="0"/>
              <a:t>1, 5, 4, 6		</a:t>
            </a:r>
            <a:r>
              <a:rPr lang="en-US" altLang="ja-JP" dirty="0">
                <a:solidFill>
                  <a:schemeClr val="accent5"/>
                </a:solidFill>
              </a:rPr>
              <a:t>// </a:t>
            </a:r>
            <a:r>
              <a:rPr lang="en-US" altLang="ja-JP" dirty="0">
                <a:solidFill>
                  <a:schemeClr val="accent5"/>
                </a:solidFill>
                <a:latin typeface="Consolas" panose="020B0609020204030204" pitchFamily="49" charset="0"/>
              </a:rPr>
              <a:t>sub(1) D(5), C(4)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E(6)</a:t>
            </a:r>
          </a:p>
        </p:txBody>
      </p:sp>
      <p:graphicFrame>
        <p:nvGraphicFramePr>
          <p:cNvPr id="5" name="表 4"/>
          <p:cNvGraphicFramePr>
            <a:graphicFrameLocks noGrp="1"/>
          </p:cNvGraphicFramePr>
          <p:nvPr/>
        </p:nvGraphicFramePr>
        <p:xfrm>
          <a:off x="2945968" y="3699003"/>
          <a:ext cx="6120071" cy="670560"/>
        </p:xfrm>
        <a:graphic>
          <a:graphicData uri="http://schemas.openxmlformats.org/drawingml/2006/table">
            <a:tbl>
              <a:tblPr firstRow="1" bandRow="1">
                <a:tableStyleId>{9D7B26C5-4107-4FEC-AEDC-1716B250A1EF}</a:tableStyleId>
              </a:tblPr>
              <a:tblGrid>
                <a:gridCol w="1112741">
                  <a:extLst>
                    <a:ext uri="{9D8B030D-6E8A-4147-A177-3AD203B41FA5}">
                      <a16:colId xmlns:a16="http://schemas.microsoft.com/office/drawing/2014/main" val="20000"/>
                    </a:ext>
                  </a:extLst>
                </a:gridCol>
                <a:gridCol w="741827">
                  <a:extLst>
                    <a:ext uri="{9D8B030D-6E8A-4147-A177-3AD203B41FA5}">
                      <a16:colId xmlns:a16="http://schemas.microsoft.com/office/drawing/2014/main" val="20001"/>
                    </a:ext>
                  </a:extLst>
                </a:gridCol>
                <a:gridCol w="741827">
                  <a:extLst>
                    <a:ext uri="{9D8B030D-6E8A-4147-A177-3AD203B41FA5}">
                      <a16:colId xmlns:a16="http://schemas.microsoft.com/office/drawing/2014/main" val="20002"/>
                    </a:ext>
                  </a:extLst>
                </a:gridCol>
                <a:gridCol w="741827">
                  <a:extLst>
                    <a:ext uri="{9D8B030D-6E8A-4147-A177-3AD203B41FA5}">
                      <a16:colId xmlns:a16="http://schemas.microsoft.com/office/drawing/2014/main" val="20003"/>
                    </a:ext>
                  </a:extLst>
                </a:gridCol>
                <a:gridCol w="741827">
                  <a:extLst>
                    <a:ext uri="{9D8B030D-6E8A-4147-A177-3AD203B41FA5}">
                      <a16:colId xmlns:a16="http://schemas.microsoft.com/office/drawing/2014/main" val="20004"/>
                    </a:ext>
                  </a:extLst>
                </a:gridCol>
                <a:gridCol w="741827">
                  <a:extLst>
                    <a:ext uri="{9D8B030D-6E8A-4147-A177-3AD203B41FA5}">
                      <a16:colId xmlns:a16="http://schemas.microsoft.com/office/drawing/2014/main" val="20005"/>
                    </a:ext>
                  </a:extLst>
                </a:gridCol>
                <a:gridCol w="741827">
                  <a:extLst>
                    <a:ext uri="{9D8B030D-6E8A-4147-A177-3AD203B41FA5}">
                      <a16:colId xmlns:a16="http://schemas.microsoft.com/office/drawing/2014/main" val="20006"/>
                    </a:ext>
                  </a:extLst>
                </a:gridCol>
                <a:gridCol w="556368">
                  <a:extLst>
                    <a:ext uri="{9D8B030D-6E8A-4147-A177-3AD203B41FA5}">
                      <a16:colId xmlns:a16="http://schemas.microsoft.com/office/drawing/2014/main" val="20007"/>
                    </a:ext>
                  </a:extLst>
                </a:gridCol>
              </a:tblGrid>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意味：</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add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sub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A</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B</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C</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D</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E</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25840">
                <a:tc>
                  <a:txBody>
                    <a:bodyPr/>
                    <a:lstStyle/>
                    <a:p>
                      <a:pPr algn="ctr"/>
                      <a:r>
                        <a:rPr kumimoji="1" lang="ja-JP" altLang="en-US" sz="1600" b="0" dirty="0">
                          <a:latin typeface="メイリオ" panose="020B0604030504040204" pitchFamily="50" charset="-128"/>
                          <a:ea typeface="メイリオ" panose="020B0604030504040204" pitchFamily="50" charset="-128"/>
                        </a:rPr>
                        <a:t>数字：</a:t>
                      </a: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0</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1</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2</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3</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4</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5</a:t>
                      </a:r>
                      <a:endParaRPr kumimoji="1" lang="ja-JP" altLang="en-US" sz="1600" b="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600" b="0" dirty="0">
                          <a:latin typeface="メイリオ" panose="020B0604030504040204" pitchFamily="50" charset="-128"/>
                          <a:ea typeface="メイリオ" panose="020B0604030504040204" pitchFamily="50" charset="-128"/>
                        </a:rPr>
                        <a:t>6</a:t>
                      </a:r>
                      <a:endParaRPr kumimoji="1" lang="ja-JP" altLang="en-US" sz="1600" b="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94462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プログラムの表現と用語（１）</a:t>
            </a:r>
          </a:p>
        </p:txBody>
      </p:sp>
      <p:sp>
        <p:nvSpPr>
          <p:cNvPr id="5" name="テキスト プレースホルダー 4"/>
          <p:cNvSpPr>
            <a:spLocks noGrp="1"/>
          </p:cNvSpPr>
          <p:nvPr>
            <p:ph type="body" sz="quarter" idx="10"/>
          </p:nvPr>
        </p:nvSpPr>
        <p:spPr/>
        <p:txBody>
          <a:bodyPr/>
          <a:lstStyle/>
          <a:p>
            <a:r>
              <a:rPr lang="ja-JP" altLang="en-US" dirty="0"/>
              <a:t>バイナリ：　	</a:t>
            </a:r>
            <a:r>
              <a:rPr lang="en-US" altLang="ja-JP" dirty="0">
                <a:solidFill>
                  <a:schemeClr val="accent5"/>
                </a:solidFill>
              </a:rPr>
              <a:t>0, 2, 3, 5, </a:t>
            </a:r>
            <a:r>
              <a:rPr lang="en-US" altLang="ja-JP" dirty="0"/>
              <a:t>1, 5, 4, 6</a:t>
            </a:r>
          </a:p>
          <a:p>
            <a:pPr lvl="1"/>
            <a:r>
              <a:rPr lang="ja-JP" altLang="en-US" dirty="0"/>
              <a:t>計算方法を表す数字の列</a:t>
            </a:r>
            <a:endParaRPr lang="en-US" altLang="ja-JP" dirty="0"/>
          </a:p>
          <a:p>
            <a:pPr lvl="1"/>
            <a:r>
              <a:rPr lang="ja-JP" altLang="en-US" dirty="0"/>
              <a:t>コンピュータが直接理解できるのは，このバイナリのみ</a:t>
            </a:r>
            <a:endParaRPr lang="en-US" altLang="ja-JP" dirty="0"/>
          </a:p>
          <a:p>
            <a:r>
              <a:rPr lang="ja-JP" altLang="en-US" dirty="0"/>
              <a:t>アセンブリ言語：	</a:t>
            </a:r>
            <a:r>
              <a:rPr lang="en-US" altLang="ja-JP" dirty="0">
                <a:solidFill>
                  <a:schemeClr val="accent5"/>
                </a:solidFill>
                <a:latin typeface="Consolas" panose="020B0609020204030204" pitchFamily="49" charset="0"/>
              </a:rPr>
              <a:t>add A, B → D</a:t>
            </a:r>
          </a:p>
          <a:p>
            <a:pPr lvl="1"/>
            <a:r>
              <a:rPr lang="ja-JP" altLang="en-US" dirty="0"/>
              <a:t>バイナリと１：１に対応しており，基本的に「相互に」変換可能</a:t>
            </a:r>
            <a:endParaRPr lang="en-US" altLang="ja-JP" dirty="0"/>
          </a:p>
          <a:p>
            <a:pPr lvl="1"/>
            <a:r>
              <a:rPr lang="ja-JP" altLang="en-US" dirty="0"/>
              <a:t>要はバイナリを人間にとって読みやすくしたもの</a:t>
            </a:r>
            <a:endParaRPr lang="en-US" altLang="ja-JP" dirty="0"/>
          </a:p>
          <a:p>
            <a:r>
              <a:rPr lang="ja-JP" altLang="en-US" dirty="0"/>
              <a:t>機械語：</a:t>
            </a:r>
            <a:endParaRPr lang="en-US" altLang="ja-JP" dirty="0"/>
          </a:p>
          <a:p>
            <a:pPr lvl="1"/>
            <a:r>
              <a:rPr lang="ja-JP" altLang="en-US" dirty="0"/>
              <a:t>上記のバイナリないしはアセンブリ言語で表現されたプログラム</a:t>
            </a:r>
            <a:endParaRPr lang="en-US" altLang="ja-JP" dirty="0"/>
          </a:p>
        </p:txBody>
      </p:sp>
    </p:spTree>
    <p:extLst>
      <p:ext uri="{BB962C8B-B14F-4D97-AF65-F5344CB8AC3E}">
        <p14:creationId xmlns:p14="http://schemas.microsoft.com/office/powerpoint/2010/main" val="1492685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プログラムの表現と用語（２）</a:t>
            </a:r>
          </a:p>
        </p:txBody>
      </p:sp>
      <p:sp>
        <p:nvSpPr>
          <p:cNvPr id="5" name="テキスト プレースホルダー 4"/>
          <p:cNvSpPr>
            <a:spLocks noGrp="1"/>
          </p:cNvSpPr>
          <p:nvPr>
            <p:ph type="body" sz="quarter" idx="10"/>
          </p:nvPr>
        </p:nvSpPr>
        <p:spPr/>
        <p:txBody>
          <a:bodyPr/>
          <a:lstStyle/>
          <a:p>
            <a:r>
              <a:rPr lang="ja-JP" altLang="en-US" dirty="0"/>
              <a:t>命令：</a:t>
            </a:r>
            <a:endParaRPr lang="en-US" altLang="ja-JP" dirty="0"/>
          </a:p>
          <a:p>
            <a:pPr lvl="1"/>
            <a:r>
              <a:rPr lang="ja-JP" altLang="en-US" dirty="0"/>
              <a:t>コンピュータが解釈できるプログラム内の計算手順の最小単位</a:t>
            </a:r>
            <a:endParaRPr lang="en-US" altLang="ja-JP" dirty="0"/>
          </a:p>
          <a:p>
            <a:pPr lvl="1"/>
            <a:r>
              <a:rPr lang="ja-JP" altLang="en-US" dirty="0"/>
              <a:t>「</a:t>
            </a:r>
            <a:r>
              <a:rPr lang="en-US" altLang="ja-JP" b="1" dirty="0">
                <a:solidFill>
                  <a:schemeClr val="accent5"/>
                </a:solidFill>
              </a:rPr>
              <a:t> </a:t>
            </a:r>
            <a:r>
              <a:rPr lang="en-US" altLang="ja-JP" dirty="0">
                <a:solidFill>
                  <a:schemeClr val="tx1">
                    <a:lumMod val="85000"/>
                    <a:lumOff val="15000"/>
                  </a:schemeClr>
                </a:solidFill>
              </a:rPr>
              <a:t>0</a:t>
            </a:r>
            <a:r>
              <a:rPr lang="en-US" altLang="ja-JP" b="1" dirty="0">
                <a:solidFill>
                  <a:schemeClr val="tx1">
                    <a:lumMod val="85000"/>
                    <a:lumOff val="15000"/>
                  </a:schemeClr>
                </a:solidFill>
              </a:rPr>
              <a:t>,</a:t>
            </a:r>
            <a:r>
              <a:rPr lang="en-US" altLang="ja-JP" dirty="0">
                <a:solidFill>
                  <a:schemeClr val="tx1">
                    <a:lumMod val="85000"/>
                    <a:lumOff val="15000"/>
                  </a:schemeClr>
                </a:solidFill>
              </a:rPr>
              <a:t> 2, 3, 5</a:t>
            </a:r>
            <a:r>
              <a:rPr lang="en-US" altLang="ja-JP" dirty="0">
                <a:solidFill>
                  <a:schemeClr val="accent5"/>
                </a:solidFill>
              </a:rPr>
              <a:t> </a:t>
            </a:r>
            <a:r>
              <a:rPr lang="ja-JP" altLang="en-US" dirty="0">
                <a:solidFill>
                  <a:schemeClr val="tx1">
                    <a:lumMod val="85000"/>
                    <a:lumOff val="15000"/>
                  </a:schemeClr>
                </a:solidFill>
              </a:rPr>
              <a:t>」「</a:t>
            </a:r>
            <a:r>
              <a:rPr lang="en-US" altLang="ja-JP" dirty="0"/>
              <a:t>add A, B→D</a:t>
            </a:r>
            <a:r>
              <a:rPr lang="ja-JP" altLang="en-US" dirty="0"/>
              <a:t>」</a:t>
            </a:r>
            <a:endParaRPr lang="en-US" altLang="ja-JP" dirty="0"/>
          </a:p>
          <a:p>
            <a:r>
              <a:rPr lang="ja-JP" altLang="en-US" dirty="0"/>
              <a:t>オプコード </a:t>
            </a:r>
            <a:r>
              <a:rPr lang="en-US" altLang="ja-JP" dirty="0"/>
              <a:t>(opcode)</a:t>
            </a:r>
          </a:p>
          <a:p>
            <a:pPr lvl="1"/>
            <a:r>
              <a:rPr lang="ja-JP" altLang="en-US" dirty="0"/>
              <a:t>命令でどういう計算をするか指定する部分</a:t>
            </a:r>
            <a:endParaRPr lang="en-US" altLang="ja-JP" dirty="0"/>
          </a:p>
          <a:p>
            <a:pPr lvl="1"/>
            <a:r>
              <a:rPr lang="ja-JP" altLang="en-US" dirty="0"/>
              <a:t>「 </a:t>
            </a:r>
            <a:r>
              <a:rPr lang="en-US" altLang="ja-JP" b="1" dirty="0">
                <a:solidFill>
                  <a:schemeClr val="accent5"/>
                </a:solidFill>
              </a:rPr>
              <a:t>0,</a:t>
            </a:r>
            <a:r>
              <a:rPr lang="en-US" altLang="ja-JP" dirty="0">
                <a:solidFill>
                  <a:schemeClr val="accent5"/>
                </a:solidFill>
              </a:rPr>
              <a:t> </a:t>
            </a:r>
            <a:r>
              <a:rPr lang="en-US" altLang="ja-JP" dirty="0">
                <a:solidFill>
                  <a:schemeClr val="tx1">
                    <a:lumMod val="85000"/>
                    <a:lumOff val="15000"/>
                  </a:schemeClr>
                </a:solidFill>
              </a:rPr>
              <a:t>2, 3, 5</a:t>
            </a:r>
            <a:r>
              <a:rPr lang="en-US" altLang="ja-JP" dirty="0">
                <a:solidFill>
                  <a:schemeClr val="accent5"/>
                </a:solidFill>
              </a:rPr>
              <a:t> </a:t>
            </a:r>
            <a:r>
              <a:rPr lang="ja-JP" altLang="en-US" dirty="0">
                <a:solidFill>
                  <a:schemeClr val="tx1">
                    <a:lumMod val="85000"/>
                    <a:lumOff val="15000"/>
                  </a:schemeClr>
                </a:solidFill>
              </a:rPr>
              <a:t>」「</a:t>
            </a:r>
            <a:r>
              <a:rPr lang="en-US" altLang="ja-JP" b="1" dirty="0">
                <a:solidFill>
                  <a:schemeClr val="accent5"/>
                </a:solidFill>
                <a:latin typeface="Consolas" panose="020B0609020204030204" pitchFamily="49" charset="0"/>
              </a:rPr>
              <a:t>add</a:t>
            </a:r>
            <a:r>
              <a:rPr lang="en-US" altLang="ja-JP" dirty="0">
                <a:solidFill>
                  <a:schemeClr val="accent5"/>
                </a:solidFill>
                <a:latin typeface="Consolas" panose="020B0609020204030204" pitchFamily="49" charset="0"/>
              </a:rPr>
              <a:t> </a:t>
            </a:r>
            <a:r>
              <a:rPr lang="en-US" altLang="ja-JP" dirty="0">
                <a:solidFill>
                  <a:schemeClr val="tx1">
                    <a:lumMod val="85000"/>
                    <a:lumOff val="15000"/>
                  </a:schemeClr>
                </a:solidFill>
                <a:latin typeface="Consolas" panose="020B0609020204030204" pitchFamily="49" charset="0"/>
              </a:rPr>
              <a:t>A,B→D</a:t>
            </a:r>
            <a:r>
              <a:rPr lang="ja-JP" altLang="en-US" dirty="0"/>
              <a:t> 」</a:t>
            </a:r>
            <a:endParaRPr lang="en-US" altLang="ja-JP" dirty="0"/>
          </a:p>
          <a:p>
            <a:r>
              <a:rPr lang="ja-JP" altLang="en-US" dirty="0"/>
              <a:t>オペランド </a:t>
            </a:r>
            <a:r>
              <a:rPr lang="en-US" altLang="ja-JP" dirty="0"/>
              <a:t>(operand)</a:t>
            </a:r>
          </a:p>
          <a:p>
            <a:pPr lvl="1"/>
            <a:r>
              <a:rPr lang="ja-JP" altLang="en-US" dirty="0"/>
              <a:t>計算の入出力対象を指定する部分</a:t>
            </a:r>
            <a:endParaRPr lang="en-US" altLang="ja-JP" dirty="0"/>
          </a:p>
          <a:p>
            <a:pPr lvl="1"/>
            <a:r>
              <a:rPr lang="ja-JP" altLang="en-US" dirty="0"/>
              <a:t>「 </a:t>
            </a:r>
            <a:r>
              <a:rPr lang="en-US" altLang="ja-JP" dirty="0">
                <a:solidFill>
                  <a:schemeClr val="tx1">
                    <a:lumMod val="85000"/>
                    <a:lumOff val="15000"/>
                  </a:schemeClr>
                </a:solidFill>
              </a:rPr>
              <a:t>0, </a:t>
            </a:r>
            <a:r>
              <a:rPr lang="en-US" altLang="ja-JP" b="1" dirty="0">
                <a:solidFill>
                  <a:schemeClr val="accent5"/>
                </a:solidFill>
              </a:rPr>
              <a:t>2, 3, </a:t>
            </a:r>
            <a:r>
              <a:rPr lang="en-US" altLang="ja-JP" b="1" dirty="0">
                <a:solidFill>
                  <a:schemeClr val="accent6"/>
                </a:solidFill>
              </a:rPr>
              <a:t>5</a:t>
            </a:r>
            <a:r>
              <a:rPr lang="en-US" altLang="ja-JP" dirty="0">
                <a:solidFill>
                  <a:schemeClr val="accent5"/>
                </a:solidFill>
              </a:rPr>
              <a:t> </a:t>
            </a:r>
            <a:r>
              <a:rPr lang="ja-JP" altLang="en-US" dirty="0">
                <a:solidFill>
                  <a:schemeClr val="tx1">
                    <a:lumMod val="85000"/>
                    <a:lumOff val="15000"/>
                  </a:schemeClr>
                </a:solidFill>
              </a:rPr>
              <a:t>」「</a:t>
            </a:r>
            <a:r>
              <a:rPr lang="en-US" altLang="ja-JP" dirty="0">
                <a:solidFill>
                  <a:schemeClr val="tx1">
                    <a:lumMod val="85000"/>
                    <a:lumOff val="15000"/>
                  </a:schemeClr>
                </a:solidFill>
                <a:latin typeface="Consolas" panose="020B0609020204030204" pitchFamily="49" charset="0"/>
              </a:rPr>
              <a:t>add </a:t>
            </a:r>
            <a:r>
              <a:rPr lang="en-US" altLang="ja-JP" b="1" dirty="0">
                <a:solidFill>
                  <a:schemeClr val="accent5"/>
                </a:solidFill>
                <a:latin typeface="Consolas" panose="020B0609020204030204" pitchFamily="49" charset="0"/>
              </a:rPr>
              <a:t>A,B→</a:t>
            </a:r>
            <a:r>
              <a:rPr lang="en-US" altLang="ja-JP" b="1" dirty="0">
                <a:solidFill>
                  <a:schemeClr val="accent6"/>
                </a:solidFill>
                <a:latin typeface="Consolas" panose="020B0609020204030204" pitchFamily="49" charset="0"/>
              </a:rPr>
              <a:t>D</a:t>
            </a:r>
            <a:r>
              <a:rPr lang="ja-JP" altLang="en-US" dirty="0">
                <a:solidFill>
                  <a:schemeClr val="tx1">
                    <a:lumMod val="85000"/>
                    <a:lumOff val="15000"/>
                  </a:schemeClr>
                </a:solidFill>
              </a:rPr>
              <a:t> </a:t>
            </a:r>
            <a:r>
              <a:rPr lang="ja-JP" altLang="en-US" dirty="0"/>
              <a:t>」</a:t>
            </a:r>
            <a:endParaRPr lang="en-US" altLang="ja-JP" dirty="0"/>
          </a:p>
          <a:p>
            <a:pPr lvl="1"/>
            <a:r>
              <a:rPr lang="ja-JP" altLang="en-US" dirty="0"/>
              <a:t>入力をソース，出力をディスティネーション とよぶ</a:t>
            </a:r>
            <a:endParaRPr lang="en-US" altLang="ja-JP" dirty="0"/>
          </a:p>
        </p:txBody>
      </p:sp>
    </p:spTree>
    <p:extLst>
      <p:ext uri="{BB962C8B-B14F-4D97-AF65-F5344CB8AC3E}">
        <p14:creationId xmlns:p14="http://schemas.microsoft.com/office/powerpoint/2010/main" val="1537945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a:t>
            </a:r>
            <a:endParaRPr kumimoji="1" lang="ja-JP" altLang="en-US" dirty="0"/>
          </a:p>
        </p:txBody>
      </p:sp>
      <p:sp>
        <p:nvSpPr>
          <p:cNvPr id="3" name="コンテンツ プレースホルダー 2"/>
          <p:cNvSpPr>
            <a:spLocks noGrp="1"/>
          </p:cNvSpPr>
          <p:nvPr>
            <p:ph type="body" sz="quarter" idx="10"/>
          </p:nvPr>
        </p:nvSpPr>
        <p:spPr>
          <a:xfrm>
            <a:off x="2045955" y="1358977"/>
            <a:ext cx="7848600" cy="4903788"/>
          </a:xfrm>
          <a:prstGeom prst="rect">
            <a:avLst/>
          </a:prstGeom>
        </p:spPr>
        <p:txBody>
          <a:bodyPr/>
          <a:lstStyle/>
          <a:p>
            <a:r>
              <a:rPr kumimoji="1" lang="ja-JP" altLang="en-US" dirty="0"/>
              <a:t>コンピュータの心臓部</a:t>
            </a:r>
            <a:endParaRPr kumimoji="1" lang="en-US" altLang="ja-JP" dirty="0"/>
          </a:p>
          <a:p>
            <a:pPr lvl="1"/>
            <a:r>
              <a:rPr lang="ja-JP" altLang="en-US" dirty="0"/>
              <a:t>メモリから命令を読み出し，計算する</a:t>
            </a:r>
            <a:endParaRPr lang="en-US" altLang="ja-JP" dirty="0"/>
          </a:p>
          <a:p>
            <a:r>
              <a:rPr lang="ja-JP" altLang="en-US" dirty="0"/>
              <a:t>構成要素：</a:t>
            </a:r>
            <a:endParaRPr lang="en-US" altLang="ja-JP" dirty="0"/>
          </a:p>
          <a:p>
            <a:pPr lvl="1"/>
            <a:r>
              <a:rPr lang="ja-JP" altLang="en-US" dirty="0">
                <a:solidFill>
                  <a:schemeClr val="accent2"/>
                </a:solidFill>
              </a:rPr>
              <a:t>演算器（</a:t>
            </a:r>
            <a:r>
              <a:rPr lang="en-US" altLang="ja-JP" dirty="0">
                <a:solidFill>
                  <a:schemeClr val="accent2"/>
                </a:solidFill>
              </a:rPr>
              <a:t>FU: Functional Unit</a:t>
            </a:r>
            <a:r>
              <a:rPr lang="ja-JP" altLang="en-US" dirty="0">
                <a:solidFill>
                  <a:schemeClr val="accent2"/>
                </a:solidFill>
              </a:rPr>
              <a:t>）</a:t>
            </a:r>
            <a:endParaRPr lang="en-US" altLang="ja-JP" dirty="0">
              <a:solidFill>
                <a:schemeClr val="accent2"/>
              </a:solidFill>
            </a:endParaRPr>
          </a:p>
          <a:p>
            <a:pPr lvl="2"/>
            <a:r>
              <a:rPr lang="ja-JP" altLang="en-US" dirty="0"/>
              <a:t>加算器や </a:t>
            </a:r>
            <a:r>
              <a:rPr lang="en-US" altLang="ja-JP" dirty="0"/>
              <a:t>AND </a:t>
            </a:r>
            <a:r>
              <a:rPr lang="ja-JP" altLang="en-US" dirty="0"/>
              <a:t>演算器など</a:t>
            </a:r>
            <a:endParaRPr lang="en-US" altLang="ja-JP" dirty="0"/>
          </a:p>
          <a:p>
            <a:pPr lvl="2"/>
            <a:r>
              <a:rPr lang="ja-JP" altLang="en-US" dirty="0"/>
              <a:t>指示された種類の演算を行う</a:t>
            </a:r>
            <a:endParaRPr lang="en-US" altLang="ja-JP" dirty="0"/>
          </a:p>
          <a:p>
            <a:pPr lvl="1"/>
            <a:r>
              <a:rPr lang="ja-JP" altLang="en-US" dirty="0">
                <a:solidFill>
                  <a:schemeClr val="accent1"/>
                </a:solidFill>
              </a:rPr>
              <a:t>レジスタ・ファイル（右図では </a:t>
            </a:r>
            <a:r>
              <a:rPr lang="en-US" altLang="ja-JP" dirty="0">
                <a:solidFill>
                  <a:schemeClr val="accent1"/>
                </a:solidFill>
              </a:rPr>
              <a:t>A,B,C…</a:t>
            </a:r>
            <a:r>
              <a:rPr lang="ja-JP" altLang="en-US" dirty="0">
                <a:solidFill>
                  <a:schemeClr val="accent1"/>
                </a:solidFill>
              </a:rPr>
              <a:t>）</a:t>
            </a:r>
            <a:endParaRPr lang="en-US" altLang="ja-JP" dirty="0">
              <a:solidFill>
                <a:schemeClr val="accent1"/>
              </a:solidFill>
            </a:endParaRPr>
          </a:p>
          <a:p>
            <a:pPr lvl="2"/>
            <a:r>
              <a:rPr lang="ja-JP" altLang="en-US" dirty="0"/>
              <a:t>メモリと同様にデータを記憶する</a:t>
            </a:r>
            <a:endParaRPr lang="en-US" altLang="ja-JP" dirty="0"/>
          </a:p>
          <a:p>
            <a:pPr lvl="3"/>
            <a:r>
              <a:rPr lang="ja-JP" altLang="en-US" dirty="0"/>
              <a:t>位置を指定して読み書きする</a:t>
            </a:r>
            <a:endParaRPr lang="en-US" altLang="ja-JP" dirty="0"/>
          </a:p>
          <a:p>
            <a:pPr lvl="2"/>
            <a:r>
              <a:rPr lang="en-US" altLang="ja-JP" dirty="0"/>
              <a:t>CPU </a:t>
            </a:r>
            <a:r>
              <a:rPr lang="ja-JP" altLang="en-US" dirty="0"/>
              <a:t>の演算は，このレジスタ上でのみ行う</a:t>
            </a:r>
            <a:endParaRPr lang="en-US" altLang="ja-JP" dirty="0"/>
          </a:p>
          <a:p>
            <a:pPr lvl="1"/>
            <a:r>
              <a:rPr lang="en-US" altLang="ja-JP" dirty="0">
                <a:solidFill>
                  <a:schemeClr val="accent5"/>
                </a:solidFill>
              </a:rPr>
              <a:t>PC</a:t>
            </a:r>
            <a:r>
              <a:rPr lang="ja-JP" altLang="en-US" dirty="0">
                <a:solidFill>
                  <a:schemeClr val="accent5"/>
                </a:solidFill>
              </a:rPr>
              <a:t>（</a:t>
            </a:r>
            <a:r>
              <a:rPr lang="en-US" altLang="ja-JP" dirty="0">
                <a:solidFill>
                  <a:schemeClr val="accent5"/>
                </a:solidFill>
              </a:rPr>
              <a:t>Program Counter</a:t>
            </a:r>
            <a:r>
              <a:rPr lang="ja-JP" altLang="en-US" dirty="0">
                <a:solidFill>
                  <a:schemeClr val="accent5"/>
                </a:solidFill>
              </a:rPr>
              <a:t>）</a:t>
            </a:r>
            <a:endParaRPr lang="en-US" altLang="ja-JP" dirty="0">
              <a:solidFill>
                <a:schemeClr val="accent5"/>
              </a:solidFill>
            </a:endParaRPr>
          </a:p>
          <a:p>
            <a:pPr lvl="2"/>
            <a:r>
              <a:rPr lang="ja-JP" altLang="en-US" dirty="0"/>
              <a:t>現在見ている命令のアドレスを記憶している場所</a:t>
            </a:r>
            <a:endParaRPr lang="en-US" altLang="ja-JP" dirty="0"/>
          </a:p>
        </p:txBody>
      </p:sp>
      <p:sp>
        <p:nvSpPr>
          <p:cNvPr id="5" name="正方形/長方形 4"/>
          <p:cNvSpPr/>
          <p:nvPr/>
        </p:nvSpPr>
        <p:spPr bwMode="auto">
          <a:xfrm>
            <a:off x="8976032" y="1988984"/>
            <a:ext cx="1440016" cy="288003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9246035"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A</a:t>
            </a:r>
            <a:endParaRPr lang="ja-JP" altLang="en-US" dirty="0">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876042" y="252899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9246035"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B</a:t>
            </a: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9246035"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C</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9246035"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D</a:t>
            </a:r>
            <a:endParaRPr lang="ja-JP" altLang="en-US" dirty="0">
              <a:latin typeface="メイリオ" panose="020B0604030504040204" pitchFamily="50" charset="-128"/>
              <a:ea typeface="メイリオ" panose="020B0604030504040204" pitchFamily="50" charset="-128"/>
            </a:endParaRPr>
          </a:p>
        </p:txBody>
      </p:sp>
      <p:sp>
        <p:nvSpPr>
          <p:cNvPr id="12" name="フローチャート: 手作業 11"/>
          <p:cNvSpPr/>
          <p:nvPr/>
        </p:nvSpPr>
        <p:spPr bwMode="auto">
          <a:xfrm rot="16200000">
            <a:off x="9598844" y="379619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9246035"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E</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9246035" y="432901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F</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8824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a:t>
            </a:r>
          </a:p>
        </p:txBody>
      </p:sp>
      <p:sp>
        <p:nvSpPr>
          <p:cNvPr id="3" name="コンテンツ プレースホルダー 2"/>
          <p:cNvSpPr>
            <a:spLocks noGrp="1"/>
          </p:cNvSpPr>
          <p:nvPr>
            <p:ph type="body" sz="quarter" idx="10"/>
          </p:nvPr>
        </p:nvSpPr>
        <p:spPr>
          <a:prstGeom prst="rect">
            <a:avLst/>
          </a:prstGeom>
        </p:spPr>
        <p:txBody>
          <a:bodyPr/>
          <a:lstStyle/>
          <a:p>
            <a:r>
              <a:rPr lang="en-US" altLang="ja-JP" dirty="0"/>
              <a:t>PC</a:t>
            </a:r>
            <a:r>
              <a:rPr lang="ja-JP" altLang="en-US" dirty="0"/>
              <a:t>（</a:t>
            </a:r>
            <a:r>
              <a:rPr lang="en-US" altLang="ja-JP" dirty="0"/>
              <a:t>Program Counter</a:t>
            </a:r>
            <a:r>
              <a:rPr lang="ja-JP" altLang="en-US" dirty="0"/>
              <a:t>）</a:t>
            </a:r>
            <a:r>
              <a:rPr lang="en-US" altLang="ja-JP" dirty="0"/>
              <a:t>:</a:t>
            </a:r>
          </a:p>
          <a:p>
            <a:pPr lvl="1"/>
            <a:r>
              <a:rPr lang="ja-JP" altLang="en-US" dirty="0">
                <a:solidFill>
                  <a:schemeClr val="accent5"/>
                </a:solidFill>
              </a:rPr>
              <a:t>現在処理する命令のアドレスを保持</a:t>
            </a:r>
            <a:endParaRPr lang="en-US" altLang="ja-JP" dirty="0">
              <a:solidFill>
                <a:schemeClr val="accent5"/>
              </a:solidFill>
            </a:endParaRPr>
          </a:p>
          <a:p>
            <a:r>
              <a:rPr lang="ja-JP" altLang="en-US" dirty="0"/>
              <a:t>おおざっぱな命令の処理：</a:t>
            </a:r>
            <a:endParaRPr lang="en-US" altLang="ja-JP" dirty="0"/>
          </a:p>
          <a:p>
            <a:pPr marL="906462" lvl="1" indent="-457200">
              <a:buFont typeface="+mj-lt"/>
              <a:buAutoNum type="arabicPeriod"/>
            </a:pPr>
            <a:r>
              <a:rPr lang="en-US" altLang="ja-JP" dirty="0"/>
              <a:t>PC </a:t>
            </a:r>
            <a:r>
              <a:rPr lang="ja-JP" altLang="en-US" dirty="0"/>
              <a:t>が指すアドレスのメモリから読む</a:t>
            </a:r>
            <a:endParaRPr lang="en-US" altLang="ja-JP" dirty="0"/>
          </a:p>
          <a:p>
            <a:pPr marL="906462" lvl="1" indent="-457200">
              <a:buFont typeface="+mj-lt"/>
              <a:buAutoNum type="arabicPeriod"/>
            </a:pPr>
            <a:r>
              <a:rPr lang="ja-JP" altLang="en-US" dirty="0"/>
              <a:t>読んできた命令に応じて処理をする</a:t>
            </a:r>
            <a:endParaRPr lang="en-US" altLang="ja-JP" dirty="0"/>
          </a:p>
          <a:p>
            <a:pPr marL="906462" lvl="1" indent="-457200">
              <a:buFont typeface="+mj-lt"/>
              <a:buAutoNum type="arabicPeriod"/>
            </a:pPr>
            <a:r>
              <a:rPr lang="en-US" altLang="ja-JP" dirty="0"/>
              <a:t>PC </a:t>
            </a:r>
            <a:r>
              <a:rPr lang="ja-JP" altLang="en-US" dirty="0"/>
              <a:t>を更新（数字をたす）</a:t>
            </a:r>
            <a:endParaRPr lang="en-US" altLang="ja-JP" dirty="0"/>
          </a:p>
          <a:p>
            <a:pPr marL="906462" lvl="1" indent="-457200">
              <a:buFont typeface="+mj-lt"/>
              <a:buAutoNum type="arabicPeriod"/>
            </a:pPr>
            <a:r>
              <a:rPr lang="en-US" altLang="ja-JP" dirty="0"/>
              <a:t>1. </a:t>
            </a:r>
            <a:r>
              <a:rPr lang="ja-JP" altLang="en-US" dirty="0"/>
              <a:t>にもどる</a:t>
            </a:r>
            <a:endParaRPr lang="en-US" altLang="ja-JP" dirty="0"/>
          </a:p>
        </p:txBody>
      </p:sp>
    </p:spTree>
    <p:extLst>
      <p:ext uri="{BB962C8B-B14F-4D97-AF65-F5344CB8AC3E}">
        <p14:creationId xmlns:p14="http://schemas.microsoft.com/office/powerpoint/2010/main" val="3185640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en-US" altLang="ja-JP" sz="2800" b="1" dirty="0">
                <a:solidFill>
                  <a:schemeClr val="bg1"/>
                </a:solidFill>
                <a:latin typeface="メイリオ" panose="020B0604030504040204" pitchFamily="50" charset="-128"/>
                <a:ea typeface="メイリオ" panose="020B0604030504040204" pitchFamily="50" charset="-128"/>
              </a:rPr>
              <a:t>1. </a:t>
            </a:r>
            <a:r>
              <a:rPr lang="ja-JP" altLang="en-US" sz="2800" b="1" dirty="0">
                <a:solidFill>
                  <a:schemeClr val="bg1"/>
                </a:solidFill>
                <a:latin typeface="メイリオ" panose="020B0604030504040204" pitchFamily="50" charset="-128"/>
                <a:ea typeface="メイリオ" panose="020B0604030504040204" pitchFamily="50" charset="-128"/>
              </a:rPr>
              <a:t>命令の読み出し（フェッチ）</a:t>
            </a:r>
          </a:p>
        </p:txBody>
      </p:sp>
      <p:sp>
        <p:nvSpPr>
          <p:cNvPr id="3" name="コンテンツ プレースホルダー 2"/>
          <p:cNvSpPr>
            <a:spLocks noGrp="1"/>
          </p:cNvSpPr>
          <p:nvPr>
            <p:ph type="body" sz="quarter" idx="10"/>
          </p:nvPr>
        </p:nvSpPr>
        <p:spPr>
          <a:xfrm>
            <a:off x="1775952" y="1178975"/>
            <a:ext cx="5040056" cy="4903788"/>
          </a:xfrm>
          <a:prstGeom prst="rect">
            <a:avLst/>
          </a:prstGeom>
        </p:spPr>
        <p:txBody>
          <a:bodyPr/>
          <a:lstStyle/>
          <a:p>
            <a:pPr marL="457200" indent="-457200">
              <a:buFont typeface="+mj-lt"/>
              <a:buAutoNum type="arabicPeriod"/>
            </a:pPr>
            <a:r>
              <a:rPr lang="en-US" altLang="ja-JP" dirty="0"/>
              <a:t>PC</a:t>
            </a:r>
            <a:r>
              <a:rPr lang="ja-JP" altLang="en-US" dirty="0"/>
              <a:t> が指している命令の番地を読む</a:t>
            </a:r>
            <a:endParaRPr lang="en-US" altLang="ja-JP" dirty="0"/>
          </a:p>
          <a:p>
            <a:pPr marL="817200" lvl="1" indent="-457200">
              <a:buFont typeface="+mj-lt"/>
              <a:buAutoNum type="arabicPeriod"/>
            </a:pPr>
            <a:r>
              <a:rPr lang="ja-JP" altLang="en-US" dirty="0"/>
              <a:t>今はアドレス０を指している</a:t>
            </a:r>
            <a:endParaRPr lang="en-US" altLang="ja-JP" dirty="0"/>
          </a:p>
          <a:p>
            <a:pPr marL="457200" indent="-457200">
              <a:buFont typeface="+mj-lt"/>
              <a:buAutoNum type="arabicPeriod"/>
            </a:pPr>
            <a:r>
              <a:rPr lang="ja-JP" altLang="en-US" dirty="0"/>
              <a:t>内容である </a:t>
            </a:r>
            <a:r>
              <a:rPr lang="en-US" altLang="ja-JP" dirty="0"/>
              <a:t>0235 </a:t>
            </a:r>
            <a:r>
              <a:rPr lang="ja-JP" altLang="en-US" dirty="0"/>
              <a:t>が得られる</a:t>
            </a:r>
            <a:endParaRPr lang="en-US" altLang="ja-JP" dirty="0"/>
          </a:p>
          <a:p>
            <a:pPr marL="457200" indent="-457200">
              <a:buFont typeface="+mj-lt"/>
              <a:buAutoNum type="arabicPeriod"/>
            </a:pPr>
            <a:r>
              <a:rPr lang="en-US" altLang="ja-JP" dirty="0"/>
              <a:t>CPU </a:t>
            </a:r>
            <a:r>
              <a:rPr lang="ja-JP" altLang="en-US" dirty="0"/>
              <a:t>内にもってくる</a:t>
            </a:r>
            <a:endParaRPr lang="en-US" altLang="ja-JP" dirty="0"/>
          </a:p>
        </p:txBody>
      </p:sp>
      <p:sp>
        <p:nvSpPr>
          <p:cNvPr id="5" name="正方形/長方形 4"/>
          <p:cNvSpPr/>
          <p:nvPr/>
        </p:nvSpPr>
        <p:spPr bwMode="auto">
          <a:xfrm>
            <a:off x="6186003"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6"/>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cxnSp>
        <p:nvCxnSpPr>
          <p:cNvPr id="17" name="曲線コネクタ 16"/>
          <p:cNvCxnSpPr>
            <a:endCxn id="24" idx="1"/>
          </p:cNvCxnSpPr>
          <p:nvPr/>
        </p:nvCxnSpPr>
        <p:spPr bwMode="auto">
          <a:xfrm flipV="1">
            <a:off x="7986024" y="2168986"/>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2" name="直線コネクタ 41"/>
          <p:cNvCxnSpPr>
            <a:endCxn id="73" idx="2"/>
          </p:cNvCxnSpPr>
          <p:nvPr/>
        </p:nvCxnSpPr>
        <p:spPr bwMode="auto">
          <a:xfrm flipV="1">
            <a:off x="7176012" y="5229020"/>
            <a:ext cx="0" cy="360004"/>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176012" y="5589024"/>
            <a:ext cx="2520028"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p:cNvCxnSpPr/>
          <p:nvPr/>
        </p:nvCxnSpPr>
        <p:spPr bwMode="auto">
          <a:xfrm flipV="1">
            <a:off x="9696043" y="2258988"/>
            <a:ext cx="1" cy="3330036"/>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5"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2"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4"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5" y="3249001"/>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12708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の動作は料理に似ている</a:t>
            </a:r>
          </a:p>
        </p:txBody>
      </p:sp>
      <p:sp>
        <p:nvSpPr>
          <p:cNvPr id="3" name="コンテンツ プレースホルダー 2"/>
          <p:cNvSpPr>
            <a:spLocks noGrp="1"/>
          </p:cNvSpPr>
          <p:nvPr>
            <p:ph type="body" sz="quarter" idx="10"/>
          </p:nvPr>
        </p:nvSpPr>
        <p:spPr>
          <a:xfrm>
            <a:off x="2135959" y="1088975"/>
            <a:ext cx="8010089" cy="1620018"/>
          </a:xfrm>
          <a:prstGeom prst="rect">
            <a:avLst/>
          </a:prstGeom>
        </p:spPr>
        <p:txBody>
          <a:bodyPr/>
          <a:lstStyle/>
          <a:p>
            <a:pPr marL="546462" indent="-457200"/>
            <a:r>
              <a:rPr lang="ja-JP" altLang="en-US" dirty="0"/>
              <a:t>レシピをみながら料理をするのに似ている</a:t>
            </a:r>
            <a:endParaRPr lang="en-US" altLang="ja-JP" dirty="0"/>
          </a:p>
          <a:p>
            <a:pPr marL="906462" lvl="1" indent="-457200"/>
            <a:r>
              <a:rPr lang="ja-JP" altLang="en-US" dirty="0"/>
              <a:t>レシピの各手順が命令</a:t>
            </a:r>
            <a:endParaRPr lang="en-US" altLang="ja-JP" dirty="0"/>
          </a:p>
          <a:p>
            <a:pPr marL="906462" lvl="1" indent="-457200"/>
            <a:r>
              <a:rPr lang="ja-JP" altLang="en-US" dirty="0">
                <a:solidFill>
                  <a:schemeClr val="accent5"/>
                </a:solidFill>
              </a:rPr>
              <a:t>「今何個目の手順を見てるか」，を憶えているのかが </a:t>
            </a:r>
            <a:r>
              <a:rPr lang="en-US" altLang="ja-JP" dirty="0">
                <a:solidFill>
                  <a:schemeClr val="accent5"/>
                </a:solidFill>
              </a:rPr>
              <a:t>PC </a:t>
            </a:r>
          </a:p>
          <a:p>
            <a:pPr marL="906462" lvl="1" indent="-457200"/>
            <a:r>
              <a:rPr lang="ja-JP" altLang="en-US" dirty="0"/>
              <a:t>ひとつひとつ手順を取り出して，指示に従って処理</a:t>
            </a:r>
            <a:endParaRPr lang="en-US" altLang="ja-JP" dirty="0"/>
          </a:p>
        </p:txBody>
      </p:sp>
      <p:sp>
        <p:nvSpPr>
          <p:cNvPr id="4" name="正方形/長方形 3"/>
          <p:cNvSpPr/>
          <p:nvPr/>
        </p:nvSpPr>
        <p:spPr bwMode="auto">
          <a:xfrm>
            <a:off x="5195990" y="3429000"/>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p:cNvSpPr/>
          <p:nvPr/>
        </p:nvSpPr>
        <p:spPr bwMode="auto">
          <a:xfrm>
            <a:off x="5195990" y="3789004"/>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p:cNvSpPr/>
          <p:nvPr/>
        </p:nvSpPr>
        <p:spPr bwMode="auto">
          <a:xfrm>
            <a:off x="5195990" y="4149008"/>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p:cNvSpPr/>
          <p:nvPr/>
        </p:nvSpPr>
        <p:spPr bwMode="auto">
          <a:xfrm>
            <a:off x="5195990" y="4509012"/>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p:cNvSpPr/>
          <p:nvPr/>
        </p:nvSpPr>
        <p:spPr bwMode="auto">
          <a:xfrm>
            <a:off x="5195990" y="4869016"/>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p:cNvSpPr/>
          <p:nvPr/>
        </p:nvSpPr>
        <p:spPr bwMode="auto">
          <a:xfrm>
            <a:off x="5195990" y="5229020"/>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p:cNvSpPr/>
          <p:nvPr/>
        </p:nvSpPr>
        <p:spPr bwMode="auto">
          <a:xfrm>
            <a:off x="5195990" y="5589024"/>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p:cNvSpPr/>
          <p:nvPr/>
        </p:nvSpPr>
        <p:spPr bwMode="auto">
          <a:xfrm>
            <a:off x="5195990" y="5949028"/>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p:cNvSpPr/>
          <p:nvPr/>
        </p:nvSpPr>
        <p:spPr bwMode="auto">
          <a:xfrm>
            <a:off x="5195990" y="6309032"/>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grpSp>
        <p:nvGrpSpPr>
          <p:cNvPr id="13" name="グループ化 12"/>
          <p:cNvGrpSpPr/>
          <p:nvPr/>
        </p:nvGrpSpPr>
        <p:grpSpPr>
          <a:xfrm rot="5400000">
            <a:off x="3080965" y="4824017"/>
            <a:ext cx="3330038" cy="540006"/>
            <a:chOff x="3533396" y="3248998"/>
            <a:chExt cx="3330038" cy="540006"/>
          </a:xfrm>
        </p:grpSpPr>
        <p:cxnSp>
          <p:nvCxnSpPr>
            <p:cNvPr id="14" name="直線コネクタ 13"/>
            <p:cNvCxnSpPr/>
            <p:nvPr/>
          </p:nvCxnSpPr>
          <p:spPr bwMode="auto">
            <a:xfrm rot="16200000">
              <a:off x="5198415" y="1853981"/>
              <a:ext cx="0" cy="3330038"/>
            </a:xfrm>
            <a:prstGeom prst="line">
              <a:avLst/>
            </a:prstGeom>
            <a:noFill/>
            <a:ln w="12700" cap="flat" cmpd="sng" algn="ctr">
              <a:solidFill>
                <a:schemeClr val="accent6"/>
              </a:solidFill>
              <a:prstDash val="solid"/>
              <a:round/>
              <a:headEnd type="none" w="med" len="med"/>
              <a:tailEnd type="none" w="med" len="med"/>
            </a:ln>
            <a:effectLst/>
          </p:spPr>
        </p:cxnSp>
        <p:cxnSp>
          <p:nvCxnSpPr>
            <p:cNvPr id="15" name="直線コネクタ 14"/>
            <p:cNvCxnSpPr/>
            <p:nvPr/>
          </p:nvCxnSpPr>
          <p:spPr bwMode="auto">
            <a:xfrm flipH="1" flipV="1">
              <a:off x="6593430" y="3248998"/>
              <a:ext cx="270003" cy="270003"/>
            </a:xfrm>
            <a:prstGeom prst="line">
              <a:avLst/>
            </a:prstGeom>
            <a:noFill/>
            <a:ln w="12700" cap="flat" cmpd="sng" algn="ctr">
              <a:solidFill>
                <a:schemeClr val="accent6"/>
              </a:solidFill>
              <a:prstDash val="solid"/>
              <a:round/>
              <a:headEnd type="none" w="med" len="med"/>
              <a:tailEnd type="none" w="med" len="med"/>
            </a:ln>
            <a:effectLst/>
          </p:spPr>
        </p:cxnSp>
        <p:cxnSp>
          <p:nvCxnSpPr>
            <p:cNvPr id="16" name="直線コネクタ 15"/>
            <p:cNvCxnSpPr/>
            <p:nvPr/>
          </p:nvCxnSpPr>
          <p:spPr bwMode="auto">
            <a:xfrm flipH="1">
              <a:off x="6593430" y="3519001"/>
              <a:ext cx="270004" cy="270003"/>
            </a:xfrm>
            <a:prstGeom prst="line">
              <a:avLst/>
            </a:prstGeom>
            <a:noFill/>
            <a:ln w="12700" cap="flat" cmpd="sng" algn="ctr">
              <a:solidFill>
                <a:schemeClr val="accent6"/>
              </a:solidFill>
              <a:prstDash val="solid"/>
              <a:round/>
              <a:headEnd type="none" w="med" len="med"/>
              <a:tailEnd type="none" w="med" len="med"/>
            </a:ln>
            <a:effectLst/>
          </p:spPr>
        </p:cxnSp>
      </p:grpSp>
      <p:sp>
        <p:nvSpPr>
          <p:cNvPr id="17" name="テキスト ボックス 16"/>
          <p:cNvSpPr txBox="1"/>
          <p:nvPr/>
        </p:nvSpPr>
        <p:spPr>
          <a:xfrm>
            <a:off x="4745985" y="2888994"/>
            <a:ext cx="1620018" cy="369332"/>
          </a:xfrm>
          <a:prstGeom prst="rect">
            <a:avLst/>
          </a:prstGeom>
          <a:noFill/>
        </p:spPr>
        <p:txBody>
          <a:bodyPr wrap="none" rtlCol="0">
            <a:noAutofit/>
          </a:bodyPr>
          <a:lstStyle/>
          <a:p>
            <a:r>
              <a:rPr lang="ja-JP" altLang="en-US" sz="2400" dirty="0">
                <a:solidFill>
                  <a:srgbClr val="5E6363"/>
                </a:solidFill>
              </a:rPr>
              <a:t>カレーのレシピ</a:t>
            </a:r>
          </a:p>
        </p:txBody>
      </p:sp>
    </p:spTree>
    <p:extLst>
      <p:ext uri="{BB962C8B-B14F-4D97-AF65-F5344CB8AC3E}">
        <p14:creationId xmlns:p14="http://schemas.microsoft.com/office/powerpoint/2010/main" val="1590754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0E3FB7BF-E660-03B2-C35D-8B370DB5427C}"/>
              </a:ext>
            </a:extLst>
          </p:cNvPr>
          <p:cNvSpPr>
            <a:spLocks noGrp="1"/>
          </p:cNvSpPr>
          <p:nvPr>
            <p:ph type="title"/>
          </p:nvPr>
        </p:nvSpPr>
        <p:spPr/>
        <p:txBody>
          <a:bodyPr/>
          <a:lstStyle/>
          <a:p>
            <a:r>
              <a:rPr lang="ja-JP" altLang="en-US" b="1" dirty="0"/>
              <a:t>課題２の解説</a:t>
            </a:r>
            <a:endParaRPr lang="en-US" b="1" dirty="0"/>
          </a:p>
        </p:txBody>
      </p:sp>
    </p:spTree>
    <p:extLst>
      <p:ext uri="{BB962C8B-B14F-4D97-AF65-F5344CB8AC3E}">
        <p14:creationId xmlns:p14="http://schemas.microsoft.com/office/powerpoint/2010/main" val="3054048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課題２で使用する命令セット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p:txBody>
          <a:bodyPr/>
          <a:lstStyle/>
          <a:p>
            <a:r>
              <a:rPr kumimoji="1" lang="ja-JP" altLang="en-US" dirty="0"/>
              <a:t>レジスタ：</a:t>
            </a:r>
            <a:endParaRPr kumimoji="1" lang="en-US" altLang="ja-JP" dirty="0"/>
          </a:p>
          <a:p>
            <a:pPr lvl="1"/>
            <a:r>
              <a:rPr lang="en-US" dirty="0"/>
              <a:t>A, B, C, D, E, F </a:t>
            </a:r>
            <a:r>
              <a:rPr lang="ja-JP" altLang="en-US" dirty="0"/>
              <a:t>の６つがあるものとする</a:t>
            </a:r>
            <a:endParaRPr lang="en-US" altLang="ja-JP" dirty="0"/>
          </a:p>
          <a:p>
            <a:r>
              <a:rPr kumimoji="1" lang="ja-JP" altLang="en-US" dirty="0"/>
              <a:t>命令：</a:t>
            </a:r>
            <a:endParaRPr kumimoji="1" lang="en-US" altLang="ja-JP" dirty="0"/>
          </a:p>
          <a:p>
            <a:pPr lvl="1"/>
            <a:r>
              <a:rPr lang="ja-JP" altLang="en-US" dirty="0"/>
              <a:t>次のページで説明する </a:t>
            </a:r>
            <a:r>
              <a:rPr lang="en-US" dirty="0"/>
              <a:t>li, add, sub, b </a:t>
            </a:r>
            <a:r>
              <a:rPr lang="ja-JP" altLang="en-US" dirty="0"/>
              <a:t>の命令がある</a:t>
            </a:r>
            <a:endParaRPr kumimoji="1" lang="en-US" dirty="0"/>
          </a:p>
          <a:p>
            <a:pPr marL="0" indent="0">
              <a:lnSpc>
                <a:spcPct val="150000"/>
              </a:lnSpc>
              <a:buNone/>
            </a:pPr>
            <a:endParaRPr kumimoji="1" lang="en-US" altLang="ja-JP" dirty="0"/>
          </a:p>
          <a:p>
            <a:pPr lvl="2"/>
            <a:endParaRPr kumimoji="1" lang="en-US" dirty="0"/>
          </a:p>
          <a:p>
            <a:pPr lvl="1"/>
            <a:endParaRPr kumimoji="1" lang="en-US" dirty="0"/>
          </a:p>
        </p:txBody>
      </p:sp>
    </p:spTree>
    <p:extLst>
      <p:ext uri="{BB962C8B-B14F-4D97-AF65-F5344CB8AC3E}">
        <p14:creationId xmlns:p14="http://schemas.microsoft.com/office/powerpoint/2010/main" val="3212200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課題２で使用する命令セット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2135958" y="1088974"/>
            <a:ext cx="8370093" cy="5220058"/>
          </a:xfrm>
        </p:spPr>
        <p:txBody>
          <a:bodyPr/>
          <a:lstStyle/>
          <a:p>
            <a:r>
              <a:rPr lang="en-US" sz="1600" dirty="0"/>
              <a:t>li</a:t>
            </a:r>
            <a:r>
              <a:rPr lang="ja-JP" altLang="en-US" sz="1600" dirty="0"/>
              <a:t>：即値をレジスタに読み込む</a:t>
            </a:r>
            <a:endParaRPr lang="en-US" altLang="ja-JP" sz="1600" dirty="0"/>
          </a:p>
          <a:p>
            <a:pPr lvl="1"/>
            <a:r>
              <a:rPr lang="ja-JP" altLang="en-US" sz="1600" dirty="0"/>
              <a:t>例：</a:t>
            </a:r>
            <a:r>
              <a:rPr lang="en-US" altLang="ja-JP" sz="1600" dirty="0">
                <a:solidFill>
                  <a:schemeClr val="tx1">
                    <a:lumMod val="85000"/>
                    <a:lumOff val="15000"/>
                  </a:schemeClr>
                </a:solidFill>
                <a:latin typeface="Consolas" panose="020B0609020204030204" pitchFamily="49" charset="0"/>
              </a:rPr>
              <a:t>li 0 </a:t>
            </a:r>
            <a:r>
              <a:rPr lang="ja-JP" altLang="en-US" sz="1600" dirty="0">
                <a:solidFill>
                  <a:schemeClr val="tx1">
                    <a:lumMod val="85000"/>
                    <a:lumOff val="15000"/>
                  </a:schemeClr>
                </a:solidFill>
                <a:latin typeface="Consolas" panose="020B0609020204030204" pitchFamily="49" charset="0"/>
              </a:rPr>
              <a:t>→ </a:t>
            </a:r>
            <a:r>
              <a:rPr lang="en-US" altLang="ja-JP" sz="1600" dirty="0">
                <a:solidFill>
                  <a:schemeClr val="tx1">
                    <a:lumMod val="85000"/>
                    <a:lumOff val="15000"/>
                  </a:schemeClr>
                </a:solidFill>
                <a:latin typeface="Consolas" panose="020B0609020204030204" pitchFamily="49" charset="0"/>
              </a:rPr>
              <a:t>A</a:t>
            </a:r>
            <a:r>
              <a:rPr lang="ja-JP" altLang="en-US" sz="1600" dirty="0">
                <a:solidFill>
                  <a:schemeClr val="tx1">
                    <a:lumMod val="85000"/>
                    <a:lumOff val="15000"/>
                  </a:schemeClr>
                </a:solidFill>
                <a:latin typeface="Consolas" panose="020B0609020204030204" pitchFamily="49" charset="0"/>
              </a:rPr>
              <a:t>     </a:t>
            </a:r>
            <a:r>
              <a:rPr lang="en-US" altLang="ja-JP" sz="1600" dirty="0">
                <a:latin typeface="Consolas" panose="020B0609020204030204" pitchFamily="49" charset="0"/>
              </a:rPr>
              <a:t>// </a:t>
            </a:r>
            <a:r>
              <a:rPr lang="ja-JP" altLang="en-US" sz="1600" dirty="0">
                <a:latin typeface="Consolas" panose="020B0609020204030204" pitchFamily="49" charset="0"/>
              </a:rPr>
              <a:t>レジスタ </a:t>
            </a:r>
            <a:r>
              <a:rPr lang="en-US" altLang="ja-JP" sz="1600" dirty="0">
                <a:latin typeface="Consolas" panose="020B0609020204030204" pitchFamily="49" charset="0"/>
              </a:rPr>
              <a:t>A </a:t>
            </a:r>
            <a:r>
              <a:rPr lang="ja-JP" altLang="en-US" sz="1600" dirty="0">
                <a:latin typeface="Consolas" panose="020B0609020204030204" pitchFamily="49" charset="0"/>
              </a:rPr>
              <a:t>に </a:t>
            </a:r>
            <a:r>
              <a:rPr lang="en-US" altLang="ja-JP" sz="1600" dirty="0">
                <a:latin typeface="Consolas" panose="020B0609020204030204" pitchFamily="49" charset="0"/>
              </a:rPr>
              <a:t>0 </a:t>
            </a:r>
            <a:r>
              <a:rPr lang="ja-JP" altLang="en-US" sz="1600" dirty="0">
                <a:latin typeface="Consolas" panose="020B0609020204030204" pitchFamily="49" charset="0"/>
              </a:rPr>
              <a:t>をいれる</a:t>
            </a:r>
            <a:endParaRPr lang="en-US" altLang="ja-JP" sz="1600" dirty="0">
              <a:latin typeface="Consolas" panose="020B0609020204030204" pitchFamily="49" charset="0"/>
            </a:endParaRPr>
          </a:p>
          <a:p>
            <a:r>
              <a:rPr lang="en-US" altLang="ja-JP" sz="1600" dirty="0">
                <a:solidFill>
                  <a:schemeClr val="tx1">
                    <a:lumMod val="85000"/>
                    <a:lumOff val="15000"/>
                  </a:schemeClr>
                </a:solidFill>
                <a:latin typeface="Consolas" panose="020B0609020204030204" pitchFamily="49" charset="0"/>
              </a:rPr>
              <a:t>add</a:t>
            </a:r>
            <a:r>
              <a:rPr lang="ja-JP" altLang="en-US" sz="1600" dirty="0">
                <a:solidFill>
                  <a:schemeClr val="tx1">
                    <a:lumMod val="85000"/>
                    <a:lumOff val="15000"/>
                  </a:schemeClr>
                </a:solidFill>
                <a:latin typeface="Consolas" panose="020B0609020204030204" pitchFamily="49" charset="0"/>
              </a:rPr>
              <a:t>：加算</a:t>
            </a:r>
            <a:endParaRPr lang="en-US" altLang="ja-JP" sz="1600" dirty="0">
              <a:solidFill>
                <a:schemeClr val="tx1">
                  <a:lumMod val="85000"/>
                  <a:lumOff val="15000"/>
                </a:schemeClr>
              </a:solidFill>
              <a:latin typeface="Consolas" panose="020B0609020204030204" pitchFamily="49" charset="0"/>
            </a:endParaRPr>
          </a:p>
          <a:p>
            <a:pPr lvl="1"/>
            <a:r>
              <a:rPr lang="ja-JP" altLang="en-US" sz="1600" dirty="0">
                <a:solidFill>
                  <a:schemeClr val="tx1">
                    <a:lumMod val="85000"/>
                    <a:lumOff val="15000"/>
                  </a:schemeClr>
                </a:solidFill>
                <a:latin typeface="Consolas" panose="020B0609020204030204" pitchFamily="49" charset="0"/>
              </a:rPr>
              <a:t>例：</a:t>
            </a:r>
            <a:r>
              <a:rPr lang="en-US" altLang="ja-JP" sz="1600" dirty="0">
                <a:solidFill>
                  <a:schemeClr val="tx1">
                    <a:lumMod val="85000"/>
                    <a:lumOff val="15000"/>
                  </a:schemeClr>
                </a:solidFill>
                <a:latin typeface="Consolas" panose="020B0609020204030204" pitchFamily="49" charset="0"/>
              </a:rPr>
              <a:t>add A,1 </a:t>
            </a:r>
            <a:r>
              <a:rPr lang="ja-JP" altLang="en-US" sz="1600" dirty="0">
                <a:solidFill>
                  <a:schemeClr val="tx1">
                    <a:lumMod val="85000"/>
                    <a:lumOff val="15000"/>
                  </a:schemeClr>
                </a:solidFill>
                <a:latin typeface="Consolas" panose="020B0609020204030204" pitchFamily="49" charset="0"/>
              </a:rPr>
              <a:t>→ </a:t>
            </a:r>
            <a:r>
              <a:rPr lang="en-US" altLang="ja-JP" sz="1600" dirty="0">
                <a:solidFill>
                  <a:schemeClr val="tx1">
                    <a:lumMod val="85000"/>
                    <a:lumOff val="15000"/>
                  </a:schemeClr>
                </a:solidFill>
                <a:latin typeface="Consolas" panose="020B0609020204030204" pitchFamily="49" charset="0"/>
              </a:rPr>
              <a:t>A  // </a:t>
            </a:r>
            <a:r>
              <a:rPr lang="ja-JP" altLang="en-US" sz="1600" dirty="0">
                <a:solidFill>
                  <a:schemeClr val="tx1">
                    <a:lumMod val="85000"/>
                    <a:lumOff val="15000"/>
                  </a:schemeClr>
                </a:solidFill>
                <a:latin typeface="Consolas" panose="020B0609020204030204" pitchFamily="49" charset="0"/>
              </a:rPr>
              <a:t>レジスタ </a:t>
            </a:r>
            <a:r>
              <a:rPr lang="en-US" altLang="ja-JP" sz="1600" dirty="0">
                <a:solidFill>
                  <a:schemeClr val="tx1">
                    <a:lumMod val="85000"/>
                    <a:lumOff val="15000"/>
                  </a:schemeClr>
                </a:solidFill>
                <a:latin typeface="Consolas" panose="020B0609020204030204" pitchFamily="49" charset="0"/>
              </a:rPr>
              <a:t>A </a:t>
            </a:r>
            <a:r>
              <a:rPr lang="ja-JP" altLang="en-US" sz="1600" dirty="0">
                <a:solidFill>
                  <a:schemeClr val="tx1">
                    <a:lumMod val="85000"/>
                    <a:lumOff val="15000"/>
                  </a:schemeClr>
                </a:solidFill>
                <a:latin typeface="Consolas" panose="020B0609020204030204" pitchFamily="49" charset="0"/>
              </a:rPr>
              <a:t>に </a:t>
            </a:r>
            <a:r>
              <a:rPr lang="en-US" altLang="ja-JP" sz="1600" dirty="0">
                <a:solidFill>
                  <a:schemeClr val="tx1">
                    <a:lumMod val="85000"/>
                    <a:lumOff val="15000"/>
                  </a:schemeClr>
                </a:solidFill>
                <a:latin typeface="Consolas" panose="020B0609020204030204" pitchFamily="49" charset="0"/>
              </a:rPr>
              <a:t>1 </a:t>
            </a:r>
            <a:r>
              <a:rPr lang="ja-JP" altLang="en-US" sz="1600" dirty="0">
                <a:solidFill>
                  <a:schemeClr val="tx1">
                    <a:lumMod val="85000"/>
                    <a:lumOff val="15000"/>
                  </a:schemeClr>
                </a:solidFill>
                <a:latin typeface="Consolas" panose="020B0609020204030204" pitchFamily="49" charset="0"/>
              </a:rPr>
              <a:t>を足して </a:t>
            </a:r>
            <a:r>
              <a:rPr lang="en-US" altLang="ja-JP" sz="1600" dirty="0">
                <a:solidFill>
                  <a:schemeClr val="tx1">
                    <a:lumMod val="85000"/>
                    <a:lumOff val="15000"/>
                  </a:schemeClr>
                </a:solidFill>
                <a:latin typeface="Consolas" panose="020B0609020204030204" pitchFamily="49" charset="0"/>
              </a:rPr>
              <a:t>A </a:t>
            </a:r>
            <a:r>
              <a:rPr lang="ja-JP" altLang="en-US" sz="1600" dirty="0">
                <a:solidFill>
                  <a:schemeClr val="tx1">
                    <a:lumMod val="85000"/>
                    <a:lumOff val="15000"/>
                  </a:schemeClr>
                </a:solidFill>
                <a:latin typeface="Consolas" panose="020B0609020204030204" pitchFamily="49" charset="0"/>
              </a:rPr>
              <a:t>に書く</a:t>
            </a:r>
            <a:endParaRPr lang="en-US" altLang="ja-JP" sz="1600" dirty="0">
              <a:solidFill>
                <a:schemeClr val="tx1">
                  <a:lumMod val="85000"/>
                  <a:lumOff val="15000"/>
                </a:schemeClr>
              </a:solidFill>
              <a:latin typeface="Consolas" panose="020B0609020204030204" pitchFamily="49" charset="0"/>
            </a:endParaRPr>
          </a:p>
          <a:p>
            <a:r>
              <a:rPr lang="en-US" altLang="ja-JP" sz="1600" dirty="0">
                <a:solidFill>
                  <a:schemeClr val="tx1">
                    <a:lumMod val="85000"/>
                    <a:lumOff val="15000"/>
                  </a:schemeClr>
                </a:solidFill>
                <a:latin typeface="Consolas" panose="020B0609020204030204" pitchFamily="49" charset="0"/>
              </a:rPr>
              <a:t>sub</a:t>
            </a:r>
            <a:r>
              <a:rPr lang="ja-JP" altLang="en-US" sz="1600" dirty="0">
                <a:solidFill>
                  <a:schemeClr val="tx1">
                    <a:lumMod val="85000"/>
                    <a:lumOff val="15000"/>
                  </a:schemeClr>
                </a:solidFill>
                <a:latin typeface="Consolas" panose="020B0609020204030204" pitchFamily="49" charset="0"/>
              </a:rPr>
              <a:t>：減算</a:t>
            </a:r>
            <a:endParaRPr lang="en-US" altLang="ja-JP" sz="1600" dirty="0">
              <a:solidFill>
                <a:schemeClr val="tx1">
                  <a:lumMod val="85000"/>
                  <a:lumOff val="15000"/>
                </a:schemeClr>
              </a:solidFill>
              <a:latin typeface="Consolas" panose="020B0609020204030204" pitchFamily="49" charset="0"/>
            </a:endParaRPr>
          </a:p>
          <a:p>
            <a:pPr lvl="1"/>
            <a:r>
              <a:rPr lang="ja-JP" altLang="en-US" sz="1600" dirty="0">
                <a:solidFill>
                  <a:schemeClr val="tx1">
                    <a:lumMod val="85000"/>
                    <a:lumOff val="15000"/>
                  </a:schemeClr>
                </a:solidFill>
                <a:latin typeface="Consolas" panose="020B0609020204030204" pitchFamily="49" charset="0"/>
              </a:rPr>
              <a:t>例：</a:t>
            </a:r>
            <a:r>
              <a:rPr lang="en-US" altLang="ja-JP" sz="1600" dirty="0">
                <a:solidFill>
                  <a:schemeClr val="tx1">
                    <a:lumMod val="85000"/>
                    <a:lumOff val="15000"/>
                  </a:schemeClr>
                </a:solidFill>
                <a:latin typeface="Consolas" panose="020B0609020204030204" pitchFamily="49" charset="0"/>
              </a:rPr>
              <a:t>sub B,C </a:t>
            </a:r>
            <a:r>
              <a:rPr lang="ja-JP" altLang="en-US" sz="1600" dirty="0">
                <a:solidFill>
                  <a:schemeClr val="tx1">
                    <a:lumMod val="85000"/>
                    <a:lumOff val="15000"/>
                  </a:schemeClr>
                </a:solidFill>
                <a:latin typeface="Consolas" panose="020B0609020204030204" pitchFamily="49" charset="0"/>
              </a:rPr>
              <a:t>→ </a:t>
            </a:r>
            <a:r>
              <a:rPr lang="en-US" altLang="ja-JP" sz="1600" dirty="0">
                <a:solidFill>
                  <a:schemeClr val="tx1">
                    <a:lumMod val="85000"/>
                    <a:lumOff val="15000"/>
                  </a:schemeClr>
                </a:solidFill>
                <a:latin typeface="Consolas" panose="020B0609020204030204" pitchFamily="49" charset="0"/>
              </a:rPr>
              <a:t>D  // </a:t>
            </a:r>
            <a:r>
              <a:rPr lang="ja-JP" altLang="en-US" sz="1600" dirty="0">
                <a:solidFill>
                  <a:schemeClr val="tx1">
                    <a:lumMod val="85000"/>
                    <a:lumOff val="15000"/>
                  </a:schemeClr>
                </a:solidFill>
                <a:latin typeface="Consolas" panose="020B0609020204030204" pitchFamily="49" charset="0"/>
              </a:rPr>
              <a:t>レジスタ </a:t>
            </a:r>
            <a:r>
              <a:rPr lang="en-US" altLang="ja-JP" sz="1600" dirty="0">
                <a:solidFill>
                  <a:schemeClr val="tx1">
                    <a:lumMod val="85000"/>
                    <a:lumOff val="15000"/>
                  </a:schemeClr>
                </a:solidFill>
                <a:latin typeface="Consolas" panose="020B0609020204030204" pitchFamily="49" charset="0"/>
              </a:rPr>
              <a:t>B </a:t>
            </a:r>
            <a:r>
              <a:rPr lang="ja-JP" altLang="en-US" sz="1600" dirty="0">
                <a:solidFill>
                  <a:schemeClr val="tx1">
                    <a:lumMod val="85000"/>
                    <a:lumOff val="15000"/>
                  </a:schemeClr>
                </a:solidFill>
                <a:latin typeface="Consolas" panose="020B0609020204030204" pitchFamily="49" charset="0"/>
              </a:rPr>
              <a:t>から </a:t>
            </a:r>
            <a:r>
              <a:rPr lang="en-US" altLang="ja-JP" sz="1600" dirty="0">
                <a:solidFill>
                  <a:schemeClr val="tx1">
                    <a:lumMod val="85000"/>
                    <a:lumOff val="15000"/>
                  </a:schemeClr>
                </a:solidFill>
                <a:latin typeface="Consolas" panose="020B0609020204030204" pitchFamily="49" charset="0"/>
              </a:rPr>
              <a:t>C </a:t>
            </a:r>
            <a:r>
              <a:rPr lang="ja-JP" altLang="en-US" sz="1600" dirty="0">
                <a:solidFill>
                  <a:schemeClr val="tx1">
                    <a:lumMod val="85000"/>
                    <a:lumOff val="15000"/>
                  </a:schemeClr>
                </a:solidFill>
                <a:latin typeface="Consolas" panose="020B0609020204030204" pitchFamily="49" charset="0"/>
              </a:rPr>
              <a:t>を引いて </a:t>
            </a:r>
            <a:r>
              <a:rPr lang="en-US" altLang="ja-JP" sz="1600" dirty="0">
                <a:solidFill>
                  <a:schemeClr val="tx1">
                    <a:lumMod val="85000"/>
                    <a:lumOff val="15000"/>
                  </a:schemeClr>
                </a:solidFill>
                <a:latin typeface="Consolas" panose="020B0609020204030204" pitchFamily="49" charset="0"/>
              </a:rPr>
              <a:t>D </a:t>
            </a:r>
            <a:r>
              <a:rPr lang="ja-JP" altLang="en-US" sz="1600" dirty="0">
                <a:solidFill>
                  <a:schemeClr val="tx1">
                    <a:lumMod val="85000"/>
                    <a:lumOff val="15000"/>
                  </a:schemeClr>
                </a:solidFill>
                <a:latin typeface="Consolas" panose="020B0609020204030204" pitchFamily="49" charset="0"/>
              </a:rPr>
              <a:t>に書く</a:t>
            </a:r>
            <a:endParaRPr lang="en-US" sz="1600" dirty="0"/>
          </a:p>
        </p:txBody>
      </p:sp>
    </p:spTree>
    <p:extLst>
      <p:ext uri="{BB962C8B-B14F-4D97-AF65-F5344CB8AC3E}">
        <p14:creationId xmlns:p14="http://schemas.microsoft.com/office/powerpoint/2010/main" val="2963983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課題２で使用する命令セット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2135958" y="1088974"/>
            <a:ext cx="8370093" cy="5220058"/>
          </a:xfrm>
        </p:spPr>
        <p:txBody>
          <a:bodyPr/>
          <a:lstStyle/>
          <a:p>
            <a:pPr>
              <a:lnSpc>
                <a:spcPct val="150000"/>
              </a:lnSpc>
            </a:pPr>
            <a:r>
              <a:rPr lang="en-US" altLang="ja-JP" sz="1600" dirty="0">
                <a:solidFill>
                  <a:schemeClr val="tx1">
                    <a:lumMod val="85000"/>
                    <a:lumOff val="15000"/>
                  </a:schemeClr>
                </a:solidFill>
                <a:latin typeface="Consolas" panose="020B0609020204030204" pitchFamily="49" charset="0"/>
              </a:rPr>
              <a:t>b</a:t>
            </a:r>
            <a:r>
              <a:rPr lang="ja-JP" altLang="en-US" sz="1600" dirty="0">
                <a:solidFill>
                  <a:schemeClr val="tx1">
                    <a:lumMod val="85000"/>
                    <a:lumOff val="15000"/>
                  </a:schemeClr>
                </a:solidFill>
                <a:latin typeface="Consolas" panose="020B0609020204030204" pitchFamily="49" charset="0"/>
              </a:rPr>
              <a:t>：条件分岐命令</a:t>
            </a:r>
            <a:endParaRPr lang="en-US" altLang="ja-JP" sz="1600" dirty="0">
              <a:solidFill>
                <a:schemeClr val="tx1">
                  <a:lumMod val="85000"/>
                  <a:lumOff val="15000"/>
                </a:schemeClr>
              </a:solidFill>
              <a:latin typeface="Consolas" panose="020B0609020204030204" pitchFamily="49" charset="0"/>
            </a:endParaRPr>
          </a:p>
          <a:p>
            <a:pPr lvl="1">
              <a:lnSpc>
                <a:spcPct val="150000"/>
              </a:lnSpc>
            </a:pPr>
            <a:r>
              <a:rPr lang="ja-JP" altLang="en-US" sz="1600" dirty="0">
                <a:solidFill>
                  <a:schemeClr val="tx1">
                    <a:lumMod val="85000"/>
                    <a:lumOff val="15000"/>
                  </a:schemeClr>
                </a:solidFill>
                <a:latin typeface="Consolas" panose="020B0609020204030204" pitchFamily="49" charset="0"/>
              </a:rPr>
              <a:t>例：</a:t>
            </a:r>
            <a:r>
              <a:rPr lang="en-US" altLang="ja-JP" sz="1600" dirty="0">
                <a:solidFill>
                  <a:schemeClr val="tx1">
                    <a:lumMod val="85000"/>
                    <a:lumOff val="15000"/>
                  </a:schemeClr>
                </a:solidFill>
                <a:latin typeface="Consolas" panose="020B0609020204030204" pitchFamily="49" charset="0"/>
              </a:rPr>
              <a:t> b A &lt; B, LABEL  // </a:t>
            </a:r>
            <a:r>
              <a:rPr lang="ja-JP" altLang="en-US" sz="1600" dirty="0">
                <a:solidFill>
                  <a:schemeClr val="tx1">
                    <a:lumMod val="85000"/>
                    <a:lumOff val="15000"/>
                  </a:schemeClr>
                </a:solidFill>
                <a:latin typeface="Consolas" panose="020B0609020204030204" pitchFamily="49" charset="0"/>
              </a:rPr>
              <a:t>もし </a:t>
            </a:r>
            <a:r>
              <a:rPr lang="en-US" altLang="ja-JP" sz="1600" dirty="0">
                <a:solidFill>
                  <a:schemeClr val="tx1">
                    <a:lumMod val="85000"/>
                    <a:lumOff val="15000"/>
                  </a:schemeClr>
                </a:solidFill>
                <a:latin typeface="Consolas" panose="020B0609020204030204" pitchFamily="49" charset="0"/>
              </a:rPr>
              <a:t>A&lt;B </a:t>
            </a:r>
            <a:r>
              <a:rPr lang="ja-JP" altLang="en-US" sz="1600" dirty="0">
                <a:solidFill>
                  <a:schemeClr val="tx1">
                    <a:lumMod val="85000"/>
                    <a:lumOff val="15000"/>
                  </a:schemeClr>
                </a:solidFill>
                <a:latin typeface="Consolas" panose="020B0609020204030204" pitchFamily="49" charset="0"/>
              </a:rPr>
              <a:t>であれば </a:t>
            </a:r>
            <a:r>
              <a:rPr lang="en-US" altLang="ja-JP" sz="1600" dirty="0">
                <a:solidFill>
                  <a:schemeClr val="tx1">
                    <a:lumMod val="85000"/>
                    <a:lumOff val="15000"/>
                  </a:schemeClr>
                </a:solidFill>
                <a:latin typeface="Consolas" panose="020B0609020204030204" pitchFamily="49" charset="0"/>
              </a:rPr>
              <a:t>LABEL </a:t>
            </a:r>
            <a:r>
              <a:rPr lang="ja-JP" altLang="en-US" sz="1600" dirty="0">
                <a:solidFill>
                  <a:schemeClr val="tx1">
                    <a:lumMod val="85000"/>
                    <a:lumOff val="15000"/>
                  </a:schemeClr>
                </a:solidFill>
                <a:latin typeface="Consolas" panose="020B0609020204030204" pitchFamily="49" charset="0"/>
              </a:rPr>
              <a:t>に飛ぶ</a:t>
            </a:r>
            <a:endParaRPr lang="en-US" altLang="ja-JP" sz="1600" dirty="0">
              <a:solidFill>
                <a:schemeClr val="tx1">
                  <a:lumMod val="85000"/>
                  <a:lumOff val="15000"/>
                </a:schemeClr>
              </a:solidFill>
              <a:latin typeface="Consolas" panose="020B0609020204030204" pitchFamily="49" charset="0"/>
            </a:endParaRPr>
          </a:p>
          <a:p>
            <a:pPr lvl="1">
              <a:lnSpc>
                <a:spcPct val="150000"/>
              </a:lnSpc>
            </a:pPr>
            <a:r>
              <a:rPr lang="ja-JP" altLang="en-US" sz="1600" dirty="0">
                <a:solidFill>
                  <a:schemeClr val="tx1">
                    <a:lumMod val="85000"/>
                    <a:lumOff val="15000"/>
                  </a:schemeClr>
                </a:solidFill>
                <a:latin typeface="Consolas" panose="020B0609020204030204" pitchFamily="49" charset="0"/>
              </a:rPr>
              <a:t>例：</a:t>
            </a:r>
            <a:r>
              <a:rPr lang="en-US" altLang="ja-JP" sz="1600" dirty="0">
                <a:solidFill>
                  <a:schemeClr val="tx1">
                    <a:lumMod val="85000"/>
                    <a:lumOff val="15000"/>
                  </a:schemeClr>
                </a:solidFill>
                <a:latin typeface="Consolas" panose="020B0609020204030204" pitchFamily="49" charset="0"/>
              </a:rPr>
              <a:t> b LABEL         // </a:t>
            </a:r>
            <a:r>
              <a:rPr lang="ja-JP" altLang="en-US" sz="1600" dirty="0">
                <a:solidFill>
                  <a:schemeClr val="tx1">
                    <a:lumMod val="85000"/>
                    <a:lumOff val="15000"/>
                  </a:schemeClr>
                </a:solidFill>
                <a:latin typeface="Consolas" panose="020B0609020204030204" pitchFamily="49" charset="0"/>
              </a:rPr>
              <a:t>条件式がなければ無条件に </a:t>
            </a:r>
            <a:r>
              <a:rPr lang="en-US" altLang="ja-JP" sz="1600" dirty="0">
                <a:solidFill>
                  <a:schemeClr val="tx1">
                    <a:lumMod val="85000"/>
                    <a:lumOff val="15000"/>
                  </a:schemeClr>
                </a:solidFill>
                <a:latin typeface="Consolas" panose="020B0609020204030204" pitchFamily="49" charset="0"/>
              </a:rPr>
              <a:t>LABEL </a:t>
            </a:r>
            <a:r>
              <a:rPr lang="ja-JP" altLang="en-US" sz="1600" dirty="0">
                <a:solidFill>
                  <a:schemeClr val="tx1">
                    <a:lumMod val="85000"/>
                    <a:lumOff val="15000"/>
                  </a:schemeClr>
                </a:solidFill>
                <a:latin typeface="Consolas" panose="020B0609020204030204" pitchFamily="49" charset="0"/>
              </a:rPr>
              <a:t>に飛ぶ</a:t>
            </a:r>
            <a:endParaRPr lang="en-US" altLang="ja-JP" sz="1600" dirty="0"/>
          </a:p>
        </p:txBody>
      </p:sp>
    </p:spTree>
    <p:extLst>
      <p:ext uri="{BB962C8B-B14F-4D97-AF65-F5344CB8AC3E}">
        <p14:creationId xmlns:p14="http://schemas.microsoft.com/office/powerpoint/2010/main" val="4143567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B0B793-B93E-B1A2-D5BF-B18E503BD6D3}"/>
              </a:ext>
            </a:extLst>
          </p:cNvPr>
          <p:cNvSpPr>
            <a:spLocks noGrp="1"/>
          </p:cNvSpPr>
          <p:nvPr>
            <p:ph type="title"/>
          </p:nvPr>
        </p:nvSpPr>
        <p:spPr/>
        <p:txBody>
          <a:bodyPr/>
          <a:lstStyle/>
          <a:p>
            <a:r>
              <a:rPr kumimoji="1" lang="ja-JP" altLang="en-US" dirty="0"/>
              <a:t>課題２で使用する命令セット</a:t>
            </a:r>
            <a:endParaRPr kumimoji="1" lang="en-US" dirty="0"/>
          </a:p>
        </p:txBody>
      </p:sp>
      <p:sp>
        <p:nvSpPr>
          <p:cNvPr id="3" name="コンテンツ プレースホルダー 2">
            <a:extLst>
              <a:ext uri="{FF2B5EF4-FFF2-40B4-BE49-F238E27FC236}">
                <a16:creationId xmlns:a16="http://schemas.microsoft.com/office/drawing/2014/main" id="{11BB4355-4353-2A75-8CE2-80B816DBA1E7}"/>
              </a:ext>
            </a:extLst>
          </p:cNvPr>
          <p:cNvSpPr>
            <a:spLocks noGrp="1"/>
          </p:cNvSpPr>
          <p:nvPr>
            <p:ph type="body" sz="quarter" idx="10"/>
          </p:nvPr>
        </p:nvSpPr>
        <p:spPr>
          <a:xfrm>
            <a:off x="2135958" y="1088974"/>
            <a:ext cx="8370093" cy="5220058"/>
          </a:xfrm>
        </p:spPr>
        <p:txBody>
          <a:bodyPr/>
          <a:lstStyle/>
          <a:p>
            <a:pPr>
              <a:lnSpc>
                <a:spcPct val="150000"/>
              </a:lnSpc>
            </a:pPr>
            <a:r>
              <a:rPr lang="ja-JP" altLang="en-US" sz="1600" dirty="0"/>
              <a:t>ラベルについて</a:t>
            </a:r>
            <a:endParaRPr lang="en-US" altLang="ja-JP" sz="1600" dirty="0"/>
          </a:p>
          <a:p>
            <a:pPr lvl="1">
              <a:lnSpc>
                <a:spcPct val="150000"/>
              </a:lnSpc>
            </a:pPr>
            <a:r>
              <a:rPr lang="en-US" altLang="ja-JP" sz="1600" dirty="0"/>
              <a:t>C </a:t>
            </a:r>
            <a:r>
              <a:rPr lang="ja-JP" altLang="en-US" sz="1600" dirty="0"/>
              <a:t>言語のラベルと同様に，任意の命令の場所を表すためにラベルを使うことができる</a:t>
            </a:r>
            <a:endParaRPr lang="en-US" altLang="ja-JP" sz="1600" dirty="0"/>
          </a:p>
          <a:p>
            <a:pPr lvl="1">
              <a:lnSpc>
                <a:spcPct val="150000"/>
              </a:lnSpc>
            </a:pPr>
            <a:r>
              <a:rPr lang="ja-JP" altLang="en-US" sz="1600" dirty="0"/>
              <a:t>ラベルには任意の名前をつけることが可能であり，「ラベル名：」で表記する</a:t>
            </a:r>
            <a:endParaRPr lang="en-US" altLang="ja-JP" sz="1600" dirty="0"/>
          </a:p>
          <a:p>
            <a:pPr>
              <a:lnSpc>
                <a:spcPct val="150000"/>
              </a:lnSpc>
            </a:pPr>
            <a:r>
              <a:rPr lang="ja-JP" altLang="en-US" sz="1600" dirty="0"/>
              <a:t>例：</a:t>
            </a:r>
            <a:endParaRPr lang="en-US" altLang="ja-JP" sz="1600" dirty="0"/>
          </a:p>
          <a:p>
            <a:pPr lvl="1">
              <a:lnSpc>
                <a:spcPct val="150000"/>
              </a:lnSpc>
            </a:pPr>
            <a:r>
              <a:rPr lang="en-US" altLang="ja-JP" sz="1600" dirty="0">
                <a:latin typeface="Consolas" panose="020B0609020204030204" pitchFamily="49" charset="0"/>
              </a:rPr>
              <a:t>  li A</a:t>
            </a:r>
            <a:r>
              <a:rPr lang="ja-JP" altLang="en-US" sz="1600" dirty="0">
                <a:latin typeface="Consolas" panose="020B0609020204030204" pitchFamily="49" charset="0"/>
              </a:rPr>
              <a:t>←</a:t>
            </a:r>
            <a:r>
              <a:rPr lang="en-US" altLang="ja-JP" sz="1600" dirty="0">
                <a:latin typeface="Consolas" panose="020B0609020204030204" pitchFamily="49" charset="0"/>
              </a:rPr>
              <a:t>0</a:t>
            </a:r>
            <a:br>
              <a:rPr lang="en-US" altLang="ja-JP" sz="1600" dirty="0">
                <a:latin typeface="Consolas" panose="020B0609020204030204" pitchFamily="49" charset="0"/>
              </a:rPr>
            </a:br>
            <a:r>
              <a:rPr lang="en-US" altLang="ja-JP" sz="1600" dirty="0">
                <a:latin typeface="Consolas" panose="020B0609020204030204" pitchFamily="49" charset="0"/>
              </a:rPr>
              <a:t>LABEL_EXAMPLE:    // LABEL_EXAMPLE </a:t>
            </a:r>
            <a:r>
              <a:rPr lang="ja-JP" altLang="en-US" sz="1600" dirty="0">
                <a:latin typeface="Consolas" panose="020B0609020204030204" pitchFamily="49" charset="0"/>
              </a:rPr>
              <a:t>というラベルをここに定義</a:t>
            </a:r>
            <a:br>
              <a:rPr lang="en-US" altLang="ja-JP" sz="1600" dirty="0">
                <a:latin typeface="Consolas" panose="020B0609020204030204" pitchFamily="49" charset="0"/>
              </a:rPr>
            </a:br>
            <a:r>
              <a:rPr lang="en-US" altLang="ja-JP" sz="1600" dirty="0">
                <a:latin typeface="Consolas" panose="020B0609020204030204" pitchFamily="49" charset="0"/>
              </a:rPr>
              <a:t>  add A</a:t>
            </a:r>
            <a:r>
              <a:rPr lang="ja-JP" altLang="en-US" sz="1600" dirty="0">
                <a:latin typeface="Consolas" panose="020B0609020204030204" pitchFamily="49" charset="0"/>
              </a:rPr>
              <a:t>←</a:t>
            </a:r>
            <a:r>
              <a:rPr lang="en-US" altLang="ja-JP" sz="1600" dirty="0">
                <a:latin typeface="Consolas" panose="020B0609020204030204" pitchFamily="49" charset="0"/>
              </a:rPr>
              <a:t>A+A</a:t>
            </a:r>
            <a:br>
              <a:rPr lang="en-US" altLang="ja-JP" sz="1600" dirty="0">
                <a:latin typeface="Consolas" panose="020B0609020204030204" pitchFamily="49" charset="0"/>
              </a:rPr>
            </a:br>
            <a:r>
              <a:rPr lang="en-US" altLang="ja-JP" sz="1600" dirty="0">
                <a:latin typeface="Consolas" panose="020B0609020204030204" pitchFamily="49" charset="0"/>
              </a:rPr>
              <a:t>  b LABEL_EXAMPLE // LABEL_EXAMPLE </a:t>
            </a:r>
            <a:r>
              <a:rPr lang="ja-JP" altLang="en-US" sz="1600" dirty="0">
                <a:latin typeface="Consolas" panose="020B0609020204030204" pitchFamily="49" charset="0"/>
              </a:rPr>
              <a:t>に無条件で飛ぶ</a:t>
            </a:r>
            <a:br>
              <a:rPr lang="en-US" altLang="ja-JP" sz="1600" dirty="0">
                <a:latin typeface="Consolas" panose="020B0609020204030204" pitchFamily="49" charset="0"/>
              </a:rPr>
            </a:br>
            <a:r>
              <a:rPr lang="ja-JP" altLang="en-US" sz="1600" dirty="0">
                <a:latin typeface="Consolas" panose="020B0609020204030204" pitchFamily="49" charset="0"/>
              </a:rPr>
              <a:t>　　　　　　　　　　</a:t>
            </a:r>
            <a:r>
              <a:rPr lang="en-US" altLang="ja-JP" sz="1600" dirty="0">
                <a:latin typeface="Consolas" panose="020B0609020204030204" pitchFamily="49" charset="0"/>
              </a:rPr>
              <a:t>// </a:t>
            </a:r>
            <a:r>
              <a:rPr lang="ja-JP" altLang="en-US" sz="1600" dirty="0">
                <a:latin typeface="Consolas" panose="020B0609020204030204" pitchFamily="49" charset="0"/>
              </a:rPr>
              <a:t>具体的には </a:t>
            </a:r>
            <a:r>
              <a:rPr lang="en-US" altLang="ja-JP" sz="1600" dirty="0">
                <a:latin typeface="Consolas" panose="020B0609020204030204" pitchFamily="49" charset="0"/>
              </a:rPr>
              <a:t>add </a:t>
            </a:r>
            <a:r>
              <a:rPr lang="ja-JP" altLang="en-US" sz="1600" dirty="0">
                <a:latin typeface="Consolas" panose="020B0609020204030204" pitchFamily="49" charset="0"/>
              </a:rPr>
              <a:t>に飛ぶ</a:t>
            </a:r>
            <a:endParaRPr lang="en-US" altLang="ja-JP" sz="1600" dirty="0">
              <a:latin typeface="Consolas" panose="020B0609020204030204" pitchFamily="49" charset="0"/>
            </a:endParaRPr>
          </a:p>
          <a:p>
            <a:pPr lvl="1">
              <a:lnSpc>
                <a:spcPct val="150000"/>
              </a:lnSpc>
            </a:pPr>
            <a:endParaRPr lang="en-US" altLang="ja-JP" sz="1600" dirty="0"/>
          </a:p>
        </p:txBody>
      </p:sp>
    </p:spTree>
    <p:extLst>
      <p:ext uri="{BB962C8B-B14F-4D97-AF65-F5344CB8AC3E}">
        <p14:creationId xmlns:p14="http://schemas.microsoft.com/office/powerpoint/2010/main" val="17546822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課題２</a:t>
            </a:r>
            <a:r>
              <a:rPr kumimoji="1" lang="en-US" altLang="ja-JP" dirty="0"/>
              <a:t> (1, 2)</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088975"/>
            <a:ext cx="8280092" cy="2520028"/>
          </a:xfrm>
        </p:spPr>
        <p:txBody>
          <a:bodyPr/>
          <a:lstStyle/>
          <a:p>
            <a:r>
              <a:rPr kumimoji="1" lang="en-US" altLang="ja-JP" dirty="0"/>
              <a:t>(1) </a:t>
            </a:r>
            <a:r>
              <a:rPr kumimoji="1" lang="ja-JP" altLang="en-US" dirty="0"/>
              <a:t>以下の </a:t>
            </a:r>
            <a:r>
              <a:rPr kumimoji="1" lang="en-US" altLang="ja-JP" dirty="0"/>
              <a:t>C </a:t>
            </a:r>
            <a:r>
              <a:rPr kumimoji="1" lang="ja-JP" altLang="en-US" dirty="0"/>
              <a:t>言語で書かれたプログラムをそれぞれアセンブリ言語で表せ．</a:t>
            </a:r>
            <a:endParaRPr kumimoji="1" lang="en-US" altLang="ja-JP" dirty="0"/>
          </a:p>
          <a:p>
            <a:r>
              <a:rPr lang="en-US" altLang="ja-JP" dirty="0"/>
              <a:t>(2) </a:t>
            </a:r>
            <a:r>
              <a:rPr lang="ja-JP" altLang="en-US" dirty="0"/>
              <a:t>アセンブリ言語で書いたそれぞれのプログラムを実行した際の，実行される命令の系列を時系列で書け．</a:t>
            </a:r>
            <a:br>
              <a:rPr lang="en-US" altLang="ja-JP" dirty="0"/>
            </a:br>
            <a:endParaRPr kumimoji="1" lang="en-US" altLang="ja-JP" dirty="0"/>
          </a:p>
        </p:txBody>
      </p:sp>
      <p:sp>
        <p:nvSpPr>
          <p:cNvPr id="4" name="テキスト プレースホルダー 2">
            <a:extLst>
              <a:ext uri="{FF2B5EF4-FFF2-40B4-BE49-F238E27FC236}">
                <a16:creationId xmlns:a16="http://schemas.microsoft.com/office/drawing/2014/main" id="{D4632841-FF32-AEF3-316F-CD26E43879E9}"/>
              </a:ext>
            </a:extLst>
          </p:cNvPr>
          <p:cNvSpPr txBox="1">
            <a:spLocks/>
          </p:cNvSpPr>
          <p:nvPr/>
        </p:nvSpPr>
        <p:spPr bwMode="auto">
          <a:xfrm>
            <a:off x="3215968" y="3969006"/>
            <a:ext cx="2160023"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(a)</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&gt;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i++;</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i--;</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B46050A8-95BF-51DE-A5CD-0BABFA86D9F3}"/>
              </a:ext>
            </a:extLst>
          </p:cNvPr>
          <p:cNvSpPr txBox="1">
            <a:spLocks/>
          </p:cNvSpPr>
          <p:nvPr/>
        </p:nvSpPr>
        <p:spPr bwMode="auto">
          <a:xfrm>
            <a:off x="6095999" y="3969006"/>
            <a:ext cx="2160023"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(b)</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&lt;=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2493986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8AA997-E407-9EDC-EB8B-126E4FBC6F37}"/>
              </a:ext>
            </a:extLst>
          </p:cNvPr>
          <p:cNvSpPr>
            <a:spLocks noGrp="1"/>
          </p:cNvSpPr>
          <p:nvPr>
            <p:ph type="title"/>
          </p:nvPr>
        </p:nvSpPr>
        <p:spPr>
          <a:xfrm>
            <a:off x="1415948" y="0"/>
            <a:ext cx="10776052" cy="908972"/>
          </a:xfrm>
        </p:spPr>
        <p:txBody>
          <a:bodyPr/>
          <a:lstStyle/>
          <a:p>
            <a:r>
              <a:rPr lang="ja-JP" altLang="en-US"/>
              <a:t>補足１</a:t>
            </a:r>
            <a:endParaRPr lang="en-US" dirty="0"/>
          </a:p>
        </p:txBody>
      </p:sp>
      <p:sp>
        <p:nvSpPr>
          <p:cNvPr id="3" name="コンテンツ プレースホルダー 2">
            <a:extLst>
              <a:ext uri="{FF2B5EF4-FFF2-40B4-BE49-F238E27FC236}">
                <a16:creationId xmlns:a16="http://schemas.microsoft.com/office/drawing/2014/main" id="{1C978E0E-6A22-0B93-55B4-C840B81A8AE1}"/>
              </a:ext>
            </a:extLst>
          </p:cNvPr>
          <p:cNvSpPr>
            <a:spLocks noGrp="1"/>
          </p:cNvSpPr>
          <p:nvPr>
            <p:ph type="body" sz="quarter" idx="10"/>
          </p:nvPr>
        </p:nvSpPr>
        <p:spPr>
          <a:xfrm>
            <a:off x="1775952" y="1088974"/>
            <a:ext cx="8640096" cy="5490061"/>
          </a:xfrm>
        </p:spPr>
        <p:txBody>
          <a:bodyPr anchor="t"/>
          <a:lstStyle/>
          <a:p>
            <a:r>
              <a:rPr lang="ja-JP" altLang="en-US" dirty="0"/>
              <a:t>「</a:t>
            </a:r>
            <a:r>
              <a:rPr lang="en-US" altLang="ja-JP" dirty="0"/>
              <a:t>add A</a:t>
            </a:r>
            <a:r>
              <a:rPr lang="ja-JP" altLang="en-US" dirty="0"/>
              <a:t>←</a:t>
            </a:r>
            <a:r>
              <a:rPr lang="en-US" altLang="ja-JP" dirty="0"/>
              <a:t>A+1</a:t>
            </a:r>
            <a:r>
              <a:rPr lang="ja-JP" altLang="en-US" dirty="0"/>
              <a:t>」「</a:t>
            </a:r>
            <a:r>
              <a:rPr lang="en-US" altLang="ja-JP" dirty="0"/>
              <a:t>add A+1</a:t>
            </a:r>
            <a:r>
              <a:rPr lang="ja-JP" altLang="en-US" dirty="0"/>
              <a:t>→</a:t>
            </a:r>
            <a:r>
              <a:rPr lang="en-US" altLang="ja-JP" dirty="0"/>
              <a:t>A</a:t>
            </a:r>
            <a:r>
              <a:rPr lang="ja-JP" altLang="en-US" dirty="0"/>
              <a:t>」「</a:t>
            </a:r>
            <a:r>
              <a:rPr lang="en-US" altLang="ja-JP" dirty="0"/>
              <a:t>add A,1</a:t>
            </a:r>
            <a:r>
              <a:rPr lang="ja-JP" altLang="en-US" dirty="0"/>
              <a:t>→</a:t>
            </a:r>
            <a:r>
              <a:rPr lang="en-US" altLang="ja-JP" dirty="0"/>
              <a:t>A</a:t>
            </a:r>
            <a:r>
              <a:rPr lang="ja-JP" altLang="en-US" dirty="0"/>
              <a:t>」はどれが正しいのか？</a:t>
            </a:r>
            <a:endParaRPr lang="en-US" altLang="ja-JP" dirty="0"/>
          </a:p>
          <a:p>
            <a:pPr lvl="1"/>
            <a:r>
              <a:rPr lang="ja-JP" altLang="en-US" dirty="0"/>
              <a:t>意味がわかれば，どれでも良いです</a:t>
            </a:r>
            <a:endParaRPr lang="en-US" altLang="ja-JP" dirty="0"/>
          </a:p>
          <a:p>
            <a:pPr lvl="2"/>
            <a:r>
              <a:rPr lang="ja-JP" altLang="en-US" dirty="0"/>
              <a:t>このオリジナルのアセンブリ言語は実物ではないので，概念的な意味が表せて通じればそれでいいです</a:t>
            </a:r>
            <a:endParaRPr lang="en-US" altLang="ja-JP" dirty="0"/>
          </a:p>
          <a:p>
            <a:pPr lvl="1"/>
            <a:r>
              <a:rPr lang="ja-JP" altLang="en-US" dirty="0"/>
              <a:t>とはいえ，こちらの表記が一定していない時があり，すいません</a:t>
            </a:r>
            <a:endParaRPr lang="en-US" altLang="ja-JP" dirty="0"/>
          </a:p>
        </p:txBody>
      </p:sp>
    </p:spTree>
    <p:extLst>
      <p:ext uri="{BB962C8B-B14F-4D97-AF65-F5344CB8AC3E}">
        <p14:creationId xmlns:p14="http://schemas.microsoft.com/office/powerpoint/2010/main" val="3673468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8AA997-E407-9EDC-EB8B-126E4FBC6F37}"/>
              </a:ext>
            </a:extLst>
          </p:cNvPr>
          <p:cNvSpPr>
            <a:spLocks noGrp="1"/>
          </p:cNvSpPr>
          <p:nvPr>
            <p:ph type="title"/>
          </p:nvPr>
        </p:nvSpPr>
        <p:spPr/>
        <p:txBody>
          <a:bodyPr/>
          <a:lstStyle/>
          <a:p>
            <a:r>
              <a:rPr kumimoji="1" lang="ja-JP" altLang="en-US" dirty="0"/>
              <a:t>補足２</a:t>
            </a:r>
            <a:endParaRPr kumimoji="1" lang="en-US" dirty="0"/>
          </a:p>
        </p:txBody>
      </p:sp>
      <p:sp>
        <p:nvSpPr>
          <p:cNvPr id="3" name="コンテンツ プレースホルダー 2">
            <a:extLst>
              <a:ext uri="{FF2B5EF4-FFF2-40B4-BE49-F238E27FC236}">
                <a16:creationId xmlns:a16="http://schemas.microsoft.com/office/drawing/2014/main" id="{1C978E0E-6A22-0B93-55B4-C840B81A8AE1}"/>
              </a:ext>
            </a:extLst>
          </p:cNvPr>
          <p:cNvSpPr>
            <a:spLocks noGrp="1"/>
          </p:cNvSpPr>
          <p:nvPr>
            <p:ph type="body" sz="quarter" idx="10"/>
          </p:nvPr>
        </p:nvSpPr>
        <p:spPr>
          <a:xfrm>
            <a:off x="2135956" y="1088977"/>
            <a:ext cx="8460094" cy="3150035"/>
          </a:xfrm>
        </p:spPr>
        <p:txBody>
          <a:bodyPr anchor="t"/>
          <a:lstStyle/>
          <a:p>
            <a:r>
              <a:rPr kumimoji="1" lang="en-US" altLang="ja-JP" dirty="0"/>
              <a:t>LABEL </a:t>
            </a:r>
            <a:r>
              <a:rPr kumimoji="1" lang="ja-JP" altLang="en-US" dirty="0"/>
              <a:t>は定義する前に使っても構いません</a:t>
            </a:r>
            <a:endParaRPr kumimoji="1" lang="en-US" altLang="ja-JP" dirty="0"/>
          </a:p>
          <a:p>
            <a:pPr lvl="1"/>
            <a:r>
              <a:rPr lang="ja-JP" altLang="en-US" dirty="0"/>
              <a:t>分岐の後に </a:t>
            </a:r>
            <a:r>
              <a:rPr lang="en-US" altLang="ja-JP" dirty="0"/>
              <a:t>LABEL </a:t>
            </a:r>
            <a:r>
              <a:rPr lang="ja-JP" altLang="en-US" dirty="0"/>
              <a:t>が出てきても問題ないです</a:t>
            </a:r>
            <a:endParaRPr lang="en-US" altLang="ja-JP" dirty="0"/>
          </a:p>
          <a:p>
            <a:pPr lvl="1"/>
            <a:r>
              <a:rPr kumimoji="1" lang="ja-JP" altLang="en-US" dirty="0"/>
              <a:t>実は </a:t>
            </a:r>
            <a:r>
              <a:rPr kumimoji="1" lang="en-US" altLang="ja-JP" dirty="0"/>
              <a:t>C </a:t>
            </a:r>
            <a:r>
              <a:rPr kumimoji="1" lang="ja-JP" altLang="en-US" dirty="0"/>
              <a:t>言語でも同じで，以下の様に書けます</a:t>
            </a:r>
            <a:br>
              <a:rPr kumimoji="1" lang="en-US" altLang="ja-JP" dirty="0"/>
            </a:br>
            <a:br>
              <a:rPr kumimoji="1" lang="en-US" altLang="ja-JP" dirty="0"/>
            </a:br>
            <a:r>
              <a:rPr kumimoji="1" lang="en-US" altLang="ja-JP" dirty="0">
                <a:latin typeface="Consolas" panose="020B0609020204030204" pitchFamily="49" charset="0"/>
              </a:rPr>
              <a:t>int main() {</a:t>
            </a:r>
            <a:br>
              <a:rPr kumimoji="1" lang="en-US" altLang="ja-JP" dirty="0">
                <a:latin typeface="Consolas" panose="020B0609020204030204" pitchFamily="49" charset="0"/>
              </a:rPr>
            </a:br>
            <a:r>
              <a:rPr kumimoji="1" lang="en-US" altLang="ja-JP" dirty="0">
                <a:latin typeface="Consolas" panose="020B0609020204030204" pitchFamily="49" charset="0"/>
              </a:rPr>
              <a:t>    int i = 1;</a:t>
            </a:r>
            <a:br>
              <a:rPr kumimoji="1" lang="en-US" altLang="ja-JP" dirty="0">
                <a:latin typeface="Consolas" panose="020B0609020204030204" pitchFamily="49" charset="0"/>
              </a:rPr>
            </a:br>
            <a:r>
              <a:rPr kumimoji="1" lang="en-US" altLang="ja-JP" dirty="0">
                <a:latin typeface="Consolas" panose="020B0609020204030204" pitchFamily="49" charset="0"/>
              </a:rPr>
              <a:t>    </a:t>
            </a:r>
            <a:r>
              <a:rPr kumimoji="1" lang="en-US" altLang="ja-JP" dirty="0" err="1">
                <a:latin typeface="Consolas" panose="020B0609020204030204" pitchFamily="49" charset="0"/>
              </a:rPr>
              <a:t>goto</a:t>
            </a:r>
            <a:r>
              <a:rPr kumimoji="1" lang="en-US" altLang="ja-JP" dirty="0">
                <a:latin typeface="Consolas" panose="020B0609020204030204" pitchFamily="49" charset="0"/>
              </a:rPr>
              <a:t> LABEL;</a:t>
            </a:r>
            <a:br>
              <a:rPr kumimoji="1" lang="en-US" altLang="ja-JP" dirty="0">
                <a:latin typeface="Consolas" panose="020B0609020204030204" pitchFamily="49" charset="0"/>
              </a:rPr>
            </a:br>
            <a:r>
              <a:rPr kumimoji="1" lang="en-US" altLang="ja-JP" dirty="0">
                <a:latin typeface="Consolas" panose="020B0609020204030204" pitchFamily="49" charset="0"/>
              </a:rPr>
              <a:t>    i++;</a:t>
            </a:r>
            <a:br>
              <a:rPr kumimoji="1" lang="en-US" altLang="ja-JP" dirty="0">
                <a:latin typeface="Consolas" panose="020B0609020204030204" pitchFamily="49" charset="0"/>
              </a:rPr>
            </a:br>
            <a:r>
              <a:rPr kumimoji="1" lang="en-US" altLang="ja-JP" dirty="0">
                <a:latin typeface="Consolas" panose="020B0609020204030204" pitchFamily="49" charset="0"/>
              </a:rPr>
              <a:t>LABEL:</a:t>
            </a:r>
            <a:br>
              <a:rPr kumimoji="1" lang="en-US" altLang="ja-JP" dirty="0">
                <a:latin typeface="Consolas" panose="020B0609020204030204" pitchFamily="49" charset="0"/>
              </a:rPr>
            </a:br>
            <a:r>
              <a:rPr kumimoji="1" lang="en-US" altLang="ja-JP" dirty="0">
                <a:latin typeface="Consolas" panose="020B0609020204030204" pitchFamily="49" charset="0"/>
              </a:rPr>
              <a:t>    return 1;</a:t>
            </a:r>
            <a:br>
              <a:rPr kumimoji="1" lang="en-US" altLang="ja-JP" dirty="0">
                <a:latin typeface="Consolas" panose="020B0609020204030204" pitchFamily="49" charset="0"/>
              </a:rPr>
            </a:br>
            <a:r>
              <a:rPr kumimoji="1" lang="en-US" altLang="ja-JP" dirty="0">
                <a:latin typeface="Consolas" panose="020B0609020204030204" pitchFamily="49" charset="0"/>
              </a:rPr>
              <a:t>}</a:t>
            </a:r>
            <a:endParaRPr kumimoji="1" lang="en-US" dirty="0">
              <a:latin typeface="Consolas" panose="020B0609020204030204" pitchFamily="49" charset="0"/>
            </a:endParaRPr>
          </a:p>
        </p:txBody>
      </p:sp>
    </p:spTree>
    <p:extLst>
      <p:ext uri="{BB962C8B-B14F-4D97-AF65-F5344CB8AC3E}">
        <p14:creationId xmlns:p14="http://schemas.microsoft.com/office/powerpoint/2010/main" val="4028639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20D44-53F8-0134-F3B4-F7718A599E43}"/>
              </a:ext>
            </a:extLst>
          </p:cNvPr>
          <p:cNvSpPr>
            <a:spLocks noGrp="1"/>
          </p:cNvSpPr>
          <p:nvPr>
            <p:ph type="title"/>
          </p:nvPr>
        </p:nvSpPr>
        <p:spPr/>
        <p:txBody>
          <a:bodyPr/>
          <a:lstStyle/>
          <a:p>
            <a:r>
              <a:rPr kumimoji="1" lang="ja-JP" altLang="en-US" dirty="0"/>
              <a:t>解答例 </a:t>
            </a:r>
            <a:r>
              <a:rPr kumimoji="1" lang="en-US" altLang="ja-JP" dirty="0"/>
              <a:t>(a)</a:t>
            </a:r>
            <a:endParaRPr kumimoji="1" lang="en-US" dirty="0"/>
          </a:p>
        </p:txBody>
      </p:sp>
      <p:sp>
        <p:nvSpPr>
          <p:cNvPr id="7" name="コンテンツ プレースホルダー 2">
            <a:extLst>
              <a:ext uri="{FF2B5EF4-FFF2-40B4-BE49-F238E27FC236}">
                <a16:creationId xmlns:a16="http://schemas.microsoft.com/office/drawing/2014/main" id="{A59289B9-81AB-ED19-3132-FF1288D0D993}"/>
              </a:ext>
            </a:extLst>
          </p:cNvPr>
          <p:cNvSpPr>
            <a:spLocks noGrp="1"/>
          </p:cNvSpPr>
          <p:nvPr>
            <p:ph type="body" sz="quarter" idx="10"/>
          </p:nvPr>
        </p:nvSpPr>
        <p:spPr>
          <a:xfrm>
            <a:off x="1595950" y="5139019"/>
            <a:ext cx="9000100" cy="1620018"/>
          </a:xfrm>
        </p:spPr>
        <p:txBody>
          <a:bodyPr/>
          <a:lstStyle/>
          <a:p>
            <a:r>
              <a:rPr kumimoji="1" lang="en-US" altLang="ja-JP" dirty="0"/>
              <a:t>if (</a:t>
            </a:r>
            <a:r>
              <a:rPr kumimoji="1" lang="en-US" altLang="ja-JP" dirty="0" err="1"/>
              <a:t>i</a:t>
            </a:r>
            <a:r>
              <a:rPr kumimoji="1" lang="en-US" altLang="ja-JP" dirty="0"/>
              <a:t> &gt; 1) </a:t>
            </a:r>
            <a:r>
              <a:rPr lang="en-US" altLang="ja-JP" dirty="0"/>
              <a:t>i++</a:t>
            </a:r>
            <a:r>
              <a:rPr lang="ja-JP" altLang="en-US" dirty="0"/>
              <a:t> は，逆に </a:t>
            </a:r>
            <a:r>
              <a:rPr lang="en-US" altLang="ja-JP" dirty="0" err="1"/>
              <a:t>i</a:t>
            </a:r>
            <a:r>
              <a:rPr lang="en-US" altLang="ja-JP" dirty="0"/>
              <a:t>&lt;=1 </a:t>
            </a:r>
            <a:r>
              <a:rPr lang="ja-JP" altLang="en-US" dirty="0"/>
              <a:t>の時に飛ばすようにするとシンプルに書ける</a:t>
            </a:r>
            <a:endParaRPr kumimoji="1" lang="en-US" altLang="ja-JP" dirty="0"/>
          </a:p>
        </p:txBody>
      </p:sp>
      <p:sp>
        <p:nvSpPr>
          <p:cNvPr id="4" name="テキスト プレースホルダー 2">
            <a:extLst>
              <a:ext uri="{FF2B5EF4-FFF2-40B4-BE49-F238E27FC236}">
                <a16:creationId xmlns:a16="http://schemas.microsoft.com/office/drawing/2014/main" id="{ABBDA586-B715-C41F-5B00-756F22DD9EDF}"/>
              </a:ext>
            </a:extLst>
          </p:cNvPr>
          <p:cNvSpPr txBox="1">
            <a:spLocks/>
          </p:cNvSpPr>
          <p:nvPr/>
        </p:nvSpPr>
        <p:spPr bwMode="auto">
          <a:xfrm>
            <a:off x="2495963" y="1358977"/>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(a)</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&gt;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4EF11E97-8133-382F-731D-8A8CC22CA1F7}"/>
              </a:ext>
            </a:extLst>
          </p:cNvPr>
          <p:cNvSpPr txBox="1">
            <a:spLocks/>
          </p:cNvSpPr>
          <p:nvPr/>
        </p:nvSpPr>
        <p:spPr bwMode="auto">
          <a:xfrm>
            <a:off x="2495961" y="3068996"/>
            <a:ext cx="2880032" cy="21600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li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b A&lt;=1, 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add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sub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endParaRPr lang="ja-JP" altLang="en-US" kern="0" dirty="0">
              <a:latin typeface="Consolas" panose="020B0609020204030204" pitchFamily="49" charset="0"/>
            </a:endParaRPr>
          </a:p>
        </p:txBody>
      </p:sp>
      <p:sp>
        <p:nvSpPr>
          <p:cNvPr id="6" name="テキスト プレースホルダー 2">
            <a:extLst>
              <a:ext uri="{FF2B5EF4-FFF2-40B4-BE49-F238E27FC236}">
                <a16:creationId xmlns:a16="http://schemas.microsoft.com/office/drawing/2014/main" id="{54FCE24C-1733-BEA1-52D9-21068B467E93}"/>
              </a:ext>
            </a:extLst>
          </p:cNvPr>
          <p:cNvSpPr txBox="1">
            <a:spLocks/>
          </p:cNvSpPr>
          <p:nvPr/>
        </p:nvSpPr>
        <p:spPr bwMode="auto">
          <a:xfrm>
            <a:off x="6096000" y="3068996"/>
            <a:ext cx="2880032" cy="21600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(2)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li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b A&lt;=1, 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add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sub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1136258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F20D44-53F8-0134-F3B4-F7718A599E43}"/>
              </a:ext>
            </a:extLst>
          </p:cNvPr>
          <p:cNvSpPr>
            <a:spLocks noGrp="1"/>
          </p:cNvSpPr>
          <p:nvPr>
            <p:ph type="title"/>
          </p:nvPr>
        </p:nvSpPr>
        <p:spPr/>
        <p:txBody>
          <a:bodyPr/>
          <a:lstStyle/>
          <a:p>
            <a:r>
              <a:rPr kumimoji="1" lang="ja-JP" altLang="en-US" dirty="0"/>
              <a:t>解答例 </a:t>
            </a:r>
            <a:r>
              <a:rPr kumimoji="1" lang="en-US" altLang="ja-JP" dirty="0"/>
              <a:t>(b)</a:t>
            </a:r>
            <a:endParaRPr kumimoji="1" lang="en-US" dirty="0"/>
          </a:p>
        </p:txBody>
      </p:sp>
      <p:sp>
        <p:nvSpPr>
          <p:cNvPr id="4" name="テキスト プレースホルダー 2">
            <a:extLst>
              <a:ext uri="{FF2B5EF4-FFF2-40B4-BE49-F238E27FC236}">
                <a16:creationId xmlns:a16="http://schemas.microsoft.com/office/drawing/2014/main" id="{ABBDA586-B715-C41F-5B00-756F22DD9EDF}"/>
              </a:ext>
            </a:extLst>
          </p:cNvPr>
          <p:cNvSpPr txBox="1">
            <a:spLocks/>
          </p:cNvSpPr>
          <p:nvPr/>
        </p:nvSpPr>
        <p:spPr bwMode="auto">
          <a:xfrm>
            <a:off x="2495963" y="1358977"/>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(b)</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1: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2: if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 &lt;= 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3: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4: </a:t>
            </a:r>
            <a:r>
              <a:rPr lang="en-US" altLang="ja-JP" kern="0" dirty="0" err="1">
                <a:solidFill>
                  <a:schemeClr val="tx1">
                    <a:lumMod val="85000"/>
                    <a:lumOff val="15000"/>
                  </a:schemeClr>
                </a:solidFill>
                <a:latin typeface="Consolas" panose="020B0609020204030204" pitchFamily="49" charset="0"/>
              </a:rPr>
              <a:t>i</a:t>
            </a:r>
            <a:r>
              <a:rPr lang="en-US" altLang="ja-JP" kern="0" dirty="0">
                <a:solidFill>
                  <a:schemeClr val="tx1">
                    <a:lumMod val="85000"/>
                    <a:lumOff val="15000"/>
                  </a:schemeClr>
                </a:solidFill>
                <a:latin typeface="Consolas" panose="020B0609020204030204" pitchFamily="49" charset="0"/>
              </a:rPr>
              <a:t>++;</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4EF11E97-8133-382F-731D-8A8CC22CA1F7}"/>
              </a:ext>
            </a:extLst>
          </p:cNvPr>
          <p:cNvSpPr txBox="1">
            <a:spLocks/>
          </p:cNvSpPr>
          <p:nvPr/>
        </p:nvSpPr>
        <p:spPr bwMode="auto">
          <a:xfrm>
            <a:off x="2495961" y="3068996"/>
            <a:ext cx="2880032" cy="21600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li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b A&gt;1, 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sub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add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endParaRPr lang="ja-JP" altLang="en-US" kern="0" dirty="0">
              <a:latin typeface="Consolas" panose="020B0609020204030204" pitchFamily="49" charset="0"/>
            </a:endParaRPr>
          </a:p>
        </p:txBody>
      </p:sp>
      <p:sp>
        <p:nvSpPr>
          <p:cNvPr id="6" name="テキスト プレースホルダー 2">
            <a:extLst>
              <a:ext uri="{FF2B5EF4-FFF2-40B4-BE49-F238E27FC236}">
                <a16:creationId xmlns:a16="http://schemas.microsoft.com/office/drawing/2014/main" id="{54FCE24C-1733-BEA1-52D9-21068B467E93}"/>
              </a:ext>
            </a:extLst>
          </p:cNvPr>
          <p:cNvSpPr txBox="1">
            <a:spLocks/>
          </p:cNvSpPr>
          <p:nvPr/>
        </p:nvSpPr>
        <p:spPr bwMode="auto">
          <a:xfrm>
            <a:off x="6096000" y="3068996"/>
            <a:ext cx="2880032" cy="216002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(2)  </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li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4</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b A&gt;1, LABEL</a:t>
            </a:r>
            <a:br>
              <a:rPr lang="en-US" altLang="ja-JP" kern="0" dirty="0">
                <a:solidFill>
                  <a:schemeClr val="tx1">
                    <a:lumMod val="85000"/>
                    <a:lumOff val="15000"/>
                  </a:schemeClr>
                </a:solidFill>
                <a:latin typeface="Consolas" panose="020B0609020204030204" pitchFamily="49" charset="0"/>
              </a:rPr>
            </a:br>
            <a:r>
              <a:rPr lang="en-US" altLang="ja-JP" kern="0" dirty="0">
                <a:solidFill>
                  <a:schemeClr val="tx1">
                    <a:lumMod val="85000"/>
                    <a:lumOff val="15000"/>
                  </a:schemeClr>
                </a:solidFill>
                <a:latin typeface="Consolas" panose="020B0609020204030204" pitchFamily="49" charset="0"/>
              </a:rPr>
              <a:t>  sub A</a:t>
            </a:r>
            <a:r>
              <a:rPr lang="ja-JP" altLang="en-US" kern="0" dirty="0">
                <a:solidFill>
                  <a:schemeClr val="tx1">
                    <a:lumMod val="85000"/>
                    <a:lumOff val="15000"/>
                  </a:schemeClr>
                </a:solidFill>
                <a:latin typeface="Consolas" panose="020B0609020204030204" pitchFamily="49" charset="0"/>
              </a:rPr>
              <a:t>←</a:t>
            </a:r>
            <a:r>
              <a:rPr lang="en-US" altLang="ja-JP" kern="0" dirty="0">
                <a:solidFill>
                  <a:schemeClr val="tx1">
                    <a:lumMod val="85000"/>
                    <a:lumOff val="15000"/>
                  </a:schemeClr>
                </a:solidFill>
                <a:latin typeface="Consolas" panose="020B0609020204030204" pitchFamily="49" charset="0"/>
              </a:rPr>
              <a:t>A-1</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3209839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41B64FB-38B5-FDBC-AB1E-20ED3EF0F9D0}"/>
              </a:ext>
            </a:extLst>
          </p:cNvPr>
          <p:cNvSpPr>
            <a:spLocks noGrp="1"/>
          </p:cNvSpPr>
          <p:nvPr>
            <p:ph type="title"/>
          </p:nvPr>
        </p:nvSpPr>
        <p:spPr/>
        <p:txBody>
          <a:bodyPr/>
          <a:lstStyle/>
          <a:p>
            <a:r>
              <a:rPr kumimoji="1" lang="ja-JP" altLang="en-US" b="1" dirty="0"/>
              <a:t>２進数や１６進数による数値表現</a:t>
            </a:r>
            <a:endParaRPr lang="en-US" b="1" dirty="0"/>
          </a:p>
        </p:txBody>
      </p:sp>
    </p:spTree>
    <p:extLst>
      <p:ext uri="{BB962C8B-B14F-4D97-AF65-F5344CB8AC3E}">
        <p14:creationId xmlns:p14="http://schemas.microsoft.com/office/powerpoint/2010/main" val="2746149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757EEF-49B8-0B49-F27E-B2CB48EFA0BB}"/>
              </a:ext>
            </a:extLst>
          </p:cNvPr>
          <p:cNvSpPr>
            <a:spLocks noGrp="1"/>
          </p:cNvSpPr>
          <p:nvPr>
            <p:ph type="title"/>
          </p:nvPr>
        </p:nvSpPr>
        <p:spPr/>
        <p:txBody>
          <a:bodyPr/>
          <a:lstStyle/>
          <a:p>
            <a:r>
              <a:rPr kumimoji="1" lang="ja-JP" altLang="en-US" dirty="0"/>
              <a:t>２進数や１６進数による数値表現</a:t>
            </a:r>
            <a:endParaRPr kumimoji="1" lang="en-US" dirty="0"/>
          </a:p>
        </p:txBody>
      </p:sp>
      <p:sp>
        <p:nvSpPr>
          <p:cNvPr id="3" name="コンテンツ プレースホルダー 2">
            <a:extLst>
              <a:ext uri="{FF2B5EF4-FFF2-40B4-BE49-F238E27FC236}">
                <a16:creationId xmlns:a16="http://schemas.microsoft.com/office/drawing/2014/main" id="{91CE81A6-AD7E-36D1-1FEF-6BC67851B24F}"/>
              </a:ext>
            </a:extLst>
          </p:cNvPr>
          <p:cNvSpPr>
            <a:spLocks noGrp="1"/>
          </p:cNvSpPr>
          <p:nvPr>
            <p:ph type="body" sz="quarter" idx="10"/>
          </p:nvPr>
        </p:nvSpPr>
        <p:spPr/>
        <p:txBody>
          <a:bodyPr/>
          <a:lstStyle/>
          <a:p>
            <a:r>
              <a:rPr kumimoji="1" lang="ja-JP" altLang="en-US" dirty="0"/>
              <a:t>まず数値表現について軽く説明する</a:t>
            </a:r>
            <a:endParaRPr kumimoji="1" lang="en-US" altLang="ja-JP" dirty="0"/>
          </a:p>
          <a:p>
            <a:pPr lvl="1"/>
            <a:r>
              <a:rPr kumimoji="1" lang="ja-JP" altLang="en-US" dirty="0"/>
              <a:t>実際の命令セットでは２進数や１６進数が多く出てくるため</a:t>
            </a:r>
            <a:endParaRPr kumimoji="1" lang="en-US" altLang="ja-JP" dirty="0"/>
          </a:p>
          <a:p>
            <a:pPr lvl="1"/>
            <a:r>
              <a:rPr kumimoji="1" lang="ja-JP" altLang="en-US" dirty="0"/>
              <a:t>慣れてないと理解しづらい</a:t>
            </a:r>
            <a:endParaRPr kumimoji="1" lang="en-US" altLang="ja-JP" dirty="0"/>
          </a:p>
        </p:txBody>
      </p:sp>
    </p:spTree>
    <p:extLst>
      <p:ext uri="{BB962C8B-B14F-4D97-AF65-F5344CB8AC3E}">
        <p14:creationId xmlns:p14="http://schemas.microsoft.com/office/powerpoint/2010/main" val="36533179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2ACD58-F25F-9282-1322-1C51DB68391B}"/>
              </a:ext>
            </a:extLst>
          </p:cNvPr>
          <p:cNvSpPr>
            <a:spLocks noGrp="1"/>
          </p:cNvSpPr>
          <p:nvPr>
            <p:ph type="title"/>
          </p:nvPr>
        </p:nvSpPr>
        <p:spPr/>
        <p:txBody>
          <a:bodyPr/>
          <a:lstStyle/>
          <a:p>
            <a:r>
              <a:rPr kumimoji="1" lang="ja-JP" altLang="en-US" dirty="0"/>
              <a:t>表記方法</a:t>
            </a:r>
            <a:endParaRPr kumimoji="1" lang="en-US" dirty="0"/>
          </a:p>
        </p:txBody>
      </p:sp>
      <p:sp>
        <p:nvSpPr>
          <p:cNvPr id="3" name="コンテンツ プレースホルダー 2">
            <a:extLst>
              <a:ext uri="{FF2B5EF4-FFF2-40B4-BE49-F238E27FC236}">
                <a16:creationId xmlns:a16="http://schemas.microsoft.com/office/drawing/2014/main" id="{1E8DD4F5-01D8-3C7B-DDFB-929C5A70A523}"/>
              </a:ext>
            </a:extLst>
          </p:cNvPr>
          <p:cNvSpPr>
            <a:spLocks noGrp="1"/>
          </p:cNvSpPr>
          <p:nvPr>
            <p:ph type="body" sz="quarter" idx="10"/>
          </p:nvPr>
        </p:nvSpPr>
        <p:spPr/>
        <p:txBody>
          <a:bodyPr/>
          <a:lstStyle/>
          <a:p>
            <a:r>
              <a:rPr kumimoji="1" lang="ja-JP" altLang="en-US" dirty="0"/>
              <a:t>ここから先では </a:t>
            </a:r>
            <a:r>
              <a:rPr kumimoji="1" lang="en-US" altLang="ja-JP" dirty="0"/>
              <a:t>C </a:t>
            </a:r>
            <a:r>
              <a:rPr kumimoji="1" lang="ja-JP" altLang="en-US" dirty="0"/>
              <a:t>言語の表記方法に従う</a:t>
            </a:r>
            <a:endParaRPr kumimoji="1" lang="en-US" altLang="ja-JP" dirty="0"/>
          </a:p>
          <a:p>
            <a:pPr lvl="1"/>
            <a:r>
              <a:rPr kumimoji="1" lang="ja-JP" altLang="en-US" dirty="0"/>
              <a:t>１０進数：なにもつけない</a:t>
            </a:r>
            <a:r>
              <a:rPr kumimoji="1" lang="en-US" altLang="ja-JP" dirty="0"/>
              <a:t>	</a:t>
            </a:r>
            <a:r>
              <a:rPr kumimoji="1" lang="ja-JP" altLang="en-US" dirty="0"/>
              <a:t>（</a:t>
            </a:r>
            <a:r>
              <a:rPr kumimoji="1" lang="en-US" altLang="ja-JP" dirty="0"/>
              <a:t>143</a:t>
            </a:r>
            <a:r>
              <a:rPr kumimoji="1" lang="ja-JP" altLang="en-US" dirty="0"/>
              <a:t>）</a:t>
            </a:r>
            <a:endParaRPr kumimoji="1" lang="en-US" altLang="ja-JP" dirty="0"/>
          </a:p>
          <a:p>
            <a:pPr lvl="1"/>
            <a:r>
              <a:rPr lang="ja-JP" altLang="en-US" dirty="0"/>
              <a:t>　２進数：先頭に </a:t>
            </a:r>
            <a:r>
              <a:rPr lang="en-US" altLang="ja-JP" dirty="0"/>
              <a:t>0b </a:t>
            </a:r>
            <a:r>
              <a:rPr lang="ja-JP" altLang="en-US" dirty="0"/>
              <a:t>をつける</a:t>
            </a:r>
            <a:r>
              <a:rPr lang="en-US" altLang="ja-JP" dirty="0"/>
              <a:t>	</a:t>
            </a:r>
            <a:r>
              <a:rPr lang="ja-JP" altLang="en-US" dirty="0"/>
              <a:t>（</a:t>
            </a:r>
            <a:r>
              <a:rPr lang="en-US" dirty="0"/>
              <a:t>0b10000011</a:t>
            </a:r>
            <a:r>
              <a:rPr lang="ja-JP" altLang="en-US" dirty="0"/>
              <a:t>）</a:t>
            </a:r>
            <a:endParaRPr lang="en-US" altLang="ja-JP" dirty="0"/>
          </a:p>
          <a:p>
            <a:pPr lvl="1"/>
            <a:r>
              <a:rPr lang="ja-JP" altLang="en-US" dirty="0"/>
              <a:t>１６進数：先頭に </a:t>
            </a:r>
            <a:r>
              <a:rPr lang="en-US" altLang="ja-JP" dirty="0"/>
              <a:t>0x </a:t>
            </a:r>
            <a:r>
              <a:rPr lang="ja-JP" altLang="en-US" dirty="0"/>
              <a:t>をつける</a:t>
            </a:r>
            <a:r>
              <a:rPr lang="en-US" altLang="ja-JP" dirty="0"/>
              <a:t>	</a:t>
            </a:r>
            <a:r>
              <a:rPr lang="ja-JP" altLang="en-US" dirty="0"/>
              <a:t>（</a:t>
            </a:r>
            <a:r>
              <a:rPr lang="en-US" altLang="ja-JP" dirty="0"/>
              <a:t>0x83</a:t>
            </a:r>
            <a:r>
              <a:rPr lang="ja-JP" altLang="en-US" dirty="0"/>
              <a:t>）</a:t>
            </a:r>
            <a:endParaRPr lang="en-US" altLang="ja-JP" dirty="0"/>
          </a:p>
          <a:p>
            <a:r>
              <a:rPr kumimoji="1" lang="ja-JP" altLang="en-US" dirty="0"/>
              <a:t>由来：</a:t>
            </a:r>
            <a:endParaRPr kumimoji="1" lang="en-US" altLang="ja-JP" dirty="0"/>
          </a:p>
          <a:p>
            <a:pPr lvl="1"/>
            <a:r>
              <a:rPr lang="en-US" altLang="ja-JP" dirty="0"/>
              <a:t>0b = binary</a:t>
            </a:r>
            <a:r>
              <a:rPr lang="ja-JP" altLang="en-US" dirty="0"/>
              <a:t>（英語の２進数）</a:t>
            </a:r>
            <a:endParaRPr lang="en-US" altLang="ja-JP" dirty="0"/>
          </a:p>
          <a:p>
            <a:pPr lvl="1"/>
            <a:r>
              <a:rPr kumimoji="1" lang="en-US" altLang="ja-JP" dirty="0"/>
              <a:t>0x = hexadecimal</a:t>
            </a:r>
            <a:r>
              <a:rPr lang="ja-JP" altLang="en-US" dirty="0"/>
              <a:t>（英語の１６進数）</a:t>
            </a:r>
            <a:endParaRPr kumimoji="1" lang="en-US" altLang="ja-JP" dirty="0"/>
          </a:p>
          <a:p>
            <a:pPr lvl="1"/>
            <a:r>
              <a:rPr lang="en-US" dirty="0"/>
              <a:t>bit = binary digit </a:t>
            </a:r>
            <a:r>
              <a:rPr lang="ja-JP" altLang="en-US" dirty="0"/>
              <a:t>の短縮系</a:t>
            </a:r>
            <a:endParaRPr lang="en-US" altLang="ja-JP" dirty="0"/>
          </a:p>
          <a:p>
            <a:r>
              <a:rPr kumimoji="1" lang="ja-JP" altLang="en-US" dirty="0"/>
              <a:t>備考：</a:t>
            </a:r>
            <a:endParaRPr kumimoji="1" lang="en-US" altLang="ja-JP" dirty="0"/>
          </a:p>
          <a:p>
            <a:pPr lvl="1"/>
            <a:r>
              <a:rPr lang="en-US" altLang="ja-JP" dirty="0"/>
              <a:t>0b </a:t>
            </a:r>
            <a:r>
              <a:rPr lang="ja-JP" altLang="en-US" dirty="0"/>
              <a:t>による２進数表記は </a:t>
            </a:r>
            <a:r>
              <a:rPr lang="en-US" altLang="ja-JP" dirty="0"/>
              <a:t>C23/C++14 </a:t>
            </a:r>
            <a:r>
              <a:rPr lang="ja-JP" altLang="en-US" dirty="0"/>
              <a:t>規格から導入されたので，古い </a:t>
            </a:r>
            <a:r>
              <a:rPr lang="en-US" altLang="ja-JP" dirty="0"/>
              <a:t>C </a:t>
            </a:r>
            <a:r>
              <a:rPr lang="ja-JP" altLang="en-US" dirty="0"/>
              <a:t>言語の資料では書かれていない</a:t>
            </a:r>
            <a:endParaRPr kumimoji="1" lang="en-US" dirty="0"/>
          </a:p>
        </p:txBody>
      </p:sp>
    </p:spTree>
    <p:extLst>
      <p:ext uri="{BB962C8B-B14F-4D97-AF65-F5344CB8AC3E}">
        <p14:creationId xmlns:p14="http://schemas.microsoft.com/office/powerpoint/2010/main" val="1975733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98761C-5334-C1B2-1115-96EFED4809BD}"/>
              </a:ext>
            </a:extLst>
          </p:cNvPr>
          <p:cNvSpPr>
            <a:spLocks noGrp="1"/>
          </p:cNvSpPr>
          <p:nvPr>
            <p:ph type="title"/>
          </p:nvPr>
        </p:nvSpPr>
        <p:spPr>
          <a:xfrm>
            <a:off x="605939" y="0"/>
            <a:ext cx="11586061" cy="909638"/>
          </a:xfrm>
        </p:spPr>
        <p:txBody>
          <a:bodyPr/>
          <a:lstStyle/>
          <a:p>
            <a:r>
              <a:rPr lang="ja-JP" altLang="en-US" dirty="0"/>
              <a:t>現代のコンピュータは基本的に２進数ベースで出来ている</a:t>
            </a:r>
            <a:endParaRPr lang="en-US" dirty="0"/>
          </a:p>
        </p:txBody>
      </p:sp>
      <p:sp>
        <p:nvSpPr>
          <p:cNvPr id="3" name="コンテンツ プレースホルダー 2">
            <a:extLst>
              <a:ext uri="{FF2B5EF4-FFF2-40B4-BE49-F238E27FC236}">
                <a16:creationId xmlns:a16="http://schemas.microsoft.com/office/drawing/2014/main" id="{F4FF6C97-84AC-FE59-260D-FA8053BE963C}"/>
              </a:ext>
            </a:extLst>
          </p:cNvPr>
          <p:cNvSpPr>
            <a:spLocks noGrp="1"/>
          </p:cNvSpPr>
          <p:nvPr>
            <p:ph type="body" sz="quarter" idx="10"/>
          </p:nvPr>
        </p:nvSpPr>
        <p:spPr>
          <a:xfrm>
            <a:off x="1775952" y="1088974"/>
            <a:ext cx="8640096" cy="5490061"/>
          </a:xfrm>
        </p:spPr>
        <p:txBody>
          <a:bodyPr/>
          <a:lstStyle/>
          <a:p>
            <a:r>
              <a:rPr lang="ja-JP" altLang="en-US" dirty="0"/>
              <a:t>電圧が「高い</a:t>
            </a:r>
            <a:r>
              <a:rPr lang="en-US" altLang="ja-JP" dirty="0"/>
              <a:t>=1</a:t>
            </a:r>
            <a:r>
              <a:rPr lang="ja-JP" altLang="en-US" dirty="0"/>
              <a:t>」</a:t>
            </a:r>
            <a:r>
              <a:rPr lang="en-US" altLang="ja-JP" dirty="0"/>
              <a:t>or</a:t>
            </a:r>
            <a:r>
              <a:rPr lang="ja-JP" altLang="en-US" dirty="0"/>
              <a:t>「低い</a:t>
            </a:r>
            <a:r>
              <a:rPr lang="en-US" altLang="ja-JP" dirty="0"/>
              <a:t>=0</a:t>
            </a:r>
            <a:r>
              <a:rPr lang="ja-JP" altLang="en-US" dirty="0"/>
              <a:t>」の２進数で表現されている</a:t>
            </a:r>
            <a:endParaRPr lang="en-US" altLang="ja-JP" dirty="0"/>
          </a:p>
          <a:p>
            <a:pPr lvl="1"/>
            <a:r>
              <a:rPr lang="ja-JP" altLang="en-US" dirty="0"/>
              <a:t>たまに </a:t>
            </a:r>
            <a:r>
              <a:rPr lang="en-US" altLang="ja-JP" dirty="0"/>
              <a:t>1 or 0 </a:t>
            </a:r>
            <a:r>
              <a:rPr lang="ja-JP" altLang="en-US" dirty="0"/>
              <a:t>の割り当てが逆のこともある</a:t>
            </a:r>
            <a:endParaRPr lang="en-US" altLang="ja-JP" dirty="0"/>
          </a:p>
          <a:p>
            <a:r>
              <a:rPr lang="ja-JP" altLang="en-US" dirty="0"/>
              <a:t>なぜ２進数なのか？</a:t>
            </a:r>
            <a:endParaRPr lang="en-US" altLang="ja-JP" dirty="0"/>
          </a:p>
          <a:p>
            <a:pPr lvl="1"/>
            <a:r>
              <a:rPr lang="ja-JP" altLang="en-US" dirty="0"/>
              <a:t>回路を作るのが簡単だから</a:t>
            </a:r>
            <a:endParaRPr lang="en-US" altLang="ja-JP" dirty="0"/>
          </a:p>
        </p:txBody>
      </p:sp>
    </p:spTree>
    <p:extLst>
      <p:ext uri="{BB962C8B-B14F-4D97-AF65-F5344CB8AC3E}">
        <p14:creationId xmlns:p14="http://schemas.microsoft.com/office/powerpoint/2010/main" val="12734081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98761C-5334-C1B2-1115-96EFED4809BD}"/>
              </a:ext>
            </a:extLst>
          </p:cNvPr>
          <p:cNvSpPr>
            <a:spLocks noGrp="1"/>
          </p:cNvSpPr>
          <p:nvPr>
            <p:ph type="title"/>
          </p:nvPr>
        </p:nvSpPr>
        <p:spPr>
          <a:xfrm>
            <a:off x="515938" y="0"/>
            <a:ext cx="11676062" cy="909638"/>
          </a:xfrm>
        </p:spPr>
        <p:txBody>
          <a:bodyPr/>
          <a:lstStyle/>
          <a:p>
            <a:r>
              <a:rPr lang="ja-JP" altLang="en-US"/>
              <a:t>現代のコンピュータは基本的に２進数ベースで出来ている</a:t>
            </a:r>
            <a:endParaRPr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F4FF6C97-84AC-FE59-260D-FA8053BE963C}"/>
                  </a:ext>
                </a:extLst>
              </p:cNvPr>
              <p:cNvSpPr>
                <a:spLocks noGrp="1"/>
              </p:cNvSpPr>
              <p:nvPr>
                <p:ph type="body" sz="quarter" idx="10"/>
              </p:nvPr>
            </p:nvSpPr>
            <p:spPr>
              <a:xfrm>
                <a:off x="1775952" y="1088974"/>
                <a:ext cx="8640096" cy="5490061"/>
              </a:xfrm>
            </p:spPr>
            <p:txBody>
              <a:bodyPr/>
              <a:lstStyle/>
              <a:p>
                <a:r>
                  <a:rPr lang="ja-JP" altLang="en-US" dirty="0"/>
                  <a:t>たとえば３進数の場合，</a:t>
                </a:r>
                <a:endParaRPr lang="en-US" altLang="ja-JP" dirty="0"/>
              </a:p>
              <a:p>
                <a:pPr lvl="1"/>
                <a:r>
                  <a:rPr lang="ja-JP" altLang="en-US" dirty="0"/>
                  <a:t>電圧が「高い」「中間」「低い」の３つを区別することになる</a:t>
                </a:r>
                <a:endParaRPr lang="en-US" altLang="ja-JP" dirty="0"/>
              </a:p>
              <a:p>
                <a:pPr lvl="1"/>
                <a:r>
                  <a:rPr lang="ja-JP" altLang="en-US" dirty="0"/>
                  <a:t>この判別は，単に高いか低いかよりもかなり難しい</a:t>
                </a:r>
                <a:endParaRPr lang="en-US" altLang="ja-JP" dirty="0"/>
              </a:p>
              <a:p>
                <a:pPr lvl="2"/>
                <a:r>
                  <a:rPr lang="ja-JP" altLang="en-US" dirty="0"/>
                  <a:t>（後で実例を紹介</a:t>
                </a:r>
              </a:p>
              <a:p>
                <a:r>
                  <a:rPr lang="ja-JP" altLang="en-US" dirty="0"/>
                  <a:t>手の指で表した場合でも同じ？</a:t>
                </a:r>
                <a:endParaRPr lang="en-US" altLang="ja-JP" dirty="0"/>
              </a:p>
              <a:p>
                <a:pPr lvl="1"/>
                <a:r>
                  <a:rPr lang="ja-JP" altLang="en-US" dirty="0"/>
                  <a:t>指が「折れている</a:t>
                </a:r>
                <a:r>
                  <a:rPr lang="en-US" altLang="ja-JP" dirty="0"/>
                  <a:t>=0</a:t>
                </a:r>
                <a:r>
                  <a:rPr lang="ja-JP" altLang="en-US" dirty="0"/>
                  <a:t>」「</a:t>
                </a:r>
                <a:r>
                  <a:rPr lang="en-US" altLang="ja-JP" dirty="0"/>
                  <a:t> </a:t>
                </a:r>
                <a:r>
                  <a:rPr lang="ja-JP" altLang="en-US" dirty="0"/>
                  <a:t>立っている</a:t>
                </a:r>
                <a:r>
                  <a:rPr lang="en-US" altLang="ja-JP" dirty="0"/>
                  <a:t>=1 </a:t>
                </a:r>
                <a:r>
                  <a:rPr lang="ja-JP" altLang="en-US" dirty="0"/>
                  <a:t>」で２進数を表す</a:t>
                </a:r>
                <a:endParaRPr lang="en-US" altLang="ja-JP" dirty="0"/>
              </a:p>
              <a:p>
                <a:pPr lvl="2"/>
                <a14:m>
                  <m:oMath xmlns:m="http://schemas.openxmlformats.org/officeDocument/2006/math">
                    <m:sSup>
                      <m:sSupPr>
                        <m:ctrlPr>
                          <a:rPr lang="en-US" altLang="ja-JP" i="1" dirty="0" smtClean="0">
                            <a:latin typeface="Cambria Math" panose="02040503050406030204" pitchFamily="18" charset="0"/>
                          </a:rPr>
                        </m:ctrlPr>
                      </m:sSupPr>
                      <m:e>
                        <m:r>
                          <a:rPr lang="en-US" altLang="ja-JP" dirty="0" smtClean="0">
                            <a:latin typeface="Cambria Math" panose="02040503050406030204" pitchFamily="18" charset="0"/>
                          </a:rPr>
                          <m:t>2</m:t>
                        </m:r>
                      </m:e>
                      <m:sup>
                        <m:r>
                          <a:rPr lang="en-US" altLang="ja-JP" dirty="0" smtClean="0">
                            <a:latin typeface="Cambria Math" panose="02040503050406030204" pitchFamily="18" charset="0"/>
                          </a:rPr>
                          <m:t>10</m:t>
                        </m:r>
                      </m:sup>
                    </m:sSup>
                  </m:oMath>
                </a14:m>
                <a:r>
                  <a:rPr lang="en-US" altLang="ja-JP" dirty="0"/>
                  <a:t>=1024 </a:t>
                </a:r>
                <a:r>
                  <a:rPr lang="ja-JP" altLang="en-US" dirty="0"/>
                  <a:t>通りを表す事ができる</a:t>
                </a:r>
                <a:endParaRPr lang="en-US" altLang="ja-JP" dirty="0"/>
              </a:p>
              <a:p>
                <a:pPr lvl="1"/>
                <a:r>
                  <a:rPr lang="ja-JP" altLang="en-US" dirty="0"/>
                  <a:t>３進数にすると「半分折れている」が加わる</a:t>
                </a:r>
                <a:endParaRPr lang="en-US" altLang="ja-JP" dirty="0"/>
              </a:p>
              <a:p>
                <a:pPr lvl="2"/>
                <a14:m>
                  <m:oMath xmlns:m="http://schemas.openxmlformats.org/officeDocument/2006/math">
                    <m:sSup>
                      <m:sSupPr>
                        <m:ctrlPr>
                          <a:rPr lang="en-US" altLang="ja-JP" i="1" dirty="0" smtClean="0">
                            <a:latin typeface="Cambria Math" panose="02040503050406030204" pitchFamily="18" charset="0"/>
                          </a:rPr>
                        </m:ctrlPr>
                      </m:sSupPr>
                      <m:e>
                        <m:r>
                          <a:rPr lang="en-US" altLang="ja-JP" dirty="0" smtClean="0">
                            <a:latin typeface="Cambria Math" panose="02040503050406030204" pitchFamily="18" charset="0"/>
                          </a:rPr>
                          <m:t>3</m:t>
                        </m:r>
                      </m:e>
                      <m:sup>
                        <m:r>
                          <a:rPr lang="en-US" altLang="ja-JP" dirty="0" smtClean="0">
                            <a:latin typeface="Cambria Math" panose="02040503050406030204" pitchFamily="18" charset="0"/>
                          </a:rPr>
                          <m:t>1</m:t>
                        </m:r>
                        <m:r>
                          <a:rPr lang="en-US" altLang="ja-JP" dirty="0">
                            <a:latin typeface="Cambria Math" panose="02040503050406030204" pitchFamily="18" charset="0"/>
                          </a:rPr>
                          <m:t>0</m:t>
                        </m:r>
                      </m:sup>
                    </m:sSup>
                  </m:oMath>
                </a14:m>
                <a:r>
                  <a:rPr lang="en-US" altLang="ja-JP" dirty="0"/>
                  <a:t>=59049</a:t>
                </a:r>
                <a:r>
                  <a:rPr lang="ja-JP" altLang="en-US" dirty="0"/>
                  <a:t>通りを表すことができる</a:t>
                </a:r>
                <a:endParaRPr lang="en-US" altLang="ja-JP" dirty="0"/>
              </a:p>
              <a:p>
                <a:pPr lvl="2"/>
                <a:r>
                  <a:rPr lang="ja-JP" altLang="en-US" dirty="0"/>
                  <a:t>しかし，「半分折れてる」の判別がむずかしい</a:t>
                </a:r>
                <a:endParaRPr lang="en-US" altLang="ja-JP" dirty="0"/>
              </a:p>
            </p:txBody>
          </p:sp>
        </mc:Choice>
        <mc:Fallback>
          <p:sp>
            <p:nvSpPr>
              <p:cNvPr id="3" name="コンテンツ プレースホルダー 2">
                <a:extLst>
                  <a:ext uri="{FF2B5EF4-FFF2-40B4-BE49-F238E27FC236}">
                    <a16:creationId xmlns:a16="http://schemas.microsoft.com/office/drawing/2014/main" id="{F4FF6C97-84AC-FE59-260D-FA8053BE963C}"/>
                  </a:ext>
                </a:extLst>
              </p:cNvPr>
              <p:cNvSpPr>
                <a:spLocks noGrp="1" noRot="1" noChangeAspect="1" noMove="1" noResize="1" noEditPoints="1" noAdjustHandles="1" noChangeArrowheads="1" noChangeShapeType="1" noTextEdit="1"/>
              </p:cNvSpPr>
              <p:nvPr>
                <p:ph type="body" sz="quarter" idx="10"/>
              </p:nvPr>
            </p:nvSpPr>
            <p:spPr>
              <a:xfrm>
                <a:off x="1775952" y="1088974"/>
                <a:ext cx="8640096" cy="5490061"/>
              </a:xfrm>
              <a:blipFill>
                <a:blip r:embed="rId2"/>
                <a:stretch>
                  <a:fillRect l="-63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847291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651984-F79E-2ABB-69A4-2F6B75EED465}"/>
              </a:ext>
            </a:extLst>
          </p:cNvPr>
          <p:cNvSpPr>
            <a:spLocks noGrp="1"/>
          </p:cNvSpPr>
          <p:nvPr>
            <p:ph type="title"/>
          </p:nvPr>
        </p:nvSpPr>
        <p:spPr>
          <a:xfrm>
            <a:off x="965943" y="0"/>
            <a:ext cx="10152062" cy="908972"/>
          </a:xfrm>
        </p:spPr>
        <p:txBody>
          <a:bodyPr/>
          <a:lstStyle/>
          <a:p>
            <a:r>
              <a:rPr lang="ja-JP" altLang="en-US" sz="2800" dirty="0"/>
              <a:t>情報分野では２進</a:t>
            </a:r>
            <a:r>
              <a:rPr lang="en-US" altLang="ja-JP" sz="2800" dirty="0"/>
              <a:t>/</a:t>
            </a:r>
            <a:r>
              <a:rPr lang="ja-JP" altLang="en-US" sz="2800" dirty="0"/>
              <a:t>１６進</a:t>
            </a:r>
            <a:r>
              <a:rPr lang="en-US" altLang="ja-JP" sz="2800" dirty="0"/>
              <a:t>/</a:t>
            </a:r>
            <a:r>
              <a:rPr lang="ja-JP" altLang="en-US" sz="2800" dirty="0"/>
              <a:t>１０進が混じって出てくる事が多い</a:t>
            </a:r>
            <a:endParaRPr lang="en-US" altLang="ja-JP" sz="2800" dirty="0"/>
          </a:p>
        </p:txBody>
      </p:sp>
      <p:sp>
        <p:nvSpPr>
          <p:cNvPr id="3" name="コンテンツ プレースホルダー 2">
            <a:extLst>
              <a:ext uri="{FF2B5EF4-FFF2-40B4-BE49-F238E27FC236}">
                <a16:creationId xmlns:a16="http://schemas.microsoft.com/office/drawing/2014/main" id="{54FFE0B1-59D3-9306-601B-BE269ED58931}"/>
              </a:ext>
            </a:extLst>
          </p:cNvPr>
          <p:cNvSpPr>
            <a:spLocks noGrp="1"/>
          </p:cNvSpPr>
          <p:nvPr>
            <p:ph type="body" sz="quarter" idx="10"/>
          </p:nvPr>
        </p:nvSpPr>
        <p:spPr/>
        <p:txBody>
          <a:bodyPr/>
          <a:lstStyle/>
          <a:p>
            <a:r>
              <a:rPr kumimoji="1" lang="ja-JP" altLang="en-US"/>
              <a:t>注意：</a:t>
            </a:r>
            <a:endParaRPr kumimoji="1" lang="en-US" altLang="ja-JP"/>
          </a:p>
          <a:p>
            <a:pPr lvl="1"/>
            <a:r>
              <a:rPr kumimoji="1" lang="ja-JP" altLang="en-US"/>
              <a:t>これらは単に表記方法の違い</a:t>
            </a:r>
            <a:endParaRPr kumimoji="1" lang="en-US" altLang="ja-JP"/>
          </a:p>
          <a:p>
            <a:pPr lvl="1"/>
            <a:r>
              <a:rPr kumimoji="1" lang="ja-JP" altLang="en-US"/>
              <a:t>表し方が違うだけで，それが示す数字そのものは同じ</a:t>
            </a:r>
            <a:endParaRPr kumimoji="1" lang="en-US" altLang="ja-JP"/>
          </a:p>
          <a:p>
            <a:r>
              <a:rPr kumimoji="1" lang="ja-JP" altLang="en-US"/>
              <a:t>たとえば１０進の「</a:t>
            </a:r>
            <a:r>
              <a:rPr kumimoji="1" lang="en-US" altLang="ja-JP"/>
              <a:t>12</a:t>
            </a:r>
            <a:r>
              <a:rPr kumimoji="1" lang="ja-JP" altLang="en-US"/>
              <a:t>」は３通りに書けるが，意味は同じ</a:t>
            </a:r>
            <a:endParaRPr kumimoji="1" lang="en-US" altLang="ja-JP"/>
          </a:p>
          <a:p>
            <a:pPr lvl="1"/>
            <a:r>
              <a:rPr kumimoji="1" lang="ja-JP" altLang="en-US"/>
              <a:t>１０進： </a:t>
            </a:r>
            <a:r>
              <a:rPr kumimoji="1" lang="en-US" altLang="ja-JP"/>
              <a:t>12</a:t>
            </a:r>
          </a:p>
          <a:p>
            <a:pPr lvl="1"/>
            <a:r>
              <a:rPr kumimoji="1" lang="ja-JP" altLang="en-US"/>
              <a:t>　２進： </a:t>
            </a:r>
            <a:r>
              <a:rPr kumimoji="1" lang="en-US" altLang="ja-JP"/>
              <a:t>0b1100</a:t>
            </a:r>
          </a:p>
          <a:p>
            <a:pPr lvl="1"/>
            <a:r>
              <a:rPr kumimoji="1" lang="ja-JP" altLang="en-US"/>
              <a:t>１６進： </a:t>
            </a:r>
            <a:r>
              <a:rPr kumimoji="1" lang="en-US" altLang="ja-JP"/>
              <a:t>0xc</a:t>
            </a:r>
          </a:p>
          <a:p>
            <a:r>
              <a:rPr kumimoji="1" lang="ja-JP" altLang="en-US"/>
              <a:t>「リンゴ」を「林檎」「りんご」「</a:t>
            </a:r>
            <a:r>
              <a:rPr kumimoji="1" lang="en-US" altLang="ja-JP"/>
              <a:t>Apple</a:t>
            </a:r>
            <a:r>
              <a:rPr kumimoji="1" lang="ja-JP" altLang="en-US"/>
              <a:t>」と書いても意味するものは変わらないのと同じ</a:t>
            </a:r>
            <a:endParaRPr kumimoji="1" lang="en-US" dirty="0"/>
          </a:p>
        </p:txBody>
      </p:sp>
    </p:spTree>
    <p:extLst>
      <p:ext uri="{BB962C8B-B14F-4D97-AF65-F5344CB8AC3E}">
        <p14:creationId xmlns:p14="http://schemas.microsoft.com/office/powerpoint/2010/main" val="25083455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9CCA6E-645D-2F37-69E1-AA6D0555FCE8}"/>
              </a:ext>
            </a:extLst>
          </p:cNvPr>
          <p:cNvSpPr>
            <a:spLocks noGrp="1"/>
          </p:cNvSpPr>
          <p:nvPr>
            <p:ph type="title"/>
          </p:nvPr>
        </p:nvSpPr>
        <p:spPr/>
        <p:txBody>
          <a:bodyPr/>
          <a:lstStyle/>
          <a:p>
            <a:r>
              <a:rPr kumimoji="1" lang="ja-JP" altLang="en-US" dirty="0"/>
              <a:t>ではなぜ複数の表記を使うのか？</a:t>
            </a:r>
            <a:endParaRPr kumimoji="1" lang="en-US" dirty="0"/>
          </a:p>
        </p:txBody>
      </p:sp>
      <p:sp>
        <p:nvSpPr>
          <p:cNvPr id="3" name="コンテンツ プレースホルダー 2">
            <a:extLst>
              <a:ext uri="{FF2B5EF4-FFF2-40B4-BE49-F238E27FC236}">
                <a16:creationId xmlns:a16="http://schemas.microsoft.com/office/drawing/2014/main" id="{F2CEF0B9-E2AC-1EE6-7608-1825B9254815}"/>
              </a:ext>
            </a:extLst>
          </p:cNvPr>
          <p:cNvSpPr>
            <a:spLocks noGrp="1"/>
          </p:cNvSpPr>
          <p:nvPr>
            <p:ph type="body" sz="quarter" idx="10"/>
          </p:nvPr>
        </p:nvSpPr>
        <p:spPr/>
        <p:txBody>
          <a:bodyPr/>
          <a:lstStyle/>
          <a:p>
            <a:r>
              <a:rPr kumimoji="1" lang="ja-JP" altLang="en-US" dirty="0"/>
              <a:t>それぞれの表記方に利点があるから</a:t>
            </a:r>
            <a:endParaRPr kumimoji="1" lang="en-US" altLang="ja-JP" dirty="0"/>
          </a:p>
          <a:p>
            <a:pPr lvl="1"/>
            <a:r>
              <a:rPr kumimoji="1" lang="ja-JP" altLang="en-US" dirty="0"/>
              <a:t>１０進は人間が普段使っているので，人間が考えやすい</a:t>
            </a:r>
            <a:endParaRPr kumimoji="1" lang="en-US" altLang="ja-JP" dirty="0"/>
          </a:p>
          <a:p>
            <a:pPr lvl="1"/>
            <a:r>
              <a:rPr kumimoji="1" lang="ja-JP" altLang="en-US" dirty="0"/>
              <a:t>２進や１６進は？</a:t>
            </a:r>
            <a:endParaRPr kumimoji="1" lang="en-US" altLang="ja-JP" dirty="0"/>
          </a:p>
          <a:p>
            <a:pPr lvl="2"/>
            <a:endParaRPr kumimoji="1" lang="en-US" altLang="ja-JP" dirty="0"/>
          </a:p>
        </p:txBody>
      </p:sp>
    </p:spTree>
    <p:extLst>
      <p:ext uri="{BB962C8B-B14F-4D97-AF65-F5344CB8AC3E}">
        <p14:creationId xmlns:p14="http://schemas.microsoft.com/office/powerpoint/2010/main" val="7964159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80D202-43D8-4930-E144-75D4D1839911}"/>
              </a:ext>
            </a:extLst>
          </p:cNvPr>
          <p:cNvSpPr>
            <a:spLocks noGrp="1"/>
          </p:cNvSpPr>
          <p:nvPr>
            <p:ph type="title"/>
          </p:nvPr>
        </p:nvSpPr>
        <p:spPr/>
        <p:txBody>
          <a:bodyPr/>
          <a:lstStyle/>
          <a:p>
            <a:r>
              <a:rPr kumimoji="1" lang="ja-JP" altLang="en-US" dirty="0"/>
              <a:t>２進数で表記する利点</a:t>
            </a:r>
            <a:endParaRPr kumimoji="1" lang="en-US" dirty="0"/>
          </a:p>
        </p:txBody>
      </p:sp>
      <p:sp>
        <p:nvSpPr>
          <p:cNvPr id="3" name="コンテンツ プレースホルダー 2">
            <a:extLst>
              <a:ext uri="{FF2B5EF4-FFF2-40B4-BE49-F238E27FC236}">
                <a16:creationId xmlns:a16="http://schemas.microsoft.com/office/drawing/2014/main" id="{CF81A18C-4333-56F2-7BF8-854447A1F7A2}"/>
              </a:ext>
            </a:extLst>
          </p:cNvPr>
          <p:cNvSpPr>
            <a:spLocks noGrp="1"/>
          </p:cNvSpPr>
          <p:nvPr>
            <p:ph type="body" sz="quarter" idx="10"/>
          </p:nvPr>
        </p:nvSpPr>
        <p:spPr/>
        <p:txBody>
          <a:bodyPr/>
          <a:lstStyle/>
          <a:p>
            <a:r>
              <a:rPr kumimoji="1" lang="ja-JP" altLang="en-US" dirty="0"/>
              <a:t>前回の講義でだした </a:t>
            </a:r>
            <a:r>
              <a:rPr kumimoji="1" lang="en-US" altLang="ja-JP" dirty="0"/>
              <a:t>CPU </a:t>
            </a:r>
            <a:r>
              <a:rPr kumimoji="1" lang="ja-JP" altLang="en-US" dirty="0"/>
              <a:t>では１０進で命令を定義していた</a:t>
            </a:r>
            <a:endParaRPr kumimoji="1" lang="en-US" altLang="ja-JP" dirty="0"/>
          </a:p>
          <a:p>
            <a:pPr lvl="1"/>
            <a:r>
              <a:rPr kumimoji="1" lang="ja-JP" altLang="en-US" dirty="0"/>
              <a:t>人間に分かりやすくするため</a:t>
            </a:r>
            <a:endParaRPr kumimoji="1" lang="en-US" altLang="ja-JP" dirty="0"/>
          </a:p>
          <a:p>
            <a:pPr lvl="1"/>
            <a:r>
              <a:rPr lang="ja-JP" altLang="en-US" dirty="0">
                <a:solidFill>
                  <a:schemeClr val="accent5"/>
                </a:solidFill>
              </a:rPr>
              <a:t>１０進数の各桁</a:t>
            </a:r>
            <a:r>
              <a:rPr lang="ja-JP" altLang="en-US" dirty="0"/>
              <a:t>を見れば意味がわかる</a:t>
            </a:r>
            <a:endParaRPr lang="en-US" altLang="ja-JP" dirty="0"/>
          </a:p>
          <a:p>
            <a:pPr marL="1354138" lvl="2" indent="-457200">
              <a:buFont typeface="+mj-lt"/>
              <a:buAutoNum type="arabicPeriod"/>
            </a:pPr>
            <a:r>
              <a:rPr lang="en-US" altLang="ja-JP" dirty="0"/>
              <a:t>0 2 3 5	</a:t>
            </a:r>
            <a:r>
              <a:rPr lang="en-US" altLang="ja-JP" dirty="0">
                <a:solidFill>
                  <a:schemeClr val="accent5"/>
                </a:solidFill>
              </a:rPr>
              <a:t>// </a:t>
            </a:r>
            <a:r>
              <a:rPr lang="en-US" altLang="ja-JP" dirty="0">
                <a:solidFill>
                  <a:schemeClr val="accent5"/>
                </a:solidFill>
                <a:latin typeface="Consolas" panose="020B0609020204030204" pitchFamily="49" charset="0"/>
              </a:rPr>
              <a:t>add(0) A(2), B(3)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D(5)</a:t>
            </a:r>
          </a:p>
          <a:p>
            <a:pPr marL="1354138" lvl="2" indent="-457200">
              <a:buFont typeface="+mj-lt"/>
              <a:buAutoNum type="arabicPeriod"/>
            </a:pPr>
            <a:r>
              <a:rPr lang="en-US" altLang="ja-JP" dirty="0"/>
              <a:t>1 5 4 6	</a:t>
            </a:r>
            <a:r>
              <a:rPr lang="en-US" altLang="ja-JP" dirty="0">
                <a:solidFill>
                  <a:schemeClr val="accent5"/>
                </a:solidFill>
              </a:rPr>
              <a:t>// </a:t>
            </a:r>
            <a:r>
              <a:rPr lang="en-US" altLang="ja-JP" dirty="0">
                <a:solidFill>
                  <a:schemeClr val="accent5"/>
                </a:solidFill>
                <a:latin typeface="Consolas" panose="020B0609020204030204" pitchFamily="49" charset="0"/>
              </a:rPr>
              <a:t>sub(1) D(5), C(4) </a:t>
            </a:r>
            <a:r>
              <a:rPr lang="ja-JP" altLang="en-US" dirty="0">
                <a:solidFill>
                  <a:schemeClr val="accent5"/>
                </a:solidFill>
                <a:latin typeface="Consolas" panose="020B0609020204030204" pitchFamily="49" charset="0"/>
              </a:rPr>
              <a:t>→ </a:t>
            </a:r>
            <a:r>
              <a:rPr lang="en-US" altLang="ja-JP" dirty="0">
                <a:solidFill>
                  <a:schemeClr val="accent5"/>
                </a:solidFill>
                <a:latin typeface="Consolas" panose="020B0609020204030204" pitchFamily="49" charset="0"/>
              </a:rPr>
              <a:t>E(6)</a:t>
            </a:r>
            <a:endParaRPr kumimoji="1" lang="en-US" altLang="ja-JP" dirty="0"/>
          </a:p>
          <a:p>
            <a:r>
              <a:rPr kumimoji="1" lang="ja-JP" altLang="en-US" dirty="0"/>
              <a:t>コンピュータは２進数の形で数字を保持している</a:t>
            </a:r>
            <a:endParaRPr kumimoji="1" lang="en-US" altLang="ja-JP" dirty="0"/>
          </a:p>
          <a:p>
            <a:pPr lvl="1"/>
            <a:r>
              <a:rPr kumimoji="1" lang="ja-JP" altLang="en-US" dirty="0">
                <a:solidFill>
                  <a:schemeClr val="accent5"/>
                </a:solidFill>
              </a:rPr>
              <a:t>２進数の各桁</a:t>
            </a:r>
            <a:r>
              <a:rPr kumimoji="1" lang="ja-JP" altLang="en-US" dirty="0"/>
              <a:t>に意味を持たす事が多い</a:t>
            </a:r>
            <a:endParaRPr kumimoji="1" lang="en-US" altLang="ja-JP" dirty="0"/>
          </a:p>
          <a:p>
            <a:pPr lvl="1"/>
            <a:r>
              <a:rPr kumimoji="1" lang="ja-JP" altLang="en-US" dirty="0"/>
              <a:t>２進数表記した方が，色々と考えやすい</a:t>
            </a:r>
            <a:endParaRPr kumimoji="1" lang="en-US" altLang="ja-JP" dirty="0"/>
          </a:p>
        </p:txBody>
      </p:sp>
    </p:spTree>
    <p:extLst>
      <p:ext uri="{BB962C8B-B14F-4D97-AF65-F5344CB8AC3E}">
        <p14:creationId xmlns:p14="http://schemas.microsoft.com/office/powerpoint/2010/main" val="193703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80D202-43D8-4930-E144-75D4D1839911}"/>
              </a:ext>
            </a:extLst>
          </p:cNvPr>
          <p:cNvSpPr>
            <a:spLocks noGrp="1"/>
          </p:cNvSpPr>
          <p:nvPr>
            <p:ph type="title"/>
          </p:nvPr>
        </p:nvSpPr>
        <p:spPr/>
        <p:txBody>
          <a:bodyPr/>
          <a:lstStyle/>
          <a:p>
            <a:r>
              <a:rPr kumimoji="1" lang="ja-JP" altLang="en-US" dirty="0"/>
              <a:t>たとえば４ビットのデータを考える</a:t>
            </a:r>
            <a:endParaRPr kumimoji="1" lang="en-US" altLang="ja-JP" dirty="0"/>
          </a:p>
        </p:txBody>
      </p:sp>
      <p:sp>
        <p:nvSpPr>
          <p:cNvPr id="3" name="コンテンツ プレースホルダー 2">
            <a:extLst>
              <a:ext uri="{FF2B5EF4-FFF2-40B4-BE49-F238E27FC236}">
                <a16:creationId xmlns:a16="http://schemas.microsoft.com/office/drawing/2014/main" id="{CF81A18C-4333-56F2-7BF8-854447A1F7A2}"/>
              </a:ext>
            </a:extLst>
          </p:cNvPr>
          <p:cNvSpPr>
            <a:spLocks noGrp="1"/>
          </p:cNvSpPr>
          <p:nvPr>
            <p:ph type="body" sz="quarter" idx="10"/>
          </p:nvPr>
        </p:nvSpPr>
        <p:spPr>
          <a:xfrm>
            <a:off x="1955954" y="1088974"/>
            <a:ext cx="8460094" cy="5220058"/>
          </a:xfrm>
        </p:spPr>
        <p:txBody>
          <a:bodyPr/>
          <a:lstStyle/>
          <a:p>
            <a:r>
              <a:rPr lang="ja-JP" altLang="en-US" dirty="0">
                <a:latin typeface="Consolas" panose="020B0609020204030204" pitchFamily="49" charset="0"/>
              </a:rPr>
              <a:t>４ビットのデータは </a:t>
            </a:r>
            <a:r>
              <a:rPr lang="en-US" altLang="ja-JP" dirty="0">
                <a:latin typeface="Consolas" panose="020B0609020204030204" pitchFamily="49" charset="0"/>
              </a:rPr>
              <a:t>0b0000</a:t>
            </a:r>
            <a:r>
              <a:rPr lang="ja-JP" altLang="en-US" dirty="0">
                <a:latin typeface="Consolas" panose="020B0609020204030204" pitchFamily="49" charset="0"/>
              </a:rPr>
              <a:t>～</a:t>
            </a:r>
            <a:r>
              <a:rPr lang="en-US" altLang="ja-JP" dirty="0">
                <a:latin typeface="Consolas" panose="020B0609020204030204" pitchFamily="49" charset="0"/>
              </a:rPr>
              <a:t>0b1111 </a:t>
            </a:r>
            <a:r>
              <a:rPr lang="ja-JP" altLang="en-US" dirty="0">
                <a:latin typeface="Consolas" panose="020B0609020204030204" pitchFamily="49" charset="0"/>
              </a:rPr>
              <a:t>→ </a:t>
            </a:r>
            <a:r>
              <a:rPr lang="en-US" altLang="ja-JP" dirty="0">
                <a:latin typeface="Consolas" panose="020B0609020204030204" pitchFamily="49" charset="0"/>
              </a:rPr>
              <a:t>0 </a:t>
            </a:r>
            <a:r>
              <a:rPr lang="ja-JP" altLang="en-US" dirty="0">
                <a:latin typeface="Consolas" panose="020B0609020204030204" pitchFamily="49" charset="0"/>
              </a:rPr>
              <a:t>～ </a:t>
            </a:r>
            <a:r>
              <a:rPr lang="en-US" altLang="ja-JP" dirty="0">
                <a:latin typeface="Consolas" panose="020B0609020204030204" pitchFamily="49" charset="0"/>
              </a:rPr>
              <a:t>15 </a:t>
            </a:r>
            <a:r>
              <a:rPr lang="ja-JP" altLang="en-US" dirty="0">
                <a:latin typeface="Consolas" panose="020B0609020204030204" pitchFamily="49" charset="0"/>
              </a:rPr>
              <a:t>を表す事ができる</a:t>
            </a:r>
            <a:endParaRPr lang="en-US" altLang="ja-JP" dirty="0">
              <a:latin typeface="Consolas" panose="020B0609020204030204" pitchFamily="49" charset="0"/>
            </a:endParaRPr>
          </a:p>
          <a:p>
            <a:r>
              <a:rPr lang="ja-JP" altLang="en-US" dirty="0">
                <a:solidFill>
                  <a:schemeClr val="accent5"/>
                </a:solidFill>
                <a:latin typeface="Consolas" panose="020B0609020204030204" pitchFamily="49" charset="0"/>
              </a:rPr>
              <a:t>２進数で下から３桁目が </a:t>
            </a:r>
            <a:r>
              <a:rPr lang="en-US" altLang="ja-JP" dirty="0">
                <a:solidFill>
                  <a:schemeClr val="accent5"/>
                </a:solidFill>
                <a:latin typeface="Consolas" panose="020B0609020204030204" pitchFamily="49" charset="0"/>
              </a:rPr>
              <a:t>add/sub </a:t>
            </a:r>
            <a:r>
              <a:rPr lang="ja-JP" altLang="en-US" dirty="0">
                <a:solidFill>
                  <a:schemeClr val="accent5"/>
                </a:solidFill>
                <a:latin typeface="Consolas" panose="020B0609020204030204" pitchFamily="49" charset="0"/>
              </a:rPr>
              <a:t>を示すとする</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ja-JP" altLang="en-US" dirty="0">
                <a:latin typeface="Consolas" panose="020B0609020204030204" pitchFamily="49" charset="0"/>
              </a:rPr>
              <a:t>２進の場合：３桁目だけを見れば判定できる</a:t>
            </a:r>
            <a:endParaRPr lang="en-US" altLang="ja-JP" dirty="0">
              <a:latin typeface="Consolas" panose="020B0609020204030204" pitchFamily="49" charset="0"/>
            </a:endParaRPr>
          </a:p>
          <a:p>
            <a:pPr lvl="2"/>
            <a:r>
              <a:rPr lang="en-US" altLang="ja-JP" dirty="0">
                <a:latin typeface="Consolas" panose="020B0609020204030204" pitchFamily="49" charset="0"/>
              </a:rPr>
              <a:t>add</a:t>
            </a:r>
            <a:r>
              <a:rPr lang="ja-JP" altLang="en-US" dirty="0">
                <a:latin typeface="Consolas" panose="020B0609020204030204" pitchFamily="49" charset="0"/>
              </a:rPr>
              <a:t>：</a:t>
            </a:r>
            <a:r>
              <a:rPr lang="en-US" altLang="ja-JP" dirty="0">
                <a:latin typeface="Consolas" panose="020B0609020204030204" pitchFamily="49" charset="0"/>
              </a:rPr>
              <a:t>0bx1xx </a:t>
            </a:r>
            <a:r>
              <a:rPr lang="ja-JP" altLang="en-US" dirty="0">
                <a:latin typeface="Consolas" panose="020B0609020204030204" pitchFamily="49" charset="0"/>
              </a:rPr>
              <a:t>（</a:t>
            </a:r>
            <a:r>
              <a:rPr lang="en-US" altLang="ja-JP" dirty="0">
                <a:latin typeface="Consolas" panose="020B0609020204030204" pitchFamily="49" charset="0"/>
              </a:rPr>
              <a:t>x</a:t>
            </a:r>
            <a:r>
              <a:rPr lang="ja-JP" altLang="en-US" dirty="0">
                <a:latin typeface="Consolas" panose="020B0609020204030204" pitchFamily="49" charset="0"/>
              </a:rPr>
              <a:t> は </a:t>
            </a:r>
            <a:r>
              <a:rPr lang="en-US" altLang="ja-JP" dirty="0">
                <a:latin typeface="Consolas" panose="020B0609020204030204" pitchFamily="49" charset="0"/>
              </a:rPr>
              <a:t>0 or 1 </a:t>
            </a:r>
            <a:r>
              <a:rPr lang="ja-JP" altLang="en-US" dirty="0">
                <a:latin typeface="Consolas" panose="020B0609020204030204" pitchFamily="49" charset="0"/>
              </a:rPr>
              <a:t>の任意）</a:t>
            </a:r>
            <a:endParaRPr kumimoji="1" lang="en-US" altLang="ja-JP" dirty="0"/>
          </a:p>
          <a:p>
            <a:pPr lvl="2"/>
            <a:r>
              <a:rPr lang="en-US" altLang="ja-JP" dirty="0">
                <a:latin typeface="Consolas" panose="020B0609020204030204" pitchFamily="49" charset="0"/>
              </a:rPr>
              <a:t>sub</a:t>
            </a:r>
            <a:r>
              <a:rPr lang="ja-JP" altLang="en-US" dirty="0">
                <a:latin typeface="Consolas" panose="020B0609020204030204" pitchFamily="49" charset="0"/>
              </a:rPr>
              <a:t>：</a:t>
            </a:r>
            <a:r>
              <a:rPr lang="en-US" altLang="ja-JP" dirty="0">
                <a:latin typeface="Consolas" panose="020B0609020204030204" pitchFamily="49" charset="0"/>
              </a:rPr>
              <a:t>0bx0xx</a:t>
            </a:r>
            <a:r>
              <a:rPr lang="ja-JP" altLang="en-US" dirty="0">
                <a:latin typeface="Consolas" panose="020B0609020204030204" pitchFamily="49" charset="0"/>
              </a:rPr>
              <a:t> </a:t>
            </a:r>
            <a:br>
              <a:rPr lang="en-US" altLang="ja-JP" dirty="0">
                <a:latin typeface="Consolas" panose="020B0609020204030204" pitchFamily="49" charset="0"/>
              </a:rPr>
            </a:br>
            <a:endParaRPr lang="en-US" altLang="ja-JP" dirty="0">
              <a:latin typeface="Consolas" panose="020B0609020204030204" pitchFamily="49" charset="0"/>
            </a:endParaRPr>
          </a:p>
          <a:p>
            <a:pPr lvl="1"/>
            <a:r>
              <a:rPr lang="ja-JP" altLang="en-US" dirty="0">
                <a:latin typeface="Consolas" panose="020B0609020204030204" pitchFamily="49" charset="0"/>
              </a:rPr>
              <a:t>１０進の場合：かなり意味が分からない</a:t>
            </a:r>
            <a:endParaRPr lang="en-US" altLang="ja-JP" dirty="0">
              <a:latin typeface="Consolas" panose="020B0609020204030204" pitchFamily="49" charset="0"/>
            </a:endParaRPr>
          </a:p>
          <a:p>
            <a:pPr lvl="2"/>
            <a:r>
              <a:rPr lang="en-US" altLang="ja-JP" dirty="0">
                <a:latin typeface="Consolas" panose="020B0609020204030204" pitchFamily="49" charset="0"/>
              </a:rPr>
              <a:t>add</a:t>
            </a:r>
            <a:r>
              <a:rPr lang="ja-JP" altLang="en-US" dirty="0">
                <a:latin typeface="Consolas" panose="020B0609020204030204" pitchFamily="49" charset="0"/>
              </a:rPr>
              <a:t>：</a:t>
            </a:r>
            <a:r>
              <a:rPr lang="en-US" altLang="ja-JP" dirty="0">
                <a:latin typeface="Consolas" panose="020B0609020204030204" pitchFamily="49" charset="0"/>
              </a:rPr>
              <a:t>4,5,6,7,12,13,14,15 </a:t>
            </a:r>
            <a:r>
              <a:rPr lang="ja-JP" altLang="en-US" dirty="0">
                <a:latin typeface="Consolas" panose="020B0609020204030204" pitchFamily="49" charset="0"/>
              </a:rPr>
              <a:t>のいずれか</a:t>
            </a:r>
            <a:endParaRPr lang="en-US" altLang="ja-JP" dirty="0">
              <a:latin typeface="Consolas" panose="020B0609020204030204" pitchFamily="49" charset="0"/>
            </a:endParaRPr>
          </a:p>
          <a:p>
            <a:pPr lvl="2"/>
            <a:r>
              <a:rPr lang="en-US" altLang="ja-JP" dirty="0">
                <a:latin typeface="Consolas" panose="020B0609020204030204" pitchFamily="49" charset="0"/>
              </a:rPr>
              <a:t>sub</a:t>
            </a:r>
            <a:r>
              <a:rPr lang="ja-JP" altLang="en-US" dirty="0">
                <a:latin typeface="Consolas" panose="020B0609020204030204" pitchFamily="49" charset="0"/>
              </a:rPr>
              <a:t>：</a:t>
            </a:r>
            <a:r>
              <a:rPr lang="en-US" altLang="ja-JP" dirty="0">
                <a:latin typeface="Consolas" panose="020B0609020204030204" pitchFamily="49" charset="0"/>
              </a:rPr>
              <a:t>0,1,2,3,8,9,10,11 </a:t>
            </a:r>
            <a:r>
              <a:rPr lang="ja-JP" altLang="en-US" dirty="0">
                <a:latin typeface="Consolas" panose="020B0609020204030204" pitchFamily="49" charset="0"/>
              </a:rPr>
              <a:t>のいずれか</a:t>
            </a:r>
            <a:endParaRPr lang="en-US" altLang="ja-JP" dirty="0">
              <a:latin typeface="Consolas" panose="020B0609020204030204" pitchFamily="49" charset="0"/>
            </a:endParaRPr>
          </a:p>
        </p:txBody>
      </p:sp>
    </p:spTree>
    <p:extLst>
      <p:ext uri="{BB962C8B-B14F-4D97-AF65-F5344CB8AC3E}">
        <p14:creationId xmlns:p14="http://schemas.microsoft.com/office/powerpoint/2010/main" val="5096971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30CE27-2DC8-C906-C6BC-574C55E57878}"/>
              </a:ext>
            </a:extLst>
          </p:cNvPr>
          <p:cNvSpPr>
            <a:spLocks noGrp="1"/>
          </p:cNvSpPr>
          <p:nvPr>
            <p:ph type="title"/>
          </p:nvPr>
        </p:nvSpPr>
        <p:spPr/>
        <p:txBody>
          <a:bodyPr/>
          <a:lstStyle/>
          <a:p>
            <a:r>
              <a:rPr kumimoji="1" lang="ja-JP" altLang="en-US" dirty="0"/>
              <a:t>２進数の欠点</a:t>
            </a:r>
            <a:endParaRPr kumimoji="1" lang="en-US" dirty="0"/>
          </a:p>
        </p:txBody>
      </p:sp>
      <p:sp>
        <p:nvSpPr>
          <p:cNvPr id="3" name="コンテンツ プレースホルダー 2">
            <a:extLst>
              <a:ext uri="{FF2B5EF4-FFF2-40B4-BE49-F238E27FC236}">
                <a16:creationId xmlns:a16="http://schemas.microsoft.com/office/drawing/2014/main" id="{E014F4A8-5ADF-E009-0420-F3A6049F5D5D}"/>
              </a:ext>
            </a:extLst>
          </p:cNvPr>
          <p:cNvSpPr>
            <a:spLocks noGrp="1"/>
          </p:cNvSpPr>
          <p:nvPr>
            <p:ph type="body" sz="quarter" idx="10"/>
          </p:nvPr>
        </p:nvSpPr>
        <p:spPr/>
        <p:txBody>
          <a:bodyPr/>
          <a:lstStyle/>
          <a:p>
            <a:r>
              <a:rPr kumimoji="1" lang="ja-JP" altLang="en-US" dirty="0"/>
              <a:t>人間にわかりにくい</a:t>
            </a:r>
            <a:endParaRPr kumimoji="1" lang="en-US" altLang="ja-JP" dirty="0"/>
          </a:p>
          <a:p>
            <a:pPr marL="817200" lvl="1" indent="-457200">
              <a:buFont typeface="+mj-lt"/>
              <a:buAutoNum type="arabicPeriod"/>
            </a:pPr>
            <a:r>
              <a:rPr kumimoji="1" lang="ja-JP" altLang="en-US" dirty="0"/>
              <a:t>桁数が大きくなりすぎる</a:t>
            </a:r>
            <a:endParaRPr kumimoji="1" lang="en-US" altLang="ja-JP" dirty="0"/>
          </a:p>
          <a:p>
            <a:pPr marL="817200" lvl="1" indent="-457200">
              <a:buFont typeface="+mj-lt"/>
              <a:buAutoNum type="arabicPeriod"/>
            </a:pPr>
            <a:r>
              <a:rPr kumimoji="1" lang="ja-JP" altLang="en-US" dirty="0"/>
              <a:t>１０進でどのぐらいの数字になるのか，検討をつけにくい</a:t>
            </a:r>
            <a:endParaRPr kumimoji="1" lang="en-US" altLang="ja-JP" dirty="0"/>
          </a:p>
          <a:p>
            <a:r>
              <a:rPr kumimoji="1" lang="ja-JP" altLang="en-US" dirty="0"/>
              <a:t>たとえば</a:t>
            </a:r>
            <a:endParaRPr kumimoji="1" lang="en-US" altLang="ja-JP" dirty="0"/>
          </a:p>
          <a:p>
            <a:pPr lvl="1"/>
            <a:r>
              <a:rPr lang="en-US" altLang="ja-JP" dirty="0">
                <a:latin typeface="Consolas" panose="020B0609020204030204" pitchFamily="49" charset="0"/>
              </a:rPr>
              <a:t>0b1101010010000111 = 54407</a:t>
            </a:r>
            <a:endParaRPr kumimoji="1" lang="en-US" dirty="0">
              <a:latin typeface="Consolas" panose="020B0609020204030204" pitchFamily="49" charset="0"/>
            </a:endParaRPr>
          </a:p>
        </p:txBody>
      </p:sp>
    </p:spTree>
    <p:extLst>
      <p:ext uri="{BB962C8B-B14F-4D97-AF65-F5344CB8AC3E}">
        <p14:creationId xmlns:p14="http://schemas.microsoft.com/office/powerpoint/2010/main" val="2685466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2BB13B-09FF-98D0-205F-D0E0514EBEAA}"/>
              </a:ext>
            </a:extLst>
          </p:cNvPr>
          <p:cNvSpPr>
            <a:spLocks noGrp="1"/>
          </p:cNvSpPr>
          <p:nvPr>
            <p:ph type="title"/>
          </p:nvPr>
        </p:nvSpPr>
        <p:spPr/>
        <p:txBody>
          <a:bodyPr/>
          <a:lstStyle/>
          <a:p>
            <a:r>
              <a:rPr kumimoji="1" lang="ja-JP" altLang="en-US" dirty="0"/>
              <a:t>１６進数</a:t>
            </a:r>
            <a:endParaRPr kumimoji="1" lang="en-US" dirty="0"/>
          </a:p>
        </p:txBody>
      </p:sp>
      <p:sp>
        <p:nvSpPr>
          <p:cNvPr id="3" name="コンテンツ プレースホルダー 2">
            <a:extLst>
              <a:ext uri="{FF2B5EF4-FFF2-40B4-BE49-F238E27FC236}">
                <a16:creationId xmlns:a16="http://schemas.microsoft.com/office/drawing/2014/main" id="{99F0687C-B5F7-4D5B-01D4-334530AE53E4}"/>
              </a:ext>
            </a:extLst>
          </p:cNvPr>
          <p:cNvSpPr>
            <a:spLocks noGrp="1"/>
          </p:cNvSpPr>
          <p:nvPr>
            <p:ph type="body" sz="quarter" idx="10"/>
          </p:nvPr>
        </p:nvSpPr>
        <p:spPr/>
        <p:txBody>
          <a:bodyPr/>
          <a:lstStyle/>
          <a:p>
            <a:r>
              <a:rPr kumimoji="1" lang="ja-JP" altLang="en-US" dirty="0"/>
              <a:t>１６進数</a:t>
            </a:r>
            <a:endParaRPr kumimoji="1" lang="en-US" altLang="ja-JP" dirty="0"/>
          </a:p>
          <a:p>
            <a:pPr lvl="1"/>
            <a:r>
              <a:rPr lang="ja-JP" altLang="en-US" dirty="0"/>
              <a:t>１０進数の </a:t>
            </a:r>
            <a:r>
              <a:rPr lang="en-US" altLang="ja-JP" dirty="0"/>
              <a:t>0</a:t>
            </a:r>
            <a:r>
              <a:rPr lang="ja-JP" altLang="en-US" dirty="0"/>
              <a:t>～</a:t>
            </a:r>
            <a:r>
              <a:rPr lang="en-US" altLang="ja-JP" dirty="0"/>
              <a:t>15 </a:t>
            </a:r>
            <a:r>
              <a:rPr lang="ja-JP" altLang="en-US" dirty="0"/>
              <a:t>を</a:t>
            </a:r>
            <a:br>
              <a:rPr lang="en-US" altLang="ja-JP" dirty="0"/>
            </a:br>
            <a:r>
              <a:rPr lang="en-US" altLang="ja-JP" dirty="0">
                <a:latin typeface="Consolas" panose="020B0609020204030204" pitchFamily="49" charset="0"/>
              </a:rPr>
              <a:t>0x0, 0x1, 0x2, 0x3, 0x4, 0x5, 0x6, 0x7,</a:t>
            </a:r>
            <a:br>
              <a:rPr lang="en-US" altLang="ja-JP" dirty="0">
                <a:latin typeface="Consolas" panose="020B0609020204030204" pitchFamily="49" charset="0"/>
              </a:rPr>
            </a:br>
            <a:r>
              <a:rPr lang="en-US" altLang="ja-JP" dirty="0">
                <a:latin typeface="Consolas" panose="020B0609020204030204" pitchFamily="49" charset="0"/>
              </a:rPr>
              <a:t>0x8, 0x9, 0xa, 0xb, 0xc, 0xd, 0xe, 0xf </a:t>
            </a:r>
            <a:r>
              <a:rPr lang="ja-JP" altLang="en-US" dirty="0"/>
              <a:t>で表す</a:t>
            </a:r>
            <a:endParaRPr kumimoji="1" lang="en-US" altLang="ja-JP" dirty="0"/>
          </a:p>
          <a:p>
            <a:r>
              <a:rPr kumimoji="1" lang="ja-JP" altLang="en-US" dirty="0"/>
              <a:t>利点：</a:t>
            </a:r>
            <a:endParaRPr kumimoji="1" lang="en-US" altLang="ja-JP" dirty="0"/>
          </a:p>
          <a:p>
            <a:pPr lvl="1"/>
            <a:r>
              <a:rPr kumimoji="1" lang="ja-JP" altLang="en-US" dirty="0"/>
              <a:t>表記上の桁数が少ないので，２進数よりは人間にわかりやすい</a:t>
            </a:r>
            <a:endParaRPr kumimoji="1" lang="en-US" altLang="ja-JP" dirty="0"/>
          </a:p>
          <a:p>
            <a:pPr lvl="1"/>
            <a:r>
              <a:rPr kumimoji="1" lang="ja-JP" altLang="en-US" dirty="0"/>
              <a:t>２進数と１６進数は相互変換が簡単</a:t>
            </a:r>
            <a:endParaRPr kumimoji="1" lang="en-US" altLang="ja-JP" dirty="0"/>
          </a:p>
        </p:txBody>
      </p:sp>
    </p:spTree>
    <p:extLst>
      <p:ext uri="{BB962C8B-B14F-4D97-AF65-F5344CB8AC3E}">
        <p14:creationId xmlns:p14="http://schemas.microsoft.com/office/powerpoint/2010/main" val="916806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63FF3-2F06-BE62-9619-04240AD27CDF}"/>
              </a:ext>
            </a:extLst>
          </p:cNvPr>
          <p:cNvSpPr>
            <a:spLocks noGrp="1"/>
          </p:cNvSpPr>
          <p:nvPr>
            <p:ph type="title"/>
          </p:nvPr>
        </p:nvSpPr>
        <p:spPr/>
        <p:txBody>
          <a:bodyPr/>
          <a:lstStyle/>
          <a:p>
            <a:r>
              <a:rPr kumimoji="1" lang="ja-JP" altLang="en-US" dirty="0"/>
              <a:t>２進数と１６進数の相互変化</a:t>
            </a:r>
            <a:endParaRPr kumimoji="1" lang="en-US" dirty="0"/>
          </a:p>
        </p:txBody>
      </p:sp>
      <p:sp>
        <p:nvSpPr>
          <p:cNvPr id="3" name="コンテンツ プレースホルダー 2">
            <a:extLst>
              <a:ext uri="{FF2B5EF4-FFF2-40B4-BE49-F238E27FC236}">
                <a16:creationId xmlns:a16="http://schemas.microsoft.com/office/drawing/2014/main" id="{E5605BF8-1A6F-474A-8672-1E029BDB5AA9}"/>
              </a:ext>
            </a:extLst>
          </p:cNvPr>
          <p:cNvSpPr>
            <a:spLocks noGrp="1"/>
          </p:cNvSpPr>
          <p:nvPr>
            <p:ph type="body" sz="quarter" idx="10"/>
          </p:nvPr>
        </p:nvSpPr>
        <p:spPr/>
        <p:txBody>
          <a:bodyPr/>
          <a:lstStyle/>
          <a:p>
            <a:r>
              <a:rPr lang="ja-JP" altLang="en-US" dirty="0">
                <a:latin typeface="Consolas" panose="020B0609020204030204" pitchFamily="49" charset="0"/>
              </a:rPr>
              <a:t>２進数の４桁が１６進数の１桁に１：１：に直接対応する</a:t>
            </a:r>
            <a:endParaRPr lang="en-US" altLang="ja-JP" dirty="0">
              <a:latin typeface="Consolas" panose="020B0609020204030204" pitchFamily="49" charset="0"/>
            </a:endParaRPr>
          </a:p>
          <a:p>
            <a:pPr lvl="1"/>
            <a:r>
              <a:rPr lang="ja-JP" altLang="en-US" dirty="0">
                <a:latin typeface="Consolas" panose="020B0609020204030204" pitchFamily="49" charset="0"/>
              </a:rPr>
              <a:t>　２進：</a:t>
            </a:r>
            <a:r>
              <a:rPr lang="en-US" altLang="ja-JP" dirty="0">
                <a:latin typeface="Consolas" panose="020B0609020204030204" pitchFamily="49" charset="0"/>
              </a:rPr>
              <a:t>0b 1101 0100 1000 0111</a:t>
            </a:r>
          </a:p>
          <a:p>
            <a:pPr lvl="1"/>
            <a:r>
              <a:rPr kumimoji="1" lang="ja-JP" altLang="en-US" dirty="0">
                <a:latin typeface="Consolas" panose="020B0609020204030204" pitchFamily="49" charset="0"/>
              </a:rPr>
              <a:t>１６進：</a:t>
            </a:r>
            <a:r>
              <a:rPr kumimoji="1" lang="en-US" altLang="ja-JP" dirty="0">
                <a:latin typeface="Consolas" panose="020B0609020204030204" pitchFamily="49" charset="0"/>
              </a:rPr>
              <a:t>0x D    4    8    7</a:t>
            </a:r>
          </a:p>
          <a:p>
            <a:pPr lvl="1"/>
            <a:r>
              <a:rPr lang="ja-JP" altLang="en-US" dirty="0">
                <a:latin typeface="Consolas" panose="020B0609020204030204" pitchFamily="49" charset="0"/>
              </a:rPr>
              <a:t>１０進：</a:t>
            </a:r>
            <a:r>
              <a:rPr lang="en-US" altLang="ja-JP" dirty="0">
                <a:latin typeface="Consolas" panose="020B0609020204030204" pitchFamily="49" charset="0"/>
              </a:rPr>
              <a:t>54407</a:t>
            </a:r>
          </a:p>
          <a:p>
            <a:r>
              <a:rPr kumimoji="1" lang="ja-JP" altLang="en-US" dirty="0">
                <a:latin typeface="Consolas" panose="020B0609020204030204" pitchFamily="49" charset="0"/>
              </a:rPr>
              <a:t>２進数の４桁ごとに対応をとれば簡単に変換できる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１０進との相互変換はかなり難しい</a:t>
            </a:r>
            <a:endParaRPr kumimoji="1" lang="en-US" altLang="ja-JP" dirty="0">
              <a:latin typeface="Consolas" panose="020B0609020204030204" pitchFamily="49" charset="0"/>
            </a:endParaRPr>
          </a:p>
        </p:txBody>
      </p:sp>
    </p:spTree>
    <p:extLst>
      <p:ext uri="{BB962C8B-B14F-4D97-AF65-F5344CB8AC3E}">
        <p14:creationId xmlns:p14="http://schemas.microsoft.com/office/powerpoint/2010/main" val="9704494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63FF3-2F06-BE62-9619-04240AD27CDF}"/>
              </a:ext>
            </a:extLst>
          </p:cNvPr>
          <p:cNvSpPr>
            <a:spLocks noGrp="1"/>
          </p:cNvSpPr>
          <p:nvPr>
            <p:ph type="title"/>
          </p:nvPr>
        </p:nvSpPr>
        <p:spPr/>
        <p:txBody>
          <a:bodyPr/>
          <a:lstStyle/>
          <a:p>
            <a:r>
              <a:rPr kumimoji="1" lang="ja-JP" altLang="en-US" dirty="0"/>
              <a:t>（余談）手計算でやるとき</a:t>
            </a:r>
            <a:endParaRPr kumimoji="1" lang="en-US" dirty="0"/>
          </a:p>
        </p:txBody>
      </p:sp>
      <p:sp>
        <p:nvSpPr>
          <p:cNvPr id="3" name="コンテンツ プレースホルダー 2">
            <a:extLst>
              <a:ext uri="{FF2B5EF4-FFF2-40B4-BE49-F238E27FC236}">
                <a16:creationId xmlns:a16="http://schemas.microsoft.com/office/drawing/2014/main" id="{E5605BF8-1A6F-474A-8672-1E029BDB5AA9}"/>
              </a:ext>
            </a:extLst>
          </p:cNvPr>
          <p:cNvSpPr>
            <a:spLocks noGrp="1"/>
          </p:cNvSpPr>
          <p:nvPr>
            <p:ph type="body" sz="quarter" idx="10"/>
          </p:nvPr>
        </p:nvSpPr>
        <p:spPr>
          <a:xfrm>
            <a:off x="2135956" y="1088974"/>
            <a:ext cx="8280092" cy="5220058"/>
          </a:xfrm>
        </p:spPr>
        <p:txBody>
          <a:bodyPr/>
          <a:lstStyle/>
          <a:p>
            <a:r>
              <a:rPr kumimoji="1" lang="ja-JP" altLang="en-US" dirty="0"/>
              <a:t>２進→１６進の手計算は，以下のように憶えると便利</a:t>
            </a:r>
            <a:endParaRPr kumimoji="1" lang="en-US" altLang="ja-JP" dirty="0"/>
          </a:p>
          <a:p>
            <a:pPr lvl="1"/>
            <a:r>
              <a:rPr kumimoji="1" lang="ja-JP" altLang="en-US" dirty="0"/>
              <a:t>４桁ずつに区切る</a:t>
            </a:r>
            <a:endParaRPr kumimoji="1" lang="en-US" altLang="ja-JP" dirty="0"/>
          </a:p>
          <a:p>
            <a:pPr lvl="1"/>
            <a:r>
              <a:rPr kumimoji="1" lang="ja-JP" altLang="en-US" dirty="0"/>
              <a:t>下から見て，</a:t>
            </a:r>
            <a:r>
              <a:rPr kumimoji="1" lang="en-US" altLang="ja-JP" dirty="0"/>
              <a:t>1 </a:t>
            </a:r>
            <a:r>
              <a:rPr kumimoji="1" lang="ja-JP" altLang="en-US" dirty="0"/>
              <a:t>が 立っているところに </a:t>
            </a:r>
            <a:r>
              <a:rPr kumimoji="1" lang="en-US" altLang="ja-JP" dirty="0"/>
              <a:t>1 2 4 8 </a:t>
            </a:r>
            <a:r>
              <a:rPr kumimoji="1" lang="ja-JP" altLang="en-US" dirty="0"/>
              <a:t>をかけて足す</a:t>
            </a:r>
            <a:endParaRPr kumimoji="1" lang="en-US" altLang="ja-JP" dirty="0"/>
          </a:p>
          <a:p>
            <a:r>
              <a:rPr kumimoji="1" lang="ja-JP" altLang="en-US" dirty="0"/>
              <a:t>たとえば，</a:t>
            </a:r>
            <a:endParaRPr kumimoji="1" lang="en-US" altLang="ja-JP" dirty="0"/>
          </a:p>
          <a:p>
            <a:pPr lvl="1"/>
            <a:r>
              <a:rPr lang="ja-JP" altLang="en-US" dirty="0">
                <a:latin typeface="Consolas" panose="020B0609020204030204" pitchFamily="49" charset="0"/>
              </a:rPr>
              <a:t>　２進：</a:t>
            </a:r>
            <a:r>
              <a:rPr lang="en-US" altLang="ja-JP" dirty="0">
                <a:latin typeface="Consolas" panose="020B0609020204030204" pitchFamily="49" charset="0"/>
              </a:rPr>
              <a:t>0b 1101 0100 1000 0111</a:t>
            </a:r>
          </a:p>
          <a:p>
            <a:pPr lvl="1"/>
            <a:r>
              <a:rPr kumimoji="1" lang="ja-JP" altLang="en-US" dirty="0">
                <a:latin typeface="Consolas" panose="020B0609020204030204" pitchFamily="49" charset="0"/>
              </a:rPr>
              <a:t>１６進：</a:t>
            </a:r>
            <a:r>
              <a:rPr kumimoji="1" lang="en-US" altLang="ja-JP" dirty="0">
                <a:latin typeface="Consolas" panose="020B0609020204030204" pitchFamily="49" charset="0"/>
              </a:rPr>
              <a:t>0x D    4    8    7</a:t>
            </a:r>
          </a:p>
          <a:p>
            <a:pPr lvl="1"/>
            <a:endParaRPr kumimoji="1" lang="en-US" dirty="0"/>
          </a:p>
          <a:p>
            <a:pPr lvl="1"/>
            <a:r>
              <a:rPr kumimoji="1" lang="ja-JP" altLang="en-US" dirty="0"/>
              <a:t>一番上位の４桁は </a:t>
            </a:r>
            <a:r>
              <a:rPr lang="en-US" altLang="ja-JP" dirty="0">
                <a:latin typeface="Consolas" panose="020B0609020204030204" pitchFamily="49" charset="0"/>
              </a:rPr>
              <a:t>1101 </a:t>
            </a:r>
            <a:r>
              <a:rPr lang="ja-JP" altLang="en-US" dirty="0">
                <a:latin typeface="Consolas" panose="020B0609020204030204" pitchFamily="49" charset="0"/>
              </a:rPr>
              <a:t>→ </a:t>
            </a:r>
            <a:r>
              <a:rPr lang="en-US" altLang="ja-JP" dirty="0">
                <a:latin typeface="Consolas" panose="020B0609020204030204" pitchFamily="49" charset="0"/>
              </a:rPr>
              <a:t>1+4+8=13 </a:t>
            </a:r>
            <a:r>
              <a:rPr lang="ja-JP" altLang="en-US" dirty="0">
                <a:latin typeface="Consolas" panose="020B0609020204030204" pitchFamily="49" charset="0"/>
              </a:rPr>
              <a:t>→ </a:t>
            </a:r>
            <a:r>
              <a:rPr lang="en-US" altLang="ja-JP" dirty="0">
                <a:latin typeface="Consolas" panose="020B0609020204030204" pitchFamily="49" charset="0"/>
              </a:rPr>
              <a:t>D</a:t>
            </a:r>
          </a:p>
          <a:p>
            <a:pPr lvl="1"/>
            <a:r>
              <a:rPr kumimoji="1" lang="ja-JP" altLang="en-US" dirty="0"/>
              <a:t>次の４桁は </a:t>
            </a:r>
            <a:r>
              <a:rPr kumimoji="1" lang="en-US" altLang="ja-JP" dirty="0"/>
              <a:t>0</a:t>
            </a:r>
            <a:r>
              <a:rPr lang="en-US" altLang="ja-JP" dirty="0">
                <a:latin typeface="Consolas" panose="020B0609020204030204" pitchFamily="49" charset="0"/>
              </a:rPr>
              <a:t>100 </a:t>
            </a:r>
            <a:r>
              <a:rPr lang="ja-JP" altLang="en-US" dirty="0">
                <a:latin typeface="Consolas" panose="020B0609020204030204" pitchFamily="49" charset="0"/>
              </a:rPr>
              <a:t>→ </a:t>
            </a:r>
            <a:r>
              <a:rPr lang="en-US" altLang="ja-JP" dirty="0">
                <a:latin typeface="Consolas" panose="020B0609020204030204" pitchFamily="49" charset="0"/>
              </a:rPr>
              <a:t>4</a:t>
            </a:r>
            <a:endParaRPr kumimoji="1" lang="en-US" dirty="0"/>
          </a:p>
        </p:txBody>
      </p:sp>
    </p:spTree>
    <p:extLst>
      <p:ext uri="{BB962C8B-B14F-4D97-AF65-F5344CB8AC3E}">
        <p14:creationId xmlns:p14="http://schemas.microsoft.com/office/powerpoint/2010/main" val="2851441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2BB13B-09FF-98D0-205F-D0E0514EBEAA}"/>
              </a:ext>
            </a:extLst>
          </p:cNvPr>
          <p:cNvSpPr>
            <a:spLocks noGrp="1"/>
          </p:cNvSpPr>
          <p:nvPr>
            <p:ph type="title"/>
          </p:nvPr>
        </p:nvSpPr>
        <p:spPr/>
        <p:txBody>
          <a:bodyPr/>
          <a:lstStyle/>
          <a:p>
            <a:r>
              <a:rPr kumimoji="1" lang="ja-JP" altLang="en-US" dirty="0"/>
              <a:t>なぜ１６なのか？</a:t>
            </a:r>
            <a:endParaRPr kumimoji="1" lang="en-US" dirty="0"/>
          </a:p>
        </p:txBody>
      </p:sp>
      <p:sp>
        <p:nvSpPr>
          <p:cNvPr id="3" name="コンテンツ プレースホルダー 2">
            <a:extLst>
              <a:ext uri="{FF2B5EF4-FFF2-40B4-BE49-F238E27FC236}">
                <a16:creationId xmlns:a16="http://schemas.microsoft.com/office/drawing/2014/main" id="{99F0687C-B5F7-4D5B-01D4-334530AE53E4}"/>
              </a:ext>
            </a:extLst>
          </p:cNvPr>
          <p:cNvSpPr>
            <a:spLocks noGrp="1"/>
          </p:cNvSpPr>
          <p:nvPr>
            <p:ph type="body" sz="quarter" idx="10"/>
          </p:nvPr>
        </p:nvSpPr>
        <p:spPr/>
        <p:txBody>
          <a:bodyPr/>
          <a:lstStyle/>
          <a:p>
            <a:r>
              <a:rPr kumimoji="1" lang="ja-JP" altLang="en-US" dirty="0"/>
              <a:t>２進数との相互変換のしやすさだけなら，８進や３２進でも良い</a:t>
            </a:r>
            <a:endParaRPr kumimoji="1" lang="en-US" altLang="ja-JP" dirty="0"/>
          </a:p>
          <a:p>
            <a:pPr lvl="1"/>
            <a:r>
              <a:rPr kumimoji="1" lang="ja-JP" altLang="en-US" dirty="0"/>
              <a:t>２の累乗の進数なら，同様に各桁が１：１に対応する</a:t>
            </a:r>
            <a:endParaRPr kumimoji="1" lang="en-US" altLang="ja-JP" dirty="0"/>
          </a:p>
          <a:p>
            <a:r>
              <a:rPr kumimoji="1" lang="ja-JP" altLang="en-US" dirty="0"/>
              <a:t>１６進数では１桁を表すのに４ビットが必要</a:t>
            </a:r>
            <a:endParaRPr kumimoji="1" lang="en-US" altLang="ja-JP" dirty="0"/>
          </a:p>
          <a:p>
            <a:pPr lvl="1"/>
            <a:r>
              <a:rPr kumimoji="1" lang="ja-JP" altLang="en-US" dirty="0"/>
              <a:t>ここのビット数も２の累乗の方が何かと都合がよい</a:t>
            </a:r>
            <a:endParaRPr kumimoji="1" lang="en-US" altLang="ja-JP" dirty="0"/>
          </a:p>
          <a:p>
            <a:pPr lvl="2"/>
            <a:r>
              <a:rPr kumimoji="1" lang="ja-JP" altLang="en-US" dirty="0"/>
              <a:t>８進数だと３ビットになり，２の累乗から外れる</a:t>
            </a:r>
            <a:endParaRPr kumimoji="1" lang="en-US" altLang="ja-JP" dirty="0"/>
          </a:p>
          <a:p>
            <a:pPr lvl="1"/>
            <a:r>
              <a:rPr kumimoji="1" lang="ja-JP" altLang="en-US" dirty="0"/>
              <a:t>１０進に近いので，考えやすい</a:t>
            </a:r>
            <a:endParaRPr kumimoji="1" lang="en-US" altLang="ja-JP" dirty="0"/>
          </a:p>
        </p:txBody>
      </p:sp>
    </p:spTree>
    <p:extLst>
      <p:ext uri="{BB962C8B-B14F-4D97-AF65-F5344CB8AC3E}">
        <p14:creationId xmlns:p14="http://schemas.microsoft.com/office/powerpoint/2010/main" val="5333828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73B60F-807B-4946-D491-0BDF6891A500}"/>
              </a:ext>
            </a:extLst>
          </p:cNvPr>
          <p:cNvSpPr>
            <a:spLocks noGrp="1"/>
          </p:cNvSpPr>
          <p:nvPr>
            <p:ph type="title"/>
          </p:nvPr>
        </p:nvSpPr>
        <p:spPr/>
        <p:txBody>
          <a:bodyPr/>
          <a:lstStyle/>
          <a:p>
            <a:r>
              <a:rPr lang="ja-JP" altLang="en-US" sz="2400" dirty="0"/>
              <a:t>（余談）二進化十進表現（</a:t>
            </a:r>
            <a:r>
              <a:rPr lang="en-US" sz="2400" dirty="0"/>
              <a:t>Binary-coded decimal: BCD</a:t>
            </a:r>
            <a:r>
              <a:rPr lang="ja-JP" altLang="en-US" sz="2400" dirty="0"/>
              <a:t>）</a:t>
            </a:r>
            <a:endParaRPr lang="en-US" sz="2400" dirty="0"/>
          </a:p>
        </p:txBody>
      </p:sp>
      <p:sp>
        <p:nvSpPr>
          <p:cNvPr id="3" name="コンテンツ プレースホルダー 2">
            <a:extLst>
              <a:ext uri="{FF2B5EF4-FFF2-40B4-BE49-F238E27FC236}">
                <a16:creationId xmlns:a16="http://schemas.microsoft.com/office/drawing/2014/main" id="{D061A5A0-20FE-DED7-1CA3-2A21E8851833}"/>
              </a:ext>
            </a:extLst>
          </p:cNvPr>
          <p:cNvSpPr>
            <a:spLocks noGrp="1"/>
          </p:cNvSpPr>
          <p:nvPr>
            <p:ph type="body" sz="quarter" idx="10"/>
          </p:nvPr>
        </p:nvSpPr>
        <p:spPr>
          <a:xfrm>
            <a:off x="1865956" y="1088974"/>
            <a:ext cx="8550095" cy="5220058"/>
          </a:xfrm>
        </p:spPr>
        <p:txBody>
          <a:bodyPr/>
          <a:lstStyle/>
          <a:p>
            <a:r>
              <a:rPr kumimoji="1" lang="ja-JP" altLang="en-US" dirty="0"/>
              <a:t>２進数の４桁（１６進数の１桁）で１０進数の各桁を表す方法</a:t>
            </a:r>
            <a:endParaRPr kumimoji="1" lang="en-US" altLang="ja-JP" dirty="0"/>
          </a:p>
          <a:p>
            <a:pPr lvl="1"/>
            <a:r>
              <a:rPr kumimoji="1" lang="en-US" altLang="ja-JP" dirty="0"/>
              <a:t>0b0000(0x0) </a:t>
            </a:r>
            <a:r>
              <a:rPr kumimoji="1" lang="ja-JP" altLang="en-US" dirty="0"/>
              <a:t>～ </a:t>
            </a:r>
            <a:r>
              <a:rPr kumimoji="1" lang="en-US" altLang="ja-JP" dirty="0"/>
              <a:t>0b1001(0x9) </a:t>
            </a:r>
            <a:r>
              <a:rPr kumimoji="1" lang="ja-JP" altLang="en-US" dirty="0"/>
              <a:t>が </a:t>
            </a:r>
            <a:r>
              <a:rPr kumimoji="1" lang="en-US" altLang="ja-JP" dirty="0"/>
              <a:t>0</a:t>
            </a:r>
            <a:r>
              <a:rPr kumimoji="1" lang="ja-JP" altLang="en-US" dirty="0"/>
              <a:t>～</a:t>
            </a:r>
            <a:r>
              <a:rPr kumimoji="1" lang="en-US" altLang="ja-JP" dirty="0"/>
              <a:t>9 </a:t>
            </a:r>
            <a:r>
              <a:rPr kumimoji="1" lang="ja-JP" altLang="en-US" dirty="0"/>
              <a:t>を示す</a:t>
            </a:r>
            <a:endParaRPr kumimoji="1" lang="en-US" altLang="ja-JP" dirty="0"/>
          </a:p>
          <a:p>
            <a:pPr lvl="1"/>
            <a:r>
              <a:rPr lang="ja-JP" altLang="en-US" dirty="0"/>
              <a:t>例：</a:t>
            </a:r>
            <a:r>
              <a:rPr lang="en-US" dirty="0"/>
              <a:t>0x1234 </a:t>
            </a:r>
            <a:r>
              <a:rPr lang="ja-JP" altLang="en-US" dirty="0"/>
              <a:t>は </a:t>
            </a:r>
            <a:r>
              <a:rPr lang="en-US" altLang="ja-JP" dirty="0"/>
              <a:t>1234 </a:t>
            </a:r>
            <a:r>
              <a:rPr lang="ja-JP" altLang="en-US" dirty="0"/>
              <a:t>を示す</a:t>
            </a:r>
            <a:endParaRPr lang="en-US" altLang="ja-JP" dirty="0"/>
          </a:p>
          <a:p>
            <a:r>
              <a:rPr kumimoji="1" lang="en-US" altLang="ja-JP" dirty="0"/>
              <a:t>BCD </a:t>
            </a:r>
            <a:r>
              <a:rPr kumimoji="1" lang="ja-JP" altLang="en-US" dirty="0"/>
              <a:t>の利点と欠点</a:t>
            </a:r>
            <a:endParaRPr kumimoji="1" lang="en-US" altLang="ja-JP" dirty="0"/>
          </a:p>
          <a:p>
            <a:pPr lvl="1"/>
            <a:r>
              <a:rPr kumimoji="1" lang="ja-JP" altLang="en-US" dirty="0"/>
              <a:t>利点：桁が１：１に対応するので２進数と１０進数の相互変換が楽</a:t>
            </a:r>
            <a:endParaRPr kumimoji="1" lang="en-US" altLang="ja-JP" dirty="0"/>
          </a:p>
          <a:p>
            <a:pPr lvl="1"/>
            <a:r>
              <a:rPr kumimoji="1" lang="ja-JP" altLang="en-US" dirty="0"/>
              <a:t>問題：</a:t>
            </a:r>
            <a:r>
              <a:rPr lang="en-US" altLang="ja-JP" dirty="0"/>
              <a:t>0xa </a:t>
            </a:r>
            <a:r>
              <a:rPr lang="ja-JP" altLang="en-US" dirty="0"/>
              <a:t>～ </a:t>
            </a:r>
            <a:r>
              <a:rPr lang="en-US" altLang="ja-JP" dirty="0"/>
              <a:t>0xf </a:t>
            </a:r>
            <a:r>
              <a:rPr lang="ja-JP" altLang="en-US" dirty="0"/>
              <a:t>は使わないので同じ桁数で表せる数字の数が減る</a:t>
            </a:r>
            <a:endParaRPr kumimoji="1" lang="en-US" dirty="0"/>
          </a:p>
        </p:txBody>
      </p:sp>
    </p:spTree>
    <p:extLst>
      <p:ext uri="{BB962C8B-B14F-4D97-AF65-F5344CB8AC3E}">
        <p14:creationId xmlns:p14="http://schemas.microsoft.com/office/powerpoint/2010/main" val="3653202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1A85E2-0FD7-5318-84FC-2735B3175252}"/>
              </a:ext>
            </a:extLst>
          </p:cNvPr>
          <p:cNvSpPr>
            <a:spLocks noGrp="1"/>
          </p:cNvSpPr>
          <p:nvPr>
            <p:ph type="title"/>
          </p:nvPr>
        </p:nvSpPr>
        <p:spPr/>
        <p:txBody>
          <a:bodyPr/>
          <a:lstStyle/>
          <a:p>
            <a:r>
              <a:rPr kumimoji="1" lang="en-US" altLang="ja-JP" dirty="0"/>
              <a:t>BCD</a:t>
            </a:r>
            <a:endParaRPr kumimoji="1" lang="en-US" dirty="0"/>
          </a:p>
        </p:txBody>
      </p:sp>
      <p:sp>
        <p:nvSpPr>
          <p:cNvPr id="3" name="コンテンツ プレースホルダー 2">
            <a:extLst>
              <a:ext uri="{FF2B5EF4-FFF2-40B4-BE49-F238E27FC236}">
                <a16:creationId xmlns:a16="http://schemas.microsoft.com/office/drawing/2014/main" id="{B09113B0-CFA7-BDE1-48D4-14CF9463D7CE}"/>
              </a:ext>
            </a:extLst>
          </p:cNvPr>
          <p:cNvSpPr>
            <a:spLocks noGrp="1"/>
          </p:cNvSpPr>
          <p:nvPr>
            <p:ph type="body" sz="quarter" idx="10"/>
          </p:nvPr>
        </p:nvSpPr>
        <p:spPr/>
        <p:txBody>
          <a:bodyPr/>
          <a:lstStyle/>
          <a:p>
            <a:r>
              <a:rPr kumimoji="1" lang="ja-JP" altLang="en-US" dirty="0"/>
              <a:t>基本的に無駄</a:t>
            </a:r>
            <a:endParaRPr kumimoji="1" lang="en-US" altLang="ja-JP" dirty="0"/>
          </a:p>
          <a:p>
            <a:pPr lvl="1"/>
            <a:r>
              <a:rPr kumimoji="1" lang="ja-JP" altLang="en-US" dirty="0"/>
              <a:t>なので，現代ではあまり使われない</a:t>
            </a:r>
            <a:endParaRPr kumimoji="1" lang="en-US" altLang="ja-JP" dirty="0"/>
          </a:p>
          <a:p>
            <a:r>
              <a:rPr kumimoji="1" lang="ja-JP" altLang="en-US" dirty="0"/>
              <a:t>ただし，お金を扱う場面では今でも使われる事がある</a:t>
            </a:r>
            <a:endParaRPr kumimoji="1" lang="en-US" altLang="ja-JP" dirty="0"/>
          </a:p>
          <a:p>
            <a:pPr lvl="1"/>
            <a:r>
              <a:rPr kumimoji="1" lang="ja-JP" altLang="en-US" dirty="0"/>
              <a:t>１０進でキリの良い数字が，２進では循環小数になったりする</a:t>
            </a:r>
            <a:endParaRPr kumimoji="1" lang="en-US" altLang="ja-JP" dirty="0"/>
          </a:p>
          <a:p>
            <a:pPr lvl="2"/>
            <a:r>
              <a:rPr kumimoji="1" lang="en-US" altLang="ja-JP" dirty="0"/>
              <a:t>0.1 </a:t>
            </a:r>
            <a:r>
              <a:rPr kumimoji="1" lang="ja-JP" altLang="en-US" dirty="0"/>
              <a:t>は２進だと </a:t>
            </a:r>
            <a:r>
              <a:rPr kumimoji="1" lang="en-US" altLang="ja-JP" dirty="0"/>
              <a:t>0.0001 1001 1001 1001 1001 ...</a:t>
            </a:r>
          </a:p>
          <a:p>
            <a:pPr lvl="2"/>
            <a:r>
              <a:rPr kumimoji="1" lang="ja-JP" altLang="en-US" dirty="0"/>
              <a:t>２進では有限の桁数で表せないので誤差が出る</a:t>
            </a:r>
            <a:endParaRPr kumimoji="1" lang="en-US" altLang="ja-JP" dirty="0"/>
          </a:p>
          <a:p>
            <a:pPr lvl="1"/>
            <a:r>
              <a:rPr kumimoji="1" lang="ja-JP" altLang="en-US" dirty="0"/>
              <a:t>税金や利子の計算などは１０進数前提でルールが組まれている</a:t>
            </a:r>
            <a:endParaRPr kumimoji="1" lang="en-US" altLang="ja-JP" dirty="0"/>
          </a:p>
          <a:p>
            <a:pPr lvl="2"/>
            <a:r>
              <a:rPr kumimoji="1" lang="ja-JP" altLang="en-US" dirty="0"/>
              <a:t>消費税 </a:t>
            </a:r>
            <a:r>
              <a:rPr kumimoji="1" lang="en-US" altLang="ja-JP" dirty="0"/>
              <a:t>10% </a:t>
            </a:r>
            <a:r>
              <a:rPr kumimoji="1" lang="ja-JP" altLang="en-US" dirty="0"/>
              <a:t>のたびに微妙な誤差が出たらまずい</a:t>
            </a:r>
            <a:endParaRPr kumimoji="1" lang="en-US" altLang="ja-JP" dirty="0"/>
          </a:p>
          <a:p>
            <a:pPr lvl="2"/>
            <a:r>
              <a:rPr kumimoji="1" lang="ja-JP" altLang="en-US" dirty="0"/>
              <a:t>利子が微妙に多くなったり小さくなるのもまずい</a:t>
            </a:r>
            <a:endParaRPr kumimoji="1" lang="en-US" dirty="0"/>
          </a:p>
        </p:txBody>
      </p:sp>
    </p:spTree>
    <p:extLst>
      <p:ext uri="{BB962C8B-B14F-4D97-AF65-F5344CB8AC3E}">
        <p14:creationId xmlns:p14="http://schemas.microsoft.com/office/powerpoint/2010/main" val="119240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56BC6C5C-C6B4-8AE4-8883-2E81D645BCD3}"/>
              </a:ext>
            </a:extLst>
          </p:cNvPr>
          <p:cNvSpPr>
            <a:spLocks noGrp="1"/>
          </p:cNvSpPr>
          <p:nvPr>
            <p:ph type="title"/>
          </p:nvPr>
        </p:nvSpPr>
        <p:spPr/>
        <p:txBody>
          <a:bodyPr/>
          <a:lstStyle/>
          <a:p>
            <a:r>
              <a:rPr lang="ja-JP" altLang="en-US" b="1" dirty="0"/>
              <a:t>論理回路による実装</a:t>
            </a:r>
            <a:endParaRPr lang="en-US" b="1" dirty="0"/>
          </a:p>
        </p:txBody>
      </p:sp>
    </p:spTree>
    <p:extLst>
      <p:ext uri="{BB962C8B-B14F-4D97-AF65-F5344CB8AC3E}">
        <p14:creationId xmlns:p14="http://schemas.microsoft.com/office/powerpoint/2010/main" val="200067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回路と遅延</a:t>
            </a:r>
          </a:p>
        </p:txBody>
      </p:sp>
      <p:sp>
        <p:nvSpPr>
          <p:cNvPr id="3" name="テキスト プレースホルダー 2"/>
          <p:cNvSpPr>
            <a:spLocks noGrp="1"/>
          </p:cNvSpPr>
          <p:nvPr>
            <p:ph type="body" sz="quarter" idx="10"/>
          </p:nvPr>
        </p:nvSpPr>
        <p:spPr/>
        <p:txBody>
          <a:bodyPr/>
          <a:lstStyle/>
          <a:p>
            <a:r>
              <a:rPr lang="ja-JP" altLang="en-US" dirty="0"/>
              <a:t>目的：これらの具体的なイメージを持つ</a:t>
            </a:r>
            <a:endParaRPr lang="en-US" altLang="ja-JP" dirty="0"/>
          </a:p>
          <a:p>
            <a:pPr lvl="1"/>
            <a:r>
              <a:rPr lang="en-US" altLang="ja-JP" dirty="0"/>
              <a:t>CPU </a:t>
            </a:r>
            <a:r>
              <a:rPr lang="ja-JP" altLang="en-US" dirty="0"/>
              <a:t>の論理的な動作と，それを実現する回路の繋がり</a:t>
            </a:r>
            <a:endParaRPr lang="en-US" altLang="ja-JP" dirty="0"/>
          </a:p>
          <a:p>
            <a:pPr lvl="1"/>
            <a:r>
              <a:rPr lang="ja-JP" altLang="en-US" dirty="0"/>
              <a:t>（それら論理回路の遅延や消費エネルギー</a:t>
            </a:r>
            <a:endParaRPr lang="en-US" altLang="ja-JP" dirty="0"/>
          </a:p>
          <a:p>
            <a:r>
              <a:rPr lang="ja-JP" altLang="en-US" dirty="0"/>
              <a:t>論理回路の復習から始めて説明</a:t>
            </a:r>
            <a:endParaRPr lang="en-US" altLang="ja-JP" dirty="0"/>
          </a:p>
          <a:p>
            <a:pPr lvl="1"/>
            <a:r>
              <a:rPr kumimoji="1" lang="ja-JP" altLang="en-US" dirty="0"/>
              <a:t>論理回路</a:t>
            </a:r>
            <a:br>
              <a:rPr kumimoji="1" lang="en-US" altLang="ja-JP" dirty="0"/>
            </a:br>
            <a:endParaRPr kumimoji="1" lang="en-US" altLang="ja-JP" dirty="0"/>
          </a:p>
          <a:p>
            <a:pPr marL="360000" lvl="1" indent="0">
              <a:buNone/>
            </a:pPr>
            <a:r>
              <a:rPr kumimoji="1" lang="ja-JP" altLang="en-US" dirty="0"/>
              <a:t>（次回以降：</a:t>
            </a:r>
            <a:endParaRPr kumimoji="1" lang="en-US" altLang="ja-JP" dirty="0"/>
          </a:p>
          <a:p>
            <a:pPr lvl="1"/>
            <a:r>
              <a:rPr kumimoji="1" lang="en-US" altLang="ja-JP" dirty="0"/>
              <a:t>CMOS </a:t>
            </a:r>
            <a:r>
              <a:rPr kumimoji="1" lang="ja-JP" altLang="en-US" dirty="0"/>
              <a:t>による実現</a:t>
            </a:r>
            <a:endParaRPr kumimoji="1" lang="en-US" altLang="ja-JP" dirty="0"/>
          </a:p>
          <a:p>
            <a:pPr lvl="1"/>
            <a:r>
              <a:rPr kumimoji="1" lang="ja-JP" altLang="en-US" dirty="0"/>
              <a:t>遅延と消費電力がどのように決まるのか</a:t>
            </a:r>
          </a:p>
        </p:txBody>
      </p:sp>
    </p:spTree>
    <p:extLst>
      <p:ext uri="{BB962C8B-B14F-4D97-AF65-F5344CB8AC3E}">
        <p14:creationId xmlns:p14="http://schemas.microsoft.com/office/powerpoint/2010/main" val="593204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グループ化 15">
            <a:extLst>
              <a:ext uri="{FF2B5EF4-FFF2-40B4-BE49-F238E27FC236}">
                <a16:creationId xmlns:a16="http://schemas.microsoft.com/office/drawing/2014/main" id="{696D4AB7-924D-1893-82FF-3DE30ED18DE1}"/>
              </a:ext>
            </a:extLst>
          </p:cNvPr>
          <p:cNvGrpSpPr/>
          <p:nvPr/>
        </p:nvGrpSpPr>
        <p:grpSpPr>
          <a:xfrm>
            <a:off x="3305969" y="1178975"/>
            <a:ext cx="5220382" cy="5490060"/>
            <a:chOff x="3221661" y="1178975"/>
            <a:chExt cx="5220382" cy="5490060"/>
          </a:xfrm>
        </p:grpSpPr>
        <p:sp>
          <p:nvSpPr>
            <p:cNvPr id="4" name="角丸四角形 3">
              <a:extLst>
                <a:ext uri="{FF2B5EF4-FFF2-40B4-BE49-F238E27FC236}">
                  <a16:creationId xmlns:a16="http://schemas.microsoft.com/office/drawing/2014/main" id="{3D0D46ED-E2ED-ADC3-CB0A-DB9612EA5B5B}"/>
                </a:ext>
              </a:extLst>
            </p:cNvPr>
            <p:cNvSpPr/>
            <p:nvPr/>
          </p:nvSpPr>
          <p:spPr bwMode="auto">
            <a:xfrm>
              <a:off x="3221661" y="2348989"/>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b="1" dirty="0">
                  <a:solidFill>
                    <a:schemeClr val="bg1"/>
                  </a:solidFill>
                </a:rPr>
                <a:t>システム・ソフトウェア</a:t>
              </a:r>
              <a:endParaRPr lang="en-US" altLang="ja-JP" sz="1600" b="1" dirty="0">
                <a:solidFill>
                  <a:schemeClr val="bg1"/>
                </a:solidFill>
              </a:endParaRPr>
            </a:p>
            <a:p>
              <a:pPr algn="ctr"/>
              <a:r>
                <a:rPr lang="en-US" altLang="ja-JP" sz="1600" b="1" dirty="0">
                  <a:solidFill>
                    <a:schemeClr val="bg1"/>
                  </a:solidFill>
                </a:rPr>
                <a:t>OS / </a:t>
              </a:r>
              <a:r>
                <a:rPr lang="ja-JP" altLang="en-US" sz="1600" b="1" dirty="0">
                  <a:solidFill>
                    <a:schemeClr val="bg1"/>
                  </a:solidFill>
                </a:rPr>
                <a:t>コンパイラ </a:t>
              </a:r>
              <a:r>
                <a:rPr lang="en-US" altLang="ja-JP" sz="1600" b="1" dirty="0">
                  <a:solidFill>
                    <a:schemeClr val="bg1"/>
                  </a:solidFill>
                </a:rPr>
                <a:t>/ </a:t>
              </a:r>
              <a:r>
                <a:rPr lang="ja-JP" altLang="en-US" sz="1600" b="1" dirty="0">
                  <a:solidFill>
                    <a:schemeClr val="bg1"/>
                  </a:solidFill>
                </a:rPr>
                <a:t>インタプリタ</a:t>
              </a:r>
            </a:p>
          </p:txBody>
        </p:sp>
        <p:sp>
          <p:nvSpPr>
            <p:cNvPr id="5" name="角丸四角形 4">
              <a:extLst>
                <a:ext uri="{FF2B5EF4-FFF2-40B4-BE49-F238E27FC236}">
                  <a16:creationId xmlns:a16="http://schemas.microsoft.com/office/drawing/2014/main" id="{00638FE6-1FF4-498C-055B-1D8B1FDA7488}"/>
                </a:ext>
              </a:extLst>
            </p:cNvPr>
            <p:cNvSpPr/>
            <p:nvPr/>
          </p:nvSpPr>
          <p:spPr bwMode="auto">
            <a:xfrm>
              <a:off x="3221985" y="3519001"/>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b="1" dirty="0">
                  <a:solidFill>
                    <a:schemeClr val="bg1"/>
                  </a:solidFill>
                </a:rPr>
                <a:t>（狭義の）コンピュータ・アーキテクチャ</a:t>
              </a:r>
            </a:p>
          </p:txBody>
        </p:sp>
        <p:sp>
          <p:nvSpPr>
            <p:cNvPr id="6" name="角丸四角形 5">
              <a:extLst>
                <a:ext uri="{FF2B5EF4-FFF2-40B4-BE49-F238E27FC236}">
                  <a16:creationId xmlns:a16="http://schemas.microsoft.com/office/drawing/2014/main" id="{3182F5A6-3E2D-A251-65E0-861A10658843}"/>
                </a:ext>
              </a:extLst>
            </p:cNvPr>
            <p:cNvSpPr/>
            <p:nvPr/>
          </p:nvSpPr>
          <p:spPr bwMode="auto">
            <a:xfrm>
              <a:off x="3221985" y="1178975"/>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7" name="角丸四角形 6">
              <a:extLst>
                <a:ext uri="{FF2B5EF4-FFF2-40B4-BE49-F238E27FC236}">
                  <a16:creationId xmlns:a16="http://schemas.microsoft.com/office/drawing/2014/main" id="{88A98F65-534A-2C25-E73D-5096BCD20283}"/>
                </a:ext>
              </a:extLst>
            </p:cNvPr>
            <p:cNvSpPr/>
            <p:nvPr/>
          </p:nvSpPr>
          <p:spPr bwMode="auto">
            <a:xfrm>
              <a:off x="3221985" y="4689013"/>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b="1" dirty="0">
                  <a:solidFill>
                    <a:schemeClr val="bg1"/>
                  </a:solidFill>
                </a:rPr>
                <a:t>論理回路</a:t>
              </a:r>
            </a:p>
          </p:txBody>
        </p:sp>
        <p:sp>
          <p:nvSpPr>
            <p:cNvPr id="8" name="角丸四角形 7">
              <a:extLst>
                <a:ext uri="{FF2B5EF4-FFF2-40B4-BE49-F238E27FC236}">
                  <a16:creationId xmlns:a16="http://schemas.microsoft.com/office/drawing/2014/main" id="{2A3399B4-B32F-1532-59EA-0A4FAF244740}"/>
                </a:ext>
              </a:extLst>
            </p:cNvPr>
            <p:cNvSpPr/>
            <p:nvPr/>
          </p:nvSpPr>
          <p:spPr bwMode="auto">
            <a:xfrm>
              <a:off x="3221985" y="5769025"/>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半導体デバイス</a:t>
              </a:r>
            </a:p>
          </p:txBody>
        </p:sp>
      </p:grpSp>
      <p:sp>
        <p:nvSpPr>
          <p:cNvPr id="2" name="タイトル 1"/>
          <p:cNvSpPr>
            <a:spLocks noGrp="1"/>
          </p:cNvSpPr>
          <p:nvPr>
            <p:ph type="title"/>
          </p:nvPr>
        </p:nvSpPr>
        <p:spPr/>
        <p:txBody>
          <a:bodyPr/>
          <a:lstStyle/>
          <a:p>
            <a:r>
              <a:rPr lang="ja-JP" altLang="en-US" sz="2400" dirty="0">
                <a:latin typeface="+mn-ea"/>
              </a:rPr>
              <a:t>前回は，「</a:t>
            </a:r>
            <a:r>
              <a:rPr lang="en-US" altLang="ja-JP" sz="2400" dirty="0">
                <a:latin typeface="+mn-ea"/>
              </a:rPr>
              <a:t>C </a:t>
            </a:r>
            <a:r>
              <a:rPr lang="ja-JP" altLang="en-US" sz="2400" dirty="0">
                <a:latin typeface="+mn-ea"/>
              </a:rPr>
              <a:t>言語で書かれたプログラムを動かすためには」という視点で上から迫っていた</a:t>
            </a:r>
          </a:p>
        </p:txBody>
      </p:sp>
      <p:sp>
        <p:nvSpPr>
          <p:cNvPr id="3" name="下矢印 2"/>
          <p:cNvSpPr/>
          <p:nvPr/>
        </p:nvSpPr>
        <p:spPr bwMode="auto">
          <a:xfrm>
            <a:off x="5375995" y="998973"/>
            <a:ext cx="990011" cy="2340026"/>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765507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latin typeface="+mn-ea"/>
              </a:rPr>
              <a:t>今回は，「コンピュータのハードを作るためには」</a:t>
            </a:r>
            <a:br>
              <a:rPr lang="en-US" altLang="ja-JP" sz="2400" dirty="0">
                <a:latin typeface="+mn-ea"/>
              </a:rPr>
            </a:br>
            <a:r>
              <a:rPr lang="ja-JP" altLang="en-US" sz="2400" dirty="0">
                <a:latin typeface="+mn-ea"/>
              </a:rPr>
              <a:t>という視点で，さらに下がっていく</a:t>
            </a:r>
            <a:endParaRPr lang="en-US" altLang="ja-JP" sz="2400" dirty="0">
              <a:latin typeface="+mn-ea"/>
            </a:endParaRPr>
          </a:p>
        </p:txBody>
      </p:sp>
      <p:grpSp>
        <p:nvGrpSpPr>
          <p:cNvPr id="6" name="グループ化 5">
            <a:extLst>
              <a:ext uri="{FF2B5EF4-FFF2-40B4-BE49-F238E27FC236}">
                <a16:creationId xmlns:a16="http://schemas.microsoft.com/office/drawing/2014/main" id="{6C19D3B4-6189-A76A-24B3-8C1AF1C91B6B}"/>
              </a:ext>
            </a:extLst>
          </p:cNvPr>
          <p:cNvGrpSpPr/>
          <p:nvPr/>
        </p:nvGrpSpPr>
        <p:grpSpPr>
          <a:xfrm>
            <a:off x="3305969" y="1178975"/>
            <a:ext cx="5220382" cy="5490060"/>
            <a:chOff x="3221661" y="1178975"/>
            <a:chExt cx="5220382" cy="5490060"/>
          </a:xfrm>
        </p:grpSpPr>
        <p:sp>
          <p:nvSpPr>
            <p:cNvPr id="7" name="角丸四角形 3">
              <a:extLst>
                <a:ext uri="{FF2B5EF4-FFF2-40B4-BE49-F238E27FC236}">
                  <a16:creationId xmlns:a16="http://schemas.microsoft.com/office/drawing/2014/main" id="{40B1D606-F056-F5DF-AF39-EE9FB09AF2B7}"/>
                </a:ext>
              </a:extLst>
            </p:cNvPr>
            <p:cNvSpPr/>
            <p:nvPr/>
          </p:nvSpPr>
          <p:spPr bwMode="auto">
            <a:xfrm>
              <a:off x="3221661" y="2348989"/>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b="1" dirty="0">
                  <a:solidFill>
                    <a:schemeClr val="bg1"/>
                  </a:solidFill>
                </a:rPr>
                <a:t>システム・ソフトウェア</a:t>
              </a:r>
              <a:endParaRPr lang="en-US" altLang="ja-JP" sz="1600" b="1" dirty="0">
                <a:solidFill>
                  <a:schemeClr val="bg1"/>
                </a:solidFill>
              </a:endParaRPr>
            </a:p>
            <a:p>
              <a:pPr algn="ctr"/>
              <a:r>
                <a:rPr lang="en-US" altLang="ja-JP" sz="1600" b="1" dirty="0">
                  <a:solidFill>
                    <a:schemeClr val="bg1"/>
                  </a:solidFill>
                </a:rPr>
                <a:t>OS / </a:t>
              </a:r>
              <a:r>
                <a:rPr lang="ja-JP" altLang="en-US" sz="1600" b="1" dirty="0">
                  <a:solidFill>
                    <a:schemeClr val="bg1"/>
                  </a:solidFill>
                </a:rPr>
                <a:t>コンパイラ </a:t>
              </a:r>
              <a:r>
                <a:rPr lang="en-US" altLang="ja-JP" sz="1600" b="1" dirty="0">
                  <a:solidFill>
                    <a:schemeClr val="bg1"/>
                  </a:solidFill>
                </a:rPr>
                <a:t>/ </a:t>
              </a:r>
              <a:r>
                <a:rPr lang="ja-JP" altLang="en-US" sz="1600" b="1" dirty="0">
                  <a:solidFill>
                    <a:schemeClr val="bg1"/>
                  </a:solidFill>
                </a:rPr>
                <a:t>インタプリタ</a:t>
              </a:r>
            </a:p>
          </p:txBody>
        </p:sp>
        <p:sp>
          <p:nvSpPr>
            <p:cNvPr id="8" name="角丸四角形 4">
              <a:extLst>
                <a:ext uri="{FF2B5EF4-FFF2-40B4-BE49-F238E27FC236}">
                  <a16:creationId xmlns:a16="http://schemas.microsoft.com/office/drawing/2014/main" id="{4243BD23-B803-CB56-7164-0B72A08C0632}"/>
                </a:ext>
              </a:extLst>
            </p:cNvPr>
            <p:cNvSpPr/>
            <p:nvPr/>
          </p:nvSpPr>
          <p:spPr bwMode="auto">
            <a:xfrm>
              <a:off x="3221985" y="3519001"/>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b="1" dirty="0">
                  <a:solidFill>
                    <a:schemeClr val="bg1"/>
                  </a:solidFill>
                </a:rPr>
                <a:t>（狭義の）コンピュータ・アーキテクチャ</a:t>
              </a:r>
            </a:p>
          </p:txBody>
        </p:sp>
        <p:sp>
          <p:nvSpPr>
            <p:cNvPr id="9" name="角丸四角形 5">
              <a:extLst>
                <a:ext uri="{FF2B5EF4-FFF2-40B4-BE49-F238E27FC236}">
                  <a16:creationId xmlns:a16="http://schemas.microsoft.com/office/drawing/2014/main" id="{D7BECF04-3680-85A1-8E0A-843038DD117B}"/>
                </a:ext>
              </a:extLst>
            </p:cNvPr>
            <p:cNvSpPr/>
            <p:nvPr/>
          </p:nvSpPr>
          <p:spPr bwMode="auto">
            <a:xfrm>
              <a:off x="3221985" y="1178975"/>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16" name="角丸四角形 6">
              <a:extLst>
                <a:ext uri="{FF2B5EF4-FFF2-40B4-BE49-F238E27FC236}">
                  <a16:creationId xmlns:a16="http://schemas.microsoft.com/office/drawing/2014/main" id="{ABE0C42B-2504-84C1-E4DE-788FF6D374D3}"/>
                </a:ext>
              </a:extLst>
            </p:cNvPr>
            <p:cNvSpPr/>
            <p:nvPr/>
          </p:nvSpPr>
          <p:spPr bwMode="auto">
            <a:xfrm>
              <a:off x="3221985" y="4689013"/>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b="1" dirty="0">
                  <a:solidFill>
                    <a:schemeClr val="bg1"/>
                  </a:solidFill>
                </a:rPr>
                <a:t>論理回路</a:t>
              </a:r>
            </a:p>
          </p:txBody>
        </p:sp>
        <p:sp>
          <p:nvSpPr>
            <p:cNvPr id="17" name="角丸四角形 7">
              <a:extLst>
                <a:ext uri="{FF2B5EF4-FFF2-40B4-BE49-F238E27FC236}">
                  <a16:creationId xmlns:a16="http://schemas.microsoft.com/office/drawing/2014/main" id="{F950EB95-BED1-0EF8-E70F-D6807BF5331F}"/>
                </a:ext>
              </a:extLst>
            </p:cNvPr>
            <p:cNvSpPr/>
            <p:nvPr/>
          </p:nvSpPr>
          <p:spPr bwMode="auto">
            <a:xfrm>
              <a:off x="3221985" y="5769025"/>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半導体デバイス</a:t>
              </a:r>
            </a:p>
          </p:txBody>
        </p:sp>
      </p:grpSp>
      <p:sp>
        <p:nvSpPr>
          <p:cNvPr id="18" name="下矢印 2">
            <a:extLst>
              <a:ext uri="{FF2B5EF4-FFF2-40B4-BE49-F238E27FC236}">
                <a16:creationId xmlns:a16="http://schemas.microsoft.com/office/drawing/2014/main" id="{88642CDB-03C0-DC0F-295C-1257D19E0D45}"/>
              </a:ext>
            </a:extLst>
          </p:cNvPr>
          <p:cNvSpPr/>
          <p:nvPr/>
        </p:nvSpPr>
        <p:spPr bwMode="auto">
          <a:xfrm>
            <a:off x="5375995" y="4239009"/>
            <a:ext cx="990011" cy="2340026"/>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6122848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b="1" dirty="0"/>
              <a:t>論理回路の復習</a:t>
            </a:r>
          </a:p>
        </p:txBody>
      </p:sp>
    </p:spTree>
    <p:extLst>
      <p:ext uri="{BB962C8B-B14F-4D97-AF65-F5344CB8AC3E}">
        <p14:creationId xmlns:p14="http://schemas.microsoft.com/office/powerpoint/2010/main" val="800829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組み合わせ回路と順序回路</a:t>
            </a:r>
          </a:p>
        </p:txBody>
      </p:sp>
      <p:sp>
        <p:nvSpPr>
          <p:cNvPr id="5" name="テキスト プレースホルダー 4"/>
          <p:cNvSpPr>
            <a:spLocks noGrp="1"/>
          </p:cNvSpPr>
          <p:nvPr>
            <p:ph type="body" sz="quarter" idx="10"/>
          </p:nvPr>
        </p:nvSpPr>
        <p:spPr/>
        <p:txBody>
          <a:bodyPr/>
          <a:lstStyle/>
          <a:p>
            <a:pPr marL="457200" indent="-457200">
              <a:buFont typeface="+mj-lt"/>
              <a:buAutoNum type="arabicPeriod"/>
            </a:pPr>
            <a:r>
              <a:rPr kumimoji="1" lang="ja-JP" altLang="en-US" dirty="0"/>
              <a:t>組み合わせ回路</a:t>
            </a:r>
            <a:endParaRPr kumimoji="1" lang="en-US" altLang="ja-JP" dirty="0"/>
          </a:p>
          <a:p>
            <a:pPr lvl="1"/>
            <a:r>
              <a:rPr lang="ja-JP" altLang="en-US" dirty="0"/>
              <a:t>出力が，現在の入力のみにより決定される論理回路</a:t>
            </a:r>
            <a:endParaRPr lang="en-US" altLang="ja-JP" dirty="0"/>
          </a:p>
          <a:p>
            <a:pPr marL="457200" indent="-457200">
              <a:buFont typeface="+mj-lt"/>
              <a:buAutoNum type="arabicPeriod"/>
            </a:pPr>
            <a:r>
              <a:rPr kumimoji="1" lang="ja-JP" altLang="en-US" dirty="0"/>
              <a:t>順序回路</a:t>
            </a:r>
            <a:endParaRPr kumimoji="1" lang="en-US" altLang="ja-JP" dirty="0"/>
          </a:p>
          <a:p>
            <a:pPr lvl="1"/>
            <a:r>
              <a:rPr kumimoji="1" lang="ja-JP" altLang="en-US" dirty="0"/>
              <a:t>出力が，過去の入力（の履歴）にも依存する</a:t>
            </a:r>
            <a:r>
              <a:rPr lang="ja-JP" altLang="en-US" dirty="0"/>
              <a:t>論理回路</a:t>
            </a:r>
            <a:endParaRPr kumimoji="1" lang="ja-JP" altLang="en-US" dirty="0"/>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43</a:t>
            </a:fld>
            <a:endParaRPr kumimoji="1" lang="ja-JP" altLang="en-US"/>
          </a:p>
        </p:txBody>
      </p:sp>
    </p:spTree>
    <p:extLst>
      <p:ext uri="{BB962C8B-B14F-4D97-AF65-F5344CB8AC3E}">
        <p14:creationId xmlns:p14="http://schemas.microsoft.com/office/powerpoint/2010/main" val="1090795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組み合わせ回路の例：</a:t>
            </a:r>
            <a:r>
              <a:rPr kumimoji="1" lang="en-US" altLang="ja-JP" dirty="0"/>
              <a:t>2</a:t>
            </a:r>
            <a:r>
              <a:rPr kumimoji="1" lang="ja-JP" altLang="en-US" dirty="0"/>
              <a:t>入力論理ゲート</a:t>
            </a:r>
          </a:p>
        </p:txBody>
      </p:sp>
      <p:sp>
        <p:nvSpPr>
          <p:cNvPr id="4" name="Line 17"/>
          <p:cNvSpPr>
            <a:spLocks noChangeShapeType="1"/>
          </p:cNvSpPr>
          <p:nvPr/>
        </p:nvSpPr>
        <p:spPr bwMode="auto">
          <a:xfrm>
            <a:off x="8258178" y="2708275"/>
            <a:ext cx="143986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graphicFrame>
        <p:nvGraphicFramePr>
          <p:cNvPr id="5" name="Group 383"/>
          <p:cNvGraphicFramePr>
            <a:graphicFrameLocks/>
          </p:cNvGraphicFramePr>
          <p:nvPr/>
        </p:nvGraphicFramePr>
        <p:xfrm>
          <a:off x="3935712" y="4417718"/>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 name="Group 393"/>
          <p:cNvGraphicFramePr>
            <a:graphicFrameLocks/>
          </p:cNvGraphicFramePr>
          <p:nvPr/>
        </p:nvGraphicFramePr>
        <p:xfrm>
          <a:off x="8526324" y="5319252"/>
          <a:ext cx="900112" cy="1170156"/>
        </p:xfrm>
        <a:graphic>
          <a:graphicData uri="http://schemas.openxmlformats.org/drawingml/2006/table">
            <a:tbl>
              <a:tblPr/>
              <a:tblGrid>
                <a:gridCol w="450850">
                  <a:extLst>
                    <a:ext uri="{9D8B030D-6E8A-4147-A177-3AD203B41FA5}">
                      <a16:colId xmlns:a16="http://schemas.microsoft.com/office/drawing/2014/main" val="20000"/>
                    </a:ext>
                  </a:extLst>
                </a:gridCol>
                <a:gridCol w="449262">
                  <a:extLst>
                    <a:ext uri="{9D8B030D-6E8A-4147-A177-3AD203B41FA5}">
                      <a16:colId xmlns:a16="http://schemas.microsoft.com/office/drawing/2014/main" val="20001"/>
                    </a:ext>
                  </a:extLst>
                </a:gridCol>
              </a:tblGrid>
              <a:tr h="390052">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0052">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390052">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 name="Line 9"/>
          <p:cNvSpPr>
            <a:spLocks noChangeShapeType="1"/>
          </p:cNvSpPr>
          <p:nvPr/>
        </p:nvSpPr>
        <p:spPr bwMode="auto">
          <a:xfrm>
            <a:off x="3935413" y="2528888"/>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8" name="Line 10"/>
          <p:cNvSpPr>
            <a:spLocks noChangeShapeType="1"/>
          </p:cNvSpPr>
          <p:nvPr/>
        </p:nvSpPr>
        <p:spPr bwMode="auto">
          <a:xfrm>
            <a:off x="3935413" y="2889250"/>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9" name="Line 11"/>
          <p:cNvSpPr>
            <a:spLocks noChangeShapeType="1"/>
          </p:cNvSpPr>
          <p:nvPr/>
        </p:nvSpPr>
        <p:spPr bwMode="auto">
          <a:xfrm>
            <a:off x="4926013" y="2708275"/>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0" name="Line 12"/>
          <p:cNvSpPr>
            <a:spLocks noChangeShapeType="1"/>
          </p:cNvSpPr>
          <p:nvPr/>
        </p:nvSpPr>
        <p:spPr bwMode="auto">
          <a:xfrm>
            <a:off x="6096000" y="2530475"/>
            <a:ext cx="63023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1" name="Line 13"/>
          <p:cNvSpPr>
            <a:spLocks noChangeShapeType="1"/>
          </p:cNvSpPr>
          <p:nvPr/>
        </p:nvSpPr>
        <p:spPr bwMode="auto">
          <a:xfrm>
            <a:off x="6096000" y="2890838"/>
            <a:ext cx="63023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2" name="Line 14"/>
          <p:cNvSpPr>
            <a:spLocks noChangeShapeType="1"/>
          </p:cNvSpPr>
          <p:nvPr/>
        </p:nvSpPr>
        <p:spPr bwMode="auto">
          <a:xfrm flipV="1">
            <a:off x="7177091" y="2708275"/>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3" name="Rectangle 18"/>
          <p:cNvSpPr>
            <a:spLocks noChangeArrowheads="1"/>
          </p:cNvSpPr>
          <p:nvPr/>
        </p:nvSpPr>
        <p:spPr bwMode="auto">
          <a:xfrm>
            <a:off x="3575053" y="2349503"/>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14" name="Rectangle 20"/>
          <p:cNvSpPr>
            <a:spLocks noChangeArrowheads="1"/>
          </p:cNvSpPr>
          <p:nvPr/>
        </p:nvSpPr>
        <p:spPr bwMode="auto">
          <a:xfrm>
            <a:off x="3575053" y="2708278"/>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15" name="Rectangle 21"/>
          <p:cNvSpPr>
            <a:spLocks noChangeArrowheads="1"/>
          </p:cNvSpPr>
          <p:nvPr/>
        </p:nvSpPr>
        <p:spPr bwMode="auto">
          <a:xfrm>
            <a:off x="5375278" y="2528888"/>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sp>
        <p:nvSpPr>
          <p:cNvPr id="16" name="Rectangle 22"/>
          <p:cNvSpPr>
            <a:spLocks noChangeArrowheads="1"/>
          </p:cNvSpPr>
          <p:nvPr/>
        </p:nvSpPr>
        <p:spPr bwMode="auto">
          <a:xfrm>
            <a:off x="5735638" y="2349503"/>
            <a:ext cx="361950"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17" name="Rectangle 23"/>
          <p:cNvSpPr>
            <a:spLocks noChangeArrowheads="1"/>
          </p:cNvSpPr>
          <p:nvPr/>
        </p:nvSpPr>
        <p:spPr bwMode="auto">
          <a:xfrm>
            <a:off x="5735638" y="2709863"/>
            <a:ext cx="361950"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sp>
        <p:nvSpPr>
          <p:cNvPr id="18" name="Rectangle 24"/>
          <p:cNvSpPr>
            <a:spLocks noChangeArrowheads="1"/>
          </p:cNvSpPr>
          <p:nvPr/>
        </p:nvSpPr>
        <p:spPr bwMode="auto">
          <a:xfrm>
            <a:off x="7535863" y="2528888"/>
            <a:ext cx="360362"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sp>
        <p:nvSpPr>
          <p:cNvPr id="19" name="Rectangle 25"/>
          <p:cNvSpPr>
            <a:spLocks noChangeArrowheads="1"/>
          </p:cNvSpPr>
          <p:nvPr/>
        </p:nvSpPr>
        <p:spPr bwMode="auto">
          <a:xfrm>
            <a:off x="7896228" y="2528888"/>
            <a:ext cx="360363"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20" name="Rectangle 27"/>
          <p:cNvSpPr>
            <a:spLocks noChangeArrowheads="1"/>
          </p:cNvSpPr>
          <p:nvPr/>
        </p:nvSpPr>
        <p:spPr bwMode="auto">
          <a:xfrm>
            <a:off x="9698038" y="2528888"/>
            <a:ext cx="360362" cy="360362"/>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z</a:t>
            </a:r>
          </a:p>
        </p:txBody>
      </p:sp>
      <p:pic>
        <p:nvPicPr>
          <p:cNvPr id="21" name="Picture 7" descr="OR"/>
          <p:cNvPicPr>
            <a:picLocks noChangeAspect="1" noChangeArrowheads="1"/>
          </p:cNvPicPr>
          <p:nvPr/>
        </p:nvPicPr>
        <p:blipFill>
          <a:blip r:embed="rId2" cstate="print"/>
          <a:srcRect/>
          <a:stretch>
            <a:fillRect/>
          </a:stretch>
        </p:blipFill>
        <p:spPr bwMode="auto">
          <a:xfrm>
            <a:off x="6365875" y="2349500"/>
            <a:ext cx="1079500" cy="717550"/>
          </a:xfrm>
          <a:prstGeom prst="rect">
            <a:avLst/>
          </a:prstGeom>
          <a:noFill/>
        </p:spPr>
      </p:pic>
      <p:pic>
        <p:nvPicPr>
          <p:cNvPr id="22" name="Picture 28" descr="NOT"/>
          <p:cNvPicPr>
            <a:picLocks noChangeAspect="1" noChangeArrowheads="1"/>
          </p:cNvPicPr>
          <p:nvPr/>
        </p:nvPicPr>
        <p:blipFill>
          <a:blip r:embed="rId3" cstate="print"/>
          <a:srcRect/>
          <a:stretch>
            <a:fillRect/>
          </a:stretch>
        </p:blipFill>
        <p:spPr bwMode="auto">
          <a:xfrm>
            <a:off x="8616950" y="2347916"/>
            <a:ext cx="717550" cy="720725"/>
          </a:xfrm>
          <a:prstGeom prst="rect">
            <a:avLst/>
          </a:prstGeom>
          <a:noFill/>
        </p:spPr>
      </p:pic>
      <p:sp>
        <p:nvSpPr>
          <p:cNvPr id="23" name="Rectangle 141"/>
          <p:cNvSpPr>
            <a:spLocks noChangeArrowheads="1"/>
          </p:cNvSpPr>
          <p:nvPr/>
        </p:nvSpPr>
        <p:spPr bwMode="auto">
          <a:xfrm>
            <a:off x="3575050" y="3609975"/>
            <a:ext cx="2160588"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err="1">
                <a:ea typeface="MeiryoKe_PGothic" pitchFamily="50" charset="-128"/>
              </a:rPr>
              <a:t>a</a:t>
            </a:r>
            <a:r>
              <a:rPr lang="en-US" altLang="ja-JP" sz="2400" dirty="0" err="1">
                <a:ea typeface="MeiryoKe_PGothic" pitchFamily="50" charset="-128"/>
                <a:cs typeface="Times New Roman" pitchFamily="18" charset="0"/>
              </a:rPr>
              <a:t>∙</a:t>
            </a:r>
            <a:r>
              <a:rPr lang="en-US" altLang="ja-JP" sz="2400" i="1" dirty="0" err="1">
                <a:ea typeface="MeiryoKe_PGothic" pitchFamily="50" charset="-128"/>
              </a:rPr>
              <a:t>b</a:t>
            </a:r>
            <a:endParaRPr lang="en-US" altLang="ja-JP" sz="2400" i="1" dirty="0">
              <a:ea typeface="MeiryoKe_PGothic" pitchFamily="50" charset="-128"/>
            </a:endParaRPr>
          </a:p>
        </p:txBody>
      </p:sp>
      <p:sp>
        <p:nvSpPr>
          <p:cNvPr id="24" name="Rectangle 143"/>
          <p:cNvSpPr>
            <a:spLocks noChangeArrowheads="1"/>
          </p:cNvSpPr>
          <p:nvPr/>
        </p:nvSpPr>
        <p:spPr bwMode="auto">
          <a:xfrm>
            <a:off x="7976897" y="3609975"/>
            <a:ext cx="2070100"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a:ea typeface="MeiryoKe_PGothic" pitchFamily="50" charset="-128"/>
              </a:rPr>
              <a:t>a’</a:t>
            </a:r>
          </a:p>
        </p:txBody>
      </p:sp>
      <p:sp>
        <p:nvSpPr>
          <p:cNvPr id="25" name="Rectangle 144"/>
          <p:cNvSpPr>
            <a:spLocks noChangeArrowheads="1"/>
          </p:cNvSpPr>
          <p:nvPr/>
        </p:nvSpPr>
        <p:spPr bwMode="auto">
          <a:xfrm>
            <a:off x="7896225" y="4062416"/>
            <a:ext cx="2160588"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a:ea typeface="MeiryoKe_PGothic" pitchFamily="50" charset="-128"/>
              </a:rPr>
              <a:t>a</a:t>
            </a:r>
          </a:p>
        </p:txBody>
      </p:sp>
      <p:sp>
        <p:nvSpPr>
          <p:cNvPr id="26" name="Rectangle 145"/>
          <p:cNvSpPr>
            <a:spLocks noChangeArrowheads="1"/>
          </p:cNvSpPr>
          <p:nvPr/>
        </p:nvSpPr>
        <p:spPr bwMode="auto">
          <a:xfrm>
            <a:off x="4297366" y="1270003"/>
            <a:ext cx="719137" cy="360363"/>
          </a:xfrm>
          <a:prstGeom prst="rect">
            <a:avLst/>
          </a:prstGeom>
          <a:noFill/>
          <a:ln w="28575">
            <a:noFill/>
            <a:miter lim="800000"/>
            <a:headEnd/>
            <a:tailEnd/>
          </a:ln>
          <a:effectLst/>
        </p:spPr>
        <p:txBody>
          <a:bodyPr wrap="none" anchor="ctr"/>
          <a:lstStyle/>
          <a:p>
            <a:pPr algn="ctr"/>
            <a:r>
              <a:rPr lang="en-US" altLang="ja-JP" sz="2400" u="sng" dirty="0">
                <a:ea typeface="MeiryoKe_PGothic" pitchFamily="50" charset="-128"/>
              </a:rPr>
              <a:t>AND</a:t>
            </a:r>
          </a:p>
        </p:txBody>
      </p:sp>
      <p:sp>
        <p:nvSpPr>
          <p:cNvPr id="27" name="Rectangle 146"/>
          <p:cNvSpPr>
            <a:spLocks noChangeArrowheads="1"/>
          </p:cNvSpPr>
          <p:nvPr/>
        </p:nvSpPr>
        <p:spPr bwMode="auto">
          <a:xfrm>
            <a:off x="6456366" y="1270003"/>
            <a:ext cx="719137" cy="360363"/>
          </a:xfrm>
          <a:prstGeom prst="rect">
            <a:avLst/>
          </a:prstGeom>
          <a:noFill/>
          <a:ln w="28575">
            <a:noFill/>
            <a:miter lim="800000"/>
            <a:headEnd/>
            <a:tailEnd/>
          </a:ln>
          <a:effectLst/>
        </p:spPr>
        <p:txBody>
          <a:bodyPr wrap="none" anchor="ctr"/>
          <a:lstStyle/>
          <a:p>
            <a:pPr algn="ctr"/>
            <a:r>
              <a:rPr lang="en-US" altLang="ja-JP" sz="2400" u="sng" dirty="0">
                <a:ea typeface="MeiryoKe_PGothic" pitchFamily="50" charset="-128"/>
              </a:rPr>
              <a:t>OR</a:t>
            </a:r>
          </a:p>
        </p:txBody>
      </p:sp>
      <p:sp>
        <p:nvSpPr>
          <p:cNvPr id="28" name="Rectangle 147"/>
          <p:cNvSpPr>
            <a:spLocks noChangeArrowheads="1"/>
          </p:cNvSpPr>
          <p:nvPr/>
        </p:nvSpPr>
        <p:spPr bwMode="auto">
          <a:xfrm>
            <a:off x="8616950" y="1268413"/>
            <a:ext cx="719138" cy="360362"/>
          </a:xfrm>
          <a:prstGeom prst="rect">
            <a:avLst/>
          </a:prstGeom>
          <a:noFill/>
          <a:ln w="28575">
            <a:noFill/>
            <a:miter lim="800000"/>
            <a:headEnd/>
            <a:tailEnd/>
          </a:ln>
          <a:effectLst/>
        </p:spPr>
        <p:txBody>
          <a:bodyPr wrap="none" anchor="ctr"/>
          <a:lstStyle/>
          <a:p>
            <a:pPr algn="ctr"/>
            <a:r>
              <a:rPr lang="en-US" altLang="ja-JP" sz="2400" u="sng" dirty="0">
                <a:ea typeface="MeiryoKe_PGothic" pitchFamily="50" charset="-128"/>
              </a:rPr>
              <a:t>NOT</a:t>
            </a:r>
          </a:p>
        </p:txBody>
      </p:sp>
      <p:sp>
        <p:nvSpPr>
          <p:cNvPr id="29" name="Rectangle 149"/>
          <p:cNvSpPr>
            <a:spLocks noChangeArrowheads="1"/>
          </p:cNvSpPr>
          <p:nvPr/>
        </p:nvSpPr>
        <p:spPr bwMode="auto">
          <a:xfrm>
            <a:off x="1774825" y="2349500"/>
            <a:ext cx="1441450" cy="719138"/>
          </a:xfrm>
          <a:prstGeom prst="rect">
            <a:avLst/>
          </a:prstGeom>
          <a:noFill/>
          <a:ln w="28575">
            <a:noFill/>
            <a:miter lim="800000"/>
            <a:headEnd/>
            <a:tailEnd/>
          </a:ln>
          <a:effectLst/>
        </p:spPr>
        <p:txBody>
          <a:bodyPr wrap="none" anchor="ctr"/>
          <a:lstStyle/>
          <a:p>
            <a:pPr algn="ctr"/>
            <a:r>
              <a:rPr lang="en-US" altLang="ja-JP" dirty="0">
                <a:latin typeface="メイリオ" pitchFamily="50" charset="-128"/>
                <a:ea typeface="メイリオ" pitchFamily="50" charset="-128"/>
              </a:rPr>
              <a:t>MIL</a:t>
            </a:r>
            <a:r>
              <a:rPr lang="ja-JP" altLang="en-US" dirty="0">
                <a:latin typeface="メイリオ" pitchFamily="50" charset="-128"/>
                <a:ea typeface="メイリオ" pitchFamily="50" charset="-128"/>
              </a:rPr>
              <a:t>記号</a:t>
            </a:r>
          </a:p>
          <a:p>
            <a:pPr algn="ctr"/>
            <a:r>
              <a:rPr lang="en-US" altLang="ja-JP" dirty="0">
                <a:ea typeface="MeiryoKe_PGothic" pitchFamily="50" charset="-128"/>
              </a:rPr>
              <a:t>MIL symbol</a:t>
            </a:r>
          </a:p>
        </p:txBody>
      </p:sp>
      <p:sp>
        <p:nvSpPr>
          <p:cNvPr id="30" name="Rectangle 150"/>
          <p:cNvSpPr>
            <a:spLocks noChangeArrowheads="1"/>
          </p:cNvSpPr>
          <p:nvPr/>
        </p:nvSpPr>
        <p:spPr bwMode="auto">
          <a:xfrm>
            <a:off x="1774825" y="3519491"/>
            <a:ext cx="1441450" cy="720725"/>
          </a:xfrm>
          <a:prstGeom prst="rect">
            <a:avLst/>
          </a:prstGeom>
          <a:noFill/>
          <a:ln w="28575">
            <a:noFill/>
            <a:miter lim="800000"/>
            <a:headEnd/>
            <a:tailEnd/>
          </a:ln>
          <a:effectLst/>
        </p:spPr>
        <p:txBody>
          <a:bodyPr wrap="none" anchor="ctr"/>
          <a:lstStyle/>
          <a:p>
            <a:pPr algn="ctr"/>
            <a:r>
              <a:rPr lang="ja-JP" altLang="en-US" dirty="0">
                <a:latin typeface="メイリオ" pitchFamily="50" charset="-128"/>
                <a:ea typeface="メイリオ" pitchFamily="50" charset="-128"/>
              </a:rPr>
              <a:t>論理式</a:t>
            </a:r>
          </a:p>
          <a:p>
            <a:pPr algn="ctr"/>
            <a:r>
              <a:rPr lang="en-US" altLang="ja-JP" dirty="0">
                <a:ea typeface="MeiryoKe_PGothic" pitchFamily="50" charset="-128"/>
              </a:rPr>
              <a:t>logic expression</a:t>
            </a:r>
          </a:p>
        </p:txBody>
      </p:sp>
      <p:sp>
        <p:nvSpPr>
          <p:cNvPr id="31" name="Rectangle 151"/>
          <p:cNvSpPr>
            <a:spLocks noChangeArrowheads="1"/>
          </p:cNvSpPr>
          <p:nvPr/>
        </p:nvSpPr>
        <p:spPr bwMode="auto">
          <a:xfrm>
            <a:off x="1774825" y="5138741"/>
            <a:ext cx="1441450" cy="719137"/>
          </a:xfrm>
          <a:prstGeom prst="rect">
            <a:avLst/>
          </a:prstGeom>
          <a:noFill/>
          <a:ln w="28575">
            <a:noFill/>
            <a:miter lim="800000"/>
            <a:headEnd/>
            <a:tailEnd/>
          </a:ln>
          <a:effectLst/>
        </p:spPr>
        <p:txBody>
          <a:bodyPr wrap="none" anchor="ctr"/>
          <a:lstStyle/>
          <a:p>
            <a:pPr algn="ctr"/>
            <a:r>
              <a:rPr lang="ja-JP" altLang="en-US" dirty="0">
                <a:latin typeface="メイリオ" pitchFamily="50" charset="-128"/>
                <a:ea typeface="メイリオ" pitchFamily="50" charset="-128"/>
              </a:rPr>
              <a:t>真理値表</a:t>
            </a:r>
          </a:p>
          <a:p>
            <a:pPr algn="ctr"/>
            <a:r>
              <a:rPr lang="en-US" altLang="ja-JP" dirty="0">
                <a:ea typeface="MeiryoKe_PGothic" pitchFamily="50" charset="-128"/>
              </a:rPr>
              <a:t>truth table</a:t>
            </a:r>
          </a:p>
        </p:txBody>
      </p:sp>
      <p:sp>
        <p:nvSpPr>
          <p:cNvPr id="32" name="Line 152"/>
          <p:cNvSpPr>
            <a:spLocks noChangeShapeType="1"/>
          </p:cNvSpPr>
          <p:nvPr/>
        </p:nvSpPr>
        <p:spPr bwMode="auto">
          <a:xfrm>
            <a:off x="9156700" y="4241803"/>
            <a:ext cx="179388" cy="0"/>
          </a:xfrm>
          <a:prstGeom prst="line">
            <a:avLst/>
          </a:prstGeom>
          <a:noFill/>
          <a:ln w="12700">
            <a:solidFill>
              <a:schemeClr val="tx1"/>
            </a:solidFill>
            <a:round/>
            <a:headEnd/>
            <a:tailEnd/>
          </a:ln>
          <a:effectLst/>
        </p:spPr>
        <p:txBody>
          <a:bodyPr/>
          <a:lstStyle/>
          <a:p>
            <a:endParaRPr lang="ja-JP" altLang="en-US" dirty="0">
              <a:ea typeface="MeiryoKe_PGothic" pitchFamily="50" charset="-128"/>
            </a:endParaRPr>
          </a:p>
        </p:txBody>
      </p:sp>
      <p:pic>
        <p:nvPicPr>
          <p:cNvPr id="33" name="Picture 6" descr="AND"/>
          <p:cNvPicPr>
            <a:picLocks noChangeAspect="1" noChangeArrowheads="1"/>
          </p:cNvPicPr>
          <p:nvPr/>
        </p:nvPicPr>
        <p:blipFill>
          <a:blip r:embed="rId4" cstate="print"/>
          <a:srcRect/>
          <a:stretch>
            <a:fillRect/>
          </a:stretch>
        </p:blipFill>
        <p:spPr bwMode="auto">
          <a:xfrm>
            <a:off x="4205288" y="2349503"/>
            <a:ext cx="1079500" cy="720725"/>
          </a:xfrm>
          <a:prstGeom prst="rect">
            <a:avLst/>
          </a:prstGeom>
          <a:noFill/>
        </p:spPr>
      </p:pic>
      <p:sp>
        <p:nvSpPr>
          <p:cNvPr id="34" name="Rectangle 153"/>
          <p:cNvSpPr>
            <a:spLocks noChangeArrowheads="1"/>
          </p:cNvSpPr>
          <p:nvPr/>
        </p:nvSpPr>
        <p:spPr bwMode="auto">
          <a:xfrm>
            <a:off x="4295775" y="1719263"/>
            <a:ext cx="719138" cy="360362"/>
          </a:xfrm>
          <a:prstGeom prst="rect">
            <a:avLst/>
          </a:prstGeom>
          <a:noFill/>
          <a:ln w="28575">
            <a:noFill/>
            <a:miter lim="800000"/>
            <a:headEnd/>
            <a:tailEnd/>
          </a:ln>
          <a:effectLst/>
        </p:spPr>
        <p:txBody>
          <a:bodyPr wrap="none" anchor="ctr"/>
          <a:lstStyle/>
          <a:p>
            <a:pPr algn="ctr"/>
            <a:r>
              <a:rPr lang="ja-JP" altLang="en-US" sz="2400" dirty="0">
                <a:ea typeface="MeiryoKe_PGothic" pitchFamily="50" charset="-128"/>
              </a:rPr>
              <a:t>（論理積）</a:t>
            </a:r>
          </a:p>
        </p:txBody>
      </p:sp>
      <p:sp>
        <p:nvSpPr>
          <p:cNvPr id="35" name="Rectangle 154"/>
          <p:cNvSpPr>
            <a:spLocks noChangeArrowheads="1"/>
          </p:cNvSpPr>
          <p:nvPr/>
        </p:nvSpPr>
        <p:spPr bwMode="auto">
          <a:xfrm>
            <a:off x="6454775" y="1719263"/>
            <a:ext cx="719138" cy="360362"/>
          </a:xfrm>
          <a:prstGeom prst="rect">
            <a:avLst/>
          </a:prstGeom>
          <a:noFill/>
          <a:ln w="28575">
            <a:noFill/>
            <a:miter lim="800000"/>
            <a:headEnd/>
            <a:tailEnd/>
          </a:ln>
          <a:effectLst/>
        </p:spPr>
        <p:txBody>
          <a:bodyPr wrap="none" anchor="ctr"/>
          <a:lstStyle/>
          <a:p>
            <a:pPr algn="ctr"/>
            <a:r>
              <a:rPr lang="ja-JP" altLang="en-US" sz="2400" dirty="0">
                <a:ea typeface="MeiryoKe_PGothic" pitchFamily="50" charset="-128"/>
              </a:rPr>
              <a:t>（論理和）</a:t>
            </a:r>
          </a:p>
        </p:txBody>
      </p:sp>
      <p:sp>
        <p:nvSpPr>
          <p:cNvPr id="36" name="Rectangle 155"/>
          <p:cNvSpPr>
            <a:spLocks noChangeArrowheads="1"/>
          </p:cNvSpPr>
          <p:nvPr/>
        </p:nvSpPr>
        <p:spPr bwMode="auto">
          <a:xfrm>
            <a:off x="8615366" y="1717678"/>
            <a:ext cx="719137" cy="360363"/>
          </a:xfrm>
          <a:prstGeom prst="rect">
            <a:avLst/>
          </a:prstGeom>
          <a:noFill/>
          <a:ln w="28575">
            <a:noFill/>
            <a:miter lim="800000"/>
            <a:headEnd/>
            <a:tailEnd/>
          </a:ln>
          <a:effectLst/>
        </p:spPr>
        <p:txBody>
          <a:bodyPr wrap="none" anchor="ctr"/>
          <a:lstStyle/>
          <a:p>
            <a:pPr algn="ctr"/>
            <a:r>
              <a:rPr lang="ja-JP" altLang="en-US" sz="2400" dirty="0">
                <a:ea typeface="MeiryoKe_PGothic" pitchFamily="50" charset="-128"/>
              </a:rPr>
              <a:t>（論理否定）</a:t>
            </a:r>
          </a:p>
        </p:txBody>
      </p:sp>
      <p:sp>
        <p:nvSpPr>
          <p:cNvPr id="37" name="Rectangle 156"/>
          <p:cNvSpPr>
            <a:spLocks noChangeArrowheads="1"/>
          </p:cNvSpPr>
          <p:nvPr/>
        </p:nvSpPr>
        <p:spPr bwMode="auto">
          <a:xfrm>
            <a:off x="7896225" y="4514856"/>
            <a:ext cx="2160588"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dirty="0">
                <a:ea typeface="MeiryoKe_PGothic" pitchFamily="50" charset="-128"/>
                <a:cs typeface="Times New Roman" pitchFamily="18" charset="0"/>
              </a:rPr>
              <a:t>¬ </a:t>
            </a:r>
            <a:r>
              <a:rPr lang="en-US" altLang="ja-JP" sz="2400" i="1" dirty="0">
                <a:ea typeface="MeiryoKe_PGothic" pitchFamily="50" charset="-128"/>
              </a:rPr>
              <a:t>a</a:t>
            </a:r>
          </a:p>
        </p:txBody>
      </p:sp>
      <p:graphicFrame>
        <p:nvGraphicFramePr>
          <p:cNvPr id="38" name="Group 278"/>
          <p:cNvGraphicFramePr>
            <a:graphicFrameLocks noGrp="1"/>
          </p:cNvGraphicFramePr>
          <p:nvPr/>
        </p:nvGraphicFramePr>
        <p:xfrm>
          <a:off x="6096003" y="4386288"/>
          <a:ext cx="1439863" cy="2103120"/>
        </p:xfrm>
        <a:graphic>
          <a:graphicData uri="http://schemas.openxmlformats.org/drawingml/2006/table">
            <a:tbl>
              <a:tblPr/>
              <a:tblGrid>
                <a:gridCol w="479425">
                  <a:extLst>
                    <a:ext uri="{9D8B030D-6E8A-4147-A177-3AD203B41FA5}">
                      <a16:colId xmlns:a16="http://schemas.microsoft.com/office/drawing/2014/main" val="20000"/>
                    </a:ext>
                  </a:extLst>
                </a:gridCol>
                <a:gridCol w="481013">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z</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0000CC"/>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20624">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rgbClr val="FF0000"/>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9" name="Rectangle 143"/>
          <p:cNvSpPr>
            <a:spLocks noChangeArrowheads="1"/>
          </p:cNvSpPr>
          <p:nvPr/>
        </p:nvSpPr>
        <p:spPr bwMode="auto">
          <a:xfrm>
            <a:off x="5734048" y="3609976"/>
            <a:ext cx="2070100" cy="539750"/>
          </a:xfrm>
          <a:prstGeom prst="rect">
            <a:avLst/>
          </a:prstGeom>
          <a:noFill/>
          <a:ln w="28575">
            <a:noFill/>
            <a:miter lim="800000"/>
            <a:headEnd/>
            <a:tailEnd/>
          </a:ln>
          <a:effectLst/>
        </p:spPr>
        <p:txBody>
          <a:bodyPr wrap="none" anchor="ctr"/>
          <a:lstStyle/>
          <a:p>
            <a:pPr algn="ctr"/>
            <a:r>
              <a:rPr lang="en-US" altLang="ja-JP" sz="2400" i="1" dirty="0">
                <a:ea typeface="MeiryoKe_PGothic" pitchFamily="50" charset="-128"/>
              </a:rPr>
              <a:t>z</a:t>
            </a:r>
            <a:r>
              <a:rPr lang="en-US" altLang="ja-JP" sz="2400" dirty="0">
                <a:ea typeface="MeiryoKe_PGothic" pitchFamily="50" charset="-128"/>
              </a:rPr>
              <a:t> = </a:t>
            </a:r>
            <a:r>
              <a:rPr lang="en-US" altLang="ja-JP" sz="2400" i="1" dirty="0">
                <a:ea typeface="MeiryoKe_PGothic" pitchFamily="50" charset="-128"/>
              </a:rPr>
              <a:t>a </a:t>
            </a:r>
            <a:r>
              <a:rPr lang="en-US" altLang="ja-JP" sz="2400" dirty="0">
                <a:ea typeface="MeiryoKe_PGothic" pitchFamily="50" charset="-128"/>
                <a:cs typeface="Times New Roman" pitchFamily="18" charset="0"/>
              </a:rPr>
              <a:t>+ </a:t>
            </a:r>
            <a:r>
              <a:rPr lang="en-US" altLang="ja-JP" sz="2400" i="1" dirty="0">
                <a:ea typeface="MeiryoKe_PGothic" pitchFamily="50" charset="-128"/>
              </a:rPr>
              <a:t>b</a:t>
            </a:r>
          </a:p>
        </p:txBody>
      </p:sp>
    </p:spTree>
    <p:extLst>
      <p:ext uri="{BB962C8B-B14F-4D97-AF65-F5344CB8AC3E}">
        <p14:creationId xmlns:p14="http://schemas.microsoft.com/office/powerpoint/2010/main" val="1492239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2" name="Rectangle 6"/>
          <p:cNvSpPr>
            <a:spLocks noGrp="1" noChangeArrowheads="1"/>
          </p:cNvSpPr>
          <p:nvPr>
            <p:ph type="title"/>
          </p:nvPr>
        </p:nvSpPr>
        <p:spPr/>
        <p:txBody>
          <a:bodyPr/>
          <a:lstStyle/>
          <a:p>
            <a:r>
              <a:rPr lang="ja-JP" altLang="en-US" dirty="0"/>
              <a:t>完全性（</a:t>
            </a:r>
            <a:r>
              <a:rPr lang="en-US" altLang="ja-JP" dirty="0"/>
              <a:t>Completeness</a:t>
            </a:r>
            <a:r>
              <a:rPr lang="ja-JP" altLang="en-US" dirty="0" err="1"/>
              <a:t>，</a:t>
            </a:r>
            <a:r>
              <a:rPr lang="ja-JP" altLang="en-US" dirty="0"/>
              <a:t>完備性）</a:t>
            </a:r>
          </a:p>
        </p:txBody>
      </p:sp>
      <p:sp>
        <p:nvSpPr>
          <p:cNvPr id="444423" name="Rectangle 7"/>
          <p:cNvSpPr>
            <a:spLocks noGrp="1" noChangeArrowheads="1"/>
          </p:cNvSpPr>
          <p:nvPr>
            <p:ph type="body" sz="quarter" idx="10"/>
          </p:nvPr>
        </p:nvSpPr>
        <p:spPr>
          <a:xfrm>
            <a:off x="1775427" y="1268712"/>
            <a:ext cx="8641751" cy="5491162"/>
          </a:xfrm>
          <a:prstGeom prst="rect">
            <a:avLst/>
          </a:prstGeom>
        </p:spPr>
        <p:txBody>
          <a:bodyPr/>
          <a:lstStyle/>
          <a:p>
            <a:r>
              <a:rPr lang="ja-JP" altLang="en-US" dirty="0"/>
              <a:t>完全集合 </a:t>
            </a:r>
            <a:r>
              <a:rPr lang="en-US" altLang="ja-JP" dirty="0"/>
              <a:t>(Complete Set)</a:t>
            </a:r>
            <a:r>
              <a:rPr lang="ja-JP" altLang="en-US" dirty="0"/>
              <a:t>：</a:t>
            </a:r>
            <a:endParaRPr lang="en-US" altLang="ja-JP" dirty="0"/>
          </a:p>
          <a:p>
            <a:pPr lvl="1"/>
            <a:r>
              <a:rPr lang="ja-JP" altLang="en-US" dirty="0"/>
              <a:t>その組み合わせによって，すべての論理関数を表現できる</a:t>
            </a:r>
            <a:br>
              <a:rPr lang="en-US" altLang="ja-JP" dirty="0"/>
            </a:br>
            <a:r>
              <a:rPr lang="ja-JP" altLang="en-US" dirty="0"/>
              <a:t>論理関数の集合</a:t>
            </a:r>
            <a:endParaRPr lang="en-US" altLang="ja-JP" dirty="0"/>
          </a:p>
          <a:p>
            <a:r>
              <a:rPr lang="ja-JP" altLang="en-US" dirty="0"/>
              <a:t>完全集合の例</a:t>
            </a:r>
          </a:p>
          <a:p>
            <a:pPr lvl="1"/>
            <a:r>
              <a:rPr lang="en-US" altLang="ja-JP" dirty="0"/>
              <a:t>{AND, OR, NOT}</a:t>
            </a:r>
          </a:p>
          <a:p>
            <a:pPr lvl="1"/>
            <a:r>
              <a:rPr lang="en-US" altLang="ja-JP" dirty="0"/>
              <a:t>{AND, NOT}</a:t>
            </a:r>
          </a:p>
          <a:p>
            <a:pPr lvl="1"/>
            <a:r>
              <a:rPr lang="en-US" altLang="ja-JP" dirty="0"/>
              <a:t>{OR, NOT}</a:t>
            </a:r>
          </a:p>
          <a:p>
            <a:pPr lvl="1"/>
            <a:r>
              <a:rPr lang="en-US" altLang="ja-JP" dirty="0"/>
              <a:t>{NAND}</a:t>
            </a:r>
          </a:p>
          <a:p>
            <a:pPr lvl="1"/>
            <a:r>
              <a:rPr lang="en-US" altLang="ja-JP" dirty="0"/>
              <a:t>{NOR}</a:t>
            </a:r>
          </a:p>
          <a:p>
            <a:r>
              <a:rPr lang="ja-JP" altLang="en-US" dirty="0">
                <a:solidFill>
                  <a:schemeClr val="accent5"/>
                </a:solidFill>
              </a:rPr>
              <a:t>たとえば，</a:t>
            </a:r>
            <a:r>
              <a:rPr lang="en-US" altLang="ja-JP" dirty="0">
                <a:solidFill>
                  <a:schemeClr val="accent5"/>
                </a:solidFill>
              </a:rPr>
              <a:t>{AND, OR, NOT} </a:t>
            </a:r>
            <a:r>
              <a:rPr lang="ja-JP" altLang="en-US" dirty="0">
                <a:solidFill>
                  <a:schemeClr val="accent5"/>
                </a:solidFill>
              </a:rPr>
              <a:t>を組み合わせると任意の論理関数が作れる</a:t>
            </a:r>
            <a:endParaRPr lang="en-US" altLang="ja-JP" dirty="0">
              <a:solidFill>
                <a:schemeClr val="accent5"/>
              </a:solidFill>
            </a:endParaRPr>
          </a:p>
        </p:txBody>
      </p:sp>
    </p:spTree>
    <p:extLst>
      <p:ext uri="{BB962C8B-B14F-4D97-AF65-F5344CB8AC3E}">
        <p14:creationId xmlns:p14="http://schemas.microsoft.com/office/powerpoint/2010/main" val="3414979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663" name="Rectangle 223"/>
          <p:cNvSpPr>
            <a:spLocks noGrp="1" noChangeArrowheads="1"/>
          </p:cNvSpPr>
          <p:nvPr>
            <p:ph type="title"/>
          </p:nvPr>
        </p:nvSpPr>
        <p:spPr/>
        <p:txBody>
          <a:bodyPr/>
          <a:lstStyle/>
          <a:p>
            <a:r>
              <a:rPr lang="ja-JP" altLang="en-US"/>
              <a:t>完全性の証明 </a:t>
            </a:r>
            <a:r>
              <a:rPr lang="en-US" altLang="ja-JP"/>
              <a:t>{AND, OR, NOT}</a:t>
            </a:r>
          </a:p>
        </p:txBody>
      </p:sp>
      <p:sp>
        <p:nvSpPr>
          <p:cNvPr id="445664" name="Rectangle 224"/>
          <p:cNvSpPr>
            <a:spLocks noGrp="1" noChangeArrowheads="1"/>
          </p:cNvSpPr>
          <p:nvPr>
            <p:ph type="body" sz="quarter" idx="10"/>
          </p:nvPr>
        </p:nvSpPr>
        <p:spPr>
          <a:xfrm>
            <a:off x="1775427" y="1088974"/>
            <a:ext cx="8641751" cy="1620018"/>
          </a:xfrm>
          <a:prstGeom prst="rect">
            <a:avLst/>
          </a:prstGeom>
        </p:spPr>
        <p:txBody>
          <a:bodyPr/>
          <a:lstStyle/>
          <a:p>
            <a:pPr marL="381000" indent="-381000"/>
            <a:r>
              <a:rPr lang="ja-JP" altLang="en-US" dirty="0"/>
              <a:t>数学的帰納法：</a:t>
            </a:r>
          </a:p>
          <a:p>
            <a:pPr marL="838200" lvl="1" indent="-381000">
              <a:buFont typeface="Wingdings" pitchFamily="2" charset="2"/>
              <a:buAutoNum type="arabicPeriod"/>
            </a:pPr>
            <a:r>
              <a:rPr lang="en-US" altLang="ja-JP" dirty="0"/>
              <a:t>1</a:t>
            </a:r>
            <a:r>
              <a:rPr lang="ja-JP" altLang="en-US" dirty="0"/>
              <a:t>入力の論理関数は </a:t>
            </a:r>
            <a:r>
              <a:rPr lang="en-US" altLang="ja-JP" dirty="0"/>
              <a:t>{AND, OR, NOT} </a:t>
            </a:r>
            <a:r>
              <a:rPr lang="ja-JP" altLang="en-US" dirty="0"/>
              <a:t>の組合せで表現できる</a:t>
            </a:r>
            <a:endParaRPr lang="en-US" altLang="ja-JP" dirty="0"/>
          </a:p>
          <a:p>
            <a:pPr marL="838200" lvl="1" indent="-381000">
              <a:buFont typeface="Wingdings" pitchFamily="2" charset="2"/>
              <a:buAutoNum type="arabicPeriod"/>
            </a:pPr>
            <a:r>
              <a:rPr lang="ja-JP" altLang="en-US" dirty="0">
                <a:solidFill>
                  <a:schemeClr val="bg1">
                    <a:lumMod val="65000"/>
                  </a:schemeClr>
                </a:solidFill>
              </a:rPr>
              <a:t> </a:t>
            </a:r>
            <a:r>
              <a:rPr lang="en-US" altLang="ja-JP" i="1" dirty="0">
                <a:solidFill>
                  <a:schemeClr val="bg1">
                    <a:lumMod val="65000"/>
                  </a:schemeClr>
                </a:solidFill>
                <a:latin typeface="Times New Roman" pitchFamily="18" charset="0"/>
              </a:rPr>
              <a:t>n</a:t>
            </a:r>
            <a:r>
              <a:rPr lang="en-US" altLang="ja-JP" dirty="0">
                <a:solidFill>
                  <a:schemeClr val="bg1">
                    <a:lumMod val="65000"/>
                  </a:schemeClr>
                </a:solidFill>
              </a:rPr>
              <a:t> </a:t>
            </a:r>
            <a:r>
              <a:rPr lang="ja-JP" altLang="en-US" dirty="0">
                <a:solidFill>
                  <a:schemeClr val="bg1">
                    <a:lumMod val="65000"/>
                  </a:schemeClr>
                </a:solidFill>
              </a:rPr>
              <a:t>入力の関数を </a:t>
            </a:r>
            <a:r>
              <a:rPr lang="en-US" altLang="ja-JP" dirty="0">
                <a:solidFill>
                  <a:schemeClr val="bg1">
                    <a:lumMod val="65000"/>
                  </a:schemeClr>
                </a:solidFill>
              </a:rPr>
              <a:t>{AND, OR, NOT} </a:t>
            </a:r>
            <a:r>
              <a:rPr lang="ja-JP" altLang="en-US" dirty="0">
                <a:solidFill>
                  <a:schemeClr val="bg1">
                    <a:lumMod val="65000"/>
                  </a:schemeClr>
                </a:solidFill>
              </a:rPr>
              <a:t>の組合せで表現できたと仮定して，</a:t>
            </a:r>
            <a:br>
              <a:rPr lang="en-US" altLang="ja-JP" dirty="0">
                <a:solidFill>
                  <a:schemeClr val="bg1">
                    <a:lumMod val="65000"/>
                  </a:schemeClr>
                </a:solidFill>
              </a:rPr>
            </a:br>
            <a:r>
              <a:rPr lang="en-US" altLang="ja-JP" dirty="0">
                <a:solidFill>
                  <a:schemeClr val="bg1">
                    <a:lumMod val="65000"/>
                  </a:schemeClr>
                </a:solidFill>
                <a:latin typeface="Times New Roman" pitchFamily="18" charset="0"/>
              </a:rPr>
              <a:t>(</a:t>
            </a:r>
            <a:r>
              <a:rPr lang="en-US" altLang="ja-JP" i="1" dirty="0">
                <a:solidFill>
                  <a:schemeClr val="bg1">
                    <a:lumMod val="65000"/>
                  </a:schemeClr>
                </a:solidFill>
                <a:latin typeface="Times New Roman" pitchFamily="18" charset="0"/>
              </a:rPr>
              <a:t>n</a:t>
            </a:r>
            <a:r>
              <a:rPr lang="en-US" altLang="ja-JP" dirty="0">
                <a:solidFill>
                  <a:schemeClr val="bg1">
                    <a:lumMod val="65000"/>
                  </a:schemeClr>
                </a:solidFill>
                <a:latin typeface="Times New Roman" pitchFamily="18" charset="0"/>
              </a:rPr>
              <a:t> + 1)</a:t>
            </a:r>
            <a:r>
              <a:rPr lang="en-US" altLang="ja-JP" dirty="0">
                <a:solidFill>
                  <a:schemeClr val="bg1">
                    <a:lumMod val="65000"/>
                  </a:schemeClr>
                </a:solidFill>
              </a:rPr>
              <a:t> </a:t>
            </a:r>
            <a:r>
              <a:rPr lang="ja-JP" altLang="en-US" dirty="0">
                <a:solidFill>
                  <a:schemeClr val="bg1">
                    <a:lumMod val="65000"/>
                  </a:schemeClr>
                </a:solidFill>
              </a:rPr>
              <a:t>入力の関数が表現できることをいう</a:t>
            </a:r>
            <a:endParaRPr lang="en-US" altLang="ja-JP" dirty="0">
              <a:solidFill>
                <a:schemeClr val="bg1">
                  <a:lumMod val="65000"/>
                </a:schemeClr>
              </a:solidFill>
            </a:endParaRPr>
          </a:p>
        </p:txBody>
      </p:sp>
      <p:graphicFrame>
        <p:nvGraphicFramePr>
          <p:cNvPr id="40" name="Group 129"/>
          <p:cNvGraphicFramePr>
            <a:graphicFrameLocks/>
          </p:cNvGraphicFramePr>
          <p:nvPr>
            <p:extLst>
              <p:ext uri="{D42A27DB-BD31-4B8C-83A1-F6EECF244321}">
                <p14:modId xmlns:p14="http://schemas.microsoft.com/office/powerpoint/2010/main" val="3536463483"/>
              </p:ext>
            </p:extLst>
          </p:nvPr>
        </p:nvGraphicFramePr>
        <p:xfrm>
          <a:off x="5015991" y="2978995"/>
          <a:ext cx="1800225" cy="1349376"/>
        </p:xfrm>
        <a:graphic>
          <a:graphicData uri="http://schemas.openxmlformats.org/drawingml/2006/table">
            <a:tbl>
              <a:tblPr/>
              <a:tblGrid>
                <a:gridCol w="360363">
                  <a:extLst>
                    <a:ext uri="{9D8B030D-6E8A-4147-A177-3AD203B41FA5}">
                      <a16:colId xmlns:a16="http://schemas.microsoft.com/office/drawing/2014/main" val="20000"/>
                    </a:ext>
                  </a:extLst>
                </a:gridCol>
                <a:gridCol w="360362">
                  <a:extLst>
                    <a:ext uri="{9D8B030D-6E8A-4147-A177-3AD203B41FA5}">
                      <a16:colId xmlns:a16="http://schemas.microsoft.com/office/drawing/2014/main" val="20001"/>
                    </a:ext>
                  </a:extLst>
                </a:gridCol>
                <a:gridCol w="358775">
                  <a:extLst>
                    <a:ext uri="{9D8B030D-6E8A-4147-A177-3AD203B41FA5}">
                      <a16:colId xmlns:a16="http://schemas.microsoft.com/office/drawing/2014/main" val="20002"/>
                    </a:ext>
                  </a:extLst>
                </a:gridCol>
                <a:gridCol w="360363">
                  <a:extLst>
                    <a:ext uri="{9D8B030D-6E8A-4147-A177-3AD203B41FA5}">
                      <a16:colId xmlns:a16="http://schemas.microsoft.com/office/drawing/2014/main" val="20003"/>
                    </a:ext>
                  </a:extLst>
                </a:gridCol>
                <a:gridCol w="360362">
                  <a:extLst>
                    <a:ext uri="{9D8B030D-6E8A-4147-A177-3AD203B41FA5}">
                      <a16:colId xmlns:a16="http://schemas.microsoft.com/office/drawing/2014/main" val="20004"/>
                    </a:ext>
                  </a:extLst>
                </a:gridCol>
              </a:tblGrid>
              <a:tr h="449263">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1" u="none" strike="noStrike" cap="none" normalizeH="0" baseline="0" dirty="0">
                          <a:ln>
                            <a:noFill/>
                          </a:ln>
                          <a:solidFill>
                            <a:schemeClr val="tx1"/>
                          </a:solidFill>
                          <a:effectLst/>
                          <a:latin typeface="Times New Roman" pitchFamily="18" charset="0"/>
                          <a:ea typeface="MeiryoKe_PGothic" pitchFamily="50" charset="-128"/>
                        </a:rPr>
                        <a:t>o</a:t>
                      </a:r>
                      <a:r>
                        <a:rPr kumimoji="0" lang="en-US" altLang="ja-JP" sz="1600" b="0" i="0" u="none" strike="noStrike" cap="none" normalizeH="0" baseline="-25000" dirty="0">
                          <a:ln>
                            <a:noFill/>
                          </a:ln>
                          <a:solidFill>
                            <a:schemeClr val="tx1"/>
                          </a:solidFill>
                          <a:effectLst/>
                          <a:latin typeface="Times New Roman" pitchFamily="18" charset="0"/>
                          <a:ea typeface="MeiryoKe_PGothic" pitchFamily="50" charset="-128"/>
                        </a:rPr>
                        <a:t>3</a:t>
                      </a:r>
                    </a:p>
                  </a:txBody>
                  <a:tcPr anchor="ctr" horzOverflow="overflow">
                    <a:lnL>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085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4">
                        <a:lumMod val="40000"/>
                        <a:lumOff val="60000"/>
                      </a:schemeClr>
                    </a:solidFill>
                  </a:tcPr>
                </a:tc>
                <a:extLst>
                  <a:ext uri="{0D108BD9-81ED-4DB2-BD59-A6C34878D82A}">
                    <a16:rowId xmlns:a16="http://schemas.microsoft.com/office/drawing/2014/main" val="10001"/>
                  </a:ext>
                </a:extLst>
              </a:tr>
              <a:tr h="449263">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3">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2"/>
                  </a:ext>
                </a:extLst>
              </a:tr>
            </a:tbl>
          </a:graphicData>
        </a:graphic>
      </p:graphicFrame>
      <p:sp>
        <p:nvSpPr>
          <p:cNvPr id="41" name="Rectangle 118"/>
          <p:cNvSpPr>
            <a:spLocks noChangeArrowheads="1"/>
          </p:cNvSpPr>
          <p:nvPr/>
        </p:nvSpPr>
        <p:spPr bwMode="auto">
          <a:xfrm>
            <a:off x="3573718" y="4959248"/>
            <a:ext cx="719138"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0</a:t>
            </a:r>
            <a:r>
              <a:rPr lang="en-US" altLang="ja-JP" sz="2000" dirty="0">
                <a:ea typeface="MeiryoKe_PGothic" pitchFamily="50" charset="-128"/>
              </a:rPr>
              <a:t> = 0</a:t>
            </a:r>
          </a:p>
        </p:txBody>
      </p:sp>
      <p:sp>
        <p:nvSpPr>
          <p:cNvPr id="42" name="Rectangle 119"/>
          <p:cNvSpPr>
            <a:spLocks noChangeArrowheads="1"/>
          </p:cNvSpPr>
          <p:nvPr/>
        </p:nvSpPr>
        <p:spPr bwMode="auto">
          <a:xfrm>
            <a:off x="5013584" y="4959248"/>
            <a:ext cx="719137"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1</a:t>
            </a:r>
            <a:r>
              <a:rPr lang="en-US" altLang="ja-JP" sz="2000" dirty="0">
                <a:ea typeface="MeiryoKe_PGothic" pitchFamily="50" charset="-128"/>
              </a:rPr>
              <a:t> = </a:t>
            </a:r>
            <a:r>
              <a:rPr lang="en-US" altLang="ja-JP" sz="2000" i="1" dirty="0">
                <a:ea typeface="MeiryoKe_PGothic" pitchFamily="50" charset="-128"/>
              </a:rPr>
              <a:t>i</a:t>
            </a:r>
            <a:r>
              <a:rPr lang="en-US" altLang="ja-JP" sz="2000" baseline="-25000" dirty="0">
                <a:ea typeface="MeiryoKe_PGothic" pitchFamily="50" charset="-128"/>
              </a:rPr>
              <a:t>1</a:t>
            </a:r>
          </a:p>
        </p:txBody>
      </p:sp>
      <p:sp>
        <p:nvSpPr>
          <p:cNvPr id="43" name="Rectangle 120"/>
          <p:cNvSpPr>
            <a:spLocks noChangeArrowheads="1"/>
          </p:cNvSpPr>
          <p:nvPr/>
        </p:nvSpPr>
        <p:spPr bwMode="auto">
          <a:xfrm>
            <a:off x="6453443" y="4959248"/>
            <a:ext cx="719138"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2</a:t>
            </a:r>
            <a:r>
              <a:rPr lang="en-US" altLang="ja-JP" sz="2000" dirty="0">
                <a:ea typeface="MeiryoKe_PGothic" pitchFamily="50" charset="-128"/>
              </a:rPr>
              <a:t> = </a:t>
            </a:r>
            <a:r>
              <a:rPr lang="en-US" altLang="ja-JP" sz="2000" i="1" spc="-300" dirty="0">
                <a:ea typeface="MeiryoKe_PGothic" pitchFamily="50" charset="-128"/>
              </a:rPr>
              <a:t>i’</a:t>
            </a:r>
            <a:r>
              <a:rPr lang="en-US" altLang="ja-JP" sz="2000" spc="-300" baseline="-25000" dirty="0">
                <a:ea typeface="MeiryoKe_PGothic" pitchFamily="50" charset="-128"/>
              </a:rPr>
              <a:t>1</a:t>
            </a:r>
          </a:p>
        </p:txBody>
      </p:sp>
      <p:sp>
        <p:nvSpPr>
          <p:cNvPr id="44" name="Rectangle 121"/>
          <p:cNvSpPr>
            <a:spLocks noChangeArrowheads="1"/>
          </p:cNvSpPr>
          <p:nvPr/>
        </p:nvSpPr>
        <p:spPr bwMode="auto">
          <a:xfrm>
            <a:off x="7893309" y="4959248"/>
            <a:ext cx="719137" cy="360362"/>
          </a:xfrm>
          <a:prstGeom prst="rect">
            <a:avLst/>
          </a:prstGeom>
          <a:noFill/>
          <a:ln w="9525">
            <a:noFill/>
            <a:miter lim="800000"/>
            <a:headEnd/>
            <a:tailEnd/>
          </a:ln>
          <a:effectLst/>
        </p:spPr>
        <p:txBody>
          <a:bodyPr wrap="none" anchor="ctr"/>
          <a:lstStyle/>
          <a:p>
            <a:pPr algn="ctr"/>
            <a:r>
              <a:rPr lang="en-US" altLang="ja-JP" sz="2000" i="1" dirty="0">
                <a:ea typeface="MeiryoKe_PGothic" pitchFamily="50" charset="-128"/>
              </a:rPr>
              <a:t>o</a:t>
            </a:r>
            <a:r>
              <a:rPr lang="en-US" altLang="ja-JP" sz="2000" baseline="-25000" dirty="0">
                <a:ea typeface="MeiryoKe_PGothic" pitchFamily="50" charset="-128"/>
              </a:rPr>
              <a:t>3</a:t>
            </a:r>
            <a:r>
              <a:rPr lang="en-US" altLang="ja-JP" sz="2000" dirty="0">
                <a:ea typeface="MeiryoKe_PGothic" pitchFamily="50" charset="-128"/>
              </a:rPr>
              <a:t> = </a:t>
            </a:r>
            <a:r>
              <a:rPr kumimoji="0" lang="en-US" altLang="ja-JP" dirty="0">
                <a:ea typeface="MeiryoKe_PGothic" pitchFamily="50" charset="-128"/>
              </a:rPr>
              <a:t>1</a:t>
            </a:r>
            <a:endParaRPr lang="en-US" altLang="ja-JP" sz="2000" baseline="-25000" dirty="0">
              <a:ea typeface="MeiryoKe_PGothic" pitchFamily="50" charset="-128"/>
            </a:endParaRPr>
          </a:p>
        </p:txBody>
      </p:sp>
      <p:cxnSp>
        <p:nvCxnSpPr>
          <p:cNvPr id="45" name="AutoShape 122"/>
          <p:cNvCxnSpPr>
            <a:cxnSpLocks noChangeShapeType="1"/>
            <a:stCxn id="41" idx="0"/>
          </p:cNvCxnSpPr>
          <p:nvPr/>
        </p:nvCxnSpPr>
        <p:spPr bwMode="auto">
          <a:xfrm rot="16200000">
            <a:off x="4430175" y="3832919"/>
            <a:ext cx="630238" cy="1622425"/>
          </a:xfrm>
          <a:prstGeom prst="curvedConnector3">
            <a:avLst>
              <a:gd name="adj1" fmla="val 50125"/>
            </a:avLst>
          </a:prstGeom>
          <a:noFill/>
          <a:ln w="9525">
            <a:solidFill>
              <a:schemeClr val="tx1"/>
            </a:solidFill>
            <a:round/>
            <a:headEnd/>
            <a:tailEnd type="stealth" w="med" len="med"/>
          </a:ln>
          <a:effectLst/>
        </p:spPr>
      </p:cxnSp>
      <p:cxnSp>
        <p:nvCxnSpPr>
          <p:cNvPr id="46" name="AutoShape 123"/>
          <p:cNvCxnSpPr>
            <a:cxnSpLocks noChangeShapeType="1"/>
            <a:stCxn id="42" idx="0"/>
          </p:cNvCxnSpPr>
          <p:nvPr/>
        </p:nvCxnSpPr>
        <p:spPr bwMode="auto">
          <a:xfrm rot="16200000">
            <a:off x="5329493" y="4373460"/>
            <a:ext cx="630238" cy="541338"/>
          </a:xfrm>
          <a:prstGeom prst="curvedConnector3">
            <a:avLst>
              <a:gd name="adj1" fmla="val 50125"/>
            </a:avLst>
          </a:prstGeom>
          <a:noFill/>
          <a:ln w="9525">
            <a:solidFill>
              <a:schemeClr val="tx1"/>
            </a:solidFill>
            <a:round/>
            <a:headEnd/>
            <a:tailEnd type="stealth" w="med" len="med"/>
          </a:ln>
          <a:effectLst/>
        </p:spPr>
      </p:cxnSp>
      <p:cxnSp>
        <p:nvCxnSpPr>
          <p:cNvPr id="47" name="AutoShape 124"/>
          <p:cNvCxnSpPr>
            <a:cxnSpLocks noChangeShapeType="1"/>
            <a:stCxn id="43" idx="0"/>
          </p:cNvCxnSpPr>
          <p:nvPr/>
        </p:nvCxnSpPr>
        <p:spPr bwMode="auto">
          <a:xfrm rot="5400000" flipH="1">
            <a:off x="6229606" y="4375050"/>
            <a:ext cx="630238" cy="538163"/>
          </a:xfrm>
          <a:prstGeom prst="curvedConnector3">
            <a:avLst>
              <a:gd name="adj1" fmla="val 50125"/>
            </a:avLst>
          </a:prstGeom>
          <a:noFill/>
          <a:ln w="9525">
            <a:solidFill>
              <a:schemeClr val="tx1"/>
            </a:solidFill>
            <a:round/>
            <a:headEnd/>
            <a:tailEnd type="stealth" w="med" len="med"/>
          </a:ln>
          <a:effectLst/>
        </p:spPr>
      </p:cxnSp>
      <p:cxnSp>
        <p:nvCxnSpPr>
          <p:cNvPr id="48" name="AutoShape 125"/>
          <p:cNvCxnSpPr>
            <a:cxnSpLocks noChangeShapeType="1"/>
            <a:stCxn id="44" idx="0"/>
          </p:cNvCxnSpPr>
          <p:nvPr/>
        </p:nvCxnSpPr>
        <p:spPr bwMode="auto">
          <a:xfrm rot="5400000" flipH="1">
            <a:off x="7129718" y="3835298"/>
            <a:ext cx="630238" cy="1617662"/>
          </a:xfrm>
          <a:prstGeom prst="curvedConnector3">
            <a:avLst>
              <a:gd name="adj1" fmla="val 50125"/>
            </a:avLst>
          </a:prstGeom>
          <a:noFill/>
          <a:ln w="9525">
            <a:solidFill>
              <a:schemeClr val="tx1"/>
            </a:solidFill>
            <a:round/>
            <a:headEnd/>
            <a:tailEnd type="stealth" w="med" len="med"/>
          </a:ln>
          <a:effectLst/>
        </p:spPr>
      </p:cxnSp>
      <p:sp>
        <p:nvSpPr>
          <p:cNvPr id="49" name="Rectangle 130"/>
          <p:cNvSpPr>
            <a:spLocks noChangeArrowheads="1"/>
          </p:cNvSpPr>
          <p:nvPr/>
        </p:nvSpPr>
        <p:spPr bwMode="auto">
          <a:xfrm>
            <a:off x="3561007" y="5513299"/>
            <a:ext cx="720725" cy="719138"/>
          </a:xfrm>
          <a:prstGeom prst="rect">
            <a:avLst/>
          </a:prstGeom>
          <a:noFill/>
          <a:ln w="12700">
            <a:solidFill>
              <a:schemeClr val="accent5"/>
            </a:solidFill>
            <a:prstDash val="dash"/>
            <a:miter lim="800000"/>
            <a:headEnd/>
            <a:tailEnd/>
          </a:ln>
          <a:effectLst/>
        </p:spPr>
        <p:txBody>
          <a:bodyPr wrap="none" anchor="ctr"/>
          <a:lstStyle/>
          <a:p>
            <a:endParaRPr lang="ja-JP" altLang="en-US" dirty="0">
              <a:ea typeface="MeiryoKe_PGothic" pitchFamily="50" charset="-128"/>
            </a:endParaRPr>
          </a:p>
        </p:txBody>
      </p:sp>
      <p:sp>
        <p:nvSpPr>
          <p:cNvPr id="50" name="Rectangle 131"/>
          <p:cNvSpPr>
            <a:spLocks noChangeArrowheads="1"/>
          </p:cNvSpPr>
          <p:nvPr/>
        </p:nvSpPr>
        <p:spPr bwMode="auto">
          <a:xfrm>
            <a:off x="5008815" y="5513299"/>
            <a:ext cx="720725" cy="719138"/>
          </a:xfrm>
          <a:prstGeom prst="rect">
            <a:avLst/>
          </a:prstGeom>
          <a:noFill/>
          <a:ln w="12700">
            <a:solidFill>
              <a:schemeClr val="accent3"/>
            </a:solidFill>
            <a:prstDash val="dash"/>
            <a:miter lim="800000"/>
            <a:headEnd/>
            <a:tailEnd/>
          </a:ln>
          <a:effectLst/>
        </p:spPr>
        <p:txBody>
          <a:bodyPr wrap="none" anchor="ctr"/>
          <a:lstStyle/>
          <a:p>
            <a:endParaRPr lang="ja-JP" altLang="en-US" dirty="0">
              <a:ea typeface="MeiryoKe_PGothic" pitchFamily="50" charset="-128"/>
            </a:endParaRPr>
          </a:p>
        </p:txBody>
      </p:sp>
      <p:sp>
        <p:nvSpPr>
          <p:cNvPr id="51" name="Rectangle 132"/>
          <p:cNvSpPr>
            <a:spLocks noChangeArrowheads="1"/>
          </p:cNvSpPr>
          <p:nvPr/>
        </p:nvSpPr>
        <p:spPr bwMode="auto">
          <a:xfrm>
            <a:off x="6456623" y="5513299"/>
            <a:ext cx="720725" cy="719138"/>
          </a:xfrm>
          <a:prstGeom prst="rect">
            <a:avLst/>
          </a:prstGeom>
          <a:noFill/>
          <a:ln w="12700">
            <a:solidFill>
              <a:schemeClr val="accent6"/>
            </a:solidFill>
            <a:prstDash val="dash"/>
            <a:miter lim="800000"/>
            <a:headEnd/>
            <a:tailEnd/>
          </a:ln>
          <a:effectLst/>
        </p:spPr>
        <p:txBody>
          <a:bodyPr wrap="none" anchor="ctr"/>
          <a:lstStyle/>
          <a:p>
            <a:endParaRPr lang="ja-JP" altLang="en-US" dirty="0">
              <a:ea typeface="MeiryoKe_PGothic" pitchFamily="50" charset="-128"/>
            </a:endParaRPr>
          </a:p>
        </p:txBody>
      </p:sp>
      <p:sp>
        <p:nvSpPr>
          <p:cNvPr id="52" name="Rectangle 133"/>
          <p:cNvSpPr>
            <a:spLocks noChangeArrowheads="1"/>
          </p:cNvSpPr>
          <p:nvPr/>
        </p:nvSpPr>
        <p:spPr bwMode="auto">
          <a:xfrm>
            <a:off x="7904431" y="5513299"/>
            <a:ext cx="720725" cy="719138"/>
          </a:xfrm>
          <a:prstGeom prst="rect">
            <a:avLst/>
          </a:prstGeom>
          <a:noFill/>
          <a:ln w="12700">
            <a:solidFill>
              <a:schemeClr val="accent4"/>
            </a:solidFill>
            <a:prstDash val="dash"/>
            <a:miter lim="800000"/>
            <a:headEnd/>
            <a:tailEnd/>
          </a:ln>
          <a:effectLst/>
        </p:spPr>
        <p:txBody>
          <a:bodyPr wrap="none" anchor="ctr"/>
          <a:lstStyle/>
          <a:p>
            <a:endParaRPr lang="ja-JP" altLang="en-US" dirty="0">
              <a:ea typeface="MeiryoKe_PGothic" pitchFamily="50" charset="-128"/>
            </a:endParaRPr>
          </a:p>
        </p:txBody>
      </p:sp>
      <p:sp>
        <p:nvSpPr>
          <p:cNvPr id="53" name="Rectangle 134"/>
          <p:cNvSpPr>
            <a:spLocks noChangeArrowheads="1"/>
          </p:cNvSpPr>
          <p:nvPr/>
        </p:nvSpPr>
        <p:spPr bwMode="auto">
          <a:xfrm>
            <a:off x="3561007" y="5513299"/>
            <a:ext cx="360363" cy="719138"/>
          </a:xfrm>
          <a:prstGeom prst="rect">
            <a:avLst/>
          </a:prstGeom>
          <a:noFill/>
          <a:ln w="9525">
            <a:noFill/>
            <a:miter lim="800000"/>
            <a:headEnd/>
            <a:tailEnd/>
          </a:ln>
          <a:effectLst/>
        </p:spPr>
        <p:txBody>
          <a:bodyPr wrap="none" anchor="ctr"/>
          <a:lstStyle/>
          <a:p>
            <a:pPr algn="ctr"/>
            <a:r>
              <a:rPr lang="en-US" altLang="ja-JP" sz="2000" dirty="0">
                <a:ea typeface="MeiryoKe_PGothic" pitchFamily="50" charset="-128"/>
              </a:rPr>
              <a:t>0</a:t>
            </a:r>
          </a:p>
        </p:txBody>
      </p:sp>
      <p:sp>
        <p:nvSpPr>
          <p:cNvPr id="54" name="Rectangle 135"/>
          <p:cNvSpPr>
            <a:spLocks noChangeArrowheads="1"/>
          </p:cNvSpPr>
          <p:nvPr/>
        </p:nvSpPr>
        <p:spPr bwMode="auto">
          <a:xfrm>
            <a:off x="7904431" y="5513299"/>
            <a:ext cx="360363" cy="719138"/>
          </a:xfrm>
          <a:prstGeom prst="rect">
            <a:avLst/>
          </a:prstGeom>
          <a:noFill/>
          <a:ln w="9525">
            <a:noFill/>
            <a:miter lim="800000"/>
            <a:headEnd/>
            <a:tailEnd/>
          </a:ln>
          <a:effectLst/>
        </p:spPr>
        <p:txBody>
          <a:bodyPr wrap="none" anchor="ctr"/>
          <a:lstStyle/>
          <a:p>
            <a:pPr algn="ctr"/>
            <a:r>
              <a:rPr lang="en-US" altLang="ja-JP" sz="2000" dirty="0">
                <a:ea typeface="MeiryoKe_PGothic" pitchFamily="50" charset="-128"/>
              </a:rPr>
              <a:t>1</a:t>
            </a:r>
          </a:p>
        </p:txBody>
      </p:sp>
      <p:sp>
        <p:nvSpPr>
          <p:cNvPr id="55" name="Line 136"/>
          <p:cNvSpPr>
            <a:spLocks noChangeShapeType="1"/>
          </p:cNvSpPr>
          <p:nvPr/>
        </p:nvSpPr>
        <p:spPr bwMode="auto">
          <a:xfrm>
            <a:off x="3922956" y="5875251"/>
            <a:ext cx="3603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6" name="Line 137"/>
          <p:cNvSpPr>
            <a:spLocks noChangeShapeType="1"/>
          </p:cNvSpPr>
          <p:nvPr/>
        </p:nvSpPr>
        <p:spPr bwMode="auto">
          <a:xfrm>
            <a:off x="8266380" y="5875251"/>
            <a:ext cx="3603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7" name="Line 138"/>
          <p:cNvSpPr>
            <a:spLocks noChangeShapeType="1"/>
          </p:cNvSpPr>
          <p:nvPr/>
        </p:nvSpPr>
        <p:spPr bwMode="auto">
          <a:xfrm>
            <a:off x="5008812" y="5875251"/>
            <a:ext cx="71913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8" name="Line 139"/>
          <p:cNvSpPr>
            <a:spLocks noChangeShapeType="1"/>
          </p:cNvSpPr>
          <p:nvPr/>
        </p:nvSpPr>
        <p:spPr bwMode="auto">
          <a:xfrm>
            <a:off x="6456623" y="5875251"/>
            <a:ext cx="719137"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59" name="Picture 140" descr="NOT"/>
          <p:cNvPicPr>
            <a:picLocks noChangeAspect="1" noChangeArrowheads="1"/>
          </p:cNvPicPr>
          <p:nvPr/>
        </p:nvPicPr>
        <p:blipFill>
          <a:blip r:embed="rId3" cstate="print"/>
          <a:srcRect/>
          <a:stretch>
            <a:fillRect/>
          </a:stretch>
        </p:blipFill>
        <p:spPr bwMode="auto">
          <a:xfrm>
            <a:off x="6547111" y="5603787"/>
            <a:ext cx="538163" cy="539750"/>
          </a:xfrm>
          <a:prstGeom prst="rect">
            <a:avLst/>
          </a:prstGeom>
          <a:noFill/>
        </p:spPr>
      </p:pic>
      <p:pic>
        <p:nvPicPr>
          <p:cNvPr id="60" name="Picture 141" descr="BUF"/>
          <p:cNvPicPr>
            <a:picLocks noChangeAspect="1" noChangeArrowheads="1"/>
          </p:cNvPicPr>
          <p:nvPr/>
        </p:nvPicPr>
        <p:blipFill>
          <a:blip r:embed="rId4" cstate="print"/>
          <a:srcRect/>
          <a:stretch>
            <a:fillRect/>
          </a:stretch>
        </p:blipFill>
        <p:spPr bwMode="auto">
          <a:xfrm>
            <a:off x="5099303" y="5603787"/>
            <a:ext cx="538163" cy="539750"/>
          </a:xfrm>
          <a:prstGeom prst="rect">
            <a:avLst/>
          </a:prstGeom>
          <a:noFill/>
        </p:spPr>
      </p:pic>
      <p:cxnSp>
        <p:nvCxnSpPr>
          <p:cNvPr id="61" name="直線コネクタ 60"/>
          <p:cNvCxnSpPr/>
          <p:nvPr/>
        </p:nvCxnSpPr>
        <p:spPr bwMode="auto">
          <a:xfrm>
            <a:off x="3380028"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2" name="直線コネクタ 61"/>
          <p:cNvCxnSpPr/>
          <p:nvPr/>
        </p:nvCxnSpPr>
        <p:spPr bwMode="auto">
          <a:xfrm>
            <a:off x="4284908"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3" name="直線コネクタ 62"/>
          <p:cNvCxnSpPr/>
          <p:nvPr/>
        </p:nvCxnSpPr>
        <p:spPr bwMode="auto">
          <a:xfrm>
            <a:off x="4827836"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4" name="直線コネクタ 63"/>
          <p:cNvCxnSpPr/>
          <p:nvPr/>
        </p:nvCxnSpPr>
        <p:spPr bwMode="auto">
          <a:xfrm>
            <a:off x="5732716"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5" name="直線コネクタ 64"/>
          <p:cNvCxnSpPr/>
          <p:nvPr/>
        </p:nvCxnSpPr>
        <p:spPr bwMode="auto">
          <a:xfrm>
            <a:off x="6275644"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6" name="直線コネクタ 65"/>
          <p:cNvCxnSpPr/>
          <p:nvPr/>
        </p:nvCxnSpPr>
        <p:spPr bwMode="auto">
          <a:xfrm>
            <a:off x="7180524"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7" name="直線コネクタ 66"/>
          <p:cNvCxnSpPr/>
          <p:nvPr/>
        </p:nvCxnSpPr>
        <p:spPr bwMode="auto">
          <a:xfrm>
            <a:off x="7723452" y="5875251"/>
            <a:ext cx="180976" cy="1588"/>
          </a:xfrm>
          <a:prstGeom prst="line">
            <a:avLst/>
          </a:prstGeom>
          <a:noFill/>
          <a:ln w="9525" cap="flat" cmpd="sng" algn="ctr">
            <a:solidFill>
              <a:schemeClr val="tx1"/>
            </a:solidFill>
            <a:prstDash val="solid"/>
            <a:round/>
            <a:headEnd type="none" w="med" len="med"/>
            <a:tailEnd type="none" w="med" len="med"/>
          </a:ln>
          <a:effectLst/>
        </p:spPr>
      </p:cxnSp>
      <p:cxnSp>
        <p:nvCxnSpPr>
          <p:cNvPr id="68" name="直線コネクタ 67"/>
          <p:cNvCxnSpPr/>
          <p:nvPr/>
        </p:nvCxnSpPr>
        <p:spPr bwMode="auto">
          <a:xfrm>
            <a:off x="8628332" y="5875251"/>
            <a:ext cx="180976" cy="1588"/>
          </a:xfrm>
          <a:prstGeom prst="line">
            <a:avLst/>
          </a:prstGeom>
          <a:noFill/>
          <a:ln w="9525" cap="flat" cmpd="sng" algn="ctr">
            <a:solidFill>
              <a:schemeClr val="tx1"/>
            </a:solidFill>
            <a:prstDash val="solid"/>
            <a:round/>
            <a:headEnd type="none" w="med" len="med"/>
            <a:tailEnd type="none" w="med" len="med"/>
          </a:ln>
          <a:effectLst/>
        </p:spPr>
      </p:cxnSp>
      <p:sp>
        <p:nvSpPr>
          <p:cNvPr id="3" name="Rectangle 224">
            <a:extLst>
              <a:ext uri="{FF2B5EF4-FFF2-40B4-BE49-F238E27FC236}">
                <a16:creationId xmlns:a16="http://schemas.microsoft.com/office/drawing/2014/main" id="{0893AF11-6919-6A2E-C0B0-F2AB36D0058A}"/>
              </a:ext>
            </a:extLst>
          </p:cNvPr>
          <p:cNvSpPr txBox="1">
            <a:spLocks noChangeArrowheads="1"/>
          </p:cNvSpPr>
          <p:nvPr/>
        </p:nvSpPr>
        <p:spPr bwMode="auto">
          <a:xfrm>
            <a:off x="6636006" y="2708992"/>
            <a:ext cx="3960044" cy="19800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kumimoji="0" lang="en-US" altLang="ja-JP" sz="1400" i="1" dirty="0">
                <a:solidFill>
                  <a:schemeClr val="tx1"/>
                </a:solidFill>
                <a:latin typeface="+mn-ea"/>
              </a:rPr>
              <a:t>i</a:t>
            </a:r>
            <a:r>
              <a:rPr kumimoji="0" lang="en-US" altLang="ja-JP" sz="1400" baseline="-25000" dirty="0">
                <a:solidFill>
                  <a:schemeClr val="tx1"/>
                </a:solidFill>
                <a:latin typeface="+mn-ea"/>
              </a:rPr>
              <a:t>1 </a:t>
            </a:r>
            <a:r>
              <a:rPr kumimoji="0" lang="en-US" altLang="ja-JP" sz="1400" dirty="0">
                <a:solidFill>
                  <a:schemeClr val="tx1"/>
                </a:solidFill>
                <a:latin typeface="+mn-ea"/>
              </a:rPr>
              <a:t>=0 or 1 </a:t>
            </a:r>
            <a:r>
              <a:rPr kumimoji="0" lang="ja-JP" altLang="en-US" sz="1400" dirty="0">
                <a:solidFill>
                  <a:schemeClr val="tx1"/>
                </a:solidFill>
                <a:latin typeface="+mn-ea"/>
              </a:rPr>
              <a:t>の入力に対して</a:t>
            </a:r>
            <a:br>
              <a:rPr kumimoji="0" lang="en-US" altLang="ja-JP" sz="1400" dirty="0">
                <a:solidFill>
                  <a:schemeClr val="tx1"/>
                </a:solidFill>
                <a:latin typeface="+mn-ea"/>
              </a:rPr>
            </a:br>
            <a:r>
              <a:rPr kumimoji="0" lang="ja-JP" altLang="en-US" sz="1400" dirty="0">
                <a:solidFill>
                  <a:schemeClr val="tx1"/>
                </a:solidFill>
                <a:latin typeface="+mn-ea"/>
              </a:rPr>
              <a:t>４通りの論理関数があり得る </a:t>
            </a:r>
            <a:endParaRPr kumimoji="0" lang="en-US" altLang="ja-JP" sz="1400" dirty="0">
              <a:solidFill>
                <a:schemeClr val="tx1"/>
              </a:solidFill>
              <a:latin typeface="+mn-ea"/>
            </a:endParaRPr>
          </a:p>
          <a:p>
            <a:pPr lvl="1"/>
            <a:r>
              <a:rPr kumimoji="0" lang="ja-JP" altLang="en-US" sz="1400" dirty="0">
                <a:solidFill>
                  <a:schemeClr val="tx1"/>
                </a:solidFill>
                <a:latin typeface="+mn-ea"/>
              </a:rPr>
              <a:t>４つとも </a:t>
            </a:r>
            <a:r>
              <a:rPr kumimoji="0" lang="en-US" altLang="ja-JP" sz="1400" dirty="0">
                <a:solidFill>
                  <a:schemeClr val="tx1"/>
                </a:solidFill>
                <a:latin typeface="+mn-ea"/>
              </a:rPr>
              <a:t>NOT </a:t>
            </a:r>
            <a:r>
              <a:rPr kumimoji="0" lang="ja-JP" altLang="en-US" sz="1400" dirty="0">
                <a:solidFill>
                  <a:schemeClr val="tx1"/>
                </a:solidFill>
                <a:latin typeface="+mn-ea"/>
              </a:rPr>
              <a:t>と数字直結で作れる</a:t>
            </a:r>
            <a:endParaRPr lang="en-US" altLang="ja-JP" sz="1400" dirty="0">
              <a:latin typeface="+mn-ea"/>
            </a:endParaRPr>
          </a:p>
        </p:txBody>
      </p:sp>
    </p:spTree>
    <p:extLst>
      <p:ext uri="{BB962C8B-B14F-4D97-AF65-F5344CB8AC3E}">
        <p14:creationId xmlns:p14="http://schemas.microsoft.com/office/powerpoint/2010/main" val="3340717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663" name="Rectangle 223"/>
          <p:cNvSpPr>
            <a:spLocks noGrp="1" noChangeArrowheads="1"/>
          </p:cNvSpPr>
          <p:nvPr>
            <p:ph type="title"/>
          </p:nvPr>
        </p:nvSpPr>
        <p:spPr/>
        <p:txBody>
          <a:bodyPr/>
          <a:lstStyle/>
          <a:p>
            <a:r>
              <a:rPr lang="ja-JP" altLang="en-US"/>
              <a:t>完全性の証明 </a:t>
            </a:r>
            <a:r>
              <a:rPr lang="en-US" altLang="ja-JP"/>
              <a:t>{AND, OR, NOT}</a:t>
            </a:r>
          </a:p>
        </p:txBody>
      </p:sp>
      <p:sp>
        <p:nvSpPr>
          <p:cNvPr id="445664" name="Rectangle 224"/>
          <p:cNvSpPr>
            <a:spLocks noGrp="1" noChangeArrowheads="1"/>
          </p:cNvSpPr>
          <p:nvPr>
            <p:ph type="body" sz="quarter" idx="10"/>
          </p:nvPr>
        </p:nvSpPr>
        <p:spPr>
          <a:xfrm>
            <a:off x="1775955" y="908972"/>
            <a:ext cx="8641751" cy="1620018"/>
          </a:xfrm>
          <a:prstGeom prst="rect">
            <a:avLst/>
          </a:prstGeom>
        </p:spPr>
        <p:txBody>
          <a:bodyPr/>
          <a:lstStyle/>
          <a:p>
            <a:pPr marL="381000" indent="-381000"/>
            <a:r>
              <a:rPr lang="ja-JP" altLang="en-US" sz="1800" dirty="0"/>
              <a:t>数学的帰納法：</a:t>
            </a:r>
          </a:p>
          <a:p>
            <a:pPr marL="838200" lvl="1" indent="-381000">
              <a:buFont typeface="Wingdings" pitchFamily="2" charset="2"/>
              <a:buAutoNum type="arabicPeriod"/>
            </a:pPr>
            <a:r>
              <a:rPr lang="en-US" altLang="ja-JP" sz="1800" dirty="0">
                <a:solidFill>
                  <a:schemeClr val="bg1">
                    <a:lumMod val="65000"/>
                  </a:schemeClr>
                </a:solidFill>
              </a:rPr>
              <a:t>1</a:t>
            </a:r>
            <a:r>
              <a:rPr lang="ja-JP" altLang="en-US" sz="1800" dirty="0">
                <a:solidFill>
                  <a:schemeClr val="bg1">
                    <a:lumMod val="65000"/>
                  </a:schemeClr>
                </a:solidFill>
              </a:rPr>
              <a:t>入力の論理関数は </a:t>
            </a:r>
            <a:r>
              <a:rPr lang="en-US" altLang="ja-JP" sz="1800" dirty="0">
                <a:solidFill>
                  <a:schemeClr val="bg1">
                    <a:lumMod val="65000"/>
                  </a:schemeClr>
                </a:solidFill>
              </a:rPr>
              <a:t>{AND, OR, NOT} </a:t>
            </a:r>
            <a:r>
              <a:rPr lang="ja-JP" altLang="en-US" sz="1800" dirty="0">
                <a:solidFill>
                  <a:schemeClr val="bg1">
                    <a:lumMod val="65000"/>
                  </a:schemeClr>
                </a:solidFill>
              </a:rPr>
              <a:t>の組合せで表現できる</a:t>
            </a:r>
            <a:endParaRPr lang="en-US" altLang="ja-JP" sz="1800" dirty="0">
              <a:solidFill>
                <a:schemeClr val="bg1">
                  <a:lumMod val="65000"/>
                </a:schemeClr>
              </a:solidFill>
            </a:endParaRPr>
          </a:p>
          <a:p>
            <a:pPr marL="838200" lvl="1" indent="-381000">
              <a:buFont typeface="Wingdings" pitchFamily="2" charset="2"/>
              <a:buAutoNum type="arabicPeriod"/>
            </a:pPr>
            <a:r>
              <a:rPr lang="ja-JP" altLang="en-US" sz="1800" dirty="0"/>
              <a:t> </a:t>
            </a:r>
            <a:r>
              <a:rPr lang="en-US" altLang="ja-JP" sz="1800" i="1" dirty="0">
                <a:latin typeface="Times New Roman" pitchFamily="18" charset="0"/>
              </a:rPr>
              <a:t>n</a:t>
            </a:r>
            <a:r>
              <a:rPr lang="en-US" altLang="ja-JP" sz="1800" dirty="0"/>
              <a:t> </a:t>
            </a:r>
            <a:r>
              <a:rPr lang="ja-JP" altLang="en-US" sz="1800" dirty="0"/>
              <a:t>入力の関数を </a:t>
            </a:r>
            <a:r>
              <a:rPr lang="en-US" altLang="ja-JP" sz="1800" dirty="0"/>
              <a:t>{AND, OR, NOT} </a:t>
            </a:r>
            <a:r>
              <a:rPr lang="ja-JP" altLang="en-US" sz="1800" dirty="0"/>
              <a:t>の組合せで表現できたと仮定して，</a:t>
            </a:r>
            <a:br>
              <a:rPr lang="en-US" altLang="ja-JP" sz="1800" dirty="0"/>
            </a:br>
            <a:r>
              <a:rPr lang="en-US" altLang="ja-JP" sz="1800" dirty="0">
                <a:latin typeface="Times New Roman" pitchFamily="18" charset="0"/>
              </a:rPr>
              <a:t>(</a:t>
            </a:r>
            <a:r>
              <a:rPr lang="en-US" altLang="ja-JP" sz="1800" i="1" dirty="0">
                <a:latin typeface="Times New Roman" pitchFamily="18" charset="0"/>
              </a:rPr>
              <a:t>n</a:t>
            </a:r>
            <a:r>
              <a:rPr lang="en-US" altLang="ja-JP" sz="1800" dirty="0">
                <a:latin typeface="Times New Roman" pitchFamily="18" charset="0"/>
              </a:rPr>
              <a:t> + 1)</a:t>
            </a:r>
            <a:r>
              <a:rPr lang="en-US" altLang="ja-JP" sz="1800" dirty="0"/>
              <a:t> </a:t>
            </a:r>
            <a:r>
              <a:rPr lang="ja-JP" altLang="en-US" sz="1800" dirty="0"/>
              <a:t>入力の関数が表現できることをいう</a:t>
            </a:r>
            <a:endParaRPr lang="en-US" altLang="ja-JP" sz="1800" dirty="0"/>
          </a:p>
        </p:txBody>
      </p:sp>
      <p:graphicFrame>
        <p:nvGraphicFramePr>
          <p:cNvPr id="6" name="Group 153"/>
          <p:cNvGraphicFramePr>
            <a:graphicFrameLocks/>
          </p:cNvGraphicFramePr>
          <p:nvPr>
            <p:extLst>
              <p:ext uri="{D42A27DB-BD31-4B8C-83A1-F6EECF244321}">
                <p14:modId xmlns:p14="http://schemas.microsoft.com/office/powerpoint/2010/main" val="2432121503"/>
              </p:ext>
            </p:extLst>
          </p:nvPr>
        </p:nvGraphicFramePr>
        <p:xfrm>
          <a:off x="2315958" y="2528993"/>
          <a:ext cx="2699750" cy="3414461"/>
        </p:xfrm>
        <a:graphic>
          <a:graphicData uri="http://schemas.openxmlformats.org/drawingml/2006/table">
            <a:tbl>
              <a:tblPr/>
              <a:tblGrid>
                <a:gridCol w="53975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432000">
                  <a:extLst>
                    <a:ext uri="{9D8B030D-6E8A-4147-A177-3AD203B41FA5}">
                      <a16:colId xmlns:a16="http://schemas.microsoft.com/office/drawing/2014/main" val="20002"/>
                    </a:ext>
                  </a:extLst>
                </a:gridCol>
                <a:gridCol w="432000">
                  <a:extLst>
                    <a:ext uri="{9D8B030D-6E8A-4147-A177-3AD203B41FA5}">
                      <a16:colId xmlns:a16="http://schemas.microsoft.com/office/drawing/2014/main" val="20003"/>
                    </a:ext>
                  </a:extLst>
                </a:gridCol>
                <a:gridCol w="432000">
                  <a:extLst>
                    <a:ext uri="{9D8B030D-6E8A-4147-A177-3AD203B41FA5}">
                      <a16:colId xmlns:a16="http://schemas.microsoft.com/office/drawing/2014/main" val="20004"/>
                    </a:ext>
                  </a:extLst>
                </a:gridCol>
                <a:gridCol w="432000">
                  <a:extLst>
                    <a:ext uri="{9D8B030D-6E8A-4147-A177-3AD203B41FA5}">
                      <a16:colId xmlns:a16="http://schemas.microsoft.com/office/drawing/2014/main" val="20005"/>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n</a:t>
                      </a:r>
                      <a:r>
                        <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n</a:t>
                      </a:r>
                    </a:p>
                  </a:txBody>
                  <a:tcPr anchor="ctr" horzOverflow="overflow">
                    <a:lnL w="635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o</a:t>
                      </a:r>
                      <a:endPar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rowSpan="4">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alpha val="50000"/>
                      </a:schemeClr>
                    </a:solidFill>
                  </a:tcPr>
                </a:tc>
                <a:extLst>
                  <a:ext uri="{0D108BD9-81ED-4DB2-BD59-A6C34878D82A}">
                    <a16:rowId xmlns:a16="http://schemas.microsoft.com/office/drawing/2014/main" val="10001"/>
                  </a:ext>
                </a:extLst>
              </a:tr>
              <a:tr h="365125">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extLst>
                  <a:ext uri="{0D108BD9-81ED-4DB2-BD59-A6C34878D82A}">
                    <a16:rowId xmlns:a16="http://schemas.microsoft.com/office/drawing/2014/main" val="10002"/>
                  </a:ext>
                </a:extLst>
              </a:tr>
              <a:tr h="344488">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5">
                        <a:alpha val="50000"/>
                      </a:schemeClr>
                    </a:solidFill>
                  </a:tcPr>
                </a:tc>
                <a:extLst>
                  <a:ext uri="{0D108BD9-81ED-4DB2-BD59-A6C34878D82A}">
                    <a16:rowId xmlns:a16="http://schemas.microsoft.com/office/drawing/2014/main" val="10003"/>
                  </a:ext>
                </a:extLst>
              </a:tr>
              <a:tr h="363538">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solidFill>
                      <a:schemeClr val="accent5">
                        <a:alpha val="50000"/>
                      </a:schemeClr>
                    </a:solidFill>
                  </a:tcPr>
                </a:tc>
                <a:extLst>
                  <a:ext uri="{0D108BD9-81ED-4DB2-BD59-A6C34878D82A}">
                    <a16:rowId xmlns:a16="http://schemas.microsoft.com/office/drawing/2014/main" val="10004"/>
                  </a:ext>
                </a:extLst>
              </a:tr>
              <a:tr h="363538">
                <a:tc rowSpan="4">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solidFill>
                      <a:schemeClr val="accent6">
                        <a:alpha val="50000"/>
                      </a:schemeClr>
                    </a:solidFill>
                  </a:tcPr>
                </a:tc>
                <a:extLst>
                  <a:ext uri="{0D108BD9-81ED-4DB2-BD59-A6C34878D82A}">
                    <a16:rowId xmlns:a16="http://schemas.microsoft.com/office/drawing/2014/main" val="10005"/>
                  </a:ext>
                </a:extLst>
              </a:tr>
              <a:tr h="366713">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extLst>
                  <a:ext uri="{0D108BD9-81ED-4DB2-BD59-A6C34878D82A}">
                    <a16:rowId xmlns:a16="http://schemas.microsoft.com/office/drawing/2014/main" val="10006"/>
                  </a:ext>
                </a:extLst>
              </a:tr>
              <a:tr h="344488">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cap="flat">
                      <a:noFill/>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vert="eaVert" anchor="b"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6">
                        <a:alpha val="50000"/>
                      </a:schemeClr>
                    </a:solidFill>
                  </a:tcPr>
                </a:tc>
                <a:extLst>
                  <a:ext uri="{0D108BD9-81ED-4DB2-BD59-A6C34878D82A}">
                    <a16:rowId xmlns:a16="http://schemas.microsoft.com/office/drawing/2014/main" val="10007"/>
                  </a:ext>
                </a:extLst>
              </a:tr>
              <a:tr h="266700">
                <a:tc vMerge="1">
                  <a:txBody>
                    <a:bodyPr/>
                    <a:lstStyle/>
                    <a:p>
                      <a:endParaRPr kumimoji="1" lang="ja-JP" altLang="en-US"/>
                    </a:p>
                  </a:txBody>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alpha val="50000"/>
                      </a:schemeClr>
                    </a:solidFill>
                  </a:tcPr>
                </a:tc>
                <a:extLst>
                  <a:ext uri="{0D108BD9-81ED-4DB2-BD59-A6C34878D82A}">
                    <a16:rowId xmlns:a16="http://schemas.microsoft.com/office/drawing/2014/main" val="10008"/>
                  </a:ext>
                </a:extLst>
              </a:tr>
            </a:tbl>
          </a:graphicData>
        </a:graphic>
      </p:graphicFrame>
      <p:sp>
        <p:nvSpPr>
          <p:cNvPr id="7" name="Text Box 143"/>
          <p:cNvSpPr txBox="1">
            <a:spLocks noChangeArrowheads="1"/>
          </p:cNvSpPr>
          <p:nvPr/>
        </p:nvSpPr>
        <p:spPr bwMode="auto">
          <a:xfrm>
            <a:off x="6772875" y="2708633"/>
            <a:ext cx="3575050" cy="719138"/>
          </a:xfrm>
          <a:prstGeom prst="rect">
            <a:avLst/>
          </a:prstGeom>
          <a:noFill/>
          <a:ln w="9525">
            <a:noFill/>
            <a:miter lim="800000"/>
            <a:headEnd/>
            <a:tailEnd/>
          </a:ln>
          <a:effectLst/>
        </p:spPr>
        <p:txBody>
          <a:bodyPr wrap="none" anchor="ctr"/>
          <a:lstStyle/>
          <a:p>
            <a:pPr algn="ctr"/>
            <a:r>
              <a:rPr lang="en-US" altLang="ja-JP" sz="2800" i="1" dirty="0">
                <a:latin typeface="+mn-ea"/>
              </a:rPr>
              <a:t>f</a:t>
            </a:r>
            <a:r>
              <a:rPr lang="en-US" altLang="ja-JP" sz="2800" dirty="0">
                <a:latin typeface="+mn-ea"/>
              </a:rPr>
              <a:t> = </a:t>
            </a:r>
            <a:r>
              <a:rPr lang="en-US" altLang="ja-JP" sz="2800" i="1" spc="-300" dirty="0">
                <a:latin typeface="+mn-ea"/>
              </a:rPr>
              <a:t>i’</a:t>
            </a:r>
            <a:r>
              <a:rPr lang="en-US" altLang="ja-JP" sz="2800" i="1" spc="-300" baseline="-25000" dirty="0">
                <a:latin typeface="+mn-ea"/>
              </a:rPr>
              <a:t>n</a:t>
            </a:r>
            <a:r>
              <a:rPr lang="en-US" altLang="ja-JP" sz="2800" spc="-300" baseline="-25000" dirty="0">
                <a:latin typeface="+mn-ea"/>
              </a:rPr>
              <a:t>+1</a:t>
            </a:r>
            <a:r>
              <a:rPr kumimoji="0" lang="en-US" altLang="ja-JP" sz="2000" b="1" dirty="0">
                <a:latin typeface="+mn-ea"/>
              </a:rPr>
              <a:t>∙ </a:t>
            </a:r>
            <a:r>
              <a:rPr lang="en-US" altLang="ja-JP" sz="2800" i="1" spc="-150" dirty="0">
                <a:solidFill>
                  <a:schemeClr val="accent5"/>
                </a:solidFill>
                <a:latin typeface="+mn-ea"/>
              </a:rPr>
              <a:t>f</a:t>
            </a:r>
            <a:r>
              <a:rPr lang="en-US" altLang="ja-JP" sz="2800" i="1" spc="-150" baseline="-25000" dirty="0">
                <a:solidFill>
                  <a:schemeClr val="accent5"/>
                </a:solidFill>
                <a:latin typeface="+mn-ea"/>
              </a:rPr>
              <a:t>n</a:t>
            </a:r>
            <a:r>
              <a:rPr lang="en-US" altLang="ja-JP" sz="2800" spc="-150" baseline="30000" dirty="0">
                <a:solidFill>
                  <a:schemeClr val="accent5"/>
                </a:solidFill>
                <a:latin typeface="+mn-ea"/>
              </a:rPr>
              <a:t>0</a:t>
            </a:r>
            <a:r>
              <a:rPr lang="en-US" altLang="ja-JP" sz="2800" dirty="0">
                <a:latin typeface="+mn-ea"/>
              </a:rPr>
              <a:t> + </a:t>
            </a:r>
            <a:r>
              <a:rPr lang="en-US" altLang="ja-JP" sz="2800" i="1" dirty="0">
                <a:latin typeface="+mn-ea"/>
              </a:rPr>
              <a:t>i</a:t>
            </a:r>
            <a:r>
              <a:rPr lang="en-US" altLang="ja-JP" sz="2800" i="1" baseline="-25000" dirty="0">
                <a:latin typeface="+mn-ea"/>
              </a:rPr>
              <a:t>n</a:t>
            </a:r>
            <a:r>
              <a:rPr lang="en-US" altLang="ja-JP" sz="2800" baseline="-25000" dirty="0">
                <a:latin typeface="+mn-ea"/>
              </a:rPr>
              <a:t>+1</a:t>
            </a:r>
            <a:r>
              <a:rPr kumimoji="0" lang="en-US" altLang="ja-JP" sz="2000" b="1" dirty="0">
                <a:latin typeface="+mn-ea"/>
              </a:rPr>
              <a:t>∙ </a:t>
            </a:r>
            <a:r>
              <a:rPr lang="en-US" altLang="ja-JP" sz="2800" i="1" spc="-150" dirty="0">
                <a:solidFill>
                  <a:schemeClr val="accent6"/>
                </a:solidFill>
                <a:latin typeface="+mn-ea"/>
              </a:rPr>
              <a:t>f</a:t>
            </a:r>
            <a:r>
              <a:rPr lang="en-US" altLang="ja-JP" sz="2800" i="1" spc="-150" baseline="-25000" dirty="0">
                <a:solidFill>
                  <a:schemeClr val="accent6"/>
                </a:solidFill>
                <a:latin typeface="+mn-ea"/>
              </a:rPr>
              <a:t>n</a:t>
            </a:r>
            <a:r>
              <a:rPr lang="en-US" altLang="ja-JP" sz="2800" spc="-150" baseline="30000" dirty="0">
                <a:solidFill>
                  <a:schemeClr val="accent6"/>
                </a:solidFill>
                <a:latin typeface="+mn-ea"/>
              </a:rPr>
              <a:t>1</a:t>
            </a:r>
          </a:p>
        </p:txBody>
      </p:sp>
      <p:sp>
        <p:nvSpPr>
          <p:cNvPr id="8" name="Rectangle 144"/>
          <p:cNvSpPr>
            <a:spLocks noChangeArrowheads="1"/>
          </p:cNvSpPr>
          <p:nvPr/>
        </p:nvSpPr>
        <p:spPr bwMode="auto">
          <a:xfrm>
            <a:off x="6816011" y="3399828"/>
            <a:ext cx="719137" cy="720725"/>
          </a:xfrm>
          <a:prstGeom prst="rect">
            <a:avLst/>
          </a:prstGeom>
          <a:solidFill>
            <a:schemeClr val="accent5">
              <a:alpha val="50000"/>
            </a:schemeClr>
          </a:solidFill>
          <a:ln w="28575">
            <a:solidFill>
              <a:schemeClr val="tx1"/>
            </a:solidFill>
            <a:miter lim="800000"/>
            <a:headEnd/>
            <a:tailEnd/>
          </a:ln>
          <a:effectLst/>
        </p:spPr>
        <p:txBody>
          <a:bodyPr wrap="none" anchor="ctr"/>
          <a:lstStyle/>
          <a:p>
            <a:pPr algn="ctr"/>
            <a:r>
              <a:rPr lang="en-US" altLang="ja-JP" sz="2400" i="1" spc="-150" dirty="0">
                <a:ea typeface="MeiryoKe_PGothic" pitchFamily="50" charset="-128"/>
              </a:rPr>
              <a:t>f</a:t>
            </a:r>
            <a:r>
              <a:rPr lang="en-US" altLang="ja-JP" sz="2400" i="1" spc="-150" baseline="-25000" dirty="0">
                <a:ea typeface="MeiryoKe_PGothic" pitchFamily="50" charset="-128"/>
              </a:rPr>
              <a:t>n</a:t>
            </a:r>
            <a:r>
              <a:rPr lang="en-US" altLang="ja-JP" sz="2400" spc="-150" baseline="30000" dirty="0">
                <a:ea typeface="MeiryoKe_PGothic" pitchFamily="50" charset="-128"/>
              </a:rPr>
              <a:t>0</a:t>
            </a:r>
          </a:p>
        </p:txBody>
      </p:sp>
      <p:sp>
        <p:nvSpPr>
          <p:cNvPr id="9" name="Rectangle 145"/>
          <p:cNvSpPr>
            <a:spLocks noChangeArrowheads="1"/>
          </p:cNvSpPr>
          <p:nvPr/>
        </p:nvSpPr>
        <p:spPr bwMode="auto">
          <a:xfrm>
            <a:off x="6816011" y="4841275"/>
            <a:ext cx="720725" cy="719138"/>
          </a:xfrm>
          <a:prstGeom prst="rect">
            <a:avLst/>
          </a:prstGeom>
          <a:solidFill>
            <a:schemeClr val="accent6">
              <a:alpha val="50000"/>
            </a:schemeClr>
          </a:solidFill>
          <a:ln w="28575">
            <a:solidFill>
              <a:schemeClr val="tx1"/>
            </a:solidFill>
            <a:miter lim="800000"/>
            <a:headEnd/>
            <a:tailEnd/>
          </a:ln>
          <a:effectLst/>
        </p:spPr>
        <p:txBody>
          <a:bodyPr wrap="none" anchor="ctr"/>
          <a:lstStyle/>
          <a:p>
            <a:pPr algn="ctr"/>
            <a:r>
              <a:rPr lang="en-US" altLang="ja-JP" sz="2400" i="1" spc="-150" dirty="0">
                <a:ea typeface="MeiryoKe_PGothic" pitchFamily="50" charset="-128"/>
              </a:rPr>
              <a:t>f</a:t>
            </a:r>
            <a:r>
              <a:rPr lang="en-US" altLang="ja-JP" sz="2400" i="1" spc="-150" baseline="-25000" dirty="0">
                <a:ea typeface="MeiryoKe_PGothic" pitchFamily="50" charset="-128"/>
              </a:rPr>
              <a:t>n</a:t>
            </a:r>
            <a:r>
              <a:rPr lang="en-US" altLang="ja-JP" sz="2400" spc="-150" baseline="30000" dirty="0">
                <a:ea typeface="MeiryoKe_PGothic" pitchFamily="50" charset="-128"/>
              </a:rPr>
              <a:t>1</a:t>
            </a:r>
          </a:p>
        </p:txBody>
      </p:sp>
      <p:sp>
        <p:nvSpPr>
          <p:cNvPr id="10" name="Line 101"/>
          <p:cNvSpPr>
            <a:spLocks noChangeShapeType="1"/>
          </p:cNvSpPr>
          <p:nvPr/>
        </p:nvSpPr>
        <p:spPr bwMode="auto">
          <a:xfrm>
            <a:off x="10255818" y="4661251"/>
            <a:ext cx="36004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11" name="Picture 90" descr="AND"/>
          <p:cNvPicPr>
            <a:picLocks noChangeAspect="1" noChangeArrowheads="1"/>
          </p:cNvPicPr>
          <p:nvPr/>
        </p:nvPicPr>
        <p:blipFill>
          <a:blip r:embed="rId3" cstate="print"/>
          <a:srcRect/>
          <a:stretch>
            <a:fillRect/>
          </a:stretch>
        </p:blipFill>
        <p:spPr bwMode="auto">
          <a:xfrm>
            <a:off x="8355256" y="3583966"/>
            <a:ext cx="1079500" cy="720725"/>
          </a:xfrm>
          <a:prstGeom prst="rect">
            <a:avLst/>
          </a:prstGeom>
          <a:noFill/>
        </p:spPr>
      </p:pic>
      <p:pic>
        <p:nvPicPr>
          <p:cNvPr id="12" name="Picture 92" descr="AND"/>
          <p:cNvPicPr>
            <a:picLocks noChangeAspect="1" noChangeArrowheads="1"/>
          </p:cNvPicPr>
          <p:nvPr/>
        </p:nvPicPr>
        <p:blipFill>
          <a:blip r:embed="rId3" cstate="print"/>
          <a:srcRect/>
          <a:stretch>
            <a:fillRect/>
          </a:stretch>
        </p:blipFill>
        <p:spPr bwMode="auto">
          <a:xfrm>
            <a:off x="8366379" y="5030175"/>
            <a:ext cx="1079500" cy="720725"/>
          </a:xfrm>
          <a:prstGeom prst="rect">
            <a:avLst/>
          </a:prstGeom>
          <a:noFill/>
        </p:spPr>
      </p:pic>
      <p:sp>
        <p:nvSpPr>
          <p:cNvPr id="13" name="Line 93"/>
          <p:cNvSpPr>
            <a:spLocks noChangeShapeType="1"/>
          </p:cNvSpPr>
          <p:nvPr/>
        </p:nvSpPr>
        <p:spPr bwMode="auto">
          <a:xfrm>
            <a:off x="7536107" y="3761131"/>
            <a:ext cx="901695" cy="380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4" name="Line 94"/>
          <p:cNvSpPr>
            <a:spLocks noChangeShapeType="1"/>
          </p:cNvSpPr>
          <p:nvPr/>
        </p:nvSpPr>
        <p:spPr bwMode="auto">
          <a:xfrm>
            <a:off x="7536104" y="5201323"/>
            <a:ext cx="91947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15" name="Freeform 95"/>
          <p:cNvSpPr>
            <a:spLocks/>
          </p:cNvSpPr>
          <p:nvPr/>
        </p:nvSpPr>
        <p:spPr bwMode="auto">
          <a:xfrm>
            <a:off x="8094919" y="4130063"/>
            <a:ext cx="360363" cy="1806591"/>
          </a:xfrm>
          <a:custGeom>
            <a:avLst/>
            <a:gdLst/>
            <a:ahLst/>
            <a:cxnLst>
              <a:cxn ang="0">
                <a:pos x="0" y="1248"/>
              </a:cxn>
              <a:cxn ang="0">
                <a:pos x="0" y="0"/>
              </a:cxn>
              <a:cxn ang="0">
                <a:pos x="453" y="0"/>
              </a:cxn>
            </a:cxnLst>
            <a:rect l="0" t="0" r="r" b="b"/>
            <a:pathLst>
              <a:path w="453" h="1248">
                <a:moveTo>
                  <a:pt x="0" y="1248"/>
                </a:moveTo>
                <a:lnTo>
                  <a:pt x="0" y="0"/>
                </a:lnTo>
                <a:lnTo>
                  <a:pt x="453" y="0"/>
                </a:lnTo>
              </a:path>
            </a:pathLst>
          </a:custGeom>
          <a:noFill/>
          <a:ln w="9525" cap="flat" cmpd="sng">
            <a:solidFill>
              <a:schemeClr val="tx1"/>
            </a:solidFill>
            <a:prstDash val="solid"/>
            <a:round/>
            <a:headEnd type="none" w="med" len="med"/>
            <a:tailEnd type="none" w="med" len="med"/>
          </a:ln>
          <a:effectLst/>
        </p:spPr>
        <p:txBody>
          <a:bodyPr/>
          <a:lstStyle/>
          <a:p>
            <a:endParaRPr lang="ja-JP" altLang="en-US" dirty="0">
              <a:ea typeface="MeiryoKe_PGothic" pitchFamily="50" charset="-128"/>
            </a:endParaRPr>
          </a:p>
        </p:txBody>
      </p:sp>
      <p:sp>
        <p:nvSpPr>
          <p:cNvPr id="16" name="Line 96"/>
          <p:cNvSpPr>
            <a:spLocks noChangeShapeType="1"/>
          </p:cNvSpPr>
          <p:nvPr/>
        </p:nvSpPr>
        <p:spPr bwMode="auto">
          <a:xfrm>
            <a:off x="8094919" y="5569922"/>
            <a:ext cx="360363" cy="1588"/>
          </a:xfrm>
          <a:prstGeom prst="line">
            <a:avLst/>
          </a:prstGeom>
          <a:noFill/>
          <a:ln w="9525">
            <a:solidFill>
              <a:schemeClr val="tx1"/>
            </a:solidFill>
            <a:round/>
            <a:headEnd type="oval" w="med" len="med"/>
            <a:tailEnd/>
          </a:ln>
          <a:effectLst/>
        </p:spPr>
        <p:txBody>
          <a:bodyPr/>
          <a:lstStyle/>
          <a:p>
            <a:endParaRPr lang="ja-JP" altLang="en-US" dirty="0">
              <a:ea typeface="MeiryoKe_PGothic" pitchFamily="50" charset="-128"/>
            </a:endParaRPr>
          </a:p>
        </p:txBody>
      </p:sp>
      <p:pic>
        <p:nvPicPr>
          <p:cNvPr id="17" name="Picture 91" descr="NOT"/>
          <p:cNvPicPr>
            <a:picLocks noChangeAspect="1" noChangeArrowheads="1"/>
          </p:cNvPicPr>
          <p:nvPr/>
        </p:nvPicPr>
        <p:blipFill>
          <a:blip r:embed="rId4" cstate="print"/>
          <a:srcRect/>
          <a:stretch>
            <a:fillRect/>
          </a:stretch>
        </p:blipFill>
        <p:spPr bwMode="auto">
          <a:xfrm rot="16200000">
            <a:off x="7737729" y="4307862"/>
            <a:ext cx="717550" cy="720725"/>
          </a:xfrm>
          <a:prstGeom prst="rect">
            <a:avLst/>
          </a:prstGeom>
          <a:noFill/>
        </p:spPr>
      </p:pic>
      <p:sp>
        <p:nvSpPr>
          <p:cNvPr id="18" name="Freeform 98"/>
          <p:cNvSpPr>
            <a:spLocks/>
          </p:cNvSpPr>
          <p:nvPr/>
        </p:nvSpPr>
        <p:spPr bwMode="auto">
          <a:xfrm>
            <a:off x="9176004" y="3950675"/>
            <a:ext cx="539750" cy="530555"/>
          </a:xfrm>
          <a:custGeom>
            <a:avLst/>
            <a:gdLst/>
            <a:ahLst/>
            <a:cxnLst>
              <a:cxn ang="0">
                <a:pos x="0" y="0"/>
              </a:cxn>
              <a:cxn ang="0">
                <a:pos x="227" y="0"/>
              </a:cxn>
              <a:cxn ang="0">
                <a:pos x="227" y="283"/>
              </a:cxn>
              <a:cxn ang="0">
                <a:pos x="453" y="283"/>
              </a:cxn>
            </a:cxnLst>
            <a:rect l="0" t="0" r="r" b="b"/>
            <a:pathLst>
              <a:path w="453" h="283">
                <a:moveTo>
                  <a:pt x="0" y="0"/>
                </a:moveTo>
                <a:lnTo>
                  <a:pt x="227" y="0"/>
                </a:lnTo>
                <a:lnTo>
                  <a:pt x="227" y="283"/>
                </a:lnTo>
                <a:lnTo>
                  <a:pt x="453" y="283"/>
                </a:lnTo>
              </a:path>
            </a:pathLst>
          </a:custGeom>
          <a:noFill/>
          <a:ln w="9525" cap="flat" cmpd="sng">
            <a:solidFill>
              <a:schemeClr val="tx1"/>
            </a:solidFill>
            <a:prstDash val="solid"/>
            <a:round/>
            <a:headEnd type="none" w="med" len="med"/>
            <a:tailEnd type="none" w="med" len="med"/>
          </a:ln>
          <a:effectLst/>
        </p:spPr>
        <p:txBody>
          <a:bodyPr/>
          <a:lstStyle/>
          <a:p>
            <a:endParaRPr lang="ja-JP" altLang="en-US" dirty="0">
              <a:ea typeface="MeiryoKe_PGothic" pitchFamily="50" charset="-128"/>
            </a:endParaRPr>
          </a:p>
        </p:txBody>
      </p:sp>
      <p:sp>
        <p:nvSpPr>
          <p:cNvPr id="19" name="Freeform 99"/>
          <p:cNvSpPr>
            <a:spLocks/>
          </p:cNvSpPr>
          <p:nvPr/>
        </p:nvSpPr>
        <p:spPr bwMode="auto">
          <a:xfrm flipV="1">
            <a:off x="9176004" y="4841275"/>
            <a:ext cx="539750" cy="547672"/>
          </a:xfrm>
          <a:custGeom>
            <a:avLst/>
            <a:gdLst/>
            <a:ahLst/>
            <a:cxnLst>
              <a:cxn ang="0">
                <a:pos x="0" y="0"/>
              </a:cxn>
              <a:cxn ang="0">
                <a:pos x="227" y="0"/>
              </a:cxn>
              <a:cxn ang="0">
                <a:pos x="227" y="283"/>
              </a:cxn>
              <a:cxn ang="0">
                <a:pos x="453" y="283"/>
              </a:cxn>
            </a:cxnLst>
            <a:rect l="0" t="0" r="r" b="b"/>
            <a:pathLst>
              <a:path w="453" h="283">
                <a:moveTo>
                  <a:pt x="0" y="0"/>
                </a:moveTo>
                <a:lnTo>
                  <a:pt x="227" y="0"/>
                </a:lnTo>
                <a:lnTo>
                  <a:pt x="227" y="283"/>
                </a:lnTo>
                <a:lnTo>
                  <a:pt x="453" y="283"/>
                </a:lnTo>
              </a:path>
            </a:pathLst>
          </a:custGeom>
          <a:noFill/>
          <a:ln w="9525" cap="flat" cmpd="sng">
            <a:solidFill>
              <a:schemeClr val="tx1"/>
            </a:solidFill>
            <a:prstDash val="solid"/>
            <a:round/>
            <a:headEnd type="none" w="med" len="med"/>
            <a:tailEnd type="none" w="med" len="med"/>
          </a:ln>
          <a:effectLst/>
        </p:spPr>
        <p:txBody>
          <a:bodyPr/>
          <a:lstStyle/>
          <a:p>
            <a:endParaRPr lang="ja-JP" altLang="en-US" dirty="0">
              <a:ea typeface="MeiryoKe_PGothic" pitchFamily="50" charset="-128"/>
            </a:endParaRPr>
          </a:p>
        </p:txBody>
      </p:sp>
      <p:pic>
        <p:nvPicPr>
          <p:cNvPr id="20" name="Picture 100" descr="OR"/>
          <p:cNvPicPr>
            <a:picLocks noChangeAspect="1" noChangeArrowheads="1"/>
          </p:cNvPicPr>
          <p:nvPr/>
        </p:nvPicPr>
        <p:blipFill>
          <a:blip r:embed="rId5" cstate="print"/>
          <a:srcRect/>
          <a:stretch>
            <a:fillRect/>
          </a:stretch>
        </p:blipFill>
        <p:spPr bwMode="auto">
          <a:xfrm>
            <a:off x="9535722" y="4301203"/>
            <a:ext cx="1079500" cy="717550"/>
          </a:xfrm>
          <a:prstGeom prst="rect">
            <a:avLst/>
          </a:prstGeom>
          <a:noFill/>
        </p:spPr>
      </p:pic>
      <p:sp>
        <p:nvSpPr>
          <p:cNvPr id="21" name="Rectangle 111"/>
          <p:cNvSpPr>
            <a:spLocks noChangeArrowheads="1"/>
          </p:cNvSpPr>
          <p:nvPr/>
        </p:nvSpPr>
        <p:spPr bwMode="auto">
          <a:xfrm>
            <a:off x="7672885" y="5588668"/>
            <a:ext cx="360362"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i="1" baseline="-25000" dirty="0">
                <a:ea typeface="MeiryoKe_PGothic" pitchFamily="50" charset="-128"/>
              </a:rPr>
              <a:t>n</a:t>
            </a:r>
            <a:r>
              <a:rPr lang="en-US" altLang="ja-JP" sz="2000" baseline="-25000" dirty="0">
                <a:ea typeface="MeiryoKe_PGothic" pitchFamily="50" charset="-128"/>
                <a:cs typeface="Times New Roman" pitchFamily="18" charset="0"/>
              </a:rPr>
              <a:t>+</a:t>
            </a:r>
            <a:r>
              <a:rPr lang="en-US" altLang="ja-JP" sz="2000" baseline="-25000" dirty="0">
                <a:ea typeface="MeiryoKe_PGothic" pitchFamily="50" charset="-128"/>
              </a:rPr>
              <a:t>1</a:t>
            </a:r>
          </a:p>
        </p:txBody>
      </p:sp>
      <p:sp>
        <p:nvSpPr>
          <p:cNvPr id="22" name="Line 93"/>
          <p:cNvSpPr>
            <a:spLocks noChangeShapeType="1"/>
          </p:cNvSpPr>
          <p:nvPr/>
        </p:nvSpPr>
        <p:spPr bwMode="auto">
          <a:xfrm>
            <a:off x="5915891" y="3491095"/>
            <a:ext cx="901695" cy="380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3" name="Line 93"/>
          <p:cNvSpPr>
            <a:spLocks noChangeShapeType="1"/>
          </p:cNvSpPr>
          <p:nvPr/>
        </p:nvSpPr>
        <p:spPr bwMode="auto">
          <a:xfrm>
            <a:off x="6095913" y="3671119"/>
            <a:ext cx="720096"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4" name="Line 93"/>
          <p:cNvSpPr>
            <a:spLocks noChangeShapeType="1"/>
          </p:cNvSpPr>
          <p:nvPr/>
        </p:nvSpPr>
        <p:spPr bwMode="auto">
          <a:xfrm>
            <a:off x="6455961" y="4031167"/>
            <a:ext cx="36004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5" name="Line 93"/>
          <p:cNvSpPr>
            <a:spLocks noChangeShapeType="1"/>
          </p:cNvSpPr>
          <p:nvPr/>
        </p:nvSpPr>
        <p:spPr bwMode="auto">
          <a:xfrm>
            <a:off x="5915891" y="4931287"/>
            <a:ext cx="901695" cy="380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6" name="Line 93"/>
          <p:cNvSpPr>
            <a:spLocks noChangeShapeType="1"/>
          </p:cNvSpPr>
          <p:nvPr/>
        </p:nvSpPr>
        <p:spPr bwMode="auto">
          <a:xfrm>
            <a:off x="6095913" y="5111311"/>
            <a:ext cx="720096"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7" name="Line 93"/>
          <p:cNvSpPr>
            <a:spLocks noChangeShapeType="1"/>
          </p:cNvSpPr>
          <p:nvPr/>
        </p:nvSpPr>
        <p:spPr bwMode="auto">
          <a:xfrm>
            <a:off x="6455961" y="5471359"/>
            <a:ext cx="360048"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8" name="Line 93"/>
          <p:cNvSpPr>
            <a:spLocks noChangeShapeType="1"/>
          </p:cNvSpPr>
          <p:nvPr/>
        </p:nvSpPr>
        <p:spPr bwMode="auto">
          <a:xfrm flipV="1">
            <a:off x="5915889" y="3491095"/>
            <a:ext cx="0" cy="144019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29" name="Line 93"/>
          <p:cNvSpPr>
            <a:spLocks noChangeShapeType="1"/>
          </p:cNvSpPr>
          <p:nvPr/>
        </p:nvSpPr>
        <p:spPr bwMode="auto">
          <a:xfrm flipV="1">
            <a:off x="6095912" y="3671119"/>
            <a:ext cx="0" cy="144019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93"/>
          <p:cNvSpPr>
            <a:spLocks noChangeShapeType="1"/>
          </p:cNvSpPr>
          <p:nvPr/>
        </p:nvSpPr>
        <p:spPr bwMode="auto">
          <a:xfrm flipV="1">
            <a:off x="6455960" y="4031167"/>
            <a:ext cx="0" cy="144019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93"/>
          <p:cNvSpPr>
            <a:spLocks noChangeShapeType="1"/>
          </p:cNvSpPr>
          <p:nvPr/>
        </p:nvSpPr>
        <p:spPr bwMode="auto">
          <a:xfrm>
            <a:off x="5485182" y="4031167"/>
            <a:ext cx="430706" cy="0"/>
          </a:xfrm>
          <a:prstGeom prst="line">
            <a:avLst/>
          </a:prstGeom>
          <a:noFill/>
          <a:ln w="9525">
            <a:solidFill>
              <a:schemeClr val="tx1"/>
            </a:solidFill>
            <a:round/>
            <a:headEnd/>
            <a:tailEnd type="oval"/>
          </a:ln>
          <a:effectLst/>
        </p:spPr>
        <p:txBody>
          <a:bodyPr/>
          <a:lstStyle/>
          <a:p>
            <a:endParaRPr lang="ja-JP" altLang="en-US" dirty="0">
              <a:ea typeface="MeiryoKe_PGothic" pitchFamily="50" charset="-128"/>
            </a:endParaRPr>
          </a:p>
        </p:txBody>
      </p:sp>
      <p:sp>
        <p:nvSpPr>
          <p:cNvPr id="32" name="Line 93"/>
          <p:cNvSpPr>
            <a:spLocks noChangeShapeType="1"/>
          </p:cNvSpPr>
          <p:nvPr/>
        </p:nvSpPr>
        <p:spPr bwMode="auto">
          <a:xfrm>
            <a:off x="5485182" y="4211191"/>
            <a:ext cx="610730" cy="0"/>
          </a:xfrm>
          <a:prstGeom prst="line">
            <a:avLst/>
          </a:prstGeom>
          <a:noFill/>
          <a:ln w="9525">
            <a:solidFill>
              <a:schemeClr val="tx1"/>
            </a:solidFill>
            <a:round/>
            <a:headEnd/>
            <a:tailEnd type="oval"/>
          </a:ln>
          <a:effectLst/>
        </p:spPr>
        <p:txBody>
          <a:bodyPr/>
          <a:lstStyle/>
          <a:p>
            <a:endParaRPr lang="ja-JP" altLang="en-US" dirty="0">
              <a:ea typeface="MeiryoKe_PGothic" pitchFamily="50" charset="-128"/>
            </a:endParaRPr>
          </a:p>
        </p:txBody>
      </p:sp>
      <p:sp>
        <p:nvSpPr>
          <p:cNvPr id="33" name="Line 93"/>
          <p:cNvSpPr>
            <a:spLocks noChangeShapeType="1"/>
          </p:cNvSpPr>
          <p:nvPr/>
        </p:nvSpPr>
        <p:spPr bwMode="auto">
          <a:xfrm>
            <a:off x="5485182" y="4571239"/>
            <a:ext cx="970778" cy="0"/>
          </a:xfrm>
          <a:prstGeom prst="line">
            <a:avLst/>
          </a:prstGeom>
          <a:noFill/>
          <a:ln w="9525">
            <a:solidFill>
              <a:schemeClr val="tx1"/>
            </a:solidFill>
            <a:round/>
            <a:headEnd/>
            <a:tailEnd type="oval"/>
          </a:ln>
          <a:effectLst/>
        </p:spPr>
        <p:txBody>
          <a:bodyPr/>
          <a:lstStyle/>
          <a:p>
            <a:endParaRPr lang="ja-JP" altLang="en-US" dirty="0">
              <a:ea typeface="MeiryoKe_PGothic" pitchFamily="50" charset="-128"/>
            </a:endParaRPr>
          </a:p>
        </p:txBody>
      </p:sp>
      <p:sp>
        <p:nvSpPr>
          <p:cNvPr id="34" name="Rectangle 19"/>
          <p:cNvSpPr>
            <a:spLocks noChangeArrowheads="1"/>
          </p:cNvSpPr>
          <p:nvPr/>
        </p:nvSpPr>
        <p:spPr bwMode="auto">
          <a:xfrm>
            <a:off x="5125137" y="3671122"/>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baseline="-25000" dirty="0">
                <a:ea typeface="MeiryoKe_PGothic" pitchFamily="50" charset="-128"/>
              </a:rPr>
              <a:t>1</a:t>
            </a:r>
          </a:p>
        </p:txBody>
      </p:sp>
      <p:sp>
        <p:nvSpPr>
          <p:cNvPr id="35" name="Rectangle 19"/>
          <p:cNvSpPr>
            <a:spLocks noChangeArrowheads="1"/>
          </p:cNvSpPr>
          <p:nvPr/>
        </p:nvSpPr>
        <p:spPr bwMode="auto">
          <a:xfrm>
            <a:off x="5125137" y="3941158"/>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baseline="-25000" dirty="0">
                <a:ea typeface="MeiryoKe_PGothic" pitchFamily="50" charset="-128"/>
              </a:rPr>
              <a:t>2</a:t>
            </a:r>
          </a:p>
        </p:txBody>
      </p:sp>
      <p:sp>
        <p:nvSpPr>
          <p:cNvPr id="36" name="Rectangle 19"/>
          <p:cNvSpPr>
            <a:spLocks noChangeArrowheads="1"/>
          </p:cNvSpPr>
          <p:nvPr/>
        </p:nvSpPr>
        <p:spPr bwMode="auto">
          <a:xfrm>
            <a:off x="5125137" y="4481230"/>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i</a:t>
            </a:r>
            <a:r>
              <a:rPr lang="en-US" altLang="ja-JP" sz="2000" i="1" baseline="-25000" dirty="0">
                <a:ea typeface="MeiryoKe_PGothic" pitchFamily="50" charset="-128"/>
              </a:rPr>
              <a:t>n</a:t>
            </a:r>
          </a:p>
        </p:txBody>
      </p:sp>
      <p:sp>
        <p:nvSpPr>
          <p:cNvPr id="37" name="Rectangle 19"/>
          <p:cNvSpPr>
            <a:spLocks noChangeArrowheads="1"/>
          </p:cNvSpPr>
          <p:nvPr/>
        </p:nvSpPr>
        <p:spPr bwMode="auto">
          <a:xfrm>
            <a:off x="5215149" y="4211194"/>
            <a:ext cx="360363" cy="360363"/>
          </a:xfrm>
          <a:prstGeom prst="rect">
            <a:avLst/>
          </a:prstGeom>
          <a:noFill/>
          <a:ln w="28575">
            <a:noFill/>
            <a:miter lim="800000"/>
            <a:headEnd/>
            <a:tailEnd/>
          </a:ln>
          <a:effectLst/>
        </p:spPr>
        <p:txBody>
          <a:bodyPr vert="eaVert" wrap="none" anchor="ctr"/>
          <a:lstStyle/>
          <a:p>
            <a:pPr lvl="0" algn="r">
              <a:lnSpc>
                <a:spcPct val="120000"/>
              </a:lnSpc>
              <a:spcBef>
                <a:spcPct val="20000"/>
              </a:spcBef>
              <a:buClr>
                <a:srgbClr val="FF9999"/>
              </a:buClr>
            </a:pPr>
            <a:r>
              <a:rPr kumimoji="0" lang="en-US" altLang="ja-JP" sz="1600" dirty="0">
                <a:solidFill>
                  <a:srgbClr val="000000"/>
                </a:solidFill>
                <a:ea typeface="MeiryoKe_PGothic" pitchFamily="50" charset="-128"/>
              </a:rPr>
              <a:t>…</a:t>
            </a:r>
          </a:p>
        </p:txBody>
      </p:sp>
      <p:sp>
        <p:nvSpPr>
          <p:cNvPr id="38" name="Rectangle 19"/>
          <p:cNvSpPr>
            <a:spLocks noChangeArrowheads="1"/>
          </p:cNvSpPr>
          <p:nvPr/>
        </p:nvSpPr>
        <p:spPr bwMode="auto">
          <a:xfrm>
            <a:off x="6475317" y="3671122"/>
            <a:ext cx="360363" cy="360363"/>
          </a:xfrm>
          <a:prstGeom prst="rect">
            <a:avLst/>
          </a:prstGeom>
          <a:noFill/>
          <a:ln w="28575">
            <a:noFill/>
            <a:miter lim="800000"/>
            <a:headEnd/>
            <a:tailEnd/>
          </a:ln>
          <a:effectLst/>
        </p:spPr>
        <p:txBody>
          <a:bodyPr vert="eaVert" wrap="none" anchor="b"/>
          <a:lstStyle/>
          <a:p>
            <a:pPr lvl="0" algn="ctr">
              <a:lnSpc>
                <a:spcPct val="120000"/>
              </a:lnSpc>
              <a:spcBef>
                <a:spcPct val="20000"/>
              </a:spcBef>
              <a:buClr>
                <a:srgbClr val="FF9999"/>
              </a:buClr>
            </a:pPr>
            <a:r>
              <a:rPr kumimoji="0" lang="en-US" altLang="ja-JP" sz="1600" dirty="0">
                <a:solidFill>
                  <a:srgbClr val="000000"/>
                </a:solidFill>
                <a:ea typeface="MeiryoKe_PGothic" pitchFamily="50" charset="-128"/>
              </a:rPr>
              <a:t>…</a:t>
            </a:r>
          </a:p>
        </p:txBody>
      </p:sp>
      <p:sp>
        <p:nvSpPr>
          <p:cNvPr id="39" name="Rectangle 19"/>
          <p:cNvSpPr>
            <a:spLocks noChangeArrowheads="1"/>
          </p:cNvSpPr>
          <p:nvPr/>
        </p:nvSpPr>
        <p:spPr bwMode="auto">
          <a:xfrm>
            <a:off x="6475317" y="5111314"/>
            <a:ext cx="360363" cy="360363"/>
          </a:xfrm>
          <a:prstGeom prst="rect">
            <a:avLst/>
          </a:prstGeom>
          <a:noFill/>
          <a:ln w="28575">
            <a:noFill/>
            <a:miter lim="800000"/>
            <a:headEnd/>
            <a:tailEnd/>
          </a:ln>
          <a:effectLst/>
        </p:spPr>
        <p:txBody>
          <a:bodyPr vert="eaVert" wrap="none" anchor="b"/>
          <a:lstStyle/>
          <a:p>
            <a:pPr lvl="0" algn="ctr">
              <a:lnSpc>
                <a:spcPct val="120000"/>
              </a:lnSpc>
              <a:spcBef>
                <a:spcPct val="20000"/>
              </a:spcBef>
              <a:buClr>
                <a:srgbClr val="FF9999"/>
              </a:buClr>
            </a:pPr>
            <a:r>
              <a:rPr kumimoji="0" lang="en-US" altLang="ja-JP" sz="1600" dirty="0">
                <a:solidFill>
                  <a:srgbClr val="000000"/>
                </a:solidFill>
                <a:ea typeface="MeiryoKe_PGothic" pitchFamily="50" charset="-128"/>
              </a:rPr>
              <a:t>…</a:t>
            </a:r>
          </a:p>
        </p:txBody>
      </p:sp>
      <p:sp>
        <p:nvSpPr>
          <p:cNvPr id="2" name="Rectangle 224">
            <a:extLst>
              <a:ext uri="{FF2B5EF4-FFF2-40B4-BE49-F238E27FC236}">
                <a16:creationId xmlns:a16="http://schemas.microsoft.com/office/drawing/2014/main" id="{C4A19956-19E9-68F8-56A3-BC1416D4CEA0}"/>
              </a:ext>
            </a:extLst>
          </p:cNvPr>
          <p:cNvSpPr txBox="1">
            <a:spLocks noChangeArrowheads="1"/>
          </p:cNvSpPr>
          <p:nvPr/>
        </p:nvSpPr>
        <p:spPr bwMode="auto">
          <a:xfrm>
            <a:off x="2495964" y="6039029"/>
            <a:ext cx="7740085" cy="7200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ja-JP" altLang="en-US" sz="1400" spc="-150" dirty="0">
                <a:latin typeface="+mn-ea"/>
                <a:ea typeface="+mn-ea"/>
              </a:rPr>
              <a:t>任意の論理関数 </a:t>
            </a:r>
            <a:r>
              <a:rPr lang="en-US" altLang="ja-JP" sz="1400" i="1" spc="-150" dirty="0">
                <a:solidFill>
                  <a:schemeClr val="accent5"/>
                </a:solidFill>
                <a:latin typeface="+mn-ea"/>
              </a:rPr>
              <a:t>f</a:t>
            </a:r>
            <a:r>
              <a:rPr lang="en-US" altLang="ja-JP" sz="1400" i="1" spc="-150" baseline="-25000" dirty="0">
                <a:solidFill>
                  <a:schemeClr val="accent5"/>
                </a:solidFill>
                <a:latin typeface="+mn-ea"/>
              </a:rPr>
              <a:t>n</a:t>
            </a:r>
            <a:r>
              <a:rPr lang="en-US" altLang="ja-JP" sz="1400" spc="-150" baseline="30000" dirty="0">
                <a:solidFill>
                  <a:schemeClr val="accent5"/>
                </a:solidFill>
                <a:latin typeface="+mn-ea"/>
              </a:rPr>
              <a:t>0  </a:t>
            </a:r>
            <a:r>
              <a:rPr lang="en-US" altLang="ja-JP" sz="1400" i="1" spc="-150" dirty="0">
                <a:solidFill>
                  <a:schemeClr val="accent6"/>
                </a:solidFill>
                <a:latin typeface="+mn-ea"/>
              </a:rPr>
              <a:t>f</a:t>
            </a:r>
            <a:r>
              <a:rPr lang="en-US" altLang="ja-JP" sz="1400" i="1" spc="-150" baseline="-25000" dirty="0">
                <a:solidFill>
                  <a:schemeClr val="accent6"/>
                </a:solidFill>
                <a:latin typeface="+mn-ea"/>
              </a:rPr>
              <a:t>n</a:t>
            </a:r>
            <a:r>
              <a:rPr lang="en-US" altLang="ja-JP" sz="1400" spc="-150" baseline="30000" dirty="0">
                <a:solidFill>
                  <a:schemeClr val="accent6"/>
                </a:solidFill>
                <a:latin typeface="+mn-ea"/>
              </a:rPr>
              <a:t>1 </a:t>
            </a:r>
            <a:r>
              <a:rPr lang="ja-JP" altLang="en-US" sz="1400" spc="-150" dirty="0">
                <a:solidFill>
                  <a:schemeClr val="accent6"/>
                </a:solidFill>
                <a:latin typeface="+mn-ea"/>
                <a:ea typeface="+mn-ea"/>
              </a:rPr>
              <a:t> </a:t>
            </a:r>
            <a:r>
              <a:rPr lang="ja-JP" altLang="en-US" sz="1400" spc="-150" dirty="0">
                <a:latin typeface="+mn-ea"/>
                <a:ea typeface="+mn-ea"/>
              </a:rPr>
              <a:t>が表現できるので，それらの結果を</a:t>
            </a:r>
            <a:r>
              <a:rPr lang="en-US" altLang="ja-JP" sz="1400" i="1" dirty="0">
                <a:latin typeface="+mn-ea"/>
              </a:rPr>
              <a:t>i</a:t>
            </a:r>
            <a:r>
              <a:rPr lang="en-US" altLang="ja-JP" sz="1400" i="1" baseline="-25000" dirty="0">
                <a:latin typeface="+mn-ea"/>
              </a:rPr>
              <a:t>n</a:t>
            </a:r>
            <a:r>
              <a:rPr lang="en-US" altLang="ja-JP" sz="1400" baseline="-25000" dirty="0">
                <a:latin typeface="+mn-ea"/>
              </a:rPr>
              <a:t>+1</a:t>
            </a:r>
            <a:r>
              <a:rPr lang="ja-JP" altLang="en-US" sz="1400" spc="-150" dirty="0">
                <a:latin typeface="+mn-ea"/>
                <a:ea typeface="+mn-ea"/>
              </a:rPr>
              <a:t>を使って選択</a:t>
            </a:r>
            <a:endParaRPr lang="en-US" altLang="ja-JP" sz="1400" spc="-150" dirty="0">
              <a:latin typeface="+mn-ea"/>
              <a:ea typeface="+mn-ea"/>
            </a:endParaRPr>
          </a:p>
          <a:p>
            <a:pPr lvl="1"/>
            <a:r>
              <a:rPr lang="ja-JP" altLang="en-US" sz="1400" dirty="0">
                <a:latin typeface="+mn-ea"/>
              </a:rPr>
              <a:t>この選択部分は </a:t>
            </a:r>
            <a:r>
              <a:rPr lang="en-US" altLang="ja-JP" sz="1400" dirty="0">
                <a:latin typeface="+mn-ea"/>
              </a:rPr>
              <a:t>AND/OR/NOT </a:t>
            </a:r>
            <a:r>
              <a:rPr lang="ja-JP" altLang="en-US" sz="1400" dirty="0">
                <a:latin typeface="+mn-ea"/>
              </a:rPr>
              <a:t>で作れる</a:t>
            </a:r>
            <a:endParaRPr lang="en-US" altLang="ja-JP" sz="1400" dirty="0">
              <a:latin typeface="+mn-ea"/>
            </a:endParaRPr>
          </a:p>
        </p:txBody>
      </p:sp>
    </p:spTree>
    <p:extLst>
      <p:ext uri="{BB962C8B-B14F-4D97-AF65-F5344CB8AC3E}">
        <p14:creationId xmlns:p14="http://schemas.microsoft.com/office/powerpoint/2010/main" val="1736265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真理値表による表現と，積和標準系による回路</a:t>
            </a:r>
            <a:endParaRPr kumimoji="1" lang="ja-JP" altLang="en-US" dirty="0"/>
          </a:p>
        </p:txBody>
      </p:sp>
      <p:sp>
        <p:nvSpPr>
          <p:cNvPr id="3" name="テキスト プレースホルダー 2"/>
          <p:cNvSpPr>
            <a:spLocks noGrp="1"/>
          </p:cNvSpPr>
          <p:nvPr>
            <p:ph type="body" sz="quarter" idx="10"/>
          </p:nvPr>
        </p:nvSpPr>
        <p:spPr>
          <a:xfrm>
            <a:off x="1865953" y="5499023"/>
            <a:ext cx="8550094" cy="1169706"/>
          </a:xfrm>
        </p:spPr>
        <p:txBody>
          <a:bodyPr/>
          <a:lstStyle/>
          <a:p>
            <a:r>
              <a:rPr kumimoji="1" lang="ja-JP" altLang="en-US" dirty="0"/>
              <a:t>真理値表が与えられれば，</a:t>
            </a:r>
            <a:endParaRPr kumimoji="1" lang="en-US" altLang="ja-JP" dirty="0"/>
          </a:p>
          <a:p>
            <a:pPr lvl="1"/>
            <a:r>
              <a:rPr lang="en-US" altLang="ja-JP" dirty="0"/>
              <a:t>{AND, OR, NOT} </a:t>
            </a:r>
            <a:r>
              <a:rPr lang="ja-JP" altLang="en-US" dirty="0"/>
              <a:t>を使った積和標準系に機械的に置き換えできる</a:t>
            </a:r>
            <a:endParaRPr lang="en-US" altLang="ja-JP" dirty="0"/>
          </a:p>
          <a:p>
            <a:pPr lvl="1"/>
            <a:r>
              <a:rPr kumimoji="1" lang="ja-JP" altLang="en-US" dirty="0">
                <a:solidFill>
                  <a:schemeClr val="accent5"/>
                </a:solidFill>
              </a:rPr>
              <a:t>つまり，</a:t>
            </a:r>
            <a:r>
              <a:rPr lang="en-US" altLang="ja-JP" dirty="0">
                <a:solidFill>
                  <a:schemeClr val="accent5"/>
                </a:solidFill>
              </a:rPr>
              <a:t>{AND, OR, NOT} </a:t>
            </a:r>
            <a:r>
              <a:rPr lang="ja-JP" altLang="en-US" dirty="0">
                <a:solidFill>
                  <a:schemeClr val="accent5"/>
                </a:solidFill>
              </a:rPr>
              <a:t>を使って</a:t>
            </a:r>
            <a:r>
              <a:rPr kumimoji="1" lang="ja-JP" altLang="en-US" dirty="0">
                <a:solidFill>
                  <a:schemeClr val="accent5"/>
                </a:solidFill>
              </a:rPr>
              <a:t>対応する回路</a:t>
            </a:r>
            <a:r>
              <a:rPr lang="ja-JP" altLang="en-US" dirty="0">
                <a:solidFill>
                  <a:schemeClr val="accent5"/>
                </a:solidFill>
              </a:rPr>
              <a:t>が生成できる</a:t>
            </a:r>
            <a:endParaRPr kumimoji="1" lang="ja-JP" altLang="en-US" dirty="0">
              <a:solidFill>
                <a:schemeClr val="accent5"/>
              </a:solidFill>
            </a:endParaRPr>
          </a:p>
        </p:txBody>
      </p:sp>
      <p:graphicFrame>
        <p:nvGraphicFramePr>
          <p:cNvPr id="4" name="Group 153"/>
          <p:cNvGraphicFramePr>
            <a:graphicFrameLocks/>
          </p:cNvGraphicFramePr>
          <p:nvPr/>
        </p:nvGraphicFramePr>
        <p:xfrm>
          <a:off x="3035966" y="998976"/>
          <a:ext cx="1728000" cy="3424301"/>
        </p:xfrm>
        <a:graphic>
          <a:graphicData uri="http://schemas.openxmlformats.org/drawingml/2006/table">
            <a:tbl>
              <a:tblPr/>
              <a:tblGrid>
                <a:gridCol w="43200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432000">
                  <a:extLst>
                    <a:ext uri="{9D8B030D-6E8A-4147-A177-3AD203B41FA5}">
                      <a16:colId xmlns:a16="http://schemas.microsoft.com/office/drawing/2014/main" val="20002"/>
                    </a:ext>
                  </a:extLst>
                </a:gridCol>
                <a:gridCol w="432000">
                  <a:extLst>
                    <a:ext uri="{9D8B030D-6E8A-4147-A177-3AD203B41FA5}">
                      <a16:colId xmlns:a16="http://schemas.microsoft.com/office/drawing/2014/main" val="20003"/>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o</a:t>
                      </a:r>
                      <a:endParaRPr kumimoji="0" lang="en-US" altLang="ja-JP" sz="2000" b="0" i="0"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bg1">
                        <a:alpha val="50000"/>
                      </a:schemeClr>
                    </a:soli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solidFill>
                      <a:schemeClr val="accent4">
                        <a:lumMod val="40000"/>
                        <a:lumOff val="60000"/>
                      </a:schemeClr>
                    </a:solidFill>
                  </a:tcPr>
                </a:tc>
                <a:extLst>
                  <a:ext uri="{0D108BD9-81ED-4DB2-BD59-A6C34878D82A}">
                    <a16:rowId xmlns:a16="http://schemas.microsoft.com/office/drawing/2014/main" val="10002"/>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3"/>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4"/>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5"/>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alpha val="50000"/>
                      </a:schemeClr>
                    </a:solidFill>
                  </a:tcPr>
                </a:tc>
                <a:extLst>
                  <a:ext uri="{0D108BD9-81ED-4DB2-BD59-A6C34878D82A}">
                    <a16:rowId xmlns:a16="http://schemas.microsoft.com/office/drawing/2014/main" val="10007"/>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extLst>
                  <a:ext uri="{0D108BD9-81ED-4DB2-BD59-A6C34878D82A}">
                    <a16:rowId xmlns:a16="http://schemas.microsoft.com/office/drawing/2014/main" val="10008"/>
                  </a:ext>
                </a:extLst>
              </a:tr>
            </a:tbl>
          </a:graphicData>
        </a:graphic>
      </p:graphicFrame>
      <p:pic>
        <p:nvPicPr>
          <p:cNvPr id="7" name="Picture 6" descr="AND"/>
          <p:cNvPicPr>
            <a:picLocks noChangeAspect="1" noChangeArrowheads="1"/>
          </p:cNvPicPr>
          <p:nvPr/>
        </p:nvPicPr>
        <p:blipFill>
          <a:blip r:embed="rId2" cstate="print"/>
          <a:srcRect/>
          <a:stretch>
            <a:fillRect/>
          </a:stretch>
        </p:blipFill>
        <p:spPr bwMode="auto">
          <a:xfrm>
            <a:off x="6726007" y="1808985"/>
            <a:ext cx="1079500" cy="720725"/>
          </a:xfrm>
          <a:prstGeom prst="rect">
            <a:avLst/>
          </a:prstGeom>
          <a:noFill/>
        </p:spPr>
      </p:pic>
      <p:sp>
        <p:nvSpPr>
          <p:cNvPr id="8" name="Freeform 10"/>
          <p:cNvSpPr>
            <a:spLocks/>
          </p:cNvSpPr>
          <p:nvPr/>
        </p:nvSpPr>
        <p:spPr bwMode="auto">
          <a:xfrm flipH="1" flipV="1">
            <a:off x="7536016" y="2168988"/>
            <a:ext cx="360004"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9" name="直線矢印コネクタ 8"/>
          <p:cNvCxnSpPr/>
          <p:nvPr/>
        </p:nvCxnSpPr>
        <p:spPr bwMode="auto">
          <a:xfrm>
            <a:off x="5375992" y="1988984"/>
            <a:ext cx="1440016" cy="0"/>
          </a:xfrm>
          <a:prstGeom prst="straightConnector1">
            <a:avLst/>
          </a:prstGeom>
          <a:noFill/>
          <a:ln w="15875" cap="flat" cmpd="sng" algn="ctr">
            <a:solidFill>
              <a:schemeClr val="accent6"/>
            </a:solidFill>
            <a:prstDash val="solid"/>
            <a:round/>
            <a:headEnd type="oval" w="sm" len="sm"/>
            <a:tailEnd type="none"/>
          </a:ln>
          <a:effectLst/>
        </p:spPr>
      </p:cxnSp>
      <p:cxnSp>
        <p:nvCxnSpPr>
          <p:cNvPr id="11" name="直線矢印コネクタ 10"/>
          <p:cNvCxnSpPr/>
          <p:nvPr/>
        </p:nvCxnSpPr>
        <p:spPr bwMode="auto">
          <a:xfrm flipV="1">
            <a:off x="5375992" y="1538984"/>
            <a:ext cx="0" cy="3330035"/>
          </a:xfrm>
          <a:prstGeom prst="straightConnector1">
            <a:avLst/>
          </a:prstGeom>
          <a:noFill/>
          <a:ln w="9525" cap="flat" cmpd="sng" algn="ctr">
            <a:solidFill>
              <a:schemeClr val="tx1"/>
            </a:solidFill>
            <a:prstDash val="solid"/>
            <a:round/>
            <a:headEnd type="none" w="med" len="med"/>
            <a:tailEnd type="none"/>
          </a:ln>
          <a:effectLst/>
        </p:spPr>
      </p:cxnSp>
      <p:sp>
        <p:nvSpPr>
          <p:cNvPr id="14" name="正方形/長方形 13"/>
          <p:cNvSpPr/>
          <p:nvPr/>
        </p:nvSpPr>
        <p:spPr bwMode="auto">
          <a:xfrm>
            <a:off x="5195990" y="108897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i</a:t>
            </a:r>
            <a:r>
              <a:rPr lang="en-US" altLang="ja-JP" sz="2000" i="1" baseline="-25000" dirty="0">
                <a:latin typeface="Times New Roman" panose="02020603050405020304" pitchFamily="18" charset="0"/>
                <a:cs typeface="Times New Roman" panose="02020603050405020304" pitchFamily="18" charset="0"/>
              </a:rPr>
              <a:t>2</a:t>
            </a:r>
            <a:endParaRPr lang="ja-JP" altLang="ja-JP" sz="2000" dirty="0">
              <a:latin typeface="Times New Roman" panose="02020603050405020304" pitchFamily="18" charset="0"/>
              <a:cs typeface="Times New Roman" panose="02020603050405020304" pitchFamily="18" charset="0"/>
            </a:endParaRPr>
          </a:p>
        </p:txBody>
      </p:sp>
      <p:sp>
        <p:nvSpPr>
          <p:cNvPr id="15" name="正方形/長方形 14"/>
          <p:cNvSpPr/>
          <p:nvPr/>
        </p:nvSpPr>
        <p:spPr bwMode="auto">
          <a:xfrm>
            <a:off x="5555994" y="108897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i</a:t>
            </a:r>
            <a:r>
              <a:rPr lang="en-US" altLang="ja-JP" sz="2000" i="1" baseline="-25000" dirty="0">
                <a:latin typeface="Times New Roman" panose="02020603050405020304" pitchFamily="18" charset="0"/>
                <a:cs typeface="Times New Roman" panose="02020603050405020304" pitchFamily="18" charset="0"/>
              </a:rPr>
              <a:t>1</a:t>
            </a:r>
            <a:endParaRPr lang="ja-JP" altLang="ja-JP" sz="2000" dirty="0">
              <a:latin typeface="Times New Roman" panose="02020603050405020304" pitchFamily="18" charset="0"/>
              <a:cs typeface="Times New Roman" panose="02020603050405020304" pitchFamily="18" charset="0"/>
            </a:endParaRPr>
          </a:p>
        </p:txBody>
      </p:sp>
      <p:sp>
        <p:nvSpPr>
          <p:cNvPr id="16" name="正方形/長方形 15"/>
          <p:cNvSpPr/>
          <p:nvPr/>
        </p:nvSpPr>
        <p:spPr bwMode="auto">
          <a:xfrm>
            <a:off x="5915998" y="108897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i</a:t>
            </a:r>
            <a:r>
              <a:rPr lang="en-US" altLang="ja-JP" sz="2000" i="1" baseline="-25000" dirty="0">
                <a:latin typeface="Times New Roman" panose="02020603050405020304" pitchFamily="18" charset="0"/>
                <a:cs typeface="Times New Roman" panose="02020603050405020304" pitchFamily="18" charset="0"/>
              </a:rPr>
              <a:t>0</a:t>
            </a:r>
            <a:endParaRPr lang="ja-JP" altLang="ja-JP" sz="2000" dirty="0">
              <a:latin typeface="Times New Roman" panose="02020603050405020304" pitchFamily="18" charset="0"/>
              <a:cs typeface="Times New Roman" panose="02020603050405020304" pitchFamily="18" charset="0"/>
            </a:endParaRPr>
          </a:p>
        </p:txBody>
      </p:sp>
      <p:cxnSp>
        <p:nvCxnSpPr>
          <p:cNvPr id="17" name="直線矢印コネクタ 16"/>
          <p:cNvCxnSpPr/>
          <p:nvPr/>
        </p:nvCxnSpPr>
        <p:spPr bwMode="auto">
          <a:xfrm flipV="1">
            <a:off x="5735996" y="1538980"/>
            <a:ext cx="0" cy="3330036"/>
          </a:xfrm>
          <a:prstGeom prst="straightConnector1">
            <a:avLst/>
          </a:prstGeom>
          <a:noFill/>
          <a:ln w="9525" cap="flat" cmpd="sng" algn="ctr">
            <a:solidFill>
              <a:schemeClr val="tx1"/>
            </a:solidFill>
            <a:prstDash val="solid"/>
            <a:round/>
            <a:headEnd type="none" w="med" len="med"/>
            <a:tailEnd type="none"/>
          </a:ln>
          <a:effectLst/>
        </p:spPr>
      </p:cxnSp>
      <p:cxnSp>
        <p:nvCxnSpPr>
          <p:cNvPr id="18" name="直線矢印コネクタ 17"/>
          <p:cNvCxnSpPr/>
          <p:nvPr/>
        </p:nvCxnSpPr>
        <p:spPr bwMode="auto">
          <a:xfrm flipV="1">
            <a:off x="6096000" y="1538980"/>
            <a:ext cx="0" cy="3330036"/>
          </a:xfrm>
          <a:prstGeom prst="straightConnector1">
            <a:avLst/>
          </a:prstGeom>
          <a:noFill/>
          <a:ln w="9525" cap="flat" cmpd="sng" algn="ctr">
            <a:solidFill>
              <a:schemeClr val="tx1"/>
            </a:solidFill>
            <a:prstDash val="solid"/>
            <a:round/>
            <a:headEnd type="none" w="med" len="med"/>
            <a:tailEnd type="none"/>
          </a:ln>
          <a:effectLst/>
        </p:spPr>
      </p:cxnSp>
      <p:pic>
        <p:nvPicPr>
          <p:cNvPr id="6" name="Picture 28" descr="NOT"/>
          <p:cNvPicPr>
            <a:picLocks noChangeAspect="1" noChangeArrowheads="1"/>
          </p:cNvPicPr>
          <p:nvPr/>
        </p:nvPicPr>
        <p:blipFill>
          <a:blip r:embed="rId3" cstate="print"/>
          <a:srcRect/>
          <a:stretch>
            <a:fillRect/>
          </a:stretch>
        </p:blipFill>
        <p:spPr bwMode="auto">
          <a:xfrm>
            <a:off x="6456004" y="1855444"/>
            <a:ext cx="268814" cy="270003"/>
          </a:xfrm>
          <a:prstGeom prst="rect">
            <a:avLst/>
          </a:prstGeom>
          <a:noFill/>
        </p:spPr>
      </p:pic>
      <p:cxnSp>
        <p:nvCxnSpPr>
          <p:cNvPr id="21" name="直線矢印コネクタ 20"/>
          <p:cNvCxnSpPr/>
          <p:nvPr/>
        </p:nvCxnSpPr>
        <p:spPr bwMode="auto">
          <a:xfrm>
            <a:off x="5735996" y="2168986"/>
            <a:ext cx="1080012" cy="0"/>
          </a:xfrm>
          <a:prstGeom prst="straightConnector1">
            <a:avLst/>
          </a:prstGeom>
          <a:noFill/>
          <a:ln w="15875" cap="flat" cmpd="sng" algn="ctr">
            <a:solidFill>
              <a:schemeClr val="accent6"/>
            </a:solidFill>
            <a:prstDash val="solid"/>
            <a:round/>
            <a:headEnd type="oval" w="sm" len="sm"/>
            <a:tailEnd type="none"/>
          </a:ln>
          <a:effectLst/>
        </p:spPr>
      </p:cxnSp>
      <p:cxnSp>
        <p:nvCxnSpPr>
          <p:cNvPr id="22" name="直線矢印コネクタ 21"/>
          <p:cNvCxnSpPr/>
          <p:nvPr/>
        </p:nvCxnSpPr>
        <p:spPr bwMode="auto">
          <a:xfrm>
            <a:off x="6096000" y="2348988"/>
            <a:ext cx="720008" cy="0"/>
          </a:xfrm>
          <a:prstGeom prst="straightConnector1">
            <a:avLst/>
          </a:prstGeom>
          <a:noFill/>
          <a:ln w="12700" cap="flat" cmpd="sng" algn="ctr">
            <a:solidFill>
              <a:schemeClr val="accent5"/>
            </a:solidFill>
            <a:prstDash val="solid"/>
            <a:round/>
            <a:headEnd type="oval" w="sm" len="sm"/>
            <a:tailEnd type="none"/>
          </a:ln>
          <a:effectLst/>
        </p:spPr>
      </p:cxnSp>
      <p:pic>
        <p:nvPicPr>
          <p:cNvPr id="30" name="Picture 28" descr="NOT"/>
          <p:cNvPicPr>
            <a:picLocks noChangeAspect="1" noChangeArrowheads="1"/>
          </p:cNvPicPr>
          <p:nvPr/>
        </p:nvPicPr>
        <p:blipFill>
          <a:blip r:embed="rId3" cstate="print"/>
          <a:srcRect/>
          <a:stretch>
            <a:fillRect/>
          </a:stretch>
        </p:blipFill>
        <p:spPr bwMode="auto">
          <a:xfrm>
            <a:off x="6456004" y="2035446"/>
            <a:ext cx="268814" cy="270003"/>
          </a:xfrm>
          <a:prstGeom prst="rect">
            <a:avLst/>
          </a:prstGeom>
          <a:noFill/>
        </p:spPr>
      </p:pic>
      <p:pic>
        <p:nvPicPr>
          <p:cNvPr id="31" name="Picture 6" descr="AND"/>
          <p:cNvPicPr>
            <a:picLocks noChangeAspect="1" noChangeArrowheads="1"/>
          </p:cNvPicPr>
          <p:nvPr/>
        </p:nvPicPr>
        <p:blipFill>
          <a:blip r:embed="rId2" cstate="print"/>
          <a:srcRect/>
          <a:stretch>
            <a:fillRect/>
          </a:stretch>
        </p:blipFill>
        <p:spPr bwMode="auto">
          <a:xfrm>
            <a:off x="6726007" y="2978998"/>
            <a:ext cx="1079500" cy="720725"/>
          </a:xfrm>
          <a:prstGeom prst="rect">
            <a:avLst/>
          </a:prstGeom>
          <a:solidFill>
            <a:schemeClr val="bg1"/>
          </a:solidFill>
        </p:spPr>
      </p:pic>
      <p:cxnSp>
        <p:nvCxnSpPr>
          <p:cNvPr id="32" name="直線矢印コネクタ 31"/>
          <p:cNvCxnSpPr/>
          <p:nvPr/>
        </p:nvCxnSpPr>
        <p:spPr bwMode="auto">
          <a:xfrm>
            <a:off x="5375992" y="3158997"/>
            <a:ext cx="1440016" cy="0"/>
          </a:xfrm>
          <a:prstGeom prst="straightConnector1">
            <a:avLst/>
          </a:prstGeom>
          <a:noFill/>
          <a:ln w="12700" cap="flat" cmpd="sng" algn="ctr">
            <a:solidFill>
              <a:schemeClr val="accent5"/>
            </a:solidFill>
            <a:prstDash val="solid"/>
            <a:round/>
            <a:headEnd type="oval" w="sm" len="sm"/>
            <a:tailEnd type="none"/>
          </a:ln>
          <a:effectLst/>
        </p:spPr>
      </p:cxnSp>
      <p:cxnSp>
        <p:nvCxnSpPr>
          <p:cNvPr id="34" name="直線矢印コネクタ 33"/>
          <p:cNvCxnSpPr/>
          <p:nvPr/>
        </p:nvCxnSpPr>
        <p:spPr bwMode="auto">
          <a:xfrm>
            <a:off x="5735996" y="3338999"/>
            <a:ext cx="1080012" cy="0"/>
          </a:xfrm>
          <a:prstGeom prst="straightConnector1">
            <a:avLst/>
          </a:prstGeom>
          <a:noFill/>
          <a:ln w="15875" cap="flat" cmpd="sng" algn="ctr">
            <a:solidFill>
              <a:schemeClr val="accent6"/>
            </a:solidFill>
            <a:prstDash val="solid"/>
            <a:round/>
            <a:headEnd type="oval" w="sm" len="sm"/>
            <a:tailEnd type="none"/>
          </a:ln>
          <a:effectLst/>
        </p:spPr>
      </p:cxnSp>
      <p:cxnSp>
        <p:nvCxnSpPr>
          <p:cNvPr id="35" name="直線矢印コネクタ 34"/>
          <p:cNvCxnSpPr/>
          <p:nvPr/>
        </p:nvCxnSpPr>
        <p:spPr bwMode="auto">
          <a:xfrm>
            <a:off x="6096000" y="3519001"/>
            <a:ext cx="720008" cy="0"/>
          </a:xfrm>
          <a:prstGeom prst="straightConnector1">
            <a:avLst/>
          </a:prstGeom>
          <a:noFill/>
          <a:ln w="15875" cap="flat" cmpd="sng" algn="ctr">
            <a:solidFill>
              <a:schemeClr val="accent6"/>
            </a:solidFill>
            <a:prstDash val="solid"/>
            <a:round/>
            <a:headEnd type="oval" w="sm" len="sm"/>
            <a:tailEnd type="none"/>
          </a:ln>
          <a:effectLst/>
        </p:spPr>
      </p:cxnSp>
      <p:pic>
        <p:nvPicPr>
          <p:cNvPr id="36" name="Picture 28" descr="NOT"/>
          <p:cNvPicPr>
            <a:picLocks noChangeAspect="1" noChangeArrowheads="1"/>
          </p:cNvPicPr>
          <p:nvPr/>
        </p:nvPicPr>
        <p:blipFill>
          <a:blip r:embed="rId3" cstate="print"/>
          <a:srcRect/>
          <a:stretch>
            <a:fillRect/>
          </a:stretch>
        </p:blipFill>
        <p:spPr bwMode="auto">
          <a:xfrm>
            <a:off x="6456004" y="3205459"/>
            <a:ext cx="268814" cy="270003"/>
          </a:xfrm>
          <a:prstGeom prst="rect">
            <a:avLst/>
          </a:prstGeom>
          <a:noFill/>
        </p:spPr>
      </p:pic>
      <p:pic>
        <p:nvPicPr>
          <p:cNvPr id="33" name="Picture 28" descr="NOT"/>
          <p:cNvPicPr>
            <a:picLocks noChangeAspect="1" noChangeArrowheads="1"/>
          </p:cNvPicPr>
          <p:nvPr/>
        </p:nvPicPr>
        <p:blipFill>
          <a:blip r:embed="rId3" cstate="print"/>
          <a:srcRect/>
          <a:stretch>
            <a:fillRect/>
          </a:stretch>
        </p:blipFill>
        <p:spPr bwMode="auto">
          <a:xfrm>
            <a:off x="6456004" y="3385461"/>
            <a:ext cx="268814" cy="270003"/>
          </a:xfrm>
          <a:prstGeom prst="rect">
            <a:avLst/>
          </a:prstGeom>
          <a:noFill/>
        </p:spPr>
      </p:pic>
      <p:pic>
        <p:nvPicPr>
          <p:cNvPr id="37" name="Picture 6" descr="AND"/>
          <p:cNvPicPr>
            <a:picLocks noChangeAspect="1" noChangeArrowheads="1"/>
          </p:cNvPicPr>
          <p:nvPr/>
        </p:nvPicPr>
        <p:blipFill>
          <a:blip r:embed="rId2" cstate="print"/>
          <a:srcRect/>
          <a:stretch>
            <a:fillRect/>
          </a:stretch>
        </p:blipFill>
        <p:spPr bwMode="auto">
          <a:xfrm>
            <a:off x="6726007" y="4149011"/>
            <a:ext cx="1079500" cy="720725"/>
          </a:xfrm>
          <a:prstGeom prst="rect">
            <a:avLst/>
          </a:prstGeom>
          <a:noFill/>
        </p:spPr>
      </p:pic>
      <p:cxnSp>
        <p:nvCxnSpPr>
          <p:cNvPr id="38" name="直線矢印コネクタ 37"/>
          <p:cNvCxnSpPr/>
          <p:nvPr/>
        </p:nvCxnSpPr>
        <p:spPr bwMode="auto">
          <a:xfrm>
            <a:off x="5375992" y="4329010"/>
            <a:ext cx="1440016" cy="0"/>
          </a:xfrm>
          <a:prstGeom prst="straightConnector1">
            <a:avLst/>
          </a:prstGeom>
          <a:noFill/>
          <a:ln w="12700" cap="flat" cmpd="sng" algn="ctr">
            <a:solidFill>
              <a:schemeClr val="accent5"/>
            </a:solidFill>
            <a:prstDash val="solid"/>
            <a:round/>
            <a:headEnd type="oval" w="sm" len="sm"/>
            <a:tailEnd type="none"/>
          </a:ln>
          <a:effectLst/>
        </p:spPr>
      </p:cxnSp>
      <p:cxnSp>
        <p:nvCxnSpPr>
          <p:cNvPr id="39" name="直線矢印コネクタ 38"/>
          <p:cNvCxnSpPr/>
          <p:nvPr/>
        </p:nvCxnSpPr>
        <p:spPr bwMode="auto">
          <a:xfrm>
            <a:off x="5735996" y="4509012"/>
            <a:ext cx="1080012" cy="0"/>
          </a:xfrm>
          <a:prstGeom prst="straightConnector1">
            <a:avLst/>
          </a:prstGeom>
          <a:noFill/>
          <a:ln w="12700" cap="flat" cmpd="sng" algn="ctr">
            <a:solidFill>
              <a:schemeClr val="accent5"/>
            </a:solidFill>
            <a:prstDash val="solid"/>
            <a:round/>
            <a:headEnd type="oval" w="sm" len="sm"/>
            <a:tailEnd type="none"/>
          </a:ln>
          <a:effectLst/>
        </p:spPr>
      </p:cxnSp>
      <p:cxnSp>
        <p:nvCxnSpPr>
          <p:cNvPr id="40" name="直線矢印コネクタ 39"/>
          <p:cNvCxnSpPr/>
          <p:nvPr/>
        </p:nvCxnSpPr>
        <p:spPr bwMode="auto">
          <a:xfrm>
            <a:off x="6096000" y="4689014"/>
            <a:ext cx="720008" cy="0"/>
          </a:xfrm>
          <a:prstGeom prst="straightConnector1">
            <a:avLst/>
          </a:prstGeom>
          <a:noFill/>
          <a:ln w="12700" cap="flat" cmpd="sng" algn="ctr">
            <a:solidFill>
              <a:schemeClr val="accent5"/>
            </a:solidFill>
            <a:prstDash val="solid"/>
            <a:round/>
            <a:headEnd type="oval" w="sm" len="sm"/>
            <a:tailEnd type="none"/>
          </a:ln>
          <a:effectLst/>
        </p:spPr>
      </p:cxnSp>
      <p:cxnSp>
        <p:nvCxnSpPr>
          <p:cNvPr id="47" name="直線矢印コネクタ 46"/>
          <p:cNvCxnSpPr/>
          <p:nvPr/>
        </p:nvCxnSpPr>
        <p:spPr bwMode="auto">
          <a:xfrm>
            <a:off x="7536016" y="3338999"/>
            <a:ext cx="720008" cy="0"/>
          </a:xfrm>
          <a:prstGeom prst="straightConnector1">
            <a:avLst/>
          </a:prstGeom>
          <a:noFill/>
          <a:ln w="9525" cap="flat" cmpd="sng" algn="ctr">
            <a:solidFill>
              <a:schemeClr val="tx1"/>
            </a:solidFill>
            <a:prstDash val="solid"/>
            <a:round/>
            <a:headEnd type="none" w="sm" len="sm"/>
            <a:tailEnd type="none"/>
          </a:ln>
          <a:effectLst/>
        </p:spPr>
      </p:cxnSp>
      <p:sp>
        <p:nvSpPr>
          <p:cNvPr id="49" name="Freeform 10"/>
          <p:cNvSpPr>
            <a:spLocks/>
          </p:cNvSpPr>
          <p:nvPr/>
        </p:nvSpPr>
        <p:spPr bwMode="auto">
          <a:xfrm flipH="1">
            <a:off x="7536016" y="3519004"/>
            <a:ext cx="360004" cy="99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1" name="直線矢印コネクタ 50"/>
          <p:cNvCxnSpPr/>
          <p:nvPr/>
        </p:nvCxnSpPr>
        <p:spPr bwMode="auto">
          <a:xfrm>
            <a:off x="7896020" y="3158997"/>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53" name="直線矢印コネクタ 52"/>
          <p:cNvCxnSpPr/>
          <p:nvPr/>
        </p:nvCxnSpPr>
        <p:spPr bwMode="auto">
          <a:xfrm>
            <a:off x="7896020" y="3519001"/>
            <a:ext cx="360004" cy="0"/>
          </a:xfrm>
          <a:prstGeom prst="straightConnector1">
            <a:avLst/>
          </a:prstGeom>
          <a:noFill/>
          <a:ln w="9525" cap="flat" cmpd="sng" algn="ctr">
            <a:solidFill>
              <a:schemeClr val="tx1"/>
            </a:solidFill>
            <a:prstDash val="solid"/>
            <a:round/>
            <a:headEnd type="none" w="sm" len="sm"/>
            <a:tailEnd type="none"/>
          </a:ln>
          <a:effectLst/>
        </p:spPr>
      </p:cxnSp>
      <p:pic>
        <p:nvPicPr>
          <p:cNvPr id="5" name="Picture 7" descr="OR"/>
          <p:cNvPicPr>
            <a:picLocks noChangeAspect="1" noChangeArrowheads="1"/>
          </p:cNvPicPr>
          <p:nvPr/>
        </p:nvPicPr>
        <p:blipFill>
          <a:blip r:embed="rId4" cstate="print"/>
          <a:srcRect/>
          <a:stretch>
            <a:fillRect/>
          </a:stretch>
        </p:blipFill>
        <p:spPr bwMode="auto">
          <a:xfrm>
            <a:off x="8076022" y="2978995"/>
            <a:ext cx="1079500" cy="717550"/>
          </a:xfrm>
          <a:prstGeom prst="rect">
            <a:avLst/>
          </a:prstGeom>
          <a:noFill/>
        </p:spPr>
      </p:pic>
      <p:cxnSp>
        <p:nvCxnSpPr>
          <p:cNvPr id="54" name="直線矢印コネクタ 53"/>
          <p:cNvCxnSpPr/>
          <p:nvPr/>
        </p:nvCxnSpPr>
        <p:spPr bwMode="auto">
          <a:xfrm>
            <a:off x="8886031" y="3338999"/>
            <a:ext cx="360004" cy="0"/>
          </a:xfrm>
          <a:prstGeom prst="straightConnector1">
            <a:avLst/>
          </a:prstGeom>
          <a:noFill/>
          <a:ln w="22225" cap="flat" cmpd="sng" algn="ctr">
            <a:solidFill>
              <a:schemeClr val="accent4"/>
            </a:solidFill>
            <a:prstDash val="solid"/>
            <a:round/>
            <a:headEnd type="none" w="sm" len="sm"/>
            <a:tailEnd type="none"/>
          </a:ln>
          <a:effectLst/>
        </p:spPr>
      </p:cxnSp>
      <mc:AlternateContent xmlns:mc="http://schemas.openxmlformats.org/markup-compatibility/2006">
        <mc:Choice xmlns:a14="http://schemas.microsoft.com/office/drawing/2010/main" Requires="a14">
          <p:sp>
            <p:nvSpPr>
              <p:cNvPr id="57" name="Rectangle 141"/>
              <p:cNvSpPr>
                <a:spLocks noChangeArrowheads="1"/>
              </p:cNvSpPr>
              <p:nvPr/>
            </p:nvSpPr>
            <p:spPr bwMode="auto">
              <a:xfrm>
                <a:off x="3395973" y="4959020"/>
                <a:ext cx="4410049" cy="450005"/>
              </a:xfrm>
              <a:prstGeom prst="rect">
                <a:avLst/>
              </a:prstGeom>
              <a:noFill/>
              <a:ln w="28575">
                <a:noFill/>
                <a:miter lim="800000"/>
                <a:headEnd/>
                <a:tailEnd/>
              </a:ln>
              <a:effectLst/>
            </p:spPr>
            <p:txBody>
              <a:bodyPr wrap="none" anchor="ctr"/>
              <a:lstStyle/>
              <a:p>
                <a:pPr algn="ctr"/>
                <a14:m>
                  <m:oMathPara xmlns:m="http://schemas.openxmlformats.org/officeDocument/2006/math">
                    <m:oMathParaPr>
                      <m:jc m:val="centerGroup"/>
                    </m:oMathParaPr>
                    <m:oMath xmlns:m="http://schemas.openxmlformats.org/officeDocument/2006/math">
                      <m:r>
                        <a:rPr lang="en-US" altLang="ja-JP" sz="2400" i="1" dirty="0">
                          <a:latin typeface="Cambria Math" panose="02040503050406030204" pitchFamily="18" charset="0"/>
                          <a:ea typeface="MeiryoKe_PGothic" pitchFamily="50" charset="-128"/>
                          <a:cs typeface="Times New Roman" panose="02020603050405020304" pitchFamily="18" charset="0"/>
                        </a:rPr>
                        <m:t>𝑜</m:t>
                      </m:r>
                      <m:r>
                        <a:rPr lang="en-US" altLang="ja-JP" sz="2400" i="1" dirty="0">
                          <a:latin typeface="Cambria Math" panose="02040503050406030204" pitchFamily="18" charset="0"/>
                          <a:ea typeface="MeiryoKe_PGothic" pitchFamily="50" charset="-128"/>
                          <a:cs typeface="Times New Roman" panose="02020603050405020304" pitchFamily="18" charset="0"/>
                        </a:rPr>
                        <m:t> =</m:t>
                      </m:r>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2</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1</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0</m:t>
                          </m:r>
                        </m:sub>
                      </m:sSub>
                      <m:r>
                        <a:rPr lang="en-US" altLang="ja-JP" sz="2400" i="1" dirty="0">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2</m:t>
                          </m:r>
                        </m:sub>
                      </m:sSub>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1</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0</m:t>
                          </m:r>
                        </m:sub>
                      </m:sSub>
                      <m:r>
                        <a:rPr lang="en-US" altLang="ja-JP" sz="2400" i="1" dirty="0">
                          <a:solidFill>
                            <a:schemeClr val="accent6"/>
                          </a:solidFill>
                          <a:latin typeface="Cambria Math" panose="02040503050406030204" pitchFamily="18" charset="0"/>
                          <a:ea typeface="MeiryoKe_PGothic" pitchFamily="50" charset="-128"/>
                          <a:cs typeface="Times New Roman" panose="02020603050405020304" pitchFamily="18" charset="0"/>
                        </a:rPr>
                        <m:t>′</m:t>
                      </m:r>
                      <m:r>
                        <a:rPr lang="en-US" altLang="ja-JP" sz="2400" i="1" dirty="0">
                          <a:latin typeface="Cambria Math" panose="02040503050406030204" pitchFamily="18" charset="0"/>
                          <a:ea typeface="MeiryoKe_PGothic" pitchFamily="50" charset="-128"/>
                          <a:cs typeface="Times New Roman" panose="02020603050405020304" pitchFamily="18" charset="0"/>
                        </a:rPr>
                        <m:t>+</m:t>
                      </m:r>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2</m:t>
                          </m:r>
                        </m:sub>
                      </m:sSub>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1</m:t>
                          </m:r>
                        </m:sub>
                      </m:sSub>
                      <m:sSub>
                        <m:sSubPr>
                          <m:ctrlP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ctrlPr>
                        </m:sSubPr>
                        <m:e>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𝑖</m:t>
                          </m:r>
                        </m:e>
                        <m:sub>
                          <m:r>
                            <a:rPr lang="en-US" altLang="ja-JP" sz="2400" i="1" dirty="0">
                              <a:solidFill>
                                <a:schemeClr val="accent5"/>
                              </a:solidFill>
                              <a:latin typeface="Cambria Math" panose="02040503050406030204" pitchFamily="18" charset="0"/>
                              <a:ea typeface="MeiryoKe_PGothic" pitchFamily="50" charset="-128"/>
                              <a:cs typeface="Times New Roman" panose="02020603050405020304" pitchFamily="18" charset="0"/>
                            </a:rPr>
                            <m:t>0</m:t>
                          </m:r>
                        </m:sub>
                      </m:sSub>
                    </m:oMath>
                  </m:oMathPara>
                </a14:m>
                <a:endParaRPr lang="en-US" altLang="ja-JP" sz="2400" i="1" dirty="0">
                  <a:solidFill>
                    <a:schemeClr val="accent5"/>
                  </a:solidFill>
                  <a:latin typeface="Times New Roman" panose="02020603050405020304" pitchFamily="18" charset="0"/>
                  <a:ea typeface="MeiryoKe_PGothic" pitchFamily="50" charset="-128"/>
                  <a:cs typeface="Times New Roman" panose="02020603050405020304" pitchFamily="18" charset="0"/>
                </a:endParaRPr>
              </a:p>
            </p:txBody>
          </p:sp>
        </mc:Choice>
        <mc:Fallback>
          <p:sp>
            <p:nvSpPr>
              <p:cNvPr id="57" name="Rectangle 141"/>
              <p:cNvSpPr>
                <a:spLocks noRot="1" noChangeAspect="1" noMove="1" noResize="1" noEditPoints="1" noAdjustHandles="1" noChangeArrowheads="1" noChangeShapeType="1" noTextEdit="1"/>
              </p:cNvSpPr>
              <p:nvPr/>
            </p:nvSpPr>
            <p:spPr bwMode="auto">
              <a:xfrm>
                <a:off x="3395973" y="4959020"/>
                <a:ext cx="4410049" cy="450005"/>
              </a:xfrm>
              <a:prstGeom prst="rect">
                <a:avLst/>
              </a:prstGeom>
              <a:blipFill>
                <a:blip r:embed="rId5"/>
                <a:stretch>
                  <a:fillRect b="-4054"/>
                </a:stretch>
              </a:blipFill>
              <a:ln w="28575">
                <a:noFill/>
                <a:miter lim="800000"/>
                <a:headEnd/>
                <a:tailEnd/>
              </a:ln>
              <a:effectLst/>
            </p:spPr>
            <p:txBody>
              <a:bodyPr/>
              <a:lstStyle/>
              <a:p>
                <a:r>
                  <a:rPr lang="ja-JP" altLang="en-US">
                    <a:noFill/>
                  </a:rPr>
                  <a:t> </a:t>
                </a:r>
              </a:p>
            </p:txBody>
          </p:sp>
        </mc:Fallback>
      </mc:AlternateContent>
      <p:sp>
        <p:nvSpPr>
          <p:cNvPr id="58" name="正方形/長方形 57"/>
          <p:cNvSpPr/>
          <p:nvPr/>
        </p:nvSpPr>
        <p:spPr bwMode="auto">
          <a:xfrm>
            <a:off x="9227984" y="3158997"/>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fontAlgn="base"/>
            <a:r>
              <a:rPr lang="en-US" altLang="ja-JP" sz="2000" i="1" dirty="0">
                <a:latin typeface="Times New Roman" panose="02020603050405020304" pitchFamily="18" charset="0"/>
                <a:cs typeface="Times New Roman" panose="02020603050405020304" pitchFamily="18" charset="0"/>
              </a:rPr>
              <a:t>o</a:t>
            </a:r>
            <a:endParaRPr lang="ja-JP" altLang="ja-JP"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693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回路の例：</a:t>
            </a:r>
            <a:r>
              <a:rPr lang="en-US" altLang="ja-JP" dirty="0"/>
              <a:t>RISC-V </a:t>
            </a:r>
            <a:r>
              <a:rPr lang="ja-JP" altLang="en-US" dirty="0"/>
              <a:t>の </a:t>
            </a:r>
            <a:r>
              <a:rPr lang="en-US" altLang="ja-JP" dirty="0"/>
              <a:t>AND/OR/XOR </a:t>
            </a:r>
            <a:r>
              <a:rPr lang="ja-JP" altLang="en-US" dirty="0"/>
              <a:t>命令の演算</a:t>
            </a:r>
          </a:p>
        </p:txBody>
      </p:sp>
      <p:sp>
        <p:nvSpPr>
          <p:cNvPr id="3" name="テキスト プレースホルダー 2"/>
          <p:cNvSpPr>
            <a:spLocks noGrp="1"/>
          </p:cNvSpPr>
          <p:nvPr>
            <p:ph type="body" sz="quarter" idx="10"/>
          </p:nvPr>
        </p:nvSpPr>
        <p:spPr>
          <a:xfrm>
            <a:off x="2045955" y="3789007"/>
            <a:ext cx="8280092" cy="2790031"/>
          </a:xfrm>
        </p:spPr>
        <p:txBody>
          <a:bodyPr/>
          <a:lstStyle/>
          <a:p>
            <a:r>
              <a:rPr lang="en-US" altLang="ja-JP" dirty="0">
                <a:solidFill>
                  <a:schemeClr val="tx1">
                    <a:lumMod val="85000"/>
                    <a:lumOff val="15000"/>
                  </a:schemeClr>
                </a:solidFill>
              </a:rPr>
              <a:t>RISC-V </a:t>
            </a:r>
            <a:r>
              <a:rPr lang="ja-JP" altLang="en-US" dirty="0">
                <a:solidFill>
                  <a:schemeClr val="tx1">
                    <a:lumMod val="85000"/>
                    <a:lumOff val="15000"/>
                  </a:schemeClr>
                </a:solidFill>
              </a:rPr>
              <a:t>の </a:t>
            </a:r>
            <a:r>
              <a:rPr lang="en-US" altLang="ja-JP" dirty="0">
                <a:solidFill>
                  <a:schemeClr val="tx1">
                    <a:lumMod val="85000"/>
                    <a:lumOff val="15000"/>
                  </a:schemeClr>
                </a:solidFill>
              </a:rPr>
              <a:t>AND/OR/XOR </a:t>
            </a:r>
            <a:r>
              <a:rPr lang="ja-JP" altLang="en-US" dirty="0">
                <a:solidFill>
                  <a:schemeClr val="tx1">
                    <a:lumMod val="85000"/>
                    <a:lumOff val="15000"/>
                  </a:schemeClr>
                </a:solidFill>
              </a:rPr>
              <a:t>命令</a:t>
            </a:r>
            <a:endParaRPr lang="en-US" altLang="ja-JP" dirty="0">
              <a:solidFill>
                <a:schemeClr val="tx1">
                  <a:lumMod val="85000"/>
                  <a:lumOff val="15000"/>
                </a:schemeClr>
              </a:solidFill>
            </a:endParaRPr>
          </a:p>
          <a:p>
            <a:pPr lvl="1"/>
            <a:r>
              <a:rPr kumimoji="1" lang="ja-JP" altLang="en-US" dirty="0">
                <a:solidFill>
                  <a:schemeClr val="tx1">
                    <a:lumMod val="85000"/>
                    <a:lumOff val="15000"/>
                  </a:schemeClr>
                </a:solidFill>
              </a:rPr>
              <a:t>まず右端の </a:t>
            </a:r>
            <a:r>
              <a:rPr kumimoji="1" lang="en-US" altLang="ja-JP" dirty="0">
                <a:solidFill>
                  <a:schemeClr val="tx1">
                    <a:lumMod val="85000"/>
                    <a:lumOff val="15000"/>
                  </a:schemeClr>
                </a:solidFill>
              </a:rPr>
              <a:t>opcode </a:t>
            </a:r>
            <a:r>
              <a:rPr kumimoji="1" lang="ja-JP" altLang="en-US" dirty="0">
                <a:solidFill>
                  <a:schemeClr val="tx1">
                    <a:lumMod val="85000"/>
                    <a:lumOff val="15000"/>
                  </a:schemeClr>
                </a:solidFill>
              </a:rPr>
              <a:t>が </a:t>
            </a:r>
            <a:r>
              <a:rPr kumimoji="1" lang="en-US" altLang="ja-JP" dirty="0">
                <a:solidFill>
                  <a:schemeClr val="tx1">
                    <a:lumMod val="85000"/>
                    <a:lumOff val="15000"/>
                  </a:schemeClr>
                </a:solidFill>
              </a:rPr>
              <a:t>0110011 </a:t>
            </a:r>
            <a:r>
              <a:rPr kumimoji="1" lang="ja-JP" altLang="en-US" dirty="0">
                <a:solidFill>
                  <a:schemeClr val="tx1">
                    <a:lumMod val="85000"/>
                    <a:lumOff val="15000"/>
                  </a:schemeClr>
                </a:solidFill>
              </a:rPr>
              <a:t>であれば，この３つのどれかということにする</a:t>
            </a:r>
            <a:endParaRPr kumimoji="1" lang="en-US" altLang="ja-JP" dirty="0">
              <a:solidFill>
                <a:schemeClr val="tx1">
                  <a:lumMod val="85000"/>
                  <a:lumOff val="15000"/>
                </a:schemeClr>
              </a:solidFill>
            </a:endParaRPr>
          </a:p>
          <a:p>
            <a:pPr lvl="2"/>
            <a:r>
              <a:rPr lang="ja-JP" altLang="en-US" dirty="0">
                <a:solidFill>
                  <a:schemeClr val="tx1">
                    <a:lumMod val="85000"/>
                    <a:lumOff val="15000"/>
                  </a:schemeClr>
                </a:solidFill>
              </a:rPr>
              <a:t>本当はほかの命令との識別がさらにあるが，ここでは忘れる</a:t>
            </a:r>
            <a:endParaRPr lang="en-US" altLang="ja-JP" dirty="0">
              <a:solidFill>
                <a:schemeClr val="tx1">
                  <a:lumMod val="85000"/>
                  <a:lumOff val="15000"/>
                </a:schemeClr>
              </a:solidFill>
            </a:endParaRPr>
          </a:p>
          <a:p>
            <a:pPr lvl="1"/>
            <a:r>
              <a:rPr kumimoji="1" lang="ja-JP" altLang="en-US" dirty="0">
                <a:solidFill>
                  <a:schemeClr val="tx1">
                    <a:lumMod val="85000"/>
                    <a:lumOff val="15000"/>
                  </a:schemeClr>
                </a:solidFill>
              </a:rPr>
              <a:t>真ん中の赤い</a:t>
            </a:r>
            <a:r>
              <a:rPr kumimoji="1" lang="en-US" altLang="ja-JP" dirty="0">
                <a:solidFill>
                  <a:schemeClr val="tx1">
                    <a:lumMod val="85000"/>
                    <a:lumOff val="15000"/>
                  </a:schemeClr>
                </a:solidFill>
              </a:rPr>
              <a:t>3</a:t>
            </a:r>
            <a:r>
              <a:rPr kumimoji="1" lang="ja-JP" altLang="en-US" dirty="0">
                <a:solidFill>
                  <a:schemeClr val="tx1">
                    <a:lumMod val="85000"/>
                    <a:lumOff val="15000"/>
                  </a:schemeClr>
                </a:solidFill>
              </a:rPr>
              <a:t>ビットの違いで識別する</a:t>
            </a:r>
            <a:endParaRPr kumimoji="1" lang="en-US" altLang="ja-JP" dirty="0">
              <a:solidFill>
                <a:schemeClr val="tx1">
                  <a:lumMod val="85000"/>
                  <a:lumOff val="15000"/>
                </a:schemeClr>
              </a:solidFill>
            </a:endParaRPr>
          </a:p>
        </p:txBody>
      </p:sp>
      <p:sp>
        <p:nvSpPr>
          <p:cNvPr id="7" name="Text Box 30"/>
          <p:cNvSpPr txBox="1">
            <a:spLocks noChangeArrowheads="1"/>
          </p:cNvSpPr>
          <p:nvPr/>
        </p:nvSpPr>
        <p:spPr bwMode="auto">
          <a:xfrm>
            <a:off x="6996010" y="3158997"/>
            <a:ext cx="10801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8" name="Text Box 30"/>
          <p:cNvSpPr txBox="1">
            <a:spLocks noChangeArrowheads="1"/>
          </p:cNvSpPr>
          <p:nvPr/>
        </p:nvSpPr>
        <p:spPr bwMode="auto">
          <a:xfrm>
            <a:off x="6996010" y="2258987"/>
            <a:ext cx="10801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9" name="Text Box 31"/>
          <p:cNvSpPr txBox="1">
            <a:spLocks noChangeArrowheads="1"/>
          </p:cNvSpPr>
          <p:nvPr/>
        </p:nvSpPr>
        <p:spPr bwMode="auto">
          <a:xfrm>
            <a:off x="8076022" y="3158997"/>
            <a:ext cx="143960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0110011</a:t>
            </a:r>
          </a:p>
        </p:txBody>
      </p:sp>
      <p:sp>
        <p:nvSpPr>
          <p:cNvPr id="10" name="Text Box 31"/>
          <p:cNvSpPr txBox="1">
            <a:spLocks noChangeArrowheads="1"/>
          </p:cNvSpPr>
          <p:nvPr/>
        </p:nvSpPr>
        <p:spPr bwMode="auto">
          <a:xfrm>
            <a:off x="8076022" y="2258987"/>
            <a:ext cx="143960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0110011</a:t>
            </a:r>
          </a:p>
        </p:txBody>
      </p:sp>
      <p:sp>
        <p:nvSpPr>
          <p:cNvPr id="11" name="Text Box 27"/>
          <p:cNvSpPr txBox="1">
            <a:spLocks noChangeArrowheads="1"/>
          </p:cNvSpPr>
          <p:nvPr/>
        </p:nvSpPr>
        <p:spPr bwMode="auto">
          <a:xfrm>
            <a:off x="2315961" y="3158997"/>
            <a:ext cx="1710019"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0000000</a:t>
            </a:r>
            <a:endParaRPr lang="ja-JP" altLang="ja-JP" dirty="0"/>
          </a:p>
        </p:txBody>
      </p:sp>
      <p:sp>
        <p:nvSpPr>
          <p:cNvPr id="12" name="Text Box 27"/>
          <p:cNvSpPr txBox="1">
            <a:spLocks noChangeArrowheads="1"/>
          </p:cNvSpPr>
          <p:nvPr/>
        </p:nvSpPr>
        <p:spPr bwMode="auto">
          <a:xfrm>
            <a:off x="2315961" y="2258987"/>
            <a:ext cx="1710019"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0000000</a:t>
            </a:r>
            <a:endParaRPr lang="ja-JP" altLang="ja-JP" dirty="0"/>
          </a:p>
        </p:txBody>
      </p:sp>
      <p:sp>
        <p:nvSpPr>
          <p:cNvPr id="13" name="Text Box 27"/>
          <p:cNvSpPr txBox="1">
            <a:spLocks noChangeArrowheads="1"/>
          </p:cNvSpPr>
          <p:nvPr/>
        </p:nvSpPr>
        <p:spPr bwMode="auto">
          <a:xfrm>
            <a:off x="4025977" y="3158997"/>
            <a:ext cx="1079500"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rs2</a:t>
            </a:r>
            <a:endParaRPr lang="ja-JP" altLang="ja-JP" dirty="0"/>
          </a:p>
        </p:txBody>
      </p:sp>
      <p:sp>
        <p:nvSpPr>
          <p:cNvPr id="14" name="Text Box 28"/>
          <p:cNvSpPr txBox="1">
            <a:spLocks noChangeArrowheads="1"/>
          </p:cNvSpPr>
          <p:nvPr/>
        </p:nvSpPr>
        <p:spPr bwMode="auto">
          <a:xfrm>
            <a:off x="5105992" y="3158997"/>
            <a:ext cx="108011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15" name="Text Box 29"/>
          <p:cNvSpPr txBox="1">
            <a:spLocks noChangeArrowheads="1"/>
          </p:cNvSpPr>
          <p:nvPr/>
        </p:nvSpPr>
        <p:spPr bwMode="auto">
          <a:xfrm>
            <a:off x="6186003" y="3158997"/>
            <a:ext cx="81011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u="sng" dirty="0">
                <a:solidFill>
                  <a:srgbClr val="FF0000"/>
                </a:solidFill>
              </a:rPr>
              <a:t>111</a:t>
            </a:r>
          </a:p>
        </p:txBody>
      </p:sp>
      <p:sp>
        <p:nvSpPr>
          <p:cNvPr id="16" name="Text Box 27"/>
          <p:cNvSpPr txBox="1">
            <a:spLocks noChangeArrowheads="1"/>
          </p:cNvSpPr>
          <p:nvPr/>
        </p:nvSpPr>
        <p:spPr bwMode="auto">
          <a:xfrm>
            <a:off x="4025977" y="2258987"/>
            <a:ext cx="1079500"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rs2</a:t>
            </a:r>
            <a:endParaRPr lang="ja-JP" altLang="ja-JP" dirty="0"/>
          </a:p>
        </p:txBody>
      </p:sp>
      <p:sp>
        <p:nvSpPr>
          <p:cNvPr id="17" name="Text Box 28"/>
          <p:cNvSpPr txBox="1">
            <a:spLocks noChangeArrowheads="1"/>
          </p:cNvSpPr>
          <p:nvPr/>
        </p:nvSpPr>
        <p:spPr bwMode="auto">
          <a:xfrm>
            <a:off x="5105992" y="2258987"/>
            <a:ext cx="108011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18" name="Text Box 29"/>
          <p:cNvSpPr txBox="1">
            <a:spLocks noChangeArrowheads="1"/>
          </p:cNvSpPr>
          <p:nvPr/>
        </p:nvSpPr>
        <p:spPr bwMode="auto">
          <a:xfrm>
            <a:off x="6186003" y="2258987"/>
            <a:ext cx="81011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u="sng" dirty="0">
                <a:solidFill>
                  <a:srgbClr val="FF0000"/>
                </a:solidFill>
              </a:rPr>
              <a:t>110</a:t>
            </a:r>
          </a:p>
        </p:txBody>
      </p:sp>
      <p:sp>
        <p:nvSpPr>
          <p:cNvPr id="19" name="正方形/長方形 18"/>
          <p:cNvSpPr/>
          <p:nvPr/>
        </p:nvSpPr>
        <p:spPr bwMode="auto">
          <a:xfrm>
            <a:off x="2225957" y="279899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0" name="正方形/長方形 19"/>
          <p:cNvSpPr/>
          <p:nvPr/>
        </p:nvSpPr>
        <p:spPr bwMode="auto">
          <a:xfrm>
            <a:off x="2225957" y="189898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a:t>
            </a:r>
            <a:r>
              <a:rPr lang="en-US" altLang="ja-JP" sz="1600">
                <a:solidFill>
                  <a:schemeClr val="tx1">
                    <a:lumMod val="85000"/>
                    <a:lumOff val="15000"/>
                  </a:schemeClr>
                </a:solidFill>
                <a:latin typeface="Consolas" panose="020B0609020204030204" pitchFamily="49" charset="0"/>
                <a:ea typeface="メイリオ" panose="020B0604030504040204" pitchFamily="50" charset="-128"/>
              </a:rPr>
              <a:t>] |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21" name="Text Box 30"/>
          <p:cNvSpPr txBox="1">
            <a:spLocks noChangeArrowheads="1"/>
          </p:cNvSpPr>
          <p:nvPr/>
        </p:nvSpPr>
        <p:spPr bwMode="auto">
          <a:xfrm>
            <a:off x="6996010" y="1448978"/>
            <a:ext cx="108011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err="1"/>
              <a:t>rd</a:t>
            </a:r>
            <a:endParaRPr lang="en-US" altLang="ja-JP" dirty="0"/>
          </a:p>
        </p:txBody>
      </p:sp>
      <p:sp>
        <p:nvSpPr>
          <p:cNvPr id="22" name="Text Box 31"/>
          <p:cNvSpPr txBox="1">
            <a:spLocks noChangeArrowheads="1"/>
          </p:cNvSpPr>
          <p:nvPr/>
        </p:nvSpPr>
        <p:spPr bwMode="auto">
          <a:xfrm>
            <a:off x="8076022" y="1448978"/>
            <a:ext cx="1439606"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0110011</a:t>
            </a:r>
          </a:p>
        </p:txBody>
      </p:sp>
      <p:sp>
        <p:nvSpPr>
          <p:cNvPr id="23" name="Text Box 27"/>
          <p:cNvSpPr txBox="1">
            <a:spLocks noChangeArrowheads="1"/>
          </p:cNvSpPr>
          <p:nvPr/>
        </p:nvSpPr>
        <p:spPr bwMode="auto">
          <a:xfrm>
            <a:off x="2315961" y="1448978"/>
            <a:ext cx="1710019" cy="270000"/>
          </a:xfrm>
          <a:prstGeom prst="rect">
            <a:avLst/>
          </a:prstGeom>
          <a:ln>
            <a:headEnd/>
            <a:tailEnd/>
          </a:ln>
          <a:effectLst/>
        </p:spPr>
        <p:style>
          <a:lnRef idx="1">
            <a:schemeClr val="accent5"/>
          </a:lnRef>
          <a:fillRef idx="2">
            <a:schemeClr val="accent5"/>
          </a:fillRef>
          <a:effectRef idx="1">
            <a:schemeClr val="accent5"/>
          </a:effectRef>
          <a:fontRef idx="minor">
            <a:schemeClr val="dk1"/>
          </a:fontRef>
        </p:style>
        <p:txBody>
          <a:bodyPr wrap="none" anchor="ctr" anchorCtr="1"/>
          <a:lstStyle/>
          <a:p>
            <a:pPr eaLnBrk="1" hangingPunct="1"/>
            <a:r>
              <a:rPr lang="en-US" altLang="ja-JP" dirty="0"/>
              <a:t>0000000</a:t>
            </a:r>
            <a:endParaRPr lang="ja-JP" altLang="ja-JP" dirty="0"/>
          </a:p>
        </p:txBody>
      </p:sp>
      <p:sp>
        <p:nvSpPr>
          <p:cNvPr id="24" name="Text Box 27"/>
          <p:cNvSpPr txBox="1">
            <a:spLocks noChangeArrowheads="1"/>
          </p:cNvSpPr>
          <p:nvPr/>
        </p:nvSpPr>
        <p:spPr bwMode="auto">
          <a:xfrm>
            <a:off x="4025977" y="1448978"/>
            <a:ext cx="1079500"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rs2</a:t>
            </a:r>
            <a:endParaRPr lang="ja-JP" altLang="ja-JP" dirty="0"/>
          </a:p>
        </p:txBody>
      </p:sp>
      <p:sp>
        <p:nvSpPr>
          <p:cNvPr id="25" name="Text Box 28"/>
          <p:cNvSpPr txBox="1">
            <a:spLocks noChangeArrowheads="1"/>
          </p:cNvSpPr>
          <p:nvPr/>
        </p:nvSpPr>
        <p:spPr bwMode="auto">
          <a:xfrm>
            <a:off x="5105992" y="1448978"/>
            <a:ext cx="1080115"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dirty="0"/>
              <a:t>rs1</a:t>
            </a:r>
          </a:p>
        </p:txBody>
      </p:sp>
      <p:sp>
        <p:nvSpPr>
          <p:cNvPr id="26" name="Text Box 29"/>
          <p:cNvSpPr txBox="1">
            <a:spLocks noChangeArrowheads="1"/>
          </p:cNvSpPr>
          <p:nvPr/>
        </p:nvSpPr>
        <p:spPr bwMode="auto">
          <a:xfrm>
            <a:off x="6186003" y="1448978"/>
            <a:ext cx="81011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u="sng" dirty="0">
                <a:solidFill>
                  <a:srgbClr val="FF0000"/>
                </a:solidFill>
              </a:rPr>
              <a:t>100</a:t>
            </a:r>
          </a:p>
        </p:txBody>
      </p:sp>
      <p:sp>
        <p:nvSpPr>
          <p:cNvPr id="27" name="正方形/長方形 26"/>
          <p:cNvSpPr/>
          <p:nvPr/>
        </p:nvSpPr>
        <p:spPr bwMode="auto">
          <a:xfrm>
            <a:off x="2225957" y="1088974"/>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x[</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2825971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制御の例：</a:t>
            </a:r>
            <a:r>
              <a:rPr lang="en-US" altLang="ja-JP" dirty="0"/>
              <a:t>RISC-V </a:t>
            </a:r>
            <a:r>
              <a:rPr lang="ja-JP" altLang="en-US" dirty="0"/>
              <a:t>の </a:t>
            </a:r>
            <a:r>
              <a:rPr lang="en-US" altLang="ja-JP" dirty="0"/>
              <a:t>AND/OR/XOR </a:t>
            </a:r>
            <a:r>
              <a:rPr lang="ja-JP" altLang="en-US" dirty="0"/>
              <a:t>命令</a:t>
            </a:r>
            <a:endParaRPr kumimoji="1" lang="ja-JP" altLang="en-US" dirty="0"/>
          </a:p>
        </p:txBody>
      </p:sp>
      <p:sp>
        <p:nvSpPr>
          <p:cNvPr id="7" name="テキスト プレースホルダー 6"/>
          <p:cNvSpPr>
            <a:spLocks noGrp="1"/>
          </p:cNvSpPr>
          <p:nvPr>
            <p:ph type="body" sz="quarter" idx="10"/>
          </p:nvPr>
        </p:nvSpPr>
        <p:spPr>
          <a:xfrm>
            <a:off x="2045958" y="4599014"/>
            <a:ext cx="8370093" cy="1529710"/>
          </a:xfrm>
        </p:spPr>
        <p:txBody>
          <a:bodyPr/>
          <a:lstStyle/>
          <a:p>
            <a:r>
              <a:rPr lang="ja-JP" altLang="en-US" dirty="0">
                <a:solidFill>
                  <a:schemeClr val="tx1">
                    <a:lumMod val="85000"/>
                    <a:lumOff val="15000"/>
                  </a:schemeClr>
                </a:solidFill>
              </a:rPr>
              <a:t>各命令の </a:t>
            </a:r>
            <a:r>
              <a:rPr lang="en-US" altLang="ja-JP" dirty="0">
                <a:solidFill>
                  <a:schemeClr val="tx1">
                    <a:lumMod val="85000"/>
                    <a:lumOff val="15000"/>
                  </a:schemeClr>
                </a:solidFill>
              </a:rPr>
              <a:t>3bit </a:t>
            </a:r>
            <a:r>
              <a:rPr lang="ja-JP" altLang="en-US" dirty="0">
                <a:solidFill>
                  <a:schemeClr val="tx1">
                    <a:lumMod val="85000"/>
                    <a:lumOff val="15000"/>
                  </a:schemeClr>
                </a:solidFill>
              </a:rPr>
              <a:t>の </a:t>
            </a:r>
            <a:r>
              <a:rPr lang="en-US" altLang="ja-JP" dirty="0">
                <a:solidFill>
                  <a:schemeClr val="tx1">
                    <a:lumMod val="85000"/>
                    <a:lumOff val="15000"/>
                  </a:schemeClr>
                </a:solidFill>
              </a:rPr>
              <a:t>code </a:t>
            </a:r>
            <a:r>
              <a:rPr lang="ja-JP" altLang="en-US" dirty="0">
                <a:solidFill>
                  <a:schemeClr val="tx1">
                    <a:lumMod val="85000"/>
                    <a:lumOff val="15000"/>
                  </a:schemeClr>
                </a:solidFill>
              </a:rPr>
              <a:t>の違いに応じて </a:t>
            </a:r>
            <a:endParaRPr lang="en-US" altLang="ja-JP" dirty="0">
              <a:solidFill>
                <a:schemeClr val="tx1">
                  <a:lumMod val="85000"/>
                  <a:lumOff val="15000"/>
                </a:schemeClr>
              </a:solidFill>
            </a:endParaRPr>
          </a:p>
          <a:p>
            <a:pPr lvl="1"/>
            <a:r>
              <a:rPr lang="ja-JP" altLang="en-US" dirty="0">
                <a:solidFill>
                  <a:schemeClr val="tx1">
                    <a:lumMod val="85000"/>
                    <a:lumOff val="15000"/>
                  </a:schemeClr>
                </a:solidFill>
              </a:rPr>
              <a:t>演算器に，</a:t>
            </a:r>
            <a:r>
              <a:rPr lang="en-US" altLang="ja-JP" dirty="0">
                <a:solidFill>
                  <a:schemeClr val="tx1">
                    <a:lumMod val="85000"/>
                    <a:lumOff val="15000"/>
                  </a:schemeClr>
                </a:solidFill>
              </a:rPr>
              <a:t>AND/OR/XOR </a:t>
            </a:r>
            <a:r>
              <a:rPr lang="ja-JP" altLang="en-US" dirty="0">
                <a:solidFill>
                  <a:schemeClr val="tx1">
                    <a:lumMod val="85000"/>
                    <a:lumOff val="15000"/>
                  </a:schemeClr>
                </a:solidFill>
              </a:rPr>
              <a:t>演算をさせることを考える</a:t>
            </a:r>
            <a:endParaRPr lang="en-US" altLang="ja-JP" dirty="0">
              <a:solidFill>
                <a:schemeClr val="tx1">
                  <a:lumMod val="85000"/>
                  <a:lumOff val="15000"/>
                </a:schemeClr>
              </a:solidFill>
            </a:endParaRPr>
          </a:p>
        </p:txBody>
      </p:sp>
      <p:sp>
        <p:nvSpPr>
          <p:cNvPr id="4" name="フローチャート: 手作業 3"/>
          <p:cNvSpPr/>
          <p:nvPr/>
        </p:nvSpPr>
        <p:spPr bwMode="auto">
          <a:xfrm rot="16200000">
            <a:off x="7258818" y="3616197"/>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bwMode="auto">
          <a:xfrm>
            <a:off x="6996010" y="3519001"/>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 name="直線コネクタ 5"/>
          <p:cNvCxnSpPr/>
          <p:nvPr/>
        </p:nvCxnSpPr>
        <p:spPr bwMode="auto">
          <a:xfrm>
            <a:off x="6996010" y="4059007"/>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直線コネクタ 28"/>
          <p:cNvCxnSpPr/>
          <p:nvPr/>
        </p:nvCxnSpPr>
        <p:spPr bwMode="auto">
          <a:xfrm>
            <a:off x="7896020" y="3789004"/>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1" name="直線コネクタ 60"/>
          <p:cNvCxnSpPr>
            <a:endCxn id="4" idx="3"/>
          </p:cNvCxnSpPr>
          <p:nvPr/>
        </p:nvCxnSpPr>
        <p:spPr bwMode="auto">
          <a:xfrm>
            <a:off x="7716018" y="2888997"/>
            <a:ext cx="0" cy="54144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正方形/長方形 62"/>
          <p:cNvSpPr/>
          <p:nvPr/>
        </p:nvSpPr>
        <p:spPr bwMode="auto">
          <a:xfrm>
            <a:off x="6456004" y="324900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64" name="正方形/長方形 63"/>
          <p:cNvSpPr/>
          <p:nvPr/>
        </p:nvSpPr>
        <p:spPr bwMode="auto">
          <a:xfrm>
            <a:off x="6456004" y="3789007"/>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65" name="正方形/長方形 64"/>
          <p:cNvSpPr/>
          <p:nvPr/>
        </p:nvSpPr>
        <p:spPr bwMode="auto">
          <a:xfrm>
            <a:off x="6906012" y="2438992"/>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演算の制御信号</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or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3" name="正方形/長方形 42"/>
          <p:cNvSpPr/>
          <p:nvPr/>
        </p:nvSpPr>
        <p:spPr bwMode="auto">
          <a:xfrm>
            <a:off x="3395970" y="2618994"/>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2525904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制御の例：</a:t>
            </a:r>
            <a:r>
              <a:rPr lang="en-US" altLang="ja-JP" dirty="0"/>
              <a:t>RISC-V </a:t>
            </a:r>
            <a:r>
              <a:rPr lang="ja-JP" altLang="en-US" dirty="0"/>
              <a:t>の </a:t>
            </a:r>
            <a:r>
              <a:rPr lang="en-US" altLang="ja-JP" dirty="0"/>
              <a:t>AND/OR/XOR </a:t>
            </a:r>
            <a:r>
              <a:rPr lang="ja-JP" altLang="en-US" dirty="0"/>
              <a:t>命令</a:t>
            </a:r>
            <a:endParaRPr kumimoji="1" lang="ja-JP" altLang="en-US" dirty="0"/>
          </a:p>
        </p:txBody>
      </p:sp>
      <p:sp>
        <p:nvSpPr>
          <p:cNvPr id="7" name="テキスト プレースホルダー 6"/>
          <p:cNvSpPr>
            <a:spLocks noGrp="1"/>
          </p:cNvSpPr>
          <p:nvPr>
            <p:ph type="body" sz="quarter" idx="10"/>
          </p:nvPr>
        </p:nvSpPr>
        <p:spPr>
          <a:xfrm>
            <a:off x="2315959" y="4509015"/>
            <a:ext cx="8100090" cy="1619711"/>
          </a:xfrm>
        </p:spPr>
        <p:txBody>
          <a:bodyPr/>
          <a:lstStyle/>
          <a:p>
            <a:r>
              <a:rPr lang="ja-JP" altLang="en-US" dirty="0"/>
              <a:t>典型的には，</a:t>
            </a:r>
            <a:endParaRPr kumimoji="1" lang="en-US" altLang="ja-JP" dirty="0"/>
          </a:p>
          <a:p>
            <a:pPr lvl="1"/>
            <a:r>
              <a:rPr kumimoji="1" lang="ja-JP" altLang="en-US" dirty="0"/>
              <a:t>各場合ごとの回路を用意して並列に配置</a:t>
            </a:r>
            <a:endParaRPr kumimoji="1" lang="en-US" altLang="ja-JP" dirty="0"/>
          </a:p>
          <a:p>
            <a:pPr lvl="2"/>
            <a:r>
              <a:rPr kumimoji="1" lang="en-US" altLang="ja-JP" dirty="0"/>
              <a:t>XOR</a:t>
            </a:r>
            <a:r>
              <a:rPr lang="en-US" altLang="ja-JP" dirty="0"/>
              <a:t>, OR, AND </a:t>
            </a:r>
            <a:r>
              <a:rPr lang="ja-JP" altLang="en-US" dirty="0"/>
              <a:t>ゲートを並べる</a:t>
            </a:r>
            <a:endParaRPr kumimoji="1" lang="en-US" altLang="ja-JP" dirty="0"/>
          </a:p>
          <a:p>
            <a:pPr lvl="1"/>
            <a:r>
              <a:rPr kumimoji="1" lang="ja-JP" altLang="en-US" dirty="0"/>
              <a:t>制御に従ってマルチプレクサで出力を選択</a:t>
            </a:r>
            <a:endParaRPr kumimoji="1" lang="en-US" altLang="ja-JP" dirty="0"/>
          </a:p>
        </p:txBody>
      </p:sp>
      <p:cxnSp>
        <p:nvCxnSpPr>
          <p:cNvPr id="33" name="直線矢印コネクタ 32"/>
          <p:cNvCxnSpPr/>
          <p:nvPr/>
        </p:nvCxnSpPr>
        <p:spPr bwMode="auto">
          <a:xfrm>
            <a:off x="6096000" y="1997946"/>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34" name="直線矢印コネクタ 33"/>
          <p:cNvCxnSpPr/>
          <p:nvPr/>
        </p:nvCxnSpPr>
        <p:spPr bwMode="auto">
          <a:xfrm flipV="1">
            <a:off x="6096000" y="1988987"/>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35" name="直線矢印コネクタ 34"/>
          <p:cNvCxnSpPr/>
          <p:nvPr/>
        </p:nvCxnSpPr>
        <p:spPr bwMode="auto">
          <a:xfrm flipV="1">
            <a:off x="6456004" y="2348991"/>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36" name="直線矢印コネクタ 35"/>
          <p:cNvCxnSpPr/>
          <p:nvPr/>
        </p:nvCxnSpPr>
        <p:spPr bwMode="auto">
          <a:xfrm>
            <a:off x="6456004" y="2348988"/>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37" name="直線矢印コネクタ 36"/>
          <p:cNvCxnSpPr/>
          <p:nvPr/>
        </p:nvCxnSpPr>
        <p:spPr bwMode="auto">
          <a:xfrm>
            <a:off x="6096000" y="2888994"/>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38" name="直線矢印コネクタ 37"/>
          <p:cNvCxnSpPr/>
          <p:nvPr/>
        </p:nvCxnSpPr>
        <p:spPr bwMode="auto">
          <a:xfrm>
            <a:off x="6456004" y="3248998"/>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39" name="直線矢印コネクタ 38"/>
          <p:cNvCxnSpPr/>
          <p:nvPr/>
        </p:nvCxnSpPr>
        <p:spPr bwMode="auto">
          <a:xfrm>
            <a:off x="6096000" y="3699003"/>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40" name="直線矢印コネクタ 39"/>
          <p:cNvCxnSpPr/>
          <p:nvPr/>
        </p:nvCxnSpPr>
        <p:spPr bwMode="auto">
          <a:xfrm>
            <a:off x="6456004" y="4059007"/>
            <a:ext cx="1080012" cy="0"/>
          </a:xfrm>
          <a:prstGeom prst="straightConnector1">
            <a:avLst/>
          </a:prstGeom>
          <a:noFill/>
          <a:ln w="9525" cap="flat" cmpd="sng" algn="ctr">
            <a:solidFill>
              <a:schemeClr val="tx1"/>
            </a:solidFill>
            <a:prstDash val="solid"/>
            <a:round/>
            <a:headEnd type="oval" w="sm" len="sm"/>
            <a:tailEnd type="none"/>
          </a:ln>
          <a:effectLst/>
        </p:spPr>
      </p:cxnSp>
      <p:pic>
        <p:nvPicPr>
          <p:cNvPr id="30" name="Picture 7" descr="OR"/>
          <p:cNvPicPr>
            <a:picLocks noChangeAspect="1" noChangeArrowheads="1"/>
          </p:cNvPicPr>
          <p:nvPr/>
        </p:nvPicPr>
        <p:blipFill>
          <a:blip r:embed="rId2" cstate="print"/>
          <a:srcRect/>
          <a:stretch>
            <a:fillRect/>
          </a:stretch>
        </p:blipFill>
        <p:spPr bwMode="auto">
          <a:xfrm>
            <a:off x="6906009" y="2708992"/>
            <a:ext cx="1079500" cy="717550"/>
          </a:xfrm>
          <a:prstGeom prst="rect">
            <a:avLst/>
          </a:prstGeom>
          <a:noFill/>
        </p:spPr>
      </p:pic>
      <p:pic>
        <p:nvPicPr>
          <p:cNvPr id="31" name="Picture 6" descr="AND"/>
          <p:cNvPicPr>
            <a:picLocks noChangeAspect="1" noChangeArrowheads="1"/>
          </p:cNvPicPr>
          <p:nvPr/>
        </p:nvPicPr>
        <p:blipFill>
          <a:blip r:embed="rId3" cstate="print"/>
          <a:srcRect/>
          <a:stretch>
            <a:fillRect/>
          </a:stretch>
        </p:blipFill>
        <p:spPr bwMode="auto">
          <a:xfrm>
            <a:off x="6906009" y="3519004"/>
            <a:ext cx="1079500" cy="720725"/>
          </a:xfrm>
          <a:prstGeom prst="rect">
            <a:avLst/>
          </a:prstGeom>
          <a:noFill/>
        </p:spPr>
      </p:pic>
      <p:pic>
        <p:nvPicPr>
          <p:cNvPr id="32" name="Picture 18" descr="XOR"/>
          <p:cNvPicPr>
            <a:picLocks noChangeAspect="1" noChangeArrowheads="1"/>
          </p:cNvPicPr>
          <p:nvPr/>
        </p:nvPicPr>
        <p:blipFill>
          <a:blip r:embed="rId4" cstate="print"/>
          <a:srcRect/>
          <a:stretch>
            <a:fillRect/>
          </a:stretch>
        </p:blipFill>
        <p:spPr bwMode="auto">
          <a:xfrm>
            <a:off x="6906009" y="1808982"/>
            <a:ext cx="1079500" cy="717550"/>
          </a:xfrm>
          <a:prstGeom prst="rect">
            <a:avLst/>
          </a:prstGeom>
          <a:noFill/>
        </p:spPr>
      </p:pic>
      <p:cxnSp>
        <p:nvCxnSpPr>
          <p:cNvPr id="45" name="直線コネクタ 44"/>
          <p:cNvCxnSpPr/>
          <p:nvPr/>
        </p:nvCxnSpPr>
        <p:spPr bwMode="auto">
          <a:xfrm>
            <a:off x="5555994" y="2618991"/>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 name="直線コネクタ 45"/>
          <p:cNvCxnSpPr/>
          <p:nvPr/>
        </p:nvCxnSpPr>
        <p:spPr bwMode="auto">
          <a:xfrm>
            <a:off x="5555994" y="3158997"/>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直線コネクタ 51"/>
          <p:cNvCxnSpPr/>
          <p:nvPr/>
        </p:nvCxnSpPr>
        <p:spPr bwMode="auto">
          <a:xfrm>
            <a:off x="8706029" y="3068996"/>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Freeform 10"/>
          <p:cNvSpPr>
            <a:spLocks/>
          </p:cNvSpPr>
          <p:nvPr/>
        </p:nvSpPr>
        <p:spPr bwMode="auto">
          <a:xfrm flipH="1" flipV="1">
            <a:off x="7716018" y="2168988"/>
            <a:ext cx="360004" cy="72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4" name="直線矢印コネクタ 53"/>
          <p:cNvCxnSpPr/>
          <p:nvPr/>
        </p:nvCxnSpPr>
        <p:spPr bwMode="auto">
          <a:xfrm>
            <a:off x="7716018" y="3068996"/>
            <a:ext cx="720008" cy="0"/>
          </a:xfrm>
          <a:prstGeom prst="straightConnector1">
            <a:avLst/>
          </a:prstGeom>
          <a:noFill/>
          <a:ln w="9525" cap="flat" cmpd="sng" algn="ctr">
            <a:solidFill>
              <a:schemeClr val="tx1"/>
            </a:solidFill>
            <a:prstDash val="solid"/>
            <a:round/>
            <a:headEnd type="none" w="sm" len="sm"/>
            <a:tailEnd type="none"/>
          </a:ln>
          <a:effectLst/>
        </p:spPr>
      </p:cxnSp>
      <p:sp>
        <p:nvSpPr>
          <p:cNvPr id="55" name="Freeform 10"/>
          <p:cNvSpPr>
            <a:spLocks/>
          </p:cNvSpPr>
          <p:nvPr/>
        </p:nvSpPr>
        <p:spPr bwMode="auto">
          <a:xfrm flipH="1">
            <a:off x="7716018" y="3249001"/>
            <a:ext cx="36000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6" name="直線矢印コネクタ 55"/>
          <p:cNvCxnSpPr/>
          <p:nvPr/>
        </p:nvCxnSpPr>
        <p:spPr bwMode="auto">
          <a:xfrm>
            <a:off x="8076022" y="2888994"/>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57" name="直線矢印コネクタ 56"/>
          <p:cNvCxnSpPr/>
          <p:nvPr/>
        </p:nvCxnSpPr>
        <p:spPr bwMode="auto">
          <a:xfrm>
            <a:off x="8076022" y="3248998"/>
            <a:ext cx="360004" cy="0"/>
          </a:xfrm>
          <a:prstGeom prst="straightConnector1">
            <a:avLst/>
          </a:prstGeom>
          <a:noFill/>
          <a:ln w="9525" cap="flat" cmpd="sng" algn="ctr">
            <a:solidFill>
              <a:schemeClr val="tx1"/>
            </a:solidFill>
            <a:prstDash val="solid"/>
            <a:round/>
            <a:headEnd type="none" w="sm" len="sm"/>
            <a:tailEnd type="none"/>
          </a:ln>
          <a:effectLst/>
        </p:spPr>
      </p:cxnSp>
      <p:sp>
        <p:nvSpPr>
          <p:cNvPr id="50" name="フローチャート: 手作業 49"/>
          <p:cNvSpPr/>
          <p:nvPr/>
        </p:nvSpPr>
        <p:spPr bwMode="auto">
          <a:xfrm rot="16200000">
            <a:off x="8158828" y="2896189"/>
            <a:ext cx="914400" cy="360004"/>
          </a:xfrm>
          <a:prstGeom prst="flowChartManualOperation">
            <a:avLst/>
          </a:prstGeom>
          <a:ln>
            <a:solidFill>
              <a:schemeClr val="accent5"/>
            </a:solidFill>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7626017" y="3609005"/>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8" name="正方形/長方形 57"/>
          <p:cNvSpPr/>
          <p:nvPr/>
        </p:nvSpPr>
        <p:spPr bwMode="auto">
          <a:xfrm>
            <a:off x="7626017" y="2798996"/>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9" name="正方形/長方形 58"/>
          <p:cNvSpPr/>
          <p:nvPr/>
        </p:nvSpPr>
        <p:spPr bwMode="auto">
          <a:xfrm>
            <a:off x="7626017" y="1898986"/>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63" name="正方形/長方形 62"/>
          <p:cNvSpPr/>
          <p:nvPr/>
        </p:nvSpPr>
        <p:spPr bwMode="auto">
          <a:xfrm>
            <a:off x="4925987" y="234899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64" name="正方形/長方形 63"/>
          <p:cNvSpPr/>
          <p:nvPr/>
        </p:nvSpPr>
        <p:spPr bwMode="auto">
          <a:xfrm>
            <a:off x="4925987" y="2888997"/>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mc:AlternateContent xmlns:mc="http://schemas.openxmlformats.org/markup-compatibility/2006">
        <mc:Choice xmlns:a14="http://schemas.microsoft.com/office/drawing/2010/main" Requires="a14">
          <p:sp>
            <p:nvSpPr>
              <p:cNvPr id="66" name="正方形/長方形 65"/>
              <p:cNvSpPr/>
              <p:nvPr/>
            </p:nvSpPr>
            <p:spPr bwMode="auto">
              <a:xfrm>
                <a:off x="8526027" y="2438992"/>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lang="en-US" altLang="ja-JP" sz="2800" i="1" dirty="0">
                          <a:solidFill>
                            <a:schemeClr val="tx1">
                              <a:lumMod val="75000"/>
                              <a:lumOff val="25000"/>
                            </a:schemeClr>
                          </a:solidFill>
                          <a:latin typeface="Cambria Math" panose="02040503050406030204" pitchFamily="18" charset="0"/>
                          <a:ea typeface="メイリオ" panose="020B0604030504040204" pitchFamily="50" charset="-128"/>
                        </a:rPr>
                        <m:t>𝑠</m:t>
                      </m:r>
                    </m:oMath>
                  </m:oMathPara>
                </a14:m>
                <a:endParaRPr lang="ja-JP" altLang="en-US" sz="2000" dirty="0">
                  <a:solidFill>
                    <a:schemeClr val="tx1">
                      <a:lumMod val="75000"/>
                      <a:lumOff val="25000"/>
                    </a:schemeClr>
                  </a:solidFill>
                  <a:latin typeface="Consolas" panose="020B0609020204030204" pitchFamily="49" charset="0"/>
                  <a:ea typeface="メイリオ" panose="020B0604030504040204" pitchFamily="50" charset="-128"/>
                </a:endParaRPr>
              </a:p>
            </p:txBody>
          </p:sp>
        </mc:Choice>
        <mc:Fallback>
          <p:sp>
            <p:nvSpPr>
              <p:cNvPr id="66" name="正方形/長方形 65"/>
              <p:cNvSpPr>
                <a:spLocks noRot="1" noChangeAspect="1" noMove="1" noResize="1" noEditPoints="1" noAdjustHandles="1" noChangeArrowheads="1" noChangeShapeType="1" noTextEdit="1"/>
              </p:cNvSpPr>
              <p:nvPr/>
            </p:nvSpPr>
            <p:spPr bwMode="auto">
              <a:xfrm>
                <a:off x="8526027" y="2438992"/>
                <a:ext cx="540006" cy="270003"/>
              </a:xfrm>
              <a:prstGeom prst="rect">
                <a:avLst/>
              </a:prstGeom>
              <a:blipFill>
                <a:blip r:embed="rId5"/>
                <a:stretch>
                  <a:fillRect/>
                </a:stretch>
              </a:blipFill>
              <a:ln>
                <a:noFill/>
                <a:headEnd/>
                <a:tailEnd type="triangle" w="sm" len="med"/>
              </a:ln>
              <a:effectLst/>
            </p:spPr>
            <p:txBody>
              <a:bodyPr/>
              <a:lstStyle/>
              <a:p>
                <a:r>
                  <a:rPr lang="ja-JP" altLang="en-US">
                    <a:noFill/>
                  </a:rPr>
                  <a:t> </a:t>
                </a:r>
              </a:p>
            </p:txBody>
          </p:sp>
        </mc:Fallback>
      </mc:AlternateContent>
      <p:sp>
        <p:nvSpPr>
          <p:cNvPr id="43" name="正方形/長方形 42"/>
          <p:cNvSpPr/>
          <p:nvPr/>
        </p:nvSpPr>
        <p:spPr bwMode="auto">
          <a:xfrm>
            <a:off x="2405959" y="1808985"/>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
        <p:nvSpPr>
          <p:cNvPr id="9" name="正方形/長方形 8"/>
          <p:cNvSpPr/>
          <p:nvPr/>
        </p:nvSpPr>
        <p:spPr bwMode="auto">
          <a:xfrm>
            <a:off x="8436026" y="1808982"/>
            <a:ext cx="360004" cy="540006"/>
          </a:xfrm>
          <a:prstGeom prst="rect">
            <a:avLst/>
          </a:prstGeom>
          <a:solidFill>
            <a:schemeClr val="bg1"/>
          </a:solidFill>
          <a:ln w="222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68" name="直線コネクタ 67"/>
          <p:cNvCxnSpPr/>
          <p:nvPr/>
        </p:nvCxnSpPr>
        <p:spPr bwMode="auto">
          <a:xfrm>
            <a:off x="8616028" y="1538979"/>
            <a:ext cx="0" cy="27144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a:stCxn id="9" idx="2"/>
          </p:cNvCxnSpPr>
          <p:nvPr/>
        </p:nvCxnSpPr>
        <p:spPr bwMode="auto">
          <a:xfrm>
            <a:off x="8616028" y="2348991"/>
            <a:ext cx="0" cy="36144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70" name="正方形/長方形 69"/>
          <p:cNvSpPr/>
          <p:nvPr/>
        </p:nvSpPr>
        <p:spPr bwMode="auto">
          <a:xfrm>
            <a:off x="8346025" y="1268979"/>
            <a:ext cx="720008"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71" name="正方形/長方形 70"/>
          <p:cNvSpPr/>
          <p:nvPr/>
        </p:nvSpPr>
        <p:spPr bwMode="auto">
          <a:xfrm>
            <a:off x="8526030" y="3609005"/>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マルチプレクサ</a:t>
            </a:r>
          </a:p>
        </p:txBody>
      </p:sp>
      <p:sp>
        <p:nvSpPr>
          <p:cNvPr id="72" name="正方形/長方形 71"/>
          <p:cNvSpPr/>
          <p:nvPr/>
        </p:nvSpPr>
        <p:spPr bwMode="auto">
          <a:xfrm>
            <a:off x="8801801" y="1988987"/>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選択信号を</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出すための</a:t>
            </a:r>
            <a:b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b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論理関数</a:t>
            </a:r>
          </a:p>
        </p:txBody>
      </p:sp>
    </p:spTree>
    <p:extLst>
      <p:ext uri="{BB962C8B-B14F-4D97-AF65-F5344CB8AC3E}">
        <p14:creationId xmlns:p14="http://schemas.microsoft.com/office/powerpoint/2010/main" val="24490402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マルチプレクサ：複数入力から</a:t>
            </a:r>
            <a:r>
              <a:rPr kumimoji="1" lang="en-US" altLang="ja-JP" dirty="0"/>
              <a:t>1</a:t>
            </a:r>
            <a:r>
              <a:rPr kumimoji="1" lang="ja-JP" altLang="en-US" dirty="0" err="1"/>
              <a:t>つを</a:t>
            </a:r>
            <a:r>
              <a:rPr kumimoji="1" lang="ja-JP" altLang="en-US" dirty="0"/>
              <a:t>選ぶ回路</a:t>
            </a:r>
          </a:p>
        </p:txBody>
      </p:sp>
      <p:sp>
        <p:nvSpPr>
          <p:cNvPr id="3" name="テキスト プレースホルダー 2"/>
          <p:cNvSpPr>
            <a:spLocks noGrp="1"/>
          </p:cNvSpPr>
          <p:nvPr>
            <p:ph type="body" sz="quarter" idx="10"/>
          </p:nvPr>
        </p:nvSpPr>
        <p:spPr>
          <a:xfrm>
            <a:off x="2135956" y="5679025"/>
            <a:ext cx="8280092" cy="629700"/>
          </a:xfrm>
        </p:spPr>
        <p:txBody>
          <a:bodyPr/>
          <a:lstStyle/>
          <a:p>
            <a:r>
              <a:rPr lang="ja-JP" altLang="en-US" dirty="0"/>
              <a:t>以下により，回路が生成できる</a:t>
            </a:r>
            <a:endParaRPr lang="en-US" altLang="ja-JP" dirty="0"/>
          </a:p>
          <a:p>
            <a:pPr lvl="1"/>
            <a:r>
              <a:rPr kumimoji="1" lang="ja-JP" altLang="en-US" dirty="0"/>
              <a:t>２：１マルチプレクサは真理値表でかける </a:t>
            </a:r>
            <a:r>
              <a:rPr kumimoji="1" lang="en-US" altLang="ja-JP" dirty="0"/>
              <a:t>= </a:t>
            </a:r>
            <a:r>
              <a:rPr kumimoji="1" lang="ja-JP" altLang="en-US" dirty="0"/>
              <a:t>回路が作れる</a:t>
            </a:r>
            <a:endParaRPr kumimoji="1" lang="en-US" altLang="ja-JP" dirty="0"/>
          </a:p>
          <a:p>
            <a:pPr lvl="1"/>
            <a:r>
              <a:rPr kumimoji="1" lang="ja-JP" altLang="en-US" dirty="0"/>
              <a:t>多入力マルチプレクサは，カスケードすれば良い</a:t>
            </a:r>
          </a:p>
        </p:txBody>
      </p:sp>
      <mc:AlternateContent xmlns:mc="http://schemas.openxmlformats.org/markup-compatibility/2006">
        <mc:Choice xmlns:a14="http://schemas.microsoft.com/office/drawing/2010/main" Requires="a14">
          <p:graphicFrame>
            <p:nvGraphicFramePr>
              <p:cNvPr id="4" name="Group 153"/>
              <p:cNvGraphicFramePr>
                <a:graphicFrameLocks/>
              </p:cNvGraphicFramePr>
              <p:nvPr/>
            </p:nvGraphicFramePr>
            <p:xfrm>
              <a:off x="2495960" y="1268979"/>
              <a:ext cx="13824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tblGrid>
                  <a:tr h="542925">
                    <a:tc>
                      <a:txBody>
                        <a:bodyPr/>
                        <a:lstStyle/>
                        <a:p>
                          <a:pPr/>
                          <a14:m>
                            <m:oMathPara xmlns:m="http://schemas.openxmlformats.org/officeDocument/2006/math">
                              <m:oMathParaPr>
                                <m:jc m:val="centerGroup"/>
                              </m:oMathParaPr>
                              <m:oMath xmlns:m="http://schemas.openxmlformats.org/officeDocument/2006/math">
                                <m:r>
                                  <a:rPr lang="en-US" altLang="ja-JP" i="1" dirty="0" smtClean="0">
                                    <a:latin typeface="Cambria Math" panose="02040503050406030204" pitchFamily="18" charset="0"/>
                                  </a:rPr>
                                  <m:t>𝑠</m:t>
                                </m:r>
                              </m:oMath>
                            </m:oMathPara>
                          </a14:m>
                          <a:endParaRPr lang="ja-JP" altLang="en-US" dirty="0"/>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US" altLang="ja-JP" sz="2000" i="1" smtClean="0">
                                        <a:solidFill>
                                          <a:schemeClr val="tx1"/>
                                        </a:solidFill>
                                        <a:latin typeface="Cambria Math" panose="02040503050406030204" pitchFamily="18" charset="0"/>
                                        <a:ea typeface="MeiryoKe_PGothic" pitchFamily="50" charset="-128"/>
                                      </a:rPr>
                                    </m:ctrlPr>
                                  </m:sSubPr>
                                  <m:e>
                                    <m:r>
                                      <a:rPr kumimoji="0" lang="en-US" altLang="ja-JP" sz="2000" b="0" i="1" smtClean="0">
                                        <a:solidFill>
                                          <a:schemeClr val="tx1"/>
                                        </a:solidFill>
                                        <a:latin typeface="Cambria Math" panose="02040503050406030204" pitchFamily="18" charset="0"/>
                                        <a:ea typeface="MeiryoKe_PGothic" pitchFamily="50" charset="-128"/>
                                      </a:rPr>
                                      <m:t>𝑖</m:t>
                                    </m:r>
                                  </m:e>
                                  <m:sub>
                                    <m:r>
                                      <a:rPr kumimoji="0" lang="en-US" altLang="ja-JP" sz="2000" b="0" i="1" smtClean="0">
                                        <a:solidFill>
                                          <a:schemeClr val="tx1"/>
                                        </a:solidFill>
                                        <a:latin typeface="Cambria Math" panose="02040503050406030204" pitchFamily="18" charset="0"/>
                                        <a:ea typeface="MeiryoKe_PGothic" pitchFamily="50" charset="-128"/>
                                      </a:rPr>
                                      <m:t>0</m:t>
                                    </m:r>
                                  </m:sub>
                                </m:sSub>
                              </m:oMath>
                            </m:oMathPara>
                          </a14:m>
                          <a:endPar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US" altLang="ja-JP" sz="2000" i="1" smtClean="0">
                                        <a:solidFill>
                                          <a:schemeClr val="tx1"/>
                                        </a:solidFill>
                                        <a:latin typeface="Cambria Math" panose="02040503050406030204" pitchFamily="18" charset="0"/>
                                        <a:ea typeface="MeiryoKe_PGothic" pitchFamily="50" charset="-128"/>
                                      </a:rPr>
                                    </m:ctrlPr>
                                  </m:sSubPr>
                                  <m:e>
                                    <m:r>
                                      <a:rPr kumimoji="0" lang="en-US" altLang="ja-JP" sz="2000" b="0" i="1" smtClean="0">
                                        <a:solidFill>
                                          <a:schemeClr val="tx1"/>
                                        </a:solidFill>
                                        <a:latin typeface="Cambria Math" panose="02040503050406030204" pitchFamily="18" charset="0"/>
                                        <a:ea typeface="MeiryoKe_PGothic" pitchFamily="50" charset="-128"/>
                                      </a:rPr>
                                      <m:t>𝑖</m:t>
                                    </m:r>
                                  </m:e>
                                  <m:sub>
                                    <m:r>
                                      <a:rPr kumimoji="0" lang="en-US" altLang="ja-JP" sz="2000" b="0" i="1" smtClean="0">
                                        <a:solidFill>
                                          <a:schemeClr val="tx1"/>
                                        </a:solidFill>
                                        <a:latin typeface="Cambria Math" panose="02040503050406030204" pitchFamily="18" charset="0"/>
                                        <a:ea typeface="MeiryoKe_PGothic" pitchFamily="50" charset="-128"/>
                                      </a:rPr>
                                      <m:t>1</m:t>
                                    </m:r>
                                  </m:sub>
                                </m:sSub>
                              </m:oMath>
                            </m:oMathPara>
                          </a14:m>
                          <a:endPar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endParaRP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ja-JP" sz="2000" b="0" i="1" u="none" strike="noStrike" cap="none" normalizeH="0" baseline="0" dirty="0" smtClean="0">
                                    <a:ln>
                                      <a:noFill/>
                                    </a:ln>
                                    <a:solidFill>
                                      <a:schemeClr val="tx1">
                                        <a:lumMod val="85000"/>
                                        <a:lumOff val="15000"/>
                                      </a:schemeClr>
                                    </a:solidFill>
                                    <a:effectLst/>
                                    <a:latin typeface="Cambria Math" panose="02040503050406030204" pitchFamily="18" charset="0"/>
                                    <a:ea typeface="MeiryoKe_PGothic" pitchFamily="50" charset="-128"/>
                                  </a:rPr>
                                  <m:t>𝑜</m:t>
                                </m:r>
                              </m:oMath>
                            </m:oMathPara>
                          </a14:m>
                          <a:endParaRPr kumimoji="0" lang="en-US" altLang="ja-JP" sz="2000" b="0" i="0" u="none" strike="noStrike" cap="none" normalizeH="0" baseline="-25000" dirty="0">
                            <a:ln>
                              <a:noFill/>
                            </a:ln>
                            <a:solidFill>
                              <a:schemeClr val="accent5"/>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5"/>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7"/>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8"/>
                      </a:ext>
                    </a:extLst>
                  </a:tr>
                </a:tbl>
              </a:graphicData>
            </a:graphic>
          </p:graphicFrame>
        </mc:Choice>
        <mc:Fallback>
          <p:graphicFrame>
            <p:nvGraphicFramePr>
              <p:cNvPr id="4" name="Group 153"/>
              <p:cNvGraphicFramePr>
                <a:graphicFrameLocks/>
              </p:cNvGraphicFramePr>
              <p:nvPr/>
            </p:nvGraphicFramePr>
            <p:xfrm>
              <a:off x="2495960" y="1268979"/>
              <a:ext cx="13824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tblGrid>
                  <a:tr h="542925">
                    <a:tc>
                      <a:txBody>
                        <a:bodyPr/>
                        <a:lstStyle/>
                        <a:p>
                          <a:endParaRPr lang="ja-JP"/>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t="-3371" r="-303509" b="-546067"/>
                          </a:stretch>
                        </a:blipFill>
                      </a:tcPr>
                    </a:tc>
                    <a:tc>
                      <a:txBody>
                        <a:bodyPr/>
                        <a:lstStyle/>
                        <a:p>
                          <a:endParaRPr lang="ja-JP"/>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100000" t="-3371" r="-203509" b="-546067"/>
                          </a:stretch>
                        </a:blipFill>
                      </a:tcPr>
                    </a:tc>
                    <a:tc>
                      <a:txBody>
                        <a:bodyPr/>
                        <a:lstStyle/>
                        <a:p>
                          <a:endParaRPr lang="ja-JP"/>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200000" t="-3371" r="-103509" b="-546067"/>
                          </a:stretch>
                        </a:blipFill>
                      </a:tcPr>
                    </a:tc>
                    <a:tc>
                      <a:txBody>
                        <a:bodyPr/>
                        <a:lstStyle/>
                        <a:p>
                          <a:endParaRPr lang="ja-JP"/>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300000" t="-3371" r="-3509" b="-546067"/>
                          </a:stretch>
                        </a:blip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solidFill>
                          <a:schemeClr val="accent5">
                            <a:lumMod val="40000"/>
                            <a:lumOff val="60000"/>
                          </a:schemeClr>
                        </a:solidFill>
                      </a:tcPr>
                    </a:tc>
                    <a:extLst>
                      <a:ext uri="{0D108BD9-81ED-4DB2-BD59-A6C34878D82A}">
                        <a16:rowId xmlns:a16="http://schemas.microsoft.com/office/drawing/2014/main" val="10002"/>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3"/>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5">
                            <a:lumMod val="40000"/>
                            <a:lumOff val="60000"/>
                          </a:schemeClr>
                        </a:solidFill>
                      </a:tcPr>
                    </a:tc>
                    <a:extLst>
                      <a:ext uri="{0D108BD9-81ED-4DB2-BD59-A6C34878D82A}">
                        <a16:rowId xmlns:a16="http://schemas.microsoft.com/office/drawing/2014/main" val="10004"/>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5"/>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6"/>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7"/>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40000"/>
                            <a:lumOff val="60000"/>
                          </a:schemeClr>
                        </a:solidFill>
                      </a:tcPr>
                    </a:tc>
                    <a:extLst>
                      <a:ext uri="{0D108BD9-81ED-4DB2-BD59-A6C34878D82A}">
                        <a16:rowId xmlns:a16="http://schemas.microsoft.com/office/drawing/2014/main" val="10008"/>
                      </a:ext>
                    </a:extLst>
                  </a:tr>
                </a:tbl>
              </a:graphicData>
            </a:graphic>
          </p:graphicFrame>
        </mc:Fallback>
      </mc:AlternateContent>
      <p:cxnSp>
        <p:nvCxnSpPr>
          <p:cNvPr id="5" name="直線コネクタ 4"/>
          <p:cNvCxnSpPr/>
          <p:nvPr/>
        </p:nvCxnSpPr>
        <p:spPr bwMode="auto">
          <a:xfrm>
            <a:off x="5285991" y="3158997"/>
            <a:ext cx="360004"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フローチャート: 手作業 5"/>
          <p:cNvSpPr/>
          <p:nvPr/>
        </p:nvSpPr>
        <p:spPr bwMode="auto">
          <a:xfrm rot="16200000">
            <a:off x="4738790" y="2986190"/>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cxnSp>
        <p:nvCxnSpPr>
          <p:cNvPr id="7" name="直線矢印コネクタ 6"/>
          <p:cNvCxnSpPr/>
          <p:nvPr/>
        </p:nvCxnSpPr>
        <p:spPr bwMode="auto">
          <a:xfrm>
            <a:off x="4745988" y="2888994"/>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8" name="直線矢印コネクタ 7"/>
          <p:cNvCxnSpPr/>
          <p:nvPr/>
        </p:nvCxnSpPr>
        <p:spPr bwMode="auto">
          <a:xfrm>
            <a:off x="4745988" y="3429000"/>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9" name="直線コネクタ 8"/>
          <p:cNvCxnSpPr/>
          <p:nvPr/>
        </p:nvCxnSpPr>
        <p:spPr bwMode="auto">
          <a:xfrm>
            <a:off x="5195990" y="2438989"/>
            <a:ext cx="0" cy="360004"/>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1" name="正方形/長方形 10"/>
              <p:cNvSpPr/>
              <p:nvPr/>
            </p:nvSpPr>
            <p:spPr bwMode="auto">
              <a:xfrm>
                <a:off x="4925987" y="2078988"/>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lang="en-US" altLang="ja-JP" sz="2800" i="1" dirty="0">
                          <a:solidFill>
                            <a:schemeClr val="tx1">
                              <a:lumMod val="85000"/>
                              <a:lumOff val="15000"/>
                            </a:schemeClr>
                          </a:solidFill>
                          <a:latin typeface="Cambria Math" panose="02040503050406030204" pitchFamily="18" charset="0"/>
                          <a:ea typeface="メイリオ" panose="020B0604030504040204" pitchFamily="50" charset="-128"/>
                        </a:rPr>
                        <m:t>𝑠</m:t>
                      </m:r>
                    </m:oMath>
                  </m:oMathPara>
                </a14:m>
                <a:endParaRPr lang="ja-JP" altLang="en-US" sz="2000" dirty="0">
                  <a:solidFill>
                    <a:schemeClr val="tx1">
                      <a:lumMod val="85000"/>
                      <a:lumOff val="15000"/>
                    </a:schemeClr>
                  </a:solidFill>
                  <a:latin typeface="Consolas" panose="020B0609020204030204" pitchFamily="49" charset="0"/>
                  <a:ea typeface="メイリオ" panose="020B0604030504040204" pitchFamily="50" charset="-128"/>
                </a:endParaRPr>
              </a:p>
            </p:txBody>
          </p:sp>
        </mc:Choice>
        <mc:Fallback>
          <p:sp>
            <p:nvSpPr>
              <p:cNvPr id="11" name="正方形/長方形 10"/>
              <p:cNvSpPr>
                <a:spLocks noRot="1" noChangeAspect="1" noMove="1" noResize="1" noEditPoints="1" noAdjustHandles="1" noChangeArrowheads="1" noChangeShapeType="1" noTextEdit="1"/>
              </p:cNvSpPr>
              <p:nvPr/>
            </p:nvSpPr>
            <p:spPr bwMode="auto">
              <a:xfrm>
                <a:off x="4925987" y="2078988"/>
                <a:ext cx="540006" cy="270003"/>
              </a:xfrm>
              <a:prstGeom prst="rect">
                <a:avLst/>
              </a:prstGeom>
              <a:blipFill>
                <a:blip r:embed="rId3"/>
                <a:stretch>
                  <a:fillRect/>
                </a:stretch>
              </a:blipFill>
              <a:ln>
                <a:noFill/>
                <a:headEnd/>
                <a:tailEnd type="triangle" w="sm"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5" name="正方形/長方形 14"/>
              <p:cNvSpPr/>
              <p:nvPr/>
            </p:nvSpPr>
            <p:spPr bwMode="auto">
              <a:xfrm>
                <a:off x="4295980" y="2708995"/>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sSub>
                        <m:sSubPr>
                          <m:ctrlPr>
                            <a:rPr kumimoji="0" lang="en-US" altLang="ja-JP" sz="2800" i="1">
                              <a:solidFill>
                                <a:schemeClr val="tx1"/>
                              </a:solidFill>
                              <a:latin typeface="Cambria Math" panose="02040503050406030204" pitchFamily="18" charset="0"/>
                              <a:ea typeface="MeiryoKe_PGothic" pitchFamily="50" charset="-128"/>
                            </a:rPr>
                          </m:ctrlPr>
                        </m:sSubPr>
                        <m:e>
                          <m:r>
                            <a:rPr kumimoji="0" lang="en-US" altLang="ja-JP" sz="2800" i="1">
                              <a:solidFill>
                                <a:schemeClr val="tx1"/>
                              </a:solidFill>
                              <a:latin typeface="Cambria Math" panose="02040503050406030204" pitchFamily="18" charset="0"/>
                              <a:ea typeface="MeiryoKe_PGothic" pitchFamily="50" charset="-128"/>
                            </a:rPr>
                            <m:t>𝑖</m:t>
                          </m:r>
                        </m:e>
                        <m:sub>
                          <m:r>
                            <a:rPr kumimoji="0" lang="en-US" altLang="ja-JP" sz="2800" i="1">
                              <a:solidFill>
                                <a:schemeClr val="tx1"/>
                              </a:solidFill>
                              <a:latin typeface="Cambria Math" panose="02040503050406030204" pitchFamily="18" charset="0"/>
                              <a:ea typeface="MeiryoKe_PGothic" pitchFamily="50" charset="-128"/>
                            </a:rPr>
                            <m:t>0</m:t>
                          </m:r>
                        </m:sub>
                      </m:sSub>
                    </m:oMath>
                  </m:oMathPara>
                </a14:m>
                <a:endParaRPr kumimoji="0" lang="en-US" altLang="ja-JP" sz="2800" i="1" baseline="-25000" dirty="0">
                  <a:solidFill>
                    <a:schemeClr val="tx1"/>
                  </a:solidFill>
                  <a:latin typeface="Times New Roman" pitchFamily="18" charset="0"/>
                  <a:ea typeface="MeiryoKe_PGothic" pitchFamily="50" charset="-128"/>
                </a:endParaRPr>
              </a:p>
            </p:txBody>
          </p:sp>
        </mc:Choice>
        <mc:Fallback>
          <p:sp>
            <p:nvSpPr>
              <p:cNvPr id="15" name="正方形/長方形 14"/>
              <p:cNvSpPr>
                <a:spLocks noRot="1" noChangeAspect="1" noMove="1" noResize="1" noEditPoints="1" noAdjustHandles="1" noChangeArrowheads="1" noChangeShapeType="1" noTextEdit="1"/>
              </p:cNvSpPr>
              <p:nvPr/>
            </p:nvSpPr>
            <p:spPr bwMode="auto">
              <a:xfrm>
                <a:off x="4295980" y="2708995"/>
                <a:ext cx="540006" cy="270003"/>
              </a:xfrm>
              <a:prstGeom prst="rect">
                <a:avLst/>
              </a:prstGeom>
              <a:blipFill>
                <a:blip r:embed="rId4"/>
                <a:stretch>
                  <a:fillRect b="-24444"/>
                </a:stretch>
              </a:blipFill>
              <a:ln>
                <a:noFill/>
                <a:headEnd/>
                <a:tailEnd type="triangle" w="sm"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 name="正方形/長方形 15"/>
              <p:cNvSpPr/>
              <p:nvPr/>
            </p:nvSpPr>
            <p:spPr bwMode="auto">
              <a:xfrm>
                <a:off x="4295980" y="324900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sSub>
                        <m:sSubPr>
                          <m:ctrlPr>
                            <a:rPr kumimoji="0" lang="en-US" altLang="ja-JP" sz="2800" i="1">
                              <a:solidFill>
                                <a:schemeClr val="tx1"/>
                              </a:solidFill>
                              <a:latin typeface="Cambria Math" panose="02040503050406030204" pitchFamily="18" charset="0"/>
                              <a:ea typeface="MeiryoKe_PGothic" pitchFamily="50" charset="-128"/>
                            </a:rPr>
                          </m:ctrlPr>
                        </m:sSubPr>
                        <m:e>
                          <m:r>
                            <a:rPr kumimoji="0" lang="en-US" altLang="ja-JP" sz="2800" i="1">
                              <a:solidFill>
                                <a:schemeClr val="tx1"/>
                              </a:solidFill>
                              <a:latin typeface="Cambria Math" panose="02040503050406030204" pitchFamily="18" charset="0"/>
                              <a:ea typeface="MeiryoKe_PGothic" pitchFamily="50" charset="-128"/>
                            </a:rPr>
                            <m:t>𝑖</m:t>
                          </m:r>
                        </m:e>
                        <m:sub>
                          <m:r>
                            <a:rPr kumimoji="0" lang="en-US" altLang="ja-JP" sz="2800" i="1">
                              <a:solidFill>
                                <a:schemeClr val="tx1"/>
                              </a:solidFill>
                              <a:latin typeface="Cambria Math" panose="02040503050406030204" pitchFamily="18" charset="0"/>
                              <a:ea typeface="MeiryoKe_PGothic" pitchFamily="50" charset="-128"/>
                            </a:rPr>
                            <m:t>1</m:t>
                          </m:r>
                        </m:sub>
                      </m:sSub>
                    </m:oMath>
                  </m:oMathPara>
                </a14:m>
                <a:endParaRPr kumimoji="0" lang="en-US" altLang="ja-JP" sz="2800" i="1" baseline="-25000" dirty="0">
                  <a:solidFill>
                    <a:schemeClr val="tx1"/>
                  </a:solidFill>
                  <a:latin typeface="Times New Roman" pitchFamily="18" charset="0"/>
                  <a:ea typeface="MeiryoKe_PGothic" pitchFamily="50" charset="-128"/>
                </a:endParaRPr>
              </a:p>
            </p:txBody>
          </p:sp>
        </mc:Choice>
        <mc:Fallback>
          <p:sp>
            <p:nvSpPr>
              <p:cNvPr id="16" name="正方形/長方形 15"/>
              <p:cNvSpPr>
                <a:spLocks noRot="1" noChangeAspect="1" noMove="1" noResize="1" noEditPoints="1" noAdjustHandles="1" noChangeArrowheads="1" noChangeShapeType="1" noTextEdit="1"/>
              </p:cNvSpPr>
              <p:nvPr/>
            </p:nvSpPr>
            <p:spPr bwMode="auto">
              <a:xfrm>
                <a:off x="4295980" y="3249001"/>
                <a:ext cx="540006" cy="270003"/>
              </a:xfrm>
              <a:prstGeom prst="rect">
                <a:avLst/>
              </a:prstGeom>
              <a:blipFill>
                <a:blip r:embed="rId5"/>
                <a:stretch>
                  <a:fillRect b="-25000"/>
                </a:stretch>
              </a:blipFill>
              <a:ln>
                <a:noFill/>
                <a:headEnd/>
                <a:tailEnd type="triangle" w="sm"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7" name="正方形/長方形 16"/>
              <p:cNvSpPr/>
              <p:nvPr/>
            </p:nvSpPr>
            <p:spPr bwMode="auto">
              <a:xfrm>
                <a:off x="5645995" y="2978998"/>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kumimoji="0" lang="en-US" altLang="ja-JP" sz="2800" i="1" dirty="0">
                          <a:solidFill>
                            <a:schemeClr val="tx1"/>
                          </a:solidFill>
                          <a:latin typeface="Cambria Math" panose="02040503050406030204" pitchFamily="18" charset="0"/>
                          <a:ea typeface="MeiryoKe_PGothic" pitchFamily="50" charset="-128"/>
                        </a:rPr>
                        <m:t>𝑜</m:t>
                      </m:r>
                    </m:oMath>
                  </m:oMathPara>
                </a14:m>
                <a:endParaRPr kumimoji="0" lang="en-US" altLang="ja-JP" sz="2800" i="1" baseline="-25000" dirty="0">
                  <a:solidFill>
                    <a:schemeClr val="tx1"/>
                  </a:solidFill>
                  <a:latin typeface="Times New Roman" pitchFamily="18" charset="0"/>
                  <a:ea typeface="MeiryoKe_PGothic" pitchFamily="50" charset="-128"/>
                </a:endParaRPr>
              </a:p>
            </p:txBody>
          </p:sp>
        </mc:Choice>
        <mc:Fallback>
          <p:sp>
            <p:nvSpPr>
              <p:cNvPr id="17" name="正方形/長方形 16"/>
              <p:cNvSpPr>
                <a:spLocks noRot="1" noChangeAspect="1" noMove="1" noResize="1" noEditPoints="1" noAdjustHandles="1" noChangeArrowheads="1" noChangeShapeType="1" noTextEdit="1"/>
              </p:cNvSpPr>
              <p:nvPr/>
            </p:nvSpPr>
            <p:spPr bwMode="auto">
              <a:xfrm>
                <a:off x="5645995" y="2978998"/>
                <a:ext cx="540006" cy="270003"/>
              </a:xfrm>
              <a:prstGeom prst="rect">
                <a:avLst/>
              </a:prstGeom>
              <a:blipFill>
                <a:blip r:embed="rId6"/>
                <a:stretch>
                  <a:fillRect/>
                </a:stretch>
              </a:blipFill>
              <a:ln>
                <a:noFill/>
                <a:headEnd/>
                <a:tailEnd type="triangle" w="sm" len="med"/>
              </a:ln>
              <a:effectLst/>
            </p:spPr>
            <p:txBody>
              <a:bodyPr/>
              <a:lstStyle/>
              <a:p>
                <a:r>
                  <a:rPr lang="ja-JP" altLang="en-US">
                    <a:noFill/>
                  </a:rPr>
                  <a:t> </a:t>
                </a:r>
              </a:p>
            </p:txBody>
          </p:sp>
        </mc:Fallback>
      </mc:AlternateContent>
      <p:sp>
        <p:nvSpPr>
          <p:cNvPr id="20" name="フローチャート: 手作業 19"/>
          <p:cNvSpPr/>
          <p:nvPr/>
        </p:nvSpPr>
        <p:spPr bwMode="auto">
          <a:xfrm rot="16200000">
            <a:off x="7078816" y="2356183"/>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cxnSp>
        <p:nvCxnSpPr>
          <p:cNvPr id="21" name="直線矢印コネクタ 20"/>
          <p:cNvCxnSpPr/>
          <p:nvPr/>
        </p:nvCxnSpPr>
        <p:spPr bwMode="auto">
          <a:xfrm>
            <a:off x="7086014" y="2258987"/>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22" name="直線矢印コネクタ 21"/>
          <p:cNvCxnSpPr/>
          <p:nvPr/>
        </p:nvCxnSpPr>
        <p:spPr bwMode="auto">
          <a:xfrm>
            <a:off x="7086014" y="2798993"/>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23" name="直線コネクタ 22"/>
          <p:cNvCxnSpPr/>
          <p:nvPr/>
        </p:nvCxnSpPr>
        <p:spPr bwMode="auto">
          <a:xfrm>
            <a:off x="7536016" y="1988984"/>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フローチャート: 手作業 27"/>
          <p:cNvSpPr/>
          <p:nvPr/>
        </p:nvSpPr>
        <p:spPr bwMode="auto">
          <a:xfrm rot="16200000">
            <a:off x="7078816" y="3436195"/>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cxnSp>
        <p:nvCxnSpPr>
          <p:cNvPr id="29" name="直線矢印コネクタ 28"/>
          <p:cNvCxnSpPr/>
          <p:nvPr/>
        </p:nvCxnSpPr>
        <p:spPr bwMode="auto">
          <a:xfrm>
            <a:off x="7086014" y="3338999"/>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30" name="直線矢印コネクタ 29"/>
          <p:cNvCxnSpPr/>
          <p:nvPr/>
        </p:nvCxnSpPr>
        <p:spPr bwMode="auto">
          <a:xfrm>
            <a:off x="7086014" y="3879005"/>
            <a:ext cx="270003"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8076022" y="2888994"/>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7716021" y="3609002"/>
            <a:ext cx="270003" cy="0"/>
          </a:xfrm>
          <a:prstGeom prst="straightConnector1">
            <a:avLst/>
          </a:prstGeom>
          <a:noFill/>
          <a:ln w="9525" cap="flat" cmpd="sng" algn="ctr">
            <a:solidFill>
              <a:schemeClr val="tx1"/>
            </a:solidFill>
            <a:prstDash val="solid"/>
            <a:round/>
            <a:headEnd type="none" w="sm" len="sm"/>
            <a:tailEnd type="none"/>
          </a:ln>
          <a:effectLst/>
        </p:spPr>
      </p:cxnSp>
      <p:sp>
        <p:nvSpPr>
          <p:cNvPr id="33" name="フローチャート: 手作業 32"/>
          <p:cNvSpPr/>
          <p:nvPr/>
        </p:nvSpPr>
        <p:spPr bwMode="auto">
          <a:xfrm rot="16200000">
            <a:off x="8158828" y="2896189"/>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34" name="Freeform 10"/>
          <p:cNvSpPr>
            <a:spLocks/>
          </p:cNvSpPr>
          <p:nvPr/>
        </p:nvSpPr>
        <p:spPr bwMode="auto">
          <a:xfrm flipH="1" flipV="1">
            <a:off x="7716018" y="2528990"/>
            <a:ext cx="360004"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6" name="Freeform 10"/>
          <p:cNvSpPr>
            <a:spLocks/>
          </p:cNvSpPr>
          <p:nvPr/>
        </p:nvSpPr>
        <p:spPr bwMode="auto">
          <a:xfrm flipH="1">
            <a:off x="7716018" y="3248998"/>
            <a:ext cx="360004"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8" name="直線矢印コネクタ 37"/>
          <p:cNvCxnSpPr/>
          <p:nvPr/>
        </p:nvCxnSpPr>
        <p:spPr bwMode="auto">
          <a:xfrm>
            <a:off x="8076022" y="3248998"/>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コネクタ 38"/>
          <p:cNvCxnSpPr/>
          <p:nvPr/>
        </p:nvCxnSpPr>
        <p:spPr bwMode="auto">
          <a:xfrm>
            <a:off x="7536016" y="3068996"/>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直線コネクタ 41"/>
          <p:cNvCxnSpPr/>
          <p:nvPr/>
        </p:nvCxnSpPr>
        <p:spPr bwMode="auto">
          <a:xfrm>
            <a:off x="8616028" y="2528990"/>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直線矢印コネクタ 42"/>
          <p:cNvCxnSpPr/>
          <p:nvPr/>
        </p:nvCxnSpPr>
        <p:spPr bwMode="auto">
          <a:xfrm>
            <a:off x="8796030" y="3068996"/>
            <a:ext cx="360004" cy="0"/>
          </a:xfrm>
          <a:prstGeom prst="straightConnector1">
            <a:avLst/>
          </a:prstGeom>
          <a:noFill/>
          <a:ln w="9525" cap="flat" cmpd="sng" algn="ctr">
            <a:solidFill>
              <a:schemeClr val="tx1"/>
            </a:solidFill>
            <a:prstDash val="solid"/>
            <a:round/>
            <a:headEnd type="none" w="sm" len="sm"/>
            <a:tailEnd type="none"/>
          </a:ln>
          <a:effectLst/>
        </p:spPr>
      </p:cxnSp>
    </p:spTree>
    <p:extLst>
      <p:ext uri="{BB962C8B-B14F-4D97-AF65-F5344CB8AC3E}">
        <p14:creationId xmlns:p14="http://schemas.microsoft.com/office/powerpoint/2010/main" val="37877276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選択信号を出すための論理関数</a:t>
            </a:r>
          </a:p>
        </p:txBody>
      </p:sp>
      <p:sp>
        <p:nvSpPr>
          <p:cNvPr id="3" name="テキスト プレースホルダー 2"/>
          <p:cNvSpPr>
            <a:spLocks noGrp="1"/>
          </p:cNvSpPr>
          <p:nvPr>
            <p:ph type="body" sz="quarter" idx="10"/>
          </p:nvPr>
        </p:nvSpPr>
        <p:spPr>
          <a:xfrm>
            <a:off x="1595950" y="5859030"/>
            <a:ext cx="8820098" cy="720009"/>
          </a:xfrm>
        </p:spPr>
        <p:txBody>
          <a:bodyPr/>
          <a:lstStyle/>
          <a:p>
            <a:pPr lvl="1"/>
            <a:r>
              <a:rPr kumimoji="1" lang="ja-JP" altLang="en-US" dirty="0">
                <a:solidFill>
                  <a:schemeClr val="tx1">
                    <a:lumMod val="85000"/>
                    <a:lumOff val="15000"/>
                  </a:schemeClr>
                </a:solidFill>
              </a:rPr>
              <a:t>場合わけの制御は，そのまま真理値表にして回路を生成すればよい</a:t>
            </a:r>
            <a:endParaRPr kumimoji="1" lang="en-US" altLang="ja-JP" dirty="0">
              <a:solidFill>
                <a:schemeClr val="tx1">
                  <a:lumMod val="85000"/>
                  <a:lumOff val="15000"/>
                </a:schemeClr>
              </a:solidFill>
            </a:endParaRPr>
          </a:p>
          <a:p>
            <a:pPr lvl="2"/>
            <a:r>
              <a:rPr lang="en-US" altLang="ja-JP" dirty="0">
                <a:solidFill>
                  <a:schemeClr val="tx1">
                    <a:lumMod val="85000"/>
                    <a:lumOff val="15000"/>
                  </a:schemeClr>
                </a:solidFill>
              </a:rPr>
              <a:t>XOR </a:t>
            </a:r>
            <a:r>
              <a:rPr lang="ja-JP" altLang="en-US" dirty="0">
                <a:solidFill>
                  <a:schemeClr val="tx1">
                    <a:lumMod val="85000"/>
                    <a:lumOff val="15000"/>
                  </a:schemeClr>
                </a:solidFill>
              </a:rPr>
              <a:t>なら </a:t>
            </a:r>
            <a:r>
              <a:rPr lang="en-US" altLang="ja-JP" dirty="0">
                <a:solidFill>
                  <a:schemeClr val="tx1">
                    <a:lumMod val="85000"/>
                    <a:lumOff val="15000"/>
                  </a:schemeClr>
                </a:solidFill>
              </a:rPr>
              <a:t>00</a:t>
            </a:r>
            <a:r>
              <a:rPr lang="ja-JP" altLang="en-US" dirty="0" err="1">
                <a:solidFill>
                  <a:schemeClr val="tx1">
                    <a:lumMod val="85000"/>
                    <a:lumOff val="15000"/>
                  </a:schemeClr>
                </a:solidFill>
              </a:rPr>
              <a:t>，</a:t>
            </a:r>
            <a:r>
              <a:rPr lang="en-US" altLang="ja-JP" dirty="0">
                <a:solidFill>
                  <a:schemeClr val="tx1">
                    <a:lumMod val="85000"/>
                    <a:lumOff val="15000"/>
                  </a:schemeClr>
                </a:solidFill>
              </a:rPr>
              <a:t>OR </a:t>
            </a:r>
            <a:r>
              <a:rPr lang="ja-JP" altLang="en-US" dirty="0">
                <a:solidFill>
                  <a:schemeClr val="tx1">
                    <a:lumMod val="85000"/>
                    <a:lumOff val="15000"/>
                  </a:schemeClr>
                </a:solidFill>
              </a:rPr>
              <a:t>なら </a:t>
            </a:r>
            <a:r>
              <a:rPr lang="en-US" altLang="ja-JP" dirty="0">
                <a:solidFill>
                  <a:schemeClr val="tx1">
                    <a:lumMod val="85000"/>
                    <a:lumOff val="15000"/>
                  </a:schemeClr>
                </a:solidFill>
              </a:rPr>
              <a:t>01</a:t>
            </a:r>
            <a:r>
              <a:rPr lang="ja-JP" altLang="en-US" dirty="0" err="1">
                <a:solidFill>
                  <a:schemeClr val="tx1">
                    <a:lumMod val="85000"/>
                    <a:lumOff val="15000"/>
                  </a:schemeClr>
                </a:solidFill>
              </a:rPr>
              <a:t>，</a:t>
            </a:r>
            <a:r>
              <a:rPr lang="ja-JP" altLang="en-US" dirty="0">
                <a:solidFill>
                  <a:schemeClr val="tx1">
                    <a:lumMod val="85000"/>
                    <a:lumOff val="15000"/>
                  </a:schemeClr>
                </a:solidFill>
              </a:rPr>
              <a:t>その他は </a:t>
            </a:r>
            <a:r>
              <a:rPr lang="en-US" altLang="ja-JP" dirty="0">
                <a:solidFill>
                  <a:schemeClr val="tx1">
                    <a:lumMod val="85000"/>
                    <a:lumOff val="15000"/>
                  </a:schemeClr>
                </a:solidFill>
              </a:rPr>
              <a:t>10</a:t>
            </a:r>
            <a:endParaRPr kumimoji="1" lang="ja-JP" altLang="en-US" dirty="0">
              <a:solidFill>
                <a:schemeClr val="tx1">
                  <a:lumMod val="85000"/>
                  <a:lumOff val="15000"/>
                </a:schemeClr>
              </a:solidFill>
            </a:endParaRPr>
          </a:p>
        </p:txBody>
      </p:sp>
      <p:sp>
        <p:nvSpPr>
          <p:cNvPr id="19" name="正方形/長方形 18"/>
          <p:cNvSpPr/>
          <p:nvPr/>
        </p:nvSpPr>
        <p:spPr bwMode="auto">
          <a:xfrm>
            <a:off x="7086011" y="4959017"/>
            <a:ext cx="54000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8" name="正方形/長方形 47"/>
          <p:cNvSpPr/>
          <p:nvPr/>
        </p:nvSpPr>
        <p:spPr bwMode="auto">
          <a:xfrm>
            <a:off x="7086011" y="4599013"/>
            <a:ext cx="54000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49" name="正方形/長方形 48"/>
          <p:cNvSpPr/>
          <p:nvPr/>
        </p:nvSpPr>
        <p:spPr bwMode="auto">
          <a:xfrm>
            <a:off x="7086011" y="3879005"/>
            <a:ext cx="54000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mc:AlternateContent xmlns:mc="http://schemas.openxmlformats.org/markup-compatibility/2006">
        <mc:Choice xmlns:a14="http://schemas.microsoft.com/office/drawing/2010/main" Requires="a14">
          <p:graphicFrame>
            <p:nvGraphicFramePr>
              <p:cNvPr id="62" name="Group 153"/>
              <p:cNvGraphicFramePr>
                <a:graphicFrameLocks/>
              </p:cNvGraphicFramePr>
              <p:nvPr/>
            </p:nvGraphicFramePr>
            <p:xfrm>
              <a:off x="7626017" y="1898986"/>
              <a:ext cx="17280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gridCol w="345600">
                      <a:extLst>
                        <a:ext uri="{9D8B030D-6E8A-4147-A177-3AD203B41FA5}">
                          <a16:colId xmlns:a16="http://schemas.microsoft.com/office/drawing/2014/main" val="20004"/>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sSub>
                                  <m:sSubPr>
                                    <m:ctrlP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ctrlPr>
                                  </m:sSubPr>
                                  <m:e>
                                    <m: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t>𝑠</m:t>
                                    </m:r>
                                  </m:e>
                                  <m:sub>
                                    <m: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t>1</m:t>
                                    </m:r>
                                  </m:sub>
                                </m:sSub>
                              </m:oMath>
                            </m:oMathPara>
                          </a14:m>
                          <a:endParaRPr kumimoji="0" lang="en-US" altLang="ja-JP" sz="2000" b="0" i="0" u="none" strike="noStrike" cap="none" normalizeH="0" baseline="-25000" dirty="0">
                            <a:ln>
                              <a:noFill/>
                            </a:ln>
                            <a:solidFill>
                              <a:schemeClr val="accent5"/>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14:m>
                            <m:oMathPara xmlns:m="http://schemas.openxmlformats.org/officeDocument/2006/math">
                              <m:oMathParaPr>
                                <m:jc m:val="centerGroup"/>
                              </m:oMathParaPr>
                              <m:oMath xmlns:m="http://schemas.openxmlformats.org/officeDocument/2006/math">
                                <m:r>
                                  <a:rPr kumimoji="0" lang="en-US" altLang="ja-JP" sz="2000" b="0" i="1" u="none" strike="noStrike" cap="none" normalizeH="0" baseline="0" dirty="0" smtClean="0">
                                    <a:ln>
                                      <a:noFill/>
                                    </a:ln>
                                    <a:solidFill>
                                      <a:schemeClr val="accent5"/>
                                    </a:solidFill>
                                    <a:effectLst/>
                                    <a:latin typeface="Cambria Math" panose="02040503050406030204" pitchFamily="18" charset="0"/>
                                    <a:ea typeface="MeiryoKe_PGothic" pitchFamily="50" charset="-128"/>
                                  </a:rPr>
                                  <m:t>𝑠</m:t>
                                </m:r>
                                <m:r>
                                  <a:rPr kumimoji="0" lang="en-US" altLang="ja-JP" sz="2000" b="0" i="1" u="none" strike="noStrike" cap="none" normalizeH="0" baseline="-25000" dirty="0" smtClean="0">
                                    <a:ln>
                                      <a:noFill/>
                                    </a:ln>
                                    <a:solidFill>
                                      <a:schemeClr val="accent5"/>
                                    </a:solidFill>
                                    <a:effectLst/>
                                    <a:latin typeface="Cambria Math" panose="02040503050406030204" pitchFamily="18" charset="0"/>
                                    <a:ea typeface="MeiryoKe_PGothic" pitchFamily="50" charset="-128"/>
                                  </a:rPr>
                                  <m:t>0</m:t>
                                </m:r>
                              </m:oMath>
                            </m:oMathPara>
                          </a14:m>
                          <a:endParaRPr kumimoji="0" lang="en-US" altLang="ja-JP" sz="2000" b="0" i="0" u="none" strike="noStrike" cap="none" normalizeH="0" baseline="-25000" dirty="0">
                            <a:ln>
                              <a:noFill/>
                            </a:ln>
                            <a:solidFill>
                              <a:schemeClr val="accent5"/>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5"/>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7"/>
                      </a:ext>
                    </a:extLst>
                  </a:tr>
                  <a:tr h="266700">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8"/>
                      </a:ext>
                    </a:extLst>
                  </a:tr>
                </a:tbl>
              </a:graphicData>
            </a:graphic>
          </p:graphicFrame>
        </mc:Choice>
        <mc:Fallback>
          <p:graphicFrame>
            <p:nvGraphicFramePr>
              <p:cNvPr id="62" name="Group 153"/>
              <p:cNvGraphicFramePr>
                <a:graphicFrameLocks/>
              </p:cNvGraphicFramePr>
              <p:nvPr/>
            </p:nvGraphicFramePr>
            <p:xfrm>
              <a:off x="7626017" y="1898986"/>
              <a:ext cx="1728000" cy="3424301"/>
            </p:xfrm>
            <a:graphic>
              <a:graphicData uri="http://schemas.openxmlformats.org/drawingml/2006/table">
                <a:tbl>
                  <a:tblPr/>
                  <a:tblGrid>
                    <a:gridCol w="345600">
                      <a:extLst>
                        <a:ext uri="{9D8B030D-6E8A-4147-A177-3AD203B41FA5}">
                          <a16:colId xmlns:a16="http://schemas.microsoft.com/office/drawing/2014/main" val="20000"/>
                        </a:ext>
                      </a:extLst>
                    </a:gridCol>
                    <a:gridCol w="345600">
                      <a:extLst>
                        <a:ext uri="{9D8B030D-6E8A-4147-A177-3AD203B41FA5}">
                          <a16:colId xmlns:a16="http://schemas.microsoft.com/office/drawing/2014/main" val="20001"/>
                        </a:ext>
                      </a:extLst>
                    </a:gridCol>
                    <a:gridCol w="345600">
                      <a:extLst>
                        <a:ext uri="{9D8B030D-6E8A-4147-A177-3AD203B41FA5}">
                          <a16:colId xmlns:a16="http://schemas.microsoft.com/office/drawing/2014/main" val="20002"/>
                        </a:ext>
                      </a:extLst>
                    </a:gridCol>
                    <a:gridCol w="345600">
                      <a:extLst>
                        <a:ext uri="{9D8B030D-6E8A-4147-A177-3AD203B41FA5}">
                          <a16:colId xmlns:a16="http://schemas.microsoft.com/office/drawing/2014/main" val="20003"/>
                        </a:ext>
                      </a:extLst>
                    </a:gridCol>
                    <a:gridCol w="345600">
                      <a:extLst>
                        <a:ext uri="{9D8B030D-6E8A-4147-A177-3AD203B41FA5}">
                          <a16:colId xmlns:a16="http://schemas.microsoft.com/office/drawing/2014/main" val="20004"/>
                        </a:ext>
                      </a:extLst>
                    </a:gridCol>
                  </a:tblGrid>
                  <a:tr h="5429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2</a:t>
                          </a:r>
                        </a:p>
                      </a:txBody>
                      <a:tcPr anchor="ctr" horzOverflow="overflow">
                        <a:lnL w="635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pitchFamily="18" charset="0"/>
                              <a:ea typeface="MeiryoKe_PGothic" pitchFamily="50" charset="-128"/>
                            </a:rPr>
                            <a:t>i</a:t>
                          </a:r>
                          <a:r>
                            <a:rPr kumimoji="0" lang="en-US" altLang="ja-JP" sz="2000" b="0" i="1" u="none" strike="noStrike" cap="none" normalizeH="0" baseline="-2500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endParaRPr lang="ja-JP"/>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315789" t="-2247" r="-103509" b="-546067"/>
                          </a:stretch>
                        </a:blipFill>
                      </a:tcPr>
                    </a:tc>
                    <a:tc>
                      <a:txBody>
                        <a:bodyPr/>
                        <a:lstStyle/>
                        <a:p>
                          <a:endParaRPr lang="ja-JP"/>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2"/>
                          <a:stretch>
                            <a:fillRect l="-415789" t="-2247" r="-3509" b="-546067"/>
                          </a:stretch>
                        </a:blipFill>
                      </a:tcPr>
                    </a:tc>
                    <a:extLst>
                      <a:ext uri="{0D108BD9-81ED-4DB2-BD59-A6C34878D82A}">
                        <a16:rowId xmlns:a16="http://schemas.microsoft.com/office/drawing/2014/main" val="10000"/>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3651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5"/>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x</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7"/>
                      </a:ext>
                    </a:extLst>
                  </a:tr>
                  <a:tr h="358521">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1</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solidFill>
                              <a:effectLst/>
                              <a:latin typeface="Times New Roman" pitchFamily="18" charset="0"/>
                              <a:ea typeface="MeiryoKe_PGothic" pitchFamily="50" charset="-128"/>
                            </a:rPr>
                            <a:t>0</a:t>
                          </a:r>
                          <a:endParaRPr kumimoji="0" lang="ja-JP" altLang="ja-JP" sz="1600" b="0" i="0" u="none" strike="noStrike" cap="none" normalizeH="0" baseline="0" dirty="0">
                            <a:ln>
                              <a:noFill/>
                            </a:ln>
                            <a:solidFill>
                              <a:schemeClr val="tx1"/>
                            </a:solidFill>
                            <a:effectLst/>
                            <a:latin typeface="Times New Roman" pitchFamily="18" charset="0"/>
                            <a:ea typeface="MeiryoKe_PGothic" pitchFamily="50" charset="-128"/>
                          </a:endParaRPr>
                        </a:p>
                      </a:txBody>
                      <a:tcPr anchor="ctr" horzOverflow="overflow">
                        <a:lnL w="12700" cap="flat" cmpd="sng" algn="ctr">
                          <a:no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tcPr>
                    </a:tc>
                    <a:extLst>
                      <a:ext uri="{0D108BD9-81ED-4DB2-BD59-A6C34878D82A}">
                        <a16:rowId xmlns:a16="http://schemas.microsoft.com/office/drawing/2014/main" val="10008"/>
                      </a:ext>
                    </a:extLst>
                  </a:tr>
                </a:tbl>
              </a:graphicData>
            </a:graphic>
          </p:graphicFrame>
        </mc:Fallback>
      </mc:AlternateContent>
      <p:cxnSp>
        <p:nvCxnSpPr>
          <p:cNvPr id="67" name="直線矢印コネクタ 66"/>
          <p:cNvCxnSpPr/>
          <p:nvPr/>
        </p:nvCxnSpPr>
        <p:spPr bwMode="auto">
          <a:xfrm>
            <a:off x="2850196" y="3347961"/>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68" name="直線矢印コネクタ 67"/>
          <p:cNvCxnSpPr/>
          <p:nvPr/>
        </p:nvCxnSpPr>
        <p:spPr bwMode="auto">
          <a:xfrm flipV="1">
            <a:off x="2850196" y="3339002"/>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69" name="直線矢印コネクタ 68"/>
          <p:cNvCxnSpPr/>
          <p:nvPr/>
        </p:nvCxnSpPr>
        <p:spPr bwMode="auto">
          <a:xfrm flipV="1">
            <a:off x="3210200" y="3699006"/>
            <a:ext cx="0" cy="1710019"/>
          </a:xfrm>
          <a:prstGeom prst="straightConnector1">
            <a:avLst/>
          </a:prstGeom>
          <a:noFill/>
          <a:ln w="9525" cap="flat" cmpd="sng" algn="ctr">
            <a:solidFill>
              <a:schemeClr val="tx1"/>
            </a:solidFill>
            <a:prstDash val="solid"/>
            <a:round/>
            <a:headEnd type="none" w="med" len="med"/>
            <a:tailEnd type="none"/>
          </a:ln>
          <a:effectLst/>
        </p:spPr>
      </p:cxnSp>
      <p:cxnSp>
        <p:nvCxnSpPr>
          <p:cNvPr id="70" name="直線矢印コネクタ 69"/>
          <p:cNvCxnSpPr/>
          <p:nvPr/>
        </p:nvCxnSpPr>
        <p:spPr bwMode="auto">
          <a:xfrm>
            <a:off x="3210200" y="3699003"/>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71" name="直線矢印コネクタ 70"/>
          <p:cNvCxnSpPr/>
          <p:nvPr/>
        </p:nvCxnSpPr>
        <p:spPr bwMode="auto">
          <a:xfrm>
            <a:off x="2850196" y="4239009"/>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72" name="直線矢印コネクタ 71"/>
          <p:cNvCxnSpPr/>
          <p:nvPr/>
        </p:nvCxnSpPr>
        <p:spPr bwMode="auto">
          <a:xfrm>
            <a:off x="3210200" y="4599013"/>
            <a:ext cx="1080012" cy="0"/>
          </a:xfrm>
          <a:prstGeom prst="straightConnector1">
            <a:avLst/>
          </a:prstGeom>
          <a:noFill/>
          <a:ln w="9525" cap="flat" cmpd="sng" algn="ctr">
            <a:solidFill>
              <a:schemeClr val="tx1"/>
            </a:solidFill>
            <a:prstDash val="solid"/>
            <a:round/>
            <a:headEnd type="oval" w="sm" len="sm"/>
            <a:tailEnd type="none"/>
          </a:ln>
          <a:effectLst/>
        </p:spPr>
      </p:cxnSp>
      <p:cxnSp>
        <p:nvCxnSpPr>
          <p:cNvPr id="73" name="直線矢印コネクタ 72"/>
          <p:cNvCxnSpPr/>
          <p:nvPr/>
        </p:nvCxnSpPr>
        <p:spPr bwMode="auto">
          <a:xfrm>
            <a:off x="2850196" y="5049018"/>
            <a:ext cx="1440016" cy="0"/>
          </a:xfrm>
          <a:prstGeom prst="straightConnector1">
            <a:avLst/>
          </a:prstGeom>
          <a:noFill/>
          <a:ln w="9525" cap="flat" cmpd="sng" algn="ctr">
            <a:solidFill>
              <a:schemeClr val="tx1"/>
            </a:solidFill>
            <a:prstDash val="solid"/>
            <a:round/>
            <a:headEnd type="oval" w="sm" len="sm"/>
            <a:tailEnd type="none"/>
          </a:ln>
          <a:effectLst/>
        </p:spPr>
      </p:cxnSp>
      <p:cxnSp>
        <p:nvCxnSpPr>
          <p:cNvPr id="74" name="直線矢印コネクタ 73"/>
          <p:cNvCxnSpPr/>
          <p:nvPr/>
        </p:nvCxnSpPr>
        <p:spPr bwMode="auto">
          <a:xfrm>
            <a:off x="3210200" y="5409022"/>
            <a:ext cx="1080012" cy="0"/>
          </a:xfrm>
          <a:prstGeom prst="straightConnector1">
            <a:avLst/>
          </a:prstGeom>
          <a:noFill/>
          <a:ln w="9525" cap="flat" cmpd="sng" algn="ctr">
            <a:solidFill>
              <a:schemeClr val="tx1"/>
            </a:solidFill>
            <a:prstDash val="solid"/>
            <a:round/>
            <a:headEnd type="oval" w="sm" len="sm"/>
            <a:tailEnd type="none"/>
          </a:ln>
          <a:effectLst/>
        </p:spPr>
      </p:cxnSp>
      <p:pic>
        <p:nvPicPr>
          <p:cNvPr id="75" name="Picture 7" descr="OR"/>
          <p:cNvPicPr>
            <a:picLocks noChangeAspect="1" noChangeArrowheads="1"/>
          </p:cNvPicPr>
          <p:nvPr/>
        </p:nvPicPr>
        <p:blipFill>
          <a:blip r:embed="rId3" cstate="print"/>
          <a:srcRect/>
          <a:stretch>
            <a:fillRect/>
          </a:stretch>
        </p:blipFill>
        <p:spPr bwMode="auto">
          <a:xfrm>
            <a:off x="3660205" y="4059007"/>
            <a:ext cx="1079500" cy="717550"/>
          </a:xfrm>
          <a:prstGeom prst="rect">
            <a:avLst/>
          </a:prstGeom>
          <a:noFill/>
        </p:spPr>
      </p:pic>
      <p:pic>
        <p:nvPicPr>
          <p:cNvPr id="76" name="Picture 6" descr="AND"/>
          <p:cNvPicPr>
            <a:picLocks noChangeAspect="1" noChangeArrowheads="1"/>
          </p:cNvPicPr>
          <p:nvPr/>
        </p:nvPicPr>
        <p:blipFill>
          <a:blip r:embed="rId4" cstate="print"/>
          <a:srcRect/>
          <a:stretch>
            <a:fillRect/>
          </a:stretch>
        </p:blipFill>
        <p:spPr bwMode="auto">
          <a:xfrm>
            <a:off x="3660205" y="4869019"/>
            <a:ext cx="1079500" cy="720725"/>
          </a:xfrm>
          <a:prstGeom prst="rect">
            <a:avLst/>
          </a:prstGeom>
          <a:noFill/>
        </p:spPr>
      </p:pic>
      <p:pic>
        <p:nvPicPr>
          <p:cNvPr id="77" name="Picture 18" descr="XOR"/>
          <p:cNvPicPr>
            <a:picLocks noChangeAspect="1" noChangeArrowheads="1"/>
          </p:cNvPicPr>
          <p:nvPr/>
        </p:nvPicPr>
        <p:blipFill>
          <a:blip r:embed="rId5" cstate="print"/>
          <a:srcRect/>
          <a:stretch>
            <a:fillRect/>
          </a:stretch>
        </p:blipFill>
        <p:spPr bwMode="auto">
          <a:xfrm>
            <a:off x="3660205" y="3158997"/>
            <a:ext cx="1079500" cy="717550"/>
          </a:xfrm>
          <a:prstGeom prst="rect">
            <a:avLst/>
          </a:prstGeom>
          <a:noFill/>
        </p:spPr>
      </p:pic>
      <p:cxnSp>
        <p:nvCxnSpPr>
          <p:cNvPr id="78" name="直線コネクタ 77"/>
          <p:cNvCxnSpPr/>
          <p:nvPr/>
        </p:nvCxnSpPr>
        <p:spPr bwMode="auto">
          <a:xfrm>
            <a:off x="2310190" y="3969006"/>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9" name="直線コネクタ 78"/>
          <p:cNvCxnSpPr/>
          <p:nvPr/>
        </p:nvCxnSpPr>
        <p:spPr bwMode="auto">
          <a:xfrm>
            <a:off x="2310190" y="4509012"/>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0" name="直線コネクタ 79"/>
          <p:cNvCxnSpPr/>
          <p:nvPr/>
        </p:nvCxnSpPr>
        <p:spPr bwMode="auto">
          <a:xfrm>
            <a:off x="5460225" y="4419011"/>
            <a:ext cx="900010"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81" name="Freeform 10"/>
          <p:cNvSpPr>
            <a:spLocks/>
          </p:cNvSpPr>
          <p:nvPr/>
        </p:nvSpPr>
        <p:spPr bwMode="auto">
          <a:xfrm flipH="1" flipV="1">
            <a:off x="4470214" y="3519003"/>
            <a:ext cx="360004" cy="72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82" name="直線矢印コネクタ 81"/>
          <p:cNvCxnSpPr/>
          <p:nvPr/>
        </p:nvCxnSpPr>
        <p:spPr bwMode="auto">
          <a:xfrm>
            <a:off x="4470214" y="4419011"/>
            <a:ext cx="720008" cy="0"/>
          </a:xfrm>
          <a:prstGeom prst="straightConnector1">
            <a:avLst/>
          </a:prstGeom>
          <a:noFill/>
          <a:ln w="9525" cap="flat" cmpd="sng" algn="ctr">
            <a:solidFill>
              <a:schemeClr val="tx1"/>
            </a:solidFill>
            <a:prstDash val="solid"/>
            <a:round/>
            <a:headEnd type="none" w="sm" len="sm"/>
            <a:tailEnd type="none"/>
          </a:ln>
          <a:effectLst/>
        </p:spPr>
      </p:cxnSp>
      <p:sp>
        <p:nvSpPr>
          <p:cNvPr id="83" name="Freeform 10"/>
          <p:cNvSpPr>
            <a:spLocks/>
          </p:cNvSpPr>
          <p:nvPr/>
        </p:nvSpPr>
        <p:spPr bwMode="auto">
          <a:xfrm flipH="1">
            <a:off x="4470214" y="4599016"/>
            <a:ext cx="360004"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84" name="直線矢印コネクタ 83"/>
          <p:cNvCxnSpPr/>
          <p:nvPr/>
        </p:nvCxnSpPr>
        <p:spPr bwMode="auto">
          <a:xfrm>
            <a:off x="4830218" y="4239009"/>
            <a:ext cx="360004" cy="0"/>
          </a:xfrm>
          <a:prstGeom prst="straightConnector1">
            <a:avLst/>
          </a:prstGeom>
          <a:noFill/>
          <a:ln w="9525" cap="flat" cmpd="sng" algn="ctr">
            <a:solidFill>
              <a:schemeClr val="tx1"/>
            </a:solidFill>
            <a:prstDash val="solid"/>
            <a:round/>
            <a:headEnd type="none" w="sm" len="sm"/>
            <a:tailEnd type="none"/>
          </a:ln>
          <a:effectLst/>
        </p:spPr>
      </p:cxnSp>
      <p:cxnSp>
        <p:nvCxnSpPr>
          <p:cNvPr id="85" name="直線矢印コネクタ 84"/>
          <p:cNvCxnSpPr/>
          <p:nvPr/>
        </p:nvCxnSpPr>
        <p:spPr bwMode="auto">
          <a:xfrm>
            <a:off x="4830218" y="4599013"/>
            <a:ext cx="360004" cy="0"/>
          </a:xfrm>
          <a:prstGeom prst="straightConnector1">
            <a:avLst/>
          </a:prstGeom>
          <a:noFill/>
          <a:ln w="9525" cap="flat" cmpd="sng" algn="ctr">
            <a:solidFill>
              <a:schemeClr val="tx1"/>
            </a:solidFill>
            <a:prstDash val="solid"/>
            <a:round/>
            <a:headEnd type="none" w="sm" len="sm"/>
            <a:tailEnd type="none"/>
          </a:ln>
          <a:effectLst/>
        </p:spPr>
      </p:cxnSp>
      <p:sp>
        <p:nvSpPr>
          <p:cNvPr id="86" name="フローチャート: 手作業 85"/>
          <p:cNvSpPr/>
          <p:nvPr/>
        </p:nvSpPr>
        <p:spPr bwMode="auto">
          <a:xfrm rot="16200000">
            <a:off x="4913024" y="4246204"/>
            <a:ext cx="914400" cy="360004"/>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87" name="正方形/長方形 86"/>
          <p:cNvSpPr/>
          <p:nvPr/>
        </p:nvSpPr>
        <p:spPr bwMode="auto">
          <a:xfrm>
            <a:off x="4380213" y="4959020"/>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88" name="正方形/長方形 87"/>
          <p:cNvSpPr/>
          <p:nvPr/>
        </p:nvSpPr>
        <p:spPr bwMode="auto">
          <a:xfrm>
            <a:off x="4380213" y="414901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89" name="正方形/長方形 88"/>
          <p:cNvSpPr/>
          <p:nvPr/>
        </p:nvSpPr>
        <p:spPr bwMode="auto">
          <a:xfrm>
            <a:off x="4380213" y="3249001"/>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mc:AlternateContent xmlns:mc="http://schemas.openxmlformats.org/markup-compatibility/2006">
        <mc:Choice xmlns:a14="http://schemas.microsoft.com/office/drawing/2010/main" Requires="a14">
          <p:sp>
            <p:nvSpPr>
              <p:cNvPr id="90" name="正方形/長方形 89"/>
              <p:cNvSpPr/>
              <p:nvPr/>
            </p:nvSpPr>
            <p:spPr bwMode="auto">
              <a:xfrm>
                <a:off x="5280223" y="3789007"/>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14:m>
                  <m:oMathPara xmlns:m="http://schemas.openxmlformats.org/officeDocument/2006/math">
                    <m:oMathParaPr>
                      <m:jc m:val="centerGroup"/>
                    </m:oMathParaPr>
                    <m:oMath xmlns:m="http://schemas.openxmlformats.org/officeDocument/2006/math">
                      <m:r>
                        <a:rPr lang="en-US" altLang="ja-JP" sz="2800" i="1" dirty="0">
                          <a:solidFill>
                            <a:schemeClr val="accent5"/>
                          </a:solidFill>
                          <a:latin typeface="Cambria Math" panose="02040503050406030204" pitchFamily="18" charset="0"/>
                          <a:ea typeface="メイリオ" panose="020B0604030504040204" pitchFamily="50" charset="-128"/>
                        </a:rPr>
                        <m:t>𝑠</m:t>
                      </m:r>
                    </m:oMath>
                  </m:oMathPara>
                </a14:m>
                <a:endParaRPr lang="ja-JP" altLang="en-US" sz="2000" dirty="0">
                  <a:solidFill>
                    <a:schemeClr val="accent5"/>
                  </a:solidFill>
                  <a:latin typeface="Consolas" panose="020B0609020204030204" pitchFamily="49" charset="0"/>
                  <a:ea typeface="メイリオ" panose="020B0604030504040204" pitchFamily="50" charset="-128"/>
                </a:endParaRPr>
              </a:p>
            </p:txBody>
          </p:sp>
        </mc:Choice>
        <mc:Fallback>
          <p:sp>
            <p:nvSpPr>
              <p:cNvPr id="90" name="正方形/長方形 89"/>
              <p:cNvSpPr>
                <a:spLocks noRot="1" noChangeAspect="1" noMove="1" noResize="1" noEditPoints="1" noAdjustHandles="1" noChangeArrowheads="1" noChangeShapeType="1" noTextEdit="1"/>
              </p:cNvSpPr>
              <p:nvPr/>
            </p:nvSpPr>
            <p:spPr bwMode="auto">
              <a:xfrm>
                <a:off x="5280223" y="3789007"/>
                <a:ext cx="540006" cy="270003"/>
              </a:xfrm>
              <a:prstGeom prst="rect">
                <a:avLst/>
              </a:prstGeom>
              <a:blipFill>
                <a:blip r:embed="rId6"/>
                <a:stretch>
                  <a:fillRect/>
                </a:stretch>
              </a:blipFill>
              <a:ln>
                <a:noFill/>
                <a:headEnd/>
                <a:tailEnd type="triangle" w="sm" len="med"/>
              </a:ln>
              <a:effectLst/>
            </p:spPr>
            <p:txBody>
              <a:bodyPr/>
              <a:lstStyle/>
              <a:p>
                <a:r>
                  <a:rPr lang="ja-JP" altLang="en-US">
                    <a:noFill/>
                  </a:rPr>
                  <a:t> </a:t>
                </a:r>
              </a:p>
            </p:txBody>
          </p:sp>
        </mc:Fallback>
      </mc:AlternateContent>
      <p:sp>
        <p:nvSpPr>
          <p:cNvPr id="91" name="正方形/長方形 90"/>
          <p:cNvSpPr/>
          <p:nvPr/>
        </p:nvSpPr>
        <p:spPr bwMode="auto">
          <a:xfrm>
            <a:off x="5190222" y="3158997"/>
            <a:ext cx="360004" cy="540006"/>
          </a:xfrm>
          <a:prstGeom prst="rect">
            <a:avLst/>
          </a:prstGeom>
          <a:solidFill>
            <a:schemeClr val="bg1"/>
          </a:solidFill>
          <a:ln w="222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92" name="直線コネクタ 91"/>
          <p:cNvCxnSpPr/>
          <p:nvPr/>
        </p:nvCxnSpPr>
        <p:spPr bwMode="auto">
          <a:xfrm>
            <a:off x="5370224" y="2888994"/>
            <a:ext cx="0" cy="27144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3" name="直線コネクタ 92"/>
          <p:cNvCxnSpPr>
            <a:stCxn id="91" idx="2"/>
          </p:cNvCxnSpPr>
          <p:nvPr/>
        </p:nvCxnSpPr>
        <p:spPr bwMode="auto">
          <a:xfrm>
            <a:off x="5370224" y="3699006"/>
            <a:ext cx="0" cy="36144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94" name="正方形/長方形 93"/>
          <p:cNvSpPr/>
          <p:nvPr/>
        </p:nvSpPr>
        <p:spPr bwMode="auto">
          <a:xfrm>
            <a:off x="5015988" y="2618994"/>
            <a:ext cx="720008"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fontAlgn="base"/>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a:t>
            </a:r>
            <a:r>
              <a:rPr lang="en-US" altLang="ja-JP" sz="20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2000" i="1" dirty="0"/>
              <a:t>i</a:t>
            </a:r>
            <a:r>
              <a:rPr lang="en-US" altLang="ja-JP" sz="2000" i="1" baseline="-25000" dirty="0"/>
              <a:t>2 </a:t>
            </a:r>
            <a:r>
              <a:rPr lang="en-US" altLang="ja-JP" sz="2000" i="1" dirty="0"/>
              <a:t>i</a:t>
            </a:r>
            <a:r>
              <a:rPr lang="en-US" altLang="ja-JP" sz="2000" i="1" baseline="-25000" dirty="0"/>
              <a:t>1 </a:t>
            </a:r>
            <a:r>
              <a:rPr lang="en-US" altLang="ja-JP" sz="2000" i="1" dirty="0"/>
              <a:t>i</a:t>
            </a:r>
            <a:r>
              <a:rPr lang="en-US" altLang="ja-JP" sz="2000" i="1" baseline="-25000" dirty="0"/>
              <a:t>0</a:t>
            </a:r>
            <a:endParaRPr lang="ja-JP" altLang="ja-JP" sz="2000" dirty="0"/>
          </a:p>
          <a:p>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96" name="正方形/長方形 95"/>
          <p:cNvSpPr/>
          <p:nvPr/>
        </p:nvSpPr>
        <p:spPr bwMode="auto">
          <a:xfrm>
            <a:off x="5555997" y="3339002"/>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選択信号を</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出すための</a:t>
            </a:r>
            <a:b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b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論理関数</a:t>
            </a:r>
          </a:p>
        </p:txBody>
      </p:sp>
      <p:sp>
        <p:nvSpPr>
          <p:cNvPr id="98" name="正方形/長方形 97"/>
          <p:cNvSpPr/>
          <p:nvPr/>
        </p:nvSpPr>
        <p:spPr bwMode="auto">
          <a:xfrm>
            <a:off x="2675962" y="1088977"/>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
        <p:nvSpPr>
          <p:cNvPr id="99" name="正方形/長方形 98"/>
          <p:cNvSpPr/>
          <p:nvPr/>
        </p:nvSpPr>
        <p:spPr bwMode="auto">
          <a:xfrm>
            <a:off x="7806022" y="1358980"/>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Tree>
    <p:extLst>
      <p:ext uri="{BB962C8B-B14F-4D97-AF65-F5344CB8AC3E}">
        <p14:creationId xmlns:p14="http://schemas.microsoft.com/office/powerpoint/2010/main" val="80192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回路の生成のまとめ</a:t>
            </a:r>
          </a:p>
        </p:txBody>
      </p:sp>
      <p:sp>
        <p:nvSpPr>
          <p:cNvPr id="3" name="テキスト プレースホルダー 2"/>
          <p:cNvSpPr>
            <a:spLocks noGrp="1"/>
          </p:cNvSpPr>
          <p:nvPr>
            <p:ph type="body" sz="quarter" idx="10"/>
          </p:nvPr>
        </p:nvSpPr>
        <p:spPr>
          <a:xfrm>
            <a:off x="2045955" y="4599016"/>
            <a:ext cx="8280092" cy="899703"/>
          </a:xfrm>
        </p:spPr>
        <p:txBody>
          <a:bodyPr/>
          <a:lstStyle/>
          <a:p>
            <a:r>
              <a:rPr kumimoji="1" lang="ja-JP" altLang="en-US" dirty="0"/>
              <a:t>結局この手の，「条件に応じて異なる演算を出力する回路」は，</a:t>
            </a:r>
            <a:endParaRPr kumimoji="1" lang="en-US" altLang="ja-JP" dirty="0"/>
          </a:p>
          <a:p>
            <a:pPr marL="817200" lvl="1" indent="-457200">
              <a:buFont typeface="+mj-lt"/>
              <a:buAutoNum type="arabicPeriod"/>
            </a:pPr>
            <a:r>
              <a:rPr lang="ja-JP" altLang="en-US" dirty="0"/>
              <a:t>各場合ごとの回路を用意して並列に配置</a:t>
            </a:r>
            <a:endParaRPr lang="en-US" altLang="ja-JP" dirty="0"/>
          </a:p>
          <a:p>
            <a:pPr marL="817200" lvl="1" indent="-457200">
              <a:buFont typeface="+mj-lt"/>
              <a:buAutoNum type="arabicPeriod"/>
            </a:pPr>
            <a:r>
              <a:rPr lang="ja-JP" altLang="en-US" dirty="0"/>
              <a:t>制御に従ってマルチプレクサで出力を選択</a:t>
            </a:r>
            <a:endParaRPr lang="en-US" altLang="ja-JP" dirty="0"/>
          </a:p>
          <a:p>
            <a:pPr lvl="1"/>
            <a:r>
              <a:rPr lang="ja-JP" altLang="en-US" dirty="0"/>
              <a:t>･･･というように分解すれば，</a:t>
            </a:r>
            <a:r>
              <a:rPr lang="en-US" altLang="ja-JP" dirty="0"/>
              <a:t>AND/OR/NOT </a:t>
            </a:r>
            <a:r>
              <a:rPr lang="ja-JP" altLang="en-US" dirty="0"/>
              <a:t>回路に落とし込める</a:t>
            </a:r>
            <a:endParaRPr kumimoji="1" lang="ja-JP" altLang="en-US" dirty="0"/>
          </a:p>
        </p:txBody>
      </p:sp>
      <p:sp>
        <p:nvSpPr>
          <p:cNvPr id="5" name="フローチャート: 手作業 4"/>
          <p:cNvSpPr/>
          <p:nvPr/>
        </p:nvSpPr>
        <p:spPr bwMode="auto">
          <a:xfrm rot="16200000">
            <a:off x="7168817" y="2626186"/>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6" name="直線コネクタ 5"/>
          <p:cNvCxnSpPr/>
          <p:nvPr/>
        </p:nvCxnSpPr>
        <p:spPr bwMode="auto">
          <a:xfrm>
            <a:off x="6906009" y="2528990"/>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直線コネクタ 6"/>
          <p:cNvCxnSpPr/>
          <p:nvPr/>
        </p:nvCxnSpPr>
        <p:spPr bwMode="auto">
          <a:xfrm>
            <a:off x="6906009" y="3068996"/>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直線コネクタ 7"/>
          <p:cNvCxnSpPr/>
          <p:nvPr/>
        </p:nvCxnSpPr>
        <p:spPr bwMode="auto">
          <a:xfrm>
            <a:off x="7806019" y="2798993"/>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直線コネクタ 8"/>
          <p:cNvCxnSpPr>
            <a:endCxn id="5" idx="3"/>
          </p:cNvCxnSpPr>
          <p:nvPr/>
        </p:nvCxnSpPr>
        <p:spPr bwMode="auto">
          <a:xfrm>
            <a:off x="7626017" y="1898986"/>
            <a:ext cx="0" cy="54144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正方形/長方形 9"/>
          <p:cNvSpPr/>
          <p:nvPr/>
        </p:nvSpPr>
        <p:spPr bwMode="auto">
          <a:xfrm>
            <a:off x="6366003" y="2258990"/>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1" name="正方形/長方形 10"/>
          <p:cNvSpPr/>
          <p:nvPr/>
        </p:nvSpPr>
        <p:spPr bwMode="auto">
          <a:xfrm>
            <a:off x="6366003" y="2798996"/>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2" name="正方形/長方形 11"/>
          <p:cNvSpPr/>
          <p:nvPr/>
        </p:nvSpPr>
        <p:spPr bwMode="auto">
          <a:xfrm>
            <a:off x="6816011" y="1448981"/>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演算の制御信号</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or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3" name="正方形/長方形 12"/>
          <p:cNvSpPr/>
          <p:nvPr/>
        </p:nvSpPr>
        <p:spPr bwMode="auto">
          <a:xfrm>
            <a:off x="3305969" y="1628983"/>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3777653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回路の生成のまとめ</a:t>
            </a:r>
            <a:endParaRPr kumimoji="1" lang="ja-JP" altLang="en-US" dirty="0"/>
          </a:p>
        </p:txBody>
      </p:sp>
      <p:sp>
        <p:nvSpPr>
          <p:cNvPr id="3" name="テキスト プレースホルダー 2"/>
          <p:cNvSpPr>
            <a:spLocks noGrp="1"/>
          </p:cNvSpPr>
          <p:nvPr>
            <p:ph type="body" sz="quarter" idx="10"/>
          </p:nvPr>
        </p:nvSpPr>
        <p:spPr>
          <a:xfrm>
            <a:off x="2045955" y="4599016"/>
            <a:ext cx="8280092" cy="899703"/>
          </a:xfrm>
        </p:spPr>
        <p:txBody>
          <a:bodyPr/>
          <a:lstStyle/>
          <a:p>
            <a:r>
              <a:rPr lang="ja-JP" altLang="en-US" dirty="0"/>
              <a:t>原理的には，</a:t>
            </a:r>
            <a:r>
              <a:rPr lang="en-US" altLang="ja-JP" dirty="0"/>
              <a:t>code, rs1, rs2 </a:t>
            </a:r>
            <a:r>
              <a:rPr lang="ja-JP" altLang="en-US" dirty="0"/>
              <a:t>を全て含む真理値表を作れば，</a:t>
            </a:r>
            <a:br>
              <a:rPr lang="en-US" altLang="ja-JP" dirty="0"/>
            </a:br>
            <a:r>
              <a:rPr lang="ja-JP" altLang="en-US" dirty="0"/>
              <a:t>そこから直接回路に落とし込むこともできる</a:t>
            </a:r>
            <a:endParaRPr lang="en-US" altLang="ja-JP" dirty="0"/>
          </a:p>
          <a:p>
            <a:pPr lvl="1"/>
            <a:r>
              <a:rPr kumimoji="1" lang="ja-JP" altLang="en-US" dirty="0"/>
              <a:t>表が大きくなりすぎて </a:t>
            </a:r>
            <a:r>
              <a:rPr kumimoji="1" lang="en-US" altLang="ja-JP" dirty="0"/>
              <a:t>(2 </a:t>
            </a:r>
            <a:r>
              <a:rPr kumimoji="1" lang="ja-JP" altLang="en-US" dirty="0"/>
              <a:t>の </a:t>
            </a:r>
            <a:r>
              <a:rPr kumimoji="1" lang="en-US" altLang="ja-JP" dirty="0"/>
              <a:t>3+32+32</a:t>
            </a:r>
            <a:r>
              <a:rPr kumimoji="1" lang="ja-JP" altLang="en-US" dirty="0"/>
              <a:t>乗</a:t>
            </a:r>
            <a:r>
              <a:rPr kumimoji="1" lang="en-US" altLang="ja-JP" dirty="0"/>
              <a:t>)</a:t>
            </a:r>
            <a:r>
              <a:rPr kumimoji="1" lang="ja-JP" altLang="en-US" dirty="0"/>
              <a:t>，現実的には無理</a:t>
            </a:r>
            <a:endParaRPr kumimoji="1" lang="en-US" altLang="ja-JP" dirty="0"/>
          </a:p>
        </p:txBody>
      </p:sp>
      <p:sp>
        <p:nvSpPr>
          <p:cNvPr id="5" name="フローチャート: 手作業 4"/>
          <p:cNvSpPr/>
          <p:nvPr/>
        </p:nvSpPr>
        <p:spPr bwMode="auto">
          <a:xfrm rot="16200000">
            <a:off x="7168817" y="2791798"/>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cxnSp>
        <p:nvCxnSpPr>
          <p:cNvPr id="6" name="直線コネクタ 5"/>
          <p:cNvCxnSpPr/>
          <p:nvPr/>
        </p:nvCxnSpPr>
        <p:spPr bwMode="auto">
          <a:xfrm>
            <a:off x="6906009" y="2694602"/>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 name="直線コネクタ 6"/>
          <p:cNvCxnSpPr/>
          <p:nvPr/>
        </p:nvCxnSpPr>
        <p:spPr bwMode="auto">
          <a:xfrm>
            <a:off x="6906009" y="3234608"/>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直線コネクタ 7"/>
          <p:cNvCxnSpPr/>
          <p:nvPr/>
        </p:nvCxnSpPr>
        <p:spPr bwMode="auto">
          <a:xfrm>
            <a:off x="7806019" y="296460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直線コネクタ 8"/>
          <p:cNvCxnSpPr>
            <a:endCxn id="5" idx="3"/>
          </p:cNvCxnSpPr>
          <p:nvPr/>
        </p:nvCxnSpPr>
        <p:spPr bwMode="auto">
          <a:xfrm>
            <a:off x="7626017" y="2064598"/>
            <a:ext cx="0" cy="541445"/>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正方形/長方形 9"/>
          <p:cNvSpPr/>
          <p:nvPr/>
        </p:nvSpPr>
        <p:spPr bwMode="auto">
          <a:xfrm>
            <a:off x="6366003" y="2424602"/>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rs1</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1" name="正方形/長方形 10"/>
          <p:cNvSpPr/>
          <p:nvPr/>
        </p:nvSpPr>
        <p:spPr bwMode="auto">
          <a:xfrm>
            <a:off x="6366003" y="2964608"/>
            <a:ext cx="540006"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の値</a:t>
            </a:r>
          </a:p>
        </p:txBody>
      </p:sp>
      <p:sp>
        <p:nvSpPr>
          <p:cNvPr id="12" name="正方形/長方形 11"/>
          <p:cNvSpPr/>
          <p:nvPr/>
        </p:nvSpPr>
        <p:spPr bwMode="auto">
          <a:xfrm>
            <a:off x="6816011" y="1614593"/>
            <a:ext cx="1530017" cy="270003"/>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ja-JP" altLang="en-US" sz="1600" dirty="0">
                <a:solidFill>
                  <a:schemeClr val="tx1">
                    <a:lumMod val="85000"/>
                    <a:lumOff val="15000"/>
                  </a:schemeClr>
                </a:solidFill>
                <a:latin typeface="Consolas" panose="020B0609020204030204" pitchFamily="49" charset="0"/>
                <a:ea typeface="メイリオ" panose="020B0604030504040204" pitchFamily="50" charset="-128"/>
              </a:rPr>
              <a:t>演算の制御信号</a:t>
            </a:r>
            <a:endParaRPr lang="en-US" altLang="ja-JP" sz="1600" dirty="0">
              <a:solidFill>
                <a:schemeClr val="tx1">
                  <a:lumMod val="85000"/>
                  <a:lumOff val="15000"/>
                </a:schemeClr>
              </a:solidFill>
              <a:latin typeface="Consolas" panose="020B0609020204030204" pitchFamily="49" charset="0"/>
              <a:ea typeface="メイリオ" panose="020B0604030504040204" pitchFamily="50" charset="-128"/>
            </a:endParaRP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XOR or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t>
            </a:r>
            <a:r>
              <a:rPr lang="en-US" altLang="ja-JP" sz="1600" dirty="0" err="1">
                <a:solidFill>
                  <a:schemeClr val="tx1">
                    <a:lumMod val="85000"/>
                    <a:lumOff val="15000"/>
                  </a:schemeClr>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AND?</a:t>
            </a:r>
            <a:endParaRPr lang="ja-JP" altLang="en-US" sz="16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13" name="正方形/長方形 12"/>
          <p:cNvSpPr/>
          <p:nvPr/>
        </p:nvSpPr>
        <p:spPr bwMode="auto">
          <a:xfrm>
            <a:off x="3305969" y="1794595"/>
            <a:ext cx="2340026" cy="153001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600" dirty="0">
                <a:solidFill>
                  <a:schemeClr val="accent1"/>
                </a:solidFill>
                <a:latin typeface="Consolas" panose="020B0609020204030204" pitchFamily="49" charset="0"/>
                <a:ea typeface="メイリオ" panose="020B0604030504040204" pitchFamily="50" charset="-128"/>
              </a:rPr>
              <a:t>if</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code == </a:t>
            </a:r>
            <a:r>
              <a:rPr lang="en-US" altLang="ja-JP" sz="1600" dirty="0">
                <a:solidFill>
                  <a:schemeClr val="accent6"/>
                </a:solidFill>
                <a:latin typeface="Consolas" panose="020B0609020204030204" pitchFamily="49" charset="0"/>
                <a:ea typeface="メイリオ" panose="020B0604030504040204" pitchFamily="50" charset="-128"/>
              </a:rPr>
              <a:t>0b100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err="1">
                <a:solidFill>
                  <a:schemeClr val="accent1"/>
                </a:solidFill>
                <a:latin typeface="Consolas" panose="020B0609020204030204" pitchFamily="49" charset="0"/>
                <a:ea typeface="メイリオ" panose="020B0604030504040204" pitchFamily="50" charset="-128"/>
              </a:rPr>
              <a:t>xor</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rs2</a:t>
            </a:r>
          </a:p>
          <a:p>
            <a:r>
              <a:rPr lang="en-US" altLang="ja-JP" sz="1600" dirty="0" err="1">
                <a:solidFill>
                  <a:schemeClr val="accent1"/>
                </a:solidFill>
                <a:latin typeface="Consolas" panose="020B0609020204030204" pitchFamily="49" charset="0"/>
                <a:ea typeface="メイリオ" panose="020B0604030504040204" pitchFamily="50" charset="-128"/>
              </a:rPr>
              <a:t>elif</a:t>
            </a:r>
            <a:r>
              <a:rPr lang="en-US" altLang="ja-JP" sz="1600" dirty="0">
                <a:solidFill>
                  <a:schemeClr val="accent1"/>
                </a:solidFill>
                <a:latin typeface="Consolas" panose="020B0609020204030204" pitchFamily="49" charset="0"/>
                <a:ea typeface="メイリオ" panose="020B0604030504040204" pitchFamily="50" charset="-128"/>
              </a:rPr>
              <a:t> </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code == </a:t>
            </a:r>
            <a:r>
              <a:rPr lang="en-US" altLang="ja-JP" sz="1600" dirty="0">
                <a:solidFill>
                  <a:schemeClr val="accent6"/>
                </a:solidFill>
                <a:latin typeface="Consolas" panose="020B0609020204030204" pitchFamily="49" charset="0"/>
                <a:ea typeface="メイリオ" panose="020B0604030504040204" pitchFamily="50" charset="-128"/>
              </a:rPr>
              <a:t>0b110</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or</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a:p>
            <a:r>
              <a:rPr lang="en-US" altLang="ja-JP" sz="1600" dirty="0">
                <a:solidFill>
                  <a:schemeClr val="accent1"/>
                </a:solidFill>
                <a:latin typeface="Consolas" panose="020B0609020204030204" pitchFamily="49" charset="0"/>
                <a:ea typeface="メイリオ" panose="020B0604030504040204" pitchFamily="50" charset="-128"/>
              </a:rPr>
              <a:t>else</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a:t>
            </a:r>
          </a:p>
          <a:p>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rs1 </a:t>
            </a:r>
            <a:r>
              <a:rPr lang="en-US" altLang="ja-JP" sz="1600" dirty="0">
                <a:solidFill>
                  <a:schemeClr val="accent1"/>
                </a:solidFill>
                <a:latin typeface="Consolas" panose="020B0609020204030204" pitchFamily="49" charset="0"/>
                <a:ea typeface="メイリオ" panose="020B0604030504040204" pitchFamily="50" charset="-128"/>
              </a:rPr>
              <a:t>and</a:t>
            </a:r>
            <a:r>
              <a:rPr lang="en-US" altLang="ja-JP" sz="1600" dirty="0">
                <a:solidFill>
                  <a:schemeClr val="tx1">
                    <a:lumMod val="85000"/>
                    <a:lumOff val="15000"/>
                  </a:schemeClr>
                </a:solidFill>
                <a:latin typeface="Consolas" panose="020B0609020204030204" pitchFamily="49" charset="0"/>
                <a:ea typeface="メイリオ" panose="020B0604030504040204" pitchFamily="50" charset="-128"/>
              </a:rPr>
              <a:t> rs2</a:t>
            </a:r>
          </a:p>
        </p:txBody>
      </p:sp>
    </p:spTree>
    <p:extLst>
      <p:ext uri="{BB962C8B-B14F-4D97-AF65-F5344CB8AC3E}">
        <p14:creationId xmlns:p14="http://schemas.microsoft.com/office/powerpoint/2010/main" val="3778475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組み合わせ回路と順序回路</a:t>
            </a:r>
          </a:p>
        </p:txBody>
      </p:sp>
      <p:sp>
        <p:nvSpPr>
          <p:cNvPr id="5" name="テキスト プレースホルダー 4"/>
          <p:cNvSpPr>
            <a:spLocks noGrp="1"/>
          </p:cNvSpPr>
          <p:nvPr>
            <p:ph type="body" sz="quarter" idx="10"/>
          </p:nvPr>
        </p:nvSpPr>
        <p:spPr/>
        <p:txBody>
          <a:bodyPr/>
          <a:lstStyle/>
          <a:p>
            <a:pPr marL="457200" indent="-457200">
              <a:buFont typeface="+mj-lt"/>
              <a:buAutoNum type="arabicPeriod"/>
            </a:pPr>
            <a:r>
              <a:rPr kumimoji="1" lang="ja-JP" altLang="en-US" dirty="0"/>
              <a:t>組み合わせ回路</a:t>
            </a:r>
            <a:endParaRPr kumimoji="1" lang="en-US" altLang="ja-JP" dirty="0"/>
          </a:p>
          <a:p>
            <a:pPr lvl="1"/>
            <a:r>
              <a:rPr lang="ja-JP" altLang="en-US" dirty="0"/>
              <a:t>出力が，現在の入力のみにより決定される論理回路</a:t>
            </a:r>
            <a:endParaRPr lang="en-US" altLang="ja-JP" dirty="0"/>
          </a:p>
          <a:p>
            <a:pPr marL="457200" indent="-457200">
              <a:buFont typeface="+mj-lt"/>
              <a:buAutoNum type="arabicPeriod"/>
            </a:pPr>
            <a:r>
              <a:rPr kumimoji="1" lang="ja-JP" altLang="en-US" dirty="0">
                <a:solidFill>
                  <a:schemeClr val="accent5"/>
                </a:solidFill>
              </a:rPr>
              <a:t>順序回路</a:t>
            </a:r>
            <a:endParaRPr kumimoji="1" lang="en-US" altLang="ja-JP" dirty="0">
              <a:solidFill>
                <a:schemeClr val="accent5"/>
              </a:solidFill>
            </a:endParaRPr>
          </a:p>
          <a:p>
            <a:pPr lvl="1"/>
            <a:r>
              <a:rPr kumimoji="1" lang="ja-JP" altLang="en-US" dirty="0"/>
              <a:t>出力が，過去の入力（の履歴）にも依存する</a:t>
            </a:r>
            <a:r>
              <a:rPr lang="ja-JP" altLang="en-US" dirty="0"/>
              <a:t>論理回路</a:t>
            </a:r>
            <a:endParaRPr kumimoji="1" lang="ja-JP" altLang="en-US" dirty="0"/>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56</a:t>
            </a:fld>
            <a:endParaRPr kumimoji="1" lang="ja-JP" altLang="en-US"/>
          </a:p>
        </p:txBody>
      </p:sp>
    </p:spTree>
    <p:extLst>
      <p:ext uri="{BB962C8B-B14F-4D97-AF65-F5344CB8AC3E}">
        <p14:creationId xmlns:p14="http://schemas.microsoft.com/office/powerpoint/2010/main" val="3670488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順序回路</a:t>
            </a:r>
          </a:p>
        </p:txBody>
      </p:sp>
      <p:sp>
        <p:nvSpPr>
          <p:cNvPr id="3" name="テキスト プレースホルダー 2"/>
          <p:cNvSpPr>
            <a:spLocks noGrp="1"/>
          </p:cNvSpPr>
          <p:nvPr>
            <p:ph type="body" sz="quarter" idx="10"/>
          </p:nvPr>
        </p:nvSpPr>
        <p:spPr>
          <a:xfrm>
            <a:off x="2135956" y="4239009"/>
            <a:ext cx="8280092" cy="2069716"/>
          </a:xfrm>
        </p:spPr>
        <p:txBody>
          <a:bodyPr/>
          <a:lstStyle/>
          <a:p>
            <a:r>
              <a:rPr lang="ja-JP" altLang="en-US" dirty="0"/>
              <a:t>出力が，過去の入力（の履歴）にも依存する論理回路</a:t>
            </a:r>
          </a:p>
          <a:p>
            <a:pPr lvl="1"/>
            <a:r>
              <a:rPr kumimoji="1" lang="ja-JP" altLang="en-US" dirty="0"/>
              <a:t>記憶素子と，組み合わせ回路から成る</a:t>
            </a:r>
          </a:p>
        </p:txBody>
      </p:sp>
      <p:sp>
        <p:nvSpPr>
          <p:cNvPr id="4" name="Rectangle 3"/>
          <p:cNvSpPr>
            <a:spLocks noChangeArrowheads="1"/>
          </p:cNvSpPr>
          <p:nvPr/>
        </p:nvSpPr>
        <p:spPr bwMode="auto">
          <a:xfrm>
            <a:off x="5375992" y="1627908"/>
            <a:ext cx="1439862" cy="719137"/>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lIns="90000" tIns="46800" rIns="90000" bIns="46800" anchor="ctr"/>
          <a:lstStyle/>
          <a:p>
            <a:r>
              <a:rPr lang="ja-JP" altLang="en-US" dirty="0">
                <a:solidFill>
                  <a:schemeClr val="tx1"/>
                </a:solidFill>
                <a:latin typeface="メイリオ" pitchFamily="50" charset="-128"/>
                <a:ea typeface="メイリオ" pitchFamily="50" charset="-128"/>
              </a:rPr>
              <a:t>組み合わせ</a:t>
            </a:r>
          </a:p>
          <a:p>
            <a:r>
              <a:rPr lang="ja-JP" altLang="en-US" dirty="0">
                <a:solidFill>
                  <a:schemeClr val="tx1"/>
                </a:solidFill>
                <a:latin typeface="メイリオ" pitchFamily="50" charset="-128"/>
                <a:ea typeface="メイリオ" pitchFamily="50" charset="-128"/>
              </a:rPr>
              <a:t>回路</a:t>
            </a:r>
          </a:p>
        </p:txBody>
      </p:sp>
      <p:sp>
        <p:nvSpPr>
          <p:cNvPr id="5" name="Rectangle 4"/>
          <p:cNvSpPr>
            <a:spLocks noChangeArrowheads="1"/>
          </p:cNvSpPr>
          <p:nvPr/>
        </p:nvSpPr>
        <p:spPr bwMode="auto">
          <a:xfrm>
            <a:off x="5375992" y="2708992"/>
            <a:ext cx="1439862" cy="719138"/>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r>
              <a:rPr lang="ja-JP" altLang="en-US" dirty="0">
                <a:solidFill>
                  <a:schemeClr val="tx1"/>
                </a:solidFill>
                <a:latin typeface="メイリオ" pitchFamily="50" charset="-128"/>
                <a:ea typeface="メイリオ" pitchFamily="50" charset="-128"/>
              </a:rPr>
              <a:t>記憶素子</a:t>
            </a:r>
          </a:p>
        </p:txBody>
      </p:sp>
      <p:sp>
        <p:nvSpPr>
          <p:cNvPr id="6" name="Line 5"/>
          <p:cNvSpPr>
            <a:spLocks noChangeShapeType="1"/>
          </p:cNvSpPr>
          <p:nvPr/>
        </p:nvSpPr>
        <p:spPr bwMode="auto">
          <a:xfrm>
            <a:off x="4836242" y="1807292"/>
            <a:ext cx="539750" cy="0"/>
          </a:xfrm>
          <a:prstGeom prst="line">
            <a:avLst/>
          </a:prstGeom>
          <a:noFill/>
          <a:ln w="19050">
            <a:solidFill>
              <a:schemeClr val="tx1"/>
            </a:solidFill>
            <a:round/>
            <a:headEn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7" name="Line 6"/>
          <p:cNvSpPr>
            <a:spLocks noChangeShapeType="1"/>
          </p:cNvSpPr>
          <p:nvPr/>
        </p:nvSpPr>
        <p:spPr bwMode="auto">
          <a:xfrm>
            <a:off x="6815854" y="1807292"/>
            <a:ext cx="541338" cy="0"/>
          </a:xfrm>
          <a:prstGeom prst="line">
            <a:avLst/>
          </a:prstGeom>
          <a:noFill/>
          <a:ln w="19050">
            <a:solidFill>
              <a:schemeClr val="tx1"/>
            </a:solidFill>
            <a:round/>
            <a:headEn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8" name="Rectangle 7"/>
          <p:cNvSpPr>
            <a:spLocks noChangeArrowheads="1"/>
          </p:cNvSpPr>
          <p:nvPr/>
        </p:nvSpPr>
        <p:spPr bwMode="auto">
          <a:xfrm>
            <a:off x="4109163" y="1623136"/>
            <a:ext cx="719137" cy="360362"/>
          </a:xfrm>
          <a:prstGeom prst="rect">
            <a:avLst/>
          </a:prstGeom>
          <a:noFill/>
          <a:ln w="12700" algn="ctr">
            <a:noFill/>
            <a:miter lim="800000"/>
            <a:headEnd/>
            <a:tailEnd/>
          </a:ln>
          <a:effectLst/>
        </p:spPr>
        <p:txBody>
          <a:bodyPr wrap="none" lIns="90000" tIns="46800" rIns="90000" bIns="46800" anchor="ctr"/>
          <a:lstStyle/>
          <a:p>
            <a:r>
              <a:rPr lang="ja-JP" altLang="en-US">
                <a:latin typeface="メイリオ" pitchFamily="50" charset="-128"/>
                <a:ea typeface="メイリオ" pitchFamily="50" charset="-128"/>
              </a:rPr>
              <a:t>入力</a:t>
            </a:r>
          </a:p>
        </p:txBody>
      </p:sp>
      <p:sp>
        <p:nvSpPr>
          <p:cNvPr id="9" name="Rectangle 8"/>
          <p:cNvSpPr>
            <a:spLocks noChangeArrowheads="1"/>
          </p:cNvSpPr>
          <p:nvPr/>
        </p:nvSpPr>
        <p:spPr bwMode="auto">
          <a:xfrm>
            <a:off x="7366731" y="1623136"/>
            <a:ext cx="719137"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メイリオ" pitchFamily="50" charset="-128"/>
                <a:ea typeface="メイリオ" pitchFamily="50" charset="-128"/>
              </a:rPr>
              <a:t>出力</a:t>
            </a:r>
          </a:p>
        </p:txBody>
      </p:sp>
      <p:sp>
        <p:nvSpPr>
          <p:cNvPr id="10" name="Freeform 19"/>
          <p:cNvSpPr>
            <a:spLocks/>
          </p:cNvSpPr>
          <p:nvPr/>
        </p:nvSpPr>
        <p:spPr bwMode="auto">
          <a:xfrm>
            <a:off x="6815857" y="2167655"/>
            <a:ext cx="360363" cy="900112"/>
          </a:xfrm>
          <a:custGeom>
            <a:avLst/>
            <a:gdLst/>
            <a:ahLst/>
            <a:cxnLst>
              <a:cxn ang="0">
                <a:pos x="0" y="0"/>
              </a:cxn>
              <a:cxn ang="0">
                <a:pos x="227" y="0"/>
              </a:cxn>
              <a:cxn ang="0">
                <a:pos x="227" y="567"/>
              </a:cxn>
              <a:cxn ang="0">
                <a:pos x="0" y="567"/>
              </a:cxn>
            </a:cxnLst>
            <a:rect l="0" t="0" r="r" b="b"/>
            <a:pathLst>
              <a:path w="227" h="567">
                <a:moveTo>
                  <a:pt x="0" y="0"/>
                </a:moveTo>
                <a:lnTo>
                  <a:pt x="227" y="0"/>
                </a:lnTo>
                <a:lnTo>
                  <a:pt x="227" y="567"/>
                </a:lnTo>
                <a:lnTo>
                  <a:pt x="0" y="567"/>
                </a:lnTo>
              </a:path>
            </a:pathLst>
          </a:custGeom>
          <a:noFill/>
          <a:ln w="19050"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11" name="Freeform 20"/>
          <p:cNvSpPr>
            <a:spLocks/>
          </p:cNvSpPr>
          <p:nvPr/>
        </p:nvSpPr>
        <p:spPr bwMode="auto">
          <a:xfrm flipH="1" flipV="1">
            <a:off x="5015632" y="2167655"/>
            <a:ext cx="360363" cy="900112"/>
          </a:xfrm>
          <a:custGeom>
            <a:avLst/>
            <a:gdLst/>
            <a:ahLst/>
            <a:cxnLst>
              <a:cxn ang="0">
                <a:pos x="0" y="0"/>
              </a:cxn>
              <a:cxn ang="0">
                <a:pos x="227" y="0"/>
              </a:cxn>
              <a:cxn ang="0">
                <a:pos x="227" y="567"/>
              </a:cxn>
              <a:cxn ang="0">
                <a:pos x="0" y="567"/>
              </a:cxn>
            </a:cxnLst>
            <a:rect l="0" t="0" r="r" b="b"/>
            <a:pathLst>
              <a:path w="227" h="567">
                <a:moveTo>
                  <a:pt x="0" y="0"/>
                </a:moveTo>
                <a:lnTo>
                  <a:pt x="227" y="0"/>
                </a:lnTo>
                <a:lnTo>
                  <a:pt x="227" y="567"/>
                </a:lnTo>
                <a:lnTo>
                  <a:pt x="0" y="567"/>
                </a:lnTo>
              </a:path>
            </a:pathLst>
          </a:custGeom>
          <a:noFill/>
          <a:ln w="19050"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latin typeface="メイリオ" pitchFamily="50" charset="-128"/>
              <a:ea typeface="メイリオ" pitchFamily="50" charset="-128"/>
            </a:endParaRPr>
          </a:p>
        </p:txBody>
      </p:sp>
      <p:sp>
        <p:nvSpPr>
          <p:cNvPr id="12" name="Rectangle 7"/>
          <p:cNvSpPr>
            <a:spLocks noChangeArrowheads="1"/>
          </p:cNvSpPr>
          <p:nvPr/>
        </p:nvSpPr>
        <p:spPr bwMode="auto">
          <a:xfrm>
            <a:off x="4109163" y="2437528"/>
            <a:ext cx="719137"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メイリオ" pitchFamily="50" charset="-128"/>
                <a:ea typeface="メイリオ" pitchFamily="50" charset="-128"/>
              </a:rPr>
              <a:t>現状態</a:t>
            </a:r>
          </a:p>
        </p:txBody>
      </p:sp>
      <p:sp>
        <p:nvSpPr>
          <p:cNvPr id="13" name="Rectangle 8"/>
          <p:cNvSpPr>
            <a:spLocks noChangeArrowheads="1"/>
          </p:cNvSpPr>
          <p:nvPr/>
        </p:nvSpPr>
        <p:spPr bwMode="auto">
          <a:xfrm>
            <a:off x="7350838" y="2437528"/>
            <a:ext cx="719137" cy="360362"/>
          </a:xfrm>
          <a:prstGeom prst="rect">
            <a:avLst/>
          </a:prstGeom>
          <a:noFill/>
          <a:ln w="12700" algn="ctr">
            <a:noFill/>
            <a:miter lim="800000"/>
            <a:headEnd/>
            <a:tailEnd/>
          </a:ln>
          <a:effectLst/>
        </p:spPr>
        <p:txBody>
          <a:bodyPr wrap="none" lIns="90000" tIns="46800" rIns="90000" bIns="46800" anchor="ctr"/>
          <a:lstStyle/>
          <a:p>
            <a:r>
              <a:rPr lang="ja-JP" altLang="en-US" dirty="0">
                <a:latin typeface="メイリオ" pitchFamily="50" charset="-128"/>
                <a:ea typeface="メイリオ" pitchFamily="50" charset="-128"/>
              </a:rPr>
              <a:t>次状態</a:t>
            </a:r>
          </a:p>
        </p:txBody>
      </p:sp>
    </p:spTree>
    <p:extLst>
      <p:ext uri="{BB962C8B-B14F-4D97-AF65-F5344CB8AC3E}">
        <p14:creationId xmlns:p14="http://schemas.microsoft.com/office/powerpoint/2010/main" val="1068799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CPU </a:t>
            </a:r>
            <a:r>
              <a:rPr kumimoji="1" lang="ja-JP" altLang="en-US" dirty="0"/>
              <a:t>の </a:t>
            </a:r>
            <a:r>
              <a:rPr kumimoji="1" lang="en-US" altLang="ja-JP" dirty="0"/>
              <a:t>PC </a:t>
            </a:r>
            <a:r>
              <a:rPr kumimoji="1" lang="ja-JP" altLang="en-US" dirty="0"/>
              <a:t>部分</a:t>
            </a:r>
          </a:p>
        </p:txBody>
      </p:sp>
      <p:sp>
        <p:nvSpPr>
          <p:cNvPr id="3" name="テキスト プレースホルダー 2"/>
          <p:cNvSpPr>
            <a:spLocks noGrp="1"/>
          </p:cNvSpPr>
          <p:nvPr>
            <p:ph type="body" sz="quarter" idx="10"/>
          </p:nvPr>
        </p:nvSpPr>
        <p:spPr>
          <a:xfrm>
            <a:off x="2135956" y="5589027"/>
            <a:ext cx="8280092" cy="719701"/>
          </a:xfrm>
        </p:spPr>
        <p:txBody>
          <a:bodyPr/>
          <a:lstStyle/>
          <a:p>
            <a:r>
              <a:rPr kumimoji="1" lang="ja-JP" altLang="en-US" dirty="0"/>
              <a:t>毎サイクル </a:t>
            </a:r>
            <a:r>
              <a:rPr kumimoji="1" lang="en-US" altLang="ja-JP" dirty="0"/>
              <a:t>PC </a:t>
            </a:r>
            <a:r>
              <a:rPr kumimoji="1" lang="ja-JP" altLang="en-US" dirty="0"/>
              <a:t>が加算される部分は，典型的な順序回路</a:t>
            </a:r>
            <a:endParaRPr kumimoji="1" lang="en-US" altLang="ja-JP" dirty="0"/>
          </a:p>
        </p:txBody>
      </p:sp>
      <p:sp>
        <p:nvSpPr>
          <p:cNvPr id="4" name="正方形/長方形 3"/>
          <p:cNvSpPr/>
          <p:nvPr/>
        </p:nvSpPr>
        <p:spPr bwMode="auto">
          <a:xfrm>
            <a:off x="4835986" y="3429000"/>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5" name="直線矢印コネクタ 4"/>
          <p:cNvCxnSpPr/>
          <p:nvPr/>
        </p:nvCxnSpPr>
        <p:spPr bwMode="auto">
          <a:xfrm>
            <a:off x="5195993" y="3789004"/>
            <a:ext cx="1890021" cy="0"/>
          </a:xfrm>
          <a:prstGeom prst="straightConnector1">
            <a:avLst/>
          </a:prstGeom>
          <a:noFill/>
          <a:ln w="9525" cap="flat" cmpd="sng" algn="ctr">
            <a:solidFill>
              <a:schemeClr val="tx1"/>
            </a:solidFill>
            <a:prstDash val="solid"/>
            <a:round/>
            <a:headEnd type="none" w="med" len="med"/>
            <a:tailEnd type="triangle"/>
          </a:ln>
          <a:effectLst/>
        </p:spPr>
      </p:cxnSp>
      <p:sp>
        <p:nvSpPr>
          <p:cNvPr id="6" name="Freeform 10"/>
          <p:cNvSpPr>
            <a:spLocks/>
          </p:cNvSpPr>
          <p:nvPr/>
        </p:nvSpPr>
        <p:spPr bwMode="auto">
          <a:xfrm flipV="1">
            <a:off x="5375992" y="2618991"/>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 name="フリーフォーム 6"/>
          <p:cNvSpPr>
            <a:spLocks noChangeArrowheads="1"/>
          </p:cNvSpPr>
          <p:nvPr/>
        </p:nvSpPr>
        <p:spPr bwMode="auto">
          <a:xfrm rot="-5400000">
            <a:off x="5645994" y="2168986"/>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8" name="直線矢印コネクタ 7"/>
          <p:cNvCxnSpPr/>
          <p:nvPr/>
        </p:nvCxnSpPr>
        <p:spPr bwMode="auto">
          <a:xfrm>
            <a:off x="5465995" y="2078985"/>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9" name="正方形/長方形 8"/>
          <p:cNvSpPr/>
          <p:nvPr/>
        </p:nvSpPr>
        <p:spPr bwMode="auto">
          <a:xfrm>
            <a:off x="5105989" y="189898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0" name="Freeform 10"/>
          <p:cNvSpPr>
            <a:spLocks/>
          </p:cNvSpPr>
          <p:nvPr/>
        </p:nvSpPr>
        <p:spPr bwMode="auto">
          <a:xfrm>
            <a:off x="4655984" y="1628980"/>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Freeform 10"/>
          <p:cNvSpPr>
            <a:spLocks/>
          </p:cNvSpPr>
          <p:nvPr/>
        </p:nvSpPr>
        <p:spPr bwMode="auto">
          <a:xfrm rot="16200000">
            <a:off x="6096001" y="1808981"/>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2" name="直線矢印コネクタ 11"/>
          <p:cNvCxnSpPr/>
          <p:nvPr/>
        </p:nvCxnSpPr>
        <p:spPr bwMode="auto">
          <a:xfrm>
            <a:off x="4655984" y="1628980"/>
            <a:ext cx="1980022" cy="0"/>
          </a:xfrm>
          <a:prstGeom prst="straightConnector1">
            <a:avLst/>
          </a:prstGeom>
          <a:noFill/>
          <a:ln w="9525" cap="flat" cmpd="sng" algn="ctr">
            <a:solidFill>
              <a:schemeClr val="tx1"/>
            </a:solidFill>
            <a:prstDash val="solid"/>
            <a:round/>
            <a:headEnd type="none" w="sm" len="sm"/>
            <a:tailEnd type="none"/>
          </a:ln>
          <a:effectLst/>
        </p:spPr>
      </p:cxnSp>
      <p:sp>
        <p:nvSpPr>
          <p:cNvPr id="13" name="正方形/長方形 12"/>
          <p:cNvSpPr/>
          <p:nvPr/>
        </p:nvSpPr>
        <p:spPr bwMode="auto">
          <a:xfrm>
            <a:off x="7176012"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dirty="0">
                <a:latin typeface="メイリオ" panose="020B0604030504040204" pitchFamily="50" charset="-128"/>
                <a:ea typeface="メイリオ" panose="020B0604030504040204" pitchFamily="50" charset="-128"/>
              </a:rPr>
              <a:t>命令のアドレス</a:t>
            </a:r>
          </a:p>
        </p:txBody>
      </p:sp>
    </p:spTree>
    <p:extLst>
      <p:ext uri="{BB962C8B-B14F-4D97-AF65-F5344CB8AC3E}">
        <p14:creationId xmlns:p14="http://schemas.microsoft.com/office/powerpoint/2010/main" val="399031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5"/>
          <p:cNvSpPr txBox="1">
            <a:spLocks noChangeArrowheads="1"/>
          </p:cNvSpPr>
          <p:nvPr/>
        </p:nvSpPr>
        <p:spPr>
          <a:xfrm>
            <a:off x="2135959" y="1268712"/>
            <a:ext cx="8281219" cy="5491162"/>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sz="1800" kern="0" dirty="0"/>
              <a:t>入出力端子</a:t>
            </a:r>
            <a:endParaRPr lang="en-US" altLang="ja-JP" sz="1800" kern="0" dirty="0"/>
          </a:p>
          <a:p>
            <a:pPr lvl="1"/>
            <a:r>
              <a:rPr lang="ja-JP" altLang="en-US" sz="1800" kern="0" dirty="0"/>
              <a:t>データ入力</a:t>
            </a:r>
            <a:r>
              <a:rPr lang="en-US" altLang="ja-JP" sz="1800" kern="0" dirty="0"/>
              <a:t>	  </a:t>
            </a:r>
            <a:r>
              <a:rPr lang="ja-JP" altLang="en-US" sz="1800" kern="0" dirty="0"/>
              <a:t>： </a:t>
            </a:r>
            <a:r>
              <a:rPr lang="en-US" altLang="ja-JP" sz="1800" i="1" kern="0" dirty="0"/>
              <a:t>d</a:t>
            </a:r>
          </a:p>
          <a:p>
            <a:pPr lvl="1"/>
            <a:r>
              <a:rPr lang="ja-JP" altLang="en-US" sz="1800" kern="0" dirty="0"/>
              <a:t>データ出力</a:t>
            </a:r>
            <a:r>
              <a:rPr lang="en-US" altLang="ja-JP" sz="1800" kern="0" dirty="0"/>
              <a:t>	  </a:t>
            </a:r>
            <a:r>
              <a:rPr lang="ja-JP" altLang="en-US" sz="1800" kern="0" dirty="0"/>
              <a:t>： </a:t>
            </a:r>
            <a:r>
              <a:rPr lang="en-US" altLang="ja-JP" sz="1800" i="1" kern="0" dirty="0"/>
              <a:t>q</a:t>
            </a:r>
          </a:p>
          <a:p>
            <a:pPr lvl="1"/>
            <a:r>
              <a:rPr lang="ja-JP" altLang="en-US" sz="1800" kern="0" dirty="0"/>
              <a:t>クロック入力： </a:t>
            </a:r>
            <a:r>
              <a:rPr lang="en-US" altLang="ja-JP" sz="1800" i="1" kern="0" dirty="0" err="1"/>
              <a:t>clk</a:t>
            </a:r>
            <a:endParaRPr lang="en-US" altLang="ja-JP" sz="1800" kern="0" dirty="0"/>
          </a:p>
          <a:p>
            <a:r>
              <a:rPr lang="ja-JP" altLang="en-US" sz="1800" kern="0" dirty="0"/>
              <a:t>働き：</a:t>
            </a:r>
            <a:endParaRPr lang="en-US" altLang="ja-JP" sz="1800" kern="0" dirty="0"/>
          </a:p>
          <a:p>
            <a:pPr lvl="1"/>
            <a:r>
              <a:rPr lang="ja-JP" altLang="en-US" sz="1800" kern="0" dirty="0"/>
              <a:t>クロックの立ち上がりのたびに，</a:t>
            </a:r>
            <a:r>
              <a:rPr lang="en-US" altLang="ja-JP" sz="1800" i="1" kern="0" dirty="0"/>
              <a:t>d</a:t>
            </a:r>
            <a:r>
              <a:rPr lang="ja-JP" altLang="en-US" sz="1800" kern="0" dirty="0"/>
              <a:t> の値がサンプリングされる</a:t>
            </a:r>
            <a:endParaRPr lang="en-US" altLang="ja-JP" sz="1800" kern="0" dirty="0"/>
          </a:p>
          <a:p>
            <a:pPr lvl="1"/>
            <a:r>
              <a:rPr lang="ja-JP" altLang="en-US" sz="1800" kern="0" dirty="0"/>
              <a:t>その値が次のサイクルの間 </a:t>
            </a:r>
            <a:r>
              <a:rPr lang="en-US" altLang="ja-JP" sz="1800" i="1" kern="0" dirty="0"/>
              <a:t>q</a:t>
            </a:r>
            <a:r>
              <a:rPr lang="ja-JP" altLang="en-US" sz="1800" kern="0" dirty="0"/>
              <a:t> から出力される</a:t>
            </a:r>
            <a:endParaRPr lang="en-US" altLang="ja-JP" sz="1800" kern="0" dirty="0"/>
          </a:p>
        </p:txBody>
      </p:sp>
      <p:sp>
        <p:nvSpPr>
          <p:cNvPr id="2" name="タイトル 1"/>
          <p:cNvSpPr>
            <a:spLocks noGrp="1"/>
          </p:cNvSpPr>
          <p:nvPr>
            <p:ph type="title"/>
          </p:nvPr>
        </p:nvSpPr>
        <p:spPr/>
        <p:txBody>
          <a:bodyPr/>
          <a:lstStyle/>
          <a:p>
            <a:r>
              <a:rPr kumimoji="1" lang="ja-JP" altLang="en-US"/>
              <a:t>記憶素子の例：</a:t>
            </a:r>
            <a:r>
              <a:rPr kumimoji="1" lang="en-US" altLang="ja-JP"/>
              <a:t>D-FF</a:t>
            </a:r>
            <a:r>
              <a:rPr kumimoji="1" lang="ja-JP" altLang="en-US"/>
              <a:t>（</a:t>
            </a:r>
            <a:r>
              <a:rPr kumimoji="1" lang="en-US" altLang="ja-JP"/>
              <a:t>Flip Flop</a:t>
            </a:r>
            <a:r>
              <a:rPr kumimoji="1" lang="ja-JP" altLang="en-US"/>
              <a:t>）</a:t>
            </a:r>
            <a:endParaRPr kumimoji="1" lang="ja-JP" altLang="en-US" dirty="0"/>
          </a:p>
        </p:txBody>
      </p:sp>
      <p:grpSp>
        <p:nvGrpSpPr>
          <p:cNvPr id="13" name="グループ化 12"/>
          <p:cNvGrpSpPr/>
          <p:nvPr/>
        </p:nvGrpSpPr>
        <p:grpSpPr>
          <a:xfrm>
            <a:off x="5915998" y="2438992"/>
            <a:ext cx="1441450" cy="1085855"/>
            <a:chOff x="6369707" y="1718772"/>
            <a:chExt cx="1441450" cy="1085855"/>
          </a:xfrm>
        </p:grpSpPr>
        <p:sp>
          <p:nvSpPr>
            <p:cNvPr id="4"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sp>
          <p:nvSpPr>
            <p:cNvPr id="5"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a:p>
          </p:txBody>
        </p:sp>
        <p:sp>
          <p:nvSpPr>
            <p:cNvPr id="6"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q</a:t>
              </a:r>
              <a:endParaRPr lang="en-US" altLang="ja-JP" dirty="0"/>
            </a:p>
          </p:txBody>
        </p:sp>
        <p:sp>
          <p:nvSpPr>
            <p:cNvPr id="7"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d</a:t>
              </a:r>
              <a:endParaRPr lang="en-US" altLang="ja-JP" dirty="0"/>
            </a:p>
          </p:txBody>
        </p:sp>
        <p:sp>
          <p:nvSpPr>
            <p:cNvPr id="8"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sp>
          <p:nvSpPr>
            <p:cNvPr id="15"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i="1" dirty="0"/>
                <a:t>clk</a:t>
              </a:r>
              <a:endParaRPr lang="en-US" altLang="ja-JP" dirty="0"/>
            </a:p>
          </p:txBody>
        </p:sp>
      </p:grpSp>
    </p:spTree>
    <p:extLst>
      <p:ext uri="{BB962C8B-B14F-4D97-AF65-F5344CB8AC3E}">
        <p14:creationId xmlns:p14="http://schemas.microsoft.com/office/powerpoint/2010/main" val="1646714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 </a:t>
            </a:r>
            <a:r>
              <a:rPr kumimoji="1" lang="ja-JP" altLang="en-US" dirty="0"/>
              <a:t>の動作</a:t>
            </a:r>
          </a:p>
        </p:txBody>
      </p:sp>
      <p:graphicFrame>
        <p:nvGraphicFramePr>
          <p:cNvPr id="4" name="Group 66"/>
          <p:cNvGraphicFramePr>
            <a:graphicFrameLocks noGrp="1"/>
          </p:cNvGraphicFramePr>
          <p:nvPr/>
        </p:nvGraphicFramePr>
        <p:xfrm>
          <a:off x="2133603" y="1628778"/>
          <a:ext cx="7921625" cy="1439863"/>
        </p:xfrm>
        <a:graphic>
          <a:graphicData uri="http://schemas.openxmlformats.org/drawingml/2006/table">
            <a:tbl>
              <a:tblPr/>
              <a:tblGrid>
                <a:gridCol w="720725">
                  <a:extLst>
                    <a:ext uri="{9D8B030D-6E8A-4147-A177-3AD203B41FA5}">
                      <a16:colId xmlns:a16="http://schemas.microsoft.com/office/drawing/2014/main" val="20000"/>
                    </a:ext>
                  </a:extLst>
                </a:gridCol>
                <a:gridCol w="719138">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719137">
                  <a:extLst>
                    <a:ext uri="{9D8B030D-6E8A-4147-A177-3AD203B41FA5}">
                      <a16:colId xmlns:a16="http://schemas.microsoft.com/office/drawing/2014/main" val="20004"/>
                    </a:ext>
                  </a:extLst>
                </a:gridCol>
                <a:gridCol w="720725">
                  <a:extLst>
                    <a:ext uri="{9D8B030D-6E8A-4147-A177-3AD203B41FA5}">
                      <a16:colId xmlns:a16="http://schemas.microsoft.com/office/drawing/2014/main" val="20005"/>
                    </a:ext>
                  </a:extLst>
                </a:gridCol>
                <a:gridCol w="719138">
                  <a:extLst>
                    <a:ext uri="{9D8B030D-6E8A-4147-A177-3AD203B41FA5}">
                      <a16:colId xmlns:a16="http://schemas.microsoft.com/office/drawing/2014/main" val="20006"/>
                    </a:ext>
                  </a:extLst>
                </a:gridCol>
                <a:gridCol w="720725">
                  <a:extLst>
                    <a:ext uri="{9D8B030D-6E8A-4147-A177-3AD203B41FA5}">
                      <a16:colId xmlns:a16="http://schemas.microsoft.com/office/drawing/2014/main" val="20007"/>
                    </a:ext>
                  </a:extLst>
                </a:gridCol>
                <a:gridCol w="720725">
                  <a:extLst>
                    <a:ext uri="{9D8B030D-6E8A-4147-A177-3AD203B41FA5}">
                      <a16:colId xmlns:a16="http://schemas.microsoft.com/office/drawing/2014/main" val="20008"/>
                    </a:ext>
                  </a:extLst>
                </a:gridCol>
                <a:gridCol w="719137">
                  <a:extLst>
                    <a:ext uri="{9D8B030D-6E8A-4147-A177-3AD203B41FA5}">
                      <a16:colId xmlns:a16="http://schemas.microsoft.com/office/drawing/2014/main" val="20009"/>
                    </a:ext>
                  </a:extLst>
                </a:gridCol>
                <a:gridCol w="720725">
                  <a:extLst>
                    <a:ext uri="{9D8B030D-6E8A-4147-A177-3AD203B41FA5}">
                      <a16:colId xmlns:a16="http://schemas.microsoft.com/office/drawing/2014/main" val="20010"/>
                    </a:ext>
                  </a:extLst>
                </a:gridCol>
              </a:tblGrid>
              <a:tr h="720725">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charset="0"/>
                          <a:ea typeface="HG丸ｺﾞｼｯｸM-PRO" pitchFamily="50" charset="-128"/>
                        </a:rPr>
                        <a:t>d</a:t>
                      </a:r>
                    </a:p>
                  </a:txBody>
                  <a:tcPr marL="90000" marR="90000" marT="46800" marB="46800" anchor="ctr" horzOverflow="overflow">
                    <a:lnL cap="flat">
                      <a:noFill/>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w="12700" cap="flat" cmpd="sng" algn="ctr">
                      <a:solidFill>
                        <a:schemeClr val="tx1"/>
                      </a:solidFill>
                      <a:prstDash val="solid"/>
                      <a:round/>
                      <a:headEnd type="none" w="med" len="med"/>
                      <a:tailEnd type="none" w="med" len="lg"/>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0"/>
                  </a:ext>
                </a:extLst>
              </a:tr>
              <a:tr h="7191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solidFill>
                          <a:effectLst/>
                          <a:latin typeface="Times New Roman" charset="0"/>
                          <a:ea typeface="HG丸ｺﾞｼｯｸM-PRO" pitchFamily="50" charset="-128"/>
                        </a:rPr>
                        <a:t>q</a:t>
                      </a:r>
                    </a:p>
                  </a:txBody>
                  <a:tcPr marL="90000" marR="90000" marT="46800" marB="46800" anchor="ctr" horzOverflow="overflow">
                    <a:lnL cap="flat">
                      <a:noFill/>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w="12700" cap="flat" cmpd="sng" algn="ctr">
                      <a:solidFill>
                        <a:schemeClr val="tx1"/>
                      </a:solidFill>
                      <a:prstDash val="solid"/>
                      <a:round/>
                      <a:headEnd type="none" w="med" len="med"/>
                      <a:tailEnd type="none" w="med" len="lg"/>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accent5"/>
                          </a:solidFill>
                          <a:effectLst/>
                          <a:latin typeface="Times New Roman" charset="0"/>
                          <a:ea typeface="HG丸ｺﾞｼｯｸM-PRO" pitchFamily="50" charset="-128"/>
                        </a:rPr>
                        <a:t>0</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rgbClr val="FF0000"/>
                          </a:solidFill>
                          <a:effectLst/>
                          <a:latin typeface="Times New Roman" charset="0"/>
                          <a:ea typeface="HG丸ｺﾞｼｯｸM-PRO" pitchFamily="50" charset="-128"/>
                        </a:rPr>
                        <a:t>1</a:t>
                      </a:r>
                    </a:p>
                  </a:txBody>
                  <a:tcPr marL="90000" marR="90000" marT="46800" marB="46800" anchor="ctr" horzOverflow="overflow">
                    <a:lnL cap="flat">
                      <a:noFill/>
                    </a:lnL>
                    <a:lnR cap="flat">
                      <a:noFill/>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Rectangle 71"/>
          <p:cNvSpPr>
            <a:spLocks noChangeArrowheads="1"/>
          </p:cNvSpPr>
          <p:nvPr/>
        </p:nvSpPr>
        <p:spPr bwMode="auto">
          <a:xfrm>
            <a:off x="1955957" y="3968753"/>
            <a:ext cx="538009" cy="360363"/>
          </a:xfrm>
          <a:prstGeom prst="rect">
            <a:avLst/>
          </a:prstGeom>
          <a:noFill/>
          <a:ln w="12700" algn="ctr">
            <a:noFill/>
            <a:miter lim="800000"/>
            <a:headEnd/>
            <a:tailEnd/>
          </a:ln>
          <a:effectLst/>
        </p:spPr>
        <p:txBody>
          <a:bodyPr wrap="none" lIns="90000" tIns="46800" rIns="90000" bIns="46800" anchor="ctr"/>
          <a:lstStyle/>
          <a:p>
            <a:r>
              <a:rPr lang="en-US" altLang="ja-JP" i="1" dirty="0"/>
              <a:t>clk</a:t>
            </a:r>
          </a:p>
        </p:txBody>
      </p:sp>
      <p:sp>
        <p:nvSpPr>
          <p:cNvPr id="6" name="Freeform 73"/>
          <p:cNvSpPr>
            <a:spLocks/>
          </p:cNvSpPr>
          <p:nvPr/>
        </p:nvSpPr>
        <p:spPr bwMode="auto">
          <a:xfrm>
            <a:off x="3575050"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7" name="Rectangle 74"/>
          <p:cNvSpPr>
            <a:spLocks noChangeArrowheads="1"/>
          </p:cNvSpPr>
          <p:nvPr/>
        </p:nvSpPr>
        <p:spPr bwMode="auto">
          <a:xfrm>
            <a:off x="1954213" y="5768978"/>
            <a:ext cx="360362" cy="360363"/>
          </a:xfrm>
          <a:prstGeom prst="rect">
            <a:avLst/>
          </a:prstGeom>
          <a:noFill/>
          <a:ln w="12700" algn="ctr">
            <a:noFill/>
            <a:miter lim="800000"/>
            <a:headEnd/>
            <a:tailEnd/>
          </a:ln>
          <a:effectLst/>
        </p:spPr>
        <p:txBody>
          <a:bodyPr wrap="none" lIns="90000" tIns="46800" rIns="90000" bIns="46800" anchor="ctr"/>
          <a:lstStyle/>
          <a:p>
            <a:r>
              <a:rPr lang="en-US" altLang="ja-JP" i="1" dirty="0"/>
              <a:t>q</a:t>
            </a:r>
          </a:p>
        </p:txBody>
      </p:sp>
      <p:sp>
        <p:nvSpPr>
          <p:cNvPr id="8" name="Line 75"/>
          <p:cNvSpPr>
            <a:spLocks noChangeShapeType="1"/>
          </p:cNvSpPr>
          <p:nvPr/>
        </p:nvSpPr>
        <p:spPr bwMode="auto">
          <a:xfrm>
            <a:off x="3575050"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9" name="Line 77"/>
          <p:cNvSpPr>
            <a:spLocks noChangeShapeType="1"/>
          </p:cNvSpPr>
          <p:nvPr/>
        </p:nvSpPr>
        <p:spPr bwMode="auto">
          <a:xfrm>
            <a:off x="2674941" y="3608388"/>
            <a:ext cx="7742237" cy="0"/>
          </a:xfrm>
          <a:prstGeom prst="line">
            <a:avLst/>
          </a:prstGeom>
          <a:noFill/>
          <a:ln w="12700">
            <a:solidFill>
              <a:schemeClr val="tx1"/>
            </a:solidFill>
            <a:round/>
            <a:headEnd/>
            <a:tailEnd type="stealth" w="med" len="lg"/>
          </a:ln>
          <a:effectLst/>
        </p:spPr>
        <p:txBody>
          <a:bodyPr wrap="none" lIns="90000" tIns="46800" rIns="90000" bIns="46800" anchor="ctr"/>
          <a:lstStyle/>
          <a:p>
            <a:endParaRPr lang="ja-JP" altLang="en-US"/>
          </a:p>
        </p:txBody>
      </p:sp>
      <p:sp>
        <p:nvSpPr>
          <p:cNvPr id="10" name="Rectangle 78"/>
          <p:cNvSpPr>
            <a:spLocks noChangeArrowheads="1"/>
          </p:cNvSpPr>
          <p:nvPr/>
        </p:nvSpPr>
        <p:spPr bwMode="auto">
          <a:xfrm>
            <a:off x="9966325" y="3159128"/>
            <a:ext cx="541338" cy="360363"/>
          </a:xfrm>
          <a:prstGeom prst="rect">
            <a:avLst/>
          </a:prstGeom>
          <a:noFill/>
          <a:ln w="12700" algn="ctr">
            <a:noFill/>
            <a:miter lim="800000"/>
            <a:headEnd/>
            <a:tailEnd/>
          </a:ln>
          <a:effectLst/>
        </p:spPr>
        <p:txBody>
          <a:bodyPr wrap="none" lIns="90000" tIns="46800" rIns="90000" bIns="46800" anchor="ctr"/>
          <a:lstStyle/>
          <a:p>
            <a:r>
              <a:rPr lang="en-US" altLang="ja-JP" i="1"/>
              <a:t>time</a:t>
            </a:r>
          </a:p>
        </p:txBody>
      </p:sp>
      <p:sp>
        <p:nvSpPr>
          <p:cNvPr id="11" name="Freeform 84"/>
          <p:cNvSpPr>
            <a:spLocks/>
          </p:cNvSpPr>
          <p:nvPr/>
        </p:nvSpPr>
        <p:spPr bwMode="auto">
          <a:xfrm>
            <a:off x="9336091"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12" name="Rectangle 85"/>
          <p:cNvSpPr>
            <a:spLocks noChangeArrowheads="1"/>
          </p:cNvSpPr>
          <p:nvPr/>
        </p:nvSpPr>
        <p:spPr bwMode="auto">
          <a:xfrm>
            <a:off x="1955803" y="4868863"/>
            <a:ext cx="358775" cy="360362"/>
          </a:xfrm>
          <a:prstGeom prst="rect">
            <a:avLst/>
          </a:prstGeom>
          <a:noFill/>
          <a:ln w="12700" algn="ctr">
            <a:noFill/>
            <a:miter lim="800000"/>
            <a:headEnd/>
            <a:tailEnd/>
          </a:ln>
          <a:effectLst/>
        </p:spPr>
        <p:txBody>
          <a:bodyPr wrap="none" lIns="90000" tIns="46800" rIns="90000" bIns="46800" anchor="ctr"/>
          <a:lstStyle/>
          <a:p>
            <a:r>
              <a:rPr lang="en-US" altLang="ja-JP" i="1" dirty="0"/>
              <a:t>d</a:t>
            </a:r>
          </a:p>
        </p:txBody>
      </p:sp>
      <p:sp>
        <p:nvSpPr>
          <p:cNvPr id="13" name="Freeform 87"/>
          <p:cNvSpPr>
            <a:spLocks/>
          </p:cNvSpPr>
          <p:nvPr/>
        </p:nvSpPr>
        <p:spPr bwMode="auto">
          <a:xfrm>
            <a:off x="9334503" y="3970338"/>
            <a:ext cx="720725" cy="360362"/>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14" name="Line 88"/>
          <p:cNvSpPr>
            <a:spLocks noChangeShapeType="1"/>
          </p:cNvSpPr>
          <p:nvPr/>
        </p:nvSpPr>
        <p:spPr bwMode="auto">
          <a:xfrm flipH="1">
            <a:off x="4294188"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15" name="Line 90"/>
          <p:cNvSpPr>
            <a:spLocks noChangeShapeType="1"/>
          </p:cNvSpPr>
          <p:nvPr/>
        </p:nvSpPr>
        <p:spPr bwMode="auto">
          <a:xfrm flipV="1">
            <a:off x="2674938" y="5229225"/>
            <a:ext cx="900112"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16" name="Freeform 91"/>
          <p:cNvSpPr>
            <a:spLocks/>
          </p:cNvSpPr>
          <p:nvPr/>
        </p:nvSpPr>
        <p:spPr bwMode="auto">
          <a:xfrm>
            <a:off x="4295775" y="4868863"/>
            <a:ext cx="179388"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17" name="Line 92"/>
          <p:cNvSpPr>
            <a:spLocks noChangeShapeType="1"/>
          </p:cNvSpPr>
          <p:nvPr/>
        </p:nvSpPr>
        <p:spPr bwMode="auto">
          <a:xfrm flipV="1">
            <a:off x="3756025" y="4868863"/>
            <a:ext cx="539750"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18" name="Line 93"/>
          <p:cNvSpPr>
            <a:spLocks noChangeShapeType="1"/>
          </p:cNvSpPr>
          <p:nvPr/>
        </p:nvSpPr>
        <p:spPr bwMode="auto">
          <a:xfrm flipV="1">
            <a:off x="9517063" y="5229225"/>
            <a:ext cx="900112"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19" name="Freeform 100"/>
          <p:cNvSpPr>
            <a:spLocks/>
          </p:cNvSpPr>
          <p:nvPr/>
        </p:nvSpPr>
        <p:spPr bwMode="auto">
          <a:xfrm>
            <a:off x="5735641"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20" name="Freeform 105"/>
          <p:cNvSpPr>
            <a:spLocks/>
          </p:cNvSpPr>
          <p:nvPr/>
        </p:nvSpPr>
        <p:spPr bwMode="auto">
          <a:xfrm>
            <a:off x="2674941" y="3968753"/>
            <a:ext cx="179387" cy="360363"/>
          </a:xfrm>
          <a:custGeom>
            <a:avLst/>
            <a:gdLst/>
            <a:ahLst/>
            <a:cxnLst>
              <a:cxn ang="0">
                <a:pos x="0" y="227"/>
              </a:cxn>
              <a:cxn ang="0">
                <a:pos x="680" y="227"/>
              </a:cxn>
              <a:cxn ang="0">
                <a:pos x="680" y="0"/>
              </a:cxn>
            </a:cxnLst>
            <a:rect l="0" t="0" r="r" b="b"/>
            <a:pathLst>
              <a:path w="680" h="227">
                <a:moveTo>
                  <a:pt x="0" y="227"/>
                </a:moveTo>
                <a:lnTo>
                  <a:pt x="680" y="227"/>
                </a:lnTo>
                <a:lnTo>
                  <a:pt x="680"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21" name="Freeform 120"/>
          <p:cNvSpPr>
            <a:spLocks/>
          </p:cNvSpPr>
          <p:nvPr/>
        </p:nvSpPr>
        <p:spPr bwMode="auto">
          <a:xfrm>
            <a:off x="4294191"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2" name="Line 121"/>
          <p:cNvSpPr>
            <a:spLocks noChangeShapeType="1"/>
          </p:cNvSpPr>
          <p:nvPr/>
        </p:nvSpPr>
        <p:spPr bwMode="auto">
          <a:xfrm flipH="1">
            <a:off x="501332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3" name="Freeform 122"/>
          <p:cNvSpPr>
            <a:spLocks/>
          </p:cNvSpPr>
          <p:nvPr/>
        </p:nvSpPr>
        <p:spPr bwMode="auto">
          <a:xfrm>
            <a:off x="5013325"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4" name="Line 123"/>
          <p:cNvSpPr>
            <a:spLocks noChangeShapeType="1"/>
          </p:cNvSpPr>
          <p:nvPr/>
        </p:nvSpPr>
        <p:spPr bwMode="auto">
          <a:xfrm flipH="1">
            <a:off x="5732463"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5" name="Freeform 124"/>
          <p:cNvSpPr>
            <a:spLocks/>
          </p:cNvSpPr>
          <p:nvPr/>
        </p:nvSpPr>
        <p:spPr bwMode="auto">
          <a:xfrm>
            <a:off x="5732466"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6" name="Line 125"/>
          <p:cNvSpPr>
            <a:spLocks noChangeShapeType="1"/>
          </p:cNvSpPr>
          <p:nvPr/>
        </p:nvSpPr>
        <p:spPr bwMode="auto">
          <a:xfrm flipH="1">
            <a:off x="6451600"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7" name="Freeform 126"/>
          <p:cNvSpPr>
            <a:spLocks/>
          </p:cNvSpPr>
          <p:nvPr/>
        </p:nvSpPr>
        <p:spPr bwMode="auto">
          <a:xfrm>
            <a:off x="6451600"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28" name="Line 127"/>
          <p:cNvSpPr>
            <a:spLocks noChangeShapeType="1"/>
          </p:cNvSpPr>
          <p:nvPr/>
        </p:nvSpPr>
        <p:spPr bwMode="auto">
          <a:xfrm flipH="1">
            <a:off x="7170738"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29" name="Freeform 128"/>
          <p:cNvSpPr>
            <a:spLocks/>
          </p:cNvSpPr>
          <p:nvPr/>
        </p:nvSpPr>
        <p:spPr bwMode="auto">
          <a:xfrm>
            <a:off x="7170741"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0" name="Line 129"/>
          <p:cNvSpPr>
            <a:spLocks noChangeShapeType="1"/>
          </p:cNvSpPr>
          <p:nvPr/>
        </p:nvSpPr>
        <p:spPr bwMode="auto">
          <a:xfrm flipH="1">
            <a:off x="788987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1" name="Freeform 130"/>
          <p:cNvSpPr>
            <a:spLocks/>
          </p:cNvSpPr>
          <p:nvPr/>
        </p:nvSpPr>
        <p:spPr bwMode="auto">
          <a:xfrm>
            <a:off x="7889875"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2" name="Line 131"/>
          <p:cNvSpPr>
            <a:spLocks noChangeShapeType="1"/>
          </p:cNvSpPr>
          <p:nvPr/>
        </p:nvSpPr>
        <p:spPr bwMode="auto">
          <a:xfrm flipH="1">
            <a:off x="8609013"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3" name="Freeform 132"/>
          <p:cNvSpPr>
            <a:spLocks/>
          </p:cNvSpPr>
          <p:nvPr/>
        </p:nvSpPr>
        <p:spPr bwMode="auto">
          <a:xfrm>
            <a:off x="8609016" y="3968753"/>
            <a:ext cx="719137"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4" name="Line 133"/>
          <p:cNvSpPr>
            <a:spLocks noChangeShapeType="1"/>
          </p:cNvSpPr>
          <p:nvPr/>
        </p:nvSpPr>
        <p:spPr bwMode="auto">
          <a:xfrm flipH="1">
            <a:off x="9328150"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5" name="Line 183"/>
          <p:cNvSpPr>
            <a:spLocks noChangeShapeType="1"/>
          </p:cNvSpPr>
          <p:nvPr/>
        </p:nvSpPr>
        <p:spPr bwMode="auto">
          <a:xfrm flipH="1">
            <a:off x="1005522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6" name="Freeform 184"/>
          <p:cNvSpPr>
            <a:spLocks/>
          </p:cNvSpPr>
          <p:nvPr/>
        </p:nvSpPr>
        <p:spPr bwMode="auto">
          <a:xfrm>
            <a:off x="2854325" y="3968753"/>
            <a:ext cx="719138" cy="360363"/>
          </a:xfrm>
          <a:custGeom>
            <a:avLst/>
            <a:gdLst/>
            <a:ahLst/>
            <a:cxnLst>
              <a:cxn ang="0">
                <a:pos x="0" y="0"/>
              </a:cxn>
              <a:cxn ang="0">
                <a:pos x="453" y="0"/>
              </a:cxn>
              <a:cxn ang="0">
                <a:pos x="453" y="227"/>
              </a:cxn>
              <a:cxn ang="0">
                <a:pos x="907" y="227"/>
              </a:cxn>
              <a:cxn ang="0">
                <a:pos x="907" y="0"/>
              </a:cxn>
            </a:cxnLst>
            <a:rect l="0" t="0" r="r" b="b"/>
            <a:pathLst>
              <a:path w="907" h="227">
                <a:moveTo>
                  <a:pt x="0" y="0"/>
                </a:moveTo>
                <a:lnTo>
                  <a:pt x="453" y="0"/>
                </a:lnTo>
                <a:lnTo>
                  <a:pt x="453" y="227"/>
                </a:lnTo>
                <a:lnTo>
                  <a:pt x="907" y="227"/>
                </a:lnTo>
                <a:lnTo>
                  <a:pt x="907" y="0"/>
                </a:lnTo>
              </a:path>
            </a:pathLst>
          </a:custGeom>
          <a:noFill/>
          <a:ln w="12700" cap="flat" cmpd="sng">
            <a:solidFill>
              <a:schemeClr val="tx1"/>
            </a:solidFill>
            <a:prstDash val="solid"/>
            <a:round/>
            <a:headEnd/>
            <a:tailEnd type="stealth" w="med" len="lg"/>
          </a:ln>
          <a:effectLst/>
        </p:spPr>
        <p:txBody>
          <a:bodyPr wrap="none" lIns="90000" tIns="46800" rIns="90000" bIns="46800" anchor="ctr"/>
          <a:lstStyle/>
          <a:p>
            <a:endParaRPr lang="ja-JP" altLang="en-US"/>
          </a:p>
        </p:txBody>
      </p:sp>
      <p:sp>
        <p:nvSpPr>
          <p:cNvPr id="37" name="Line 185"/>
          <p:cNvSpPr>
            <a:spLocks noChangeShapeType="1"/>
          </p:cNvSpPr>
          <p:nvPr/>
        </p:nvSpPr>
        <p:spPr bwMode="auto">
          <a:xfrm>
            <a:off x="2854325" y="3519488"/>
            <a:ext cx="0" cy="2970212"/>
          </a:xfrm>
          <a:prstGeom prst="line">
            <a:avLst/>
          </a:prstGeom>
          <a:noFill/>
          <a:ln w="9525">
            <a:solidFill>
              <a:schemeClr val="tx1"/>
            </a:solidFill>
            <a:prstDash val="dash"/>
            <a:round/>
            <a:headEnd/>
            <a:tailEnd/>
          </a:ln>
          <a:effectLst/>
        </p:spPr>
        <p:txBody>
          <a:bodyPr wrap="none" lIns="90000" tIns="46800" rIns="90000" bIns="46800" anchor="ctr"/>
          <a:lstStyle/>
          <a:p>
            <a:endParaRPr lang="ja-JP" altLang="en-US"/>
          </a:p>
        </p:txBody>
      </p:sp>
      <p:sp>
        <p:nvSpPr>
          <p:cNvPr id="38" name="Freeform 186"/>
          <p:cNvSpPr>
            <a:spLocks/>
          </p:cNvSpPr>
          <p:nvPr/>
        </p:nvSpPr>
        <p:spPr bwMode="auto">
          <a:xfrm flipH="1">
            <a:off x="3575053"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39" name="Line 187"/>
          <p:cNvSpPr>
            <a:spLocks noChangeShapeType="1"/>
          </p:cNvSpPr>
          <p:nvPr/>
        </p:nvSpPr>
        <p:spPr bwMode="auto">
          <a:xfrm flipV="1">
            <a:off x="5195891" y="4868863"/>
            <a:ext cx="541337"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0" name="Freeform 188"/>
          <p:cNvSpPr>
            <a:spLocks/>
          </p:cNvSpPr>
          <p:nvPr/>
        </p:nvSpPr>
        <p:spPr bwMode="auto">
          <a:xfrm flipH="1">
            <a:off x="5016500" y="4868863"/>
            <a:ext cx="179388"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41" name="Line 189"/>
          <p:cNvSpPr>
            <a:spLocks noChangeShapeType="1"/>
          </p:cNvSpPr>
          <p:nvPr/>
        </p:nvSpPr>
        <p:spPr bwMode="auto">
          <a:xfrm flipV="1">
            <a:off x="4475166" y="5229225"/>
            <a:ext cx="541337"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2" name="Line 191"/>
          <p:cNvSpPr>
            <a:spLocks noChangeShapeType="1"/>
          </p:cNvSpPr>
          <p:nvPr/>
        </p:nvSpPr>
        <p:spPr bwMode="auto">
          <a:xfrm flipV="1">
            <a:off x="8075616" y="4868863"/>
            <a:ext cx="1260475"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3" name="Freeform 192"/>
          <p:cNvSpPr>
            <a:spLocks/>
          </p:cNvSpPr>
          <p:nvPr/>
        </p:nvSpPr>
        <p:spPr bwMode="auto">
          <a:xfrm flipH="1">
            <a:off x="7896228" y="4868863"/>
            <a:ext cx="180975" cy="360362"/>
          </a:xfrm>
          <a:custGeom>
            <a:avLst/>
            <a:gdLst/>
            <a:ahLst/>
            <a:cxnLst>
              <a:cxn ang="0">
                <a:pos x="0" y="0"/>
              </a:cxn>
              <a:cxn ang="0">
                <a:pos x="57" y="0"/>
              </a:cxn>
              <a:cxn ang="0">
                <a:pos x="170" y="227"/>
              </a:cxn>
              <a:cxn ang="0">
                <a:pos x="227" y="227"/>
              </a:cxn>
            </a:cxnLst>
            <a:rect l="0" t="0" r="r" b="b"/>
            <a:pathLst>
              <a:path w="227" h="227">
                <a:moveTo>
                  <a:pt x="0" y="0"/>
                </a:moveTo>
                <a:lnTo>
                  <a:pt x="57" y="0"/>
                </a:lnTo>
                <a:lnTo>
                  <a:pt x="170" y="227"/>
                </a:lnTo>
                <a:lnTo>
                  <a:pt x="227" y="227"/>
                </a:lnTo>
              </a:path>
            </a:pathLst>
          </a:custGeom>
          <a:noFill/>
          <a:ln w="19050"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44" name="Line 193"/>
          <p:cNvSpPr>
            <a:spLocks noChangeShapeType="1"/>
          </p:cNvSpPr>
          <p:nvPr/>
        </p:nvSpPr>
        <p:spPr bwMode="auto">
          <a:xfrm flipV="1">
            <a:off x="5916613" y="5229225"/>
            <a:ext cx="1979612" cy="0"/>
          </a:xfrm>
          <a:prstGeom prst="line">
            <a:avLst/>
          </a:prstGeom>
          <a:noFill/>
          <a:ln w="19050">
            <a:solidFill>
              <a:schemeClr val="tx1"/>
            </a:solidFill>
            <a:round/>
            <a:headEnd/>
            <a:tailEnd type="none" w="med" len="lg"/>
          </a:ln>
          <a:effectLst/>
        </p:spPr>
        <p:txBody>
          <a:bodyPr wrap="none" lIns="90000" tIns="46800" rIns="90000" bIns="46800" anchor="ctr"/>
          <a:lstStyle/>
          <a:p>
            <a:endParaRPr lang="ja-JP" altLang="en-US"/>
          </a:p>
        </p:txBody>
      </p:sp>
      <p:sp>
        <p:nvSpPr>
          <p:cNvPr id="45" name="Line 194"/>
          <p:cNvSpPr>
            <a:spLocks noChangeShapeType="1"/>
          </p:cNvSpPr>
          <p:nvPr/>
        </p:nvSpPr>
        <p:spPr bwMode="auto">
          <a:xfrm flipV="1">
            <a:off x="10056816" y="3968750"/>
            <a:ext cx="179387" cy="1588"/>
          </a:xfrm>
          <a:prstGeom prst="line">
            <a:avLst/>
          </a:prstGeom>
          <a:noFill/>
          <a:ln w="12700">
            <a:solidFill>
              <a:schemeClr val="tx1"/>
            </a:solidFill>
            <a:round/>
            <a:headEnd/>
            <a:tailEnd type="none" w="med" len="lg"/>
          </a:ln>
          <a:effectLst/>
        </p:spPr>
        <p:txBody>
          <a:bodyPr wrap="none" lIns="90000" tIns="46800" rIns="90000" bIns="46800" anchor="ctr"/>
          <a:lstStyle/>
          <a:p>
            <a:endParaRPr lang="ja-JP" altLang="en-US"/>
          </a:p>
        </p:txBody>
      </p:sp>
      <p:cxnSp>
        <p:nvCxnSpPr>
          <p:cNvPr id="46" name="直線矢印コネクタ 45"/>
          <p:cNvCxnSpPr/>
          <p:nvPr/>
        </p:nvCxnSpPr>
        <p:spPr bwMode="auto">
          <a:xfrm rot="16200000" flipH="1">
            <a:off x="4060020"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cxnSp>
        <p:nvCxnSpPr>
          <p:cNvPr id="47" name="直線矢印コネクタ 46"/>
          <p:cNvCxnSpPr/>
          <p:nvPr/>
        </p:nvCxnSpPr>
        <p:spPr bwMode="auto">
          <a:xfrm rot="16200000" flipH="1">
            <a:off x="5507828"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cxnSp>
        <p:nvCxnSpPr>
          <p:cNvPr id="48" name="直線矢印コネクタ 47"/>
          <p:cNvCxnSpPr/>
          <p:nvPr/>
        </p:nvCxnSpPr>
        <p:spPr bwMode="auto">
          <a:xfrm rot="16200000" flipH="1">
            <a:off x="8403444"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cxnSp>
        <p:nvCxnSpPr>
          <p:cNvPr id="49" name="直線矢印コネクタ 48"/>
          <p:cNvCxnSpPr/>
          <p:nvPr/>
        </p:nvCxnSpPr>
        <p:spPr bwMode="auto">
          <a:xfrm rot="16200000" flipH="1">
            <a:off x="9127348" y="2207412"/>
            <a:ext cx="452440" cy="361952"/>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grpSp>
        <p:nvGrpSpPr>
          <p:cNvPr id="50" name="グループ化 49"/>
          <p:cNvGrpSpPr/>
          <p:nvPr/>
        </p:nvGrpSpPr>
        <p:grpSpPr>
          <a:xfrm>
            <a:off x="4286240" y="5782482"/>
            <a:ext cx="180976" cy="363540"/>
            <a:chOff x="1314432" y="5962664"/>
            <a:chExt cx="361952" cy="363540"/>
          </a:xfrm>
        </p:grpSpPr>
        <p:sp>
          <p:nvSpPr>
            <p:cNvPr id="51" name="正方形/長方形 50"/>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52" name="直線コネクタ 51"/>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53" name="直線コネクタ 52"/>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54" name="直線コネクタ 53"/>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55" name="直線コネクタ 54"/>
          <p:cNvCxnSpPr/>
          <p:nvPr/>
        </p:nvCxnSpPr>
        <p:spPr bwMode="auto">
          <a:xfrm rot="10800000">
            <a:off x="2657456" y="6144434"/>
            <a:ext cx="1628784"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nvGrpSpPr>
          <p:cNvPr id="56" name="グループ化 55"/>
          <p:cNvGrpSpPr/>
          <p:nvPr/>
        </p:nvGrpSpPr>
        <p:grpSpPr>
          <a:xfrm flipH="1">
            <a:off x="5010144" y="5782482"/>
            <a:ext cx="180976" cy="363540"/>
            <a:chOff x="1314432" y="5962664"/>
            <a:chExt cx="361952" cy="363540"/>
          </a:xfrm>
        </p:grpSpPr>
        <p:sp>
          <p:nvSpPr>
            <p:cNvPr id="57" name="正方形/長方形 56"/>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58" name="直線コネクタ 57"/>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59" name="直線コネクタ 58"/>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60" name="直線コネクタ 59"/>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61" name="直線コネクタ 60"/>
          <p:cNvCxnSpPr/>
          <p:nvPr/>
        </p:nvCxnSpPr>
        <p:spPr bwMode="auto">
          <a:xfrm rot="10800000">
            <a:off x="4468010" y="5781688"/>
            <a:ext cx="542134"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nvGrpSpPr>
          <p:cNvPr id="62" name="グループ化 61"/>
          <p:cNvGrpSpPr/>
          <p:nvPr/>
        </p:nvGrpSpPr>
        <p:grpSpPr>
          <a:xfrm>
            <a:off x="5734048" y="5782482"/>
            <a:ext cx="180976" cy="363540"/>
            <a:chOff x="1314432" y="5962664"/>
            <a:chExt cx="361952" cy="363540"/>
          </a:xfrm>
        </p:grpSpPr>
        <p:sp>
          <p:nvSpPr>
            <p:cNvPr id="63" name="正方形/長方形 62"/>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64" name="直線コネクタ 63"/>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65" name="直線コネクタ 64"/>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66" name="直線コネクタ 65"/>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grpSp>
        <p:nvGrpSpPr>
          <p:cNvPr id="67" name="グループ化 66"/>
          <p:cNvGrpSpPr/>
          <p:nvPr/>
        </p:nvGrpSpPr>
        <p:grpSpPr>
          <a:xfrm flipH="1">
            <a:off x="6457952" y="5782482"/>
            <a:ext cx="180976" cy="363540"/>
            <a:chOff x="1314432" y="5962664"/>
            <a:chExt cx="361952" cy="363540"/>
          </a:xfrm>
        </p:grpSpPr>
        <p:sp>
          <p:nvSpPr>
            <p:cNvPr id="68" name="正方形/長方形 67"/>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69" name="直線コネクタ 68"/>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0" name="直線コネクタ 69"/>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1" name="直線コネクタ 70"/>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72" name="直線コネクタ 71"/>
          <p:cNvCxnSpPr/>
          <p:nvPr/>
        </p:nvCxnSpPr>
        <p:spPr bwMode="auto">
          <a:xfrm rot="10800000">
            <a:off x="5915818" y="5781688"/>
            <a:ext cx="542134"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3" name="直線コネクタ 72"/>
          <p:cNvCxnSpPr/>
          <p:nvPr/>
        </p:nvCxnSpPr>
        <p:spPr bwMode="auto">
          <a:xfrm rot="10800000">
            <a:off x="5191120" y="6144434"/>
            <a:ext cx="542134"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nvGrpSpPr>
          <p:cNvPr id="74" name="グループ化 73"/>
          <p:cNvGrpSpPr/>
          <p:nvPr/>
        </p:nvGrpSpPr>
        <p:grpSpPr>
          <a:xfrm>
            <a:off x="8629664" y="5782482"/>
            <a:ext cx="180976" cy="363540"/>
            <a:chOff x="1314432" y="5962664"/>
            <a:chExt cx="361952" cy="363540"/>
          </a:xfrm>
        </p:grpSpPr>
        <p:sp>
          <p:nvSpPr>
            <p:cNvPr id="75" name="正方形/長方形 74"/>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76" name="直線コネクタ 75"/>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7" name="直線コネクタ 76"/>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78" name="直線コネクタ 77"/>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grpSp>
        <p:nvGrpSpPr>
          <p:cNvPr id="79" name="グループ化 78"/>
          <p:cNvGrpSpPr/>
          <p:nvPr/>
        </p:nvGrpSpPr>
        <p:grpSpPr>
          <a:xfrm flipH="1">
            <a:off x="10077472" y="5782482"/>
            <a:ext cx="180976" cy="363540"/>
            <a:chOff x="1314432" y="5962664"/>
            <a:chExt cx="361952" cy="363540"/>
          </a:xfrm>
        </p:grpSpPr>
        <p:sp>
          <p:nvSpPr>
            <p:cNvPr id="80" name="正方形/長方形 79"/>
            <p:cNvSpPr/>
            <p:nvPr/>
          </p:nvSpPr>
          <p:spPr bwMode="auto">
            <a:xfrm>
              <a:off x="1314432" y="5962664"/>
              <a:ext cx="361952" cy="361952"/>
            </a:xfrm>
            <a:prstGeom prst="rect">
              <a:avLst/>
            </a:prstGeom>
            <a:noFill/>
            <a:ln w="3175" cap="flat" cmpd="sng" algn="ctr">
              <a:noFill/>
              <a:prstDash val="solid"/>
              <a:round/>
              <a:headEnd type="none" w="med" len="med"/>
              <a:tailEnd type="stealth" w="med" len="lg"/>
            </a:ln>
            <a:effectLst/>
          </p:spPr>
          <p:txBody>
            <a:bodyPr vert="horz" wrap="none" lIns="90000" tIns="46800" rIns="90000" bIns="46800" numCol="1" rtlCol="0" anchor="ctr" anchorCtr="0" compatLnSpc="1">
              <a:prstTxWarp prst="textNoShape">
                <a:avLst/>
              </a:prstTxWarp>
            </a:bodyPr>
            <a:lstStyle/>
            <a:p>
              <a:pPr algn="ctr" fontAlgn="base">
                <a:spcBef>
                  <a:spcPct val="0"/>
                </a:spcBef>
                <a:spcAft>
                  <a:spcPct val="0"/>
                </a:spcAft>
              </a:pPr>
              <a:endParaRPr lang="ja-JP" altLang="en-US">
                <a:latin typeface="Times New Roman" charset="0"/>
                <a:ea typeface="HG丸ｺﾞｼｯｸM-PRO" pitchFamily="50" charset="-128"/>
              </a:endParaRPr>
            </a:p>
          </p:txBody>
        </p:sp>
        <p:cxnSp>
          <p:nvCxnSpPr>
            <p:cNvPr id="81" name="直線コネクタ 80"/>
            <p:cNvCxnSpPr/>
            <p:nvPr/>
          </p:nvCxnSpPr>
          <p:spPr bwMode="auto">
            <a:xfrm>
              <a:off x="1314432" y="6324616"/>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2" name="直線コネクタ 81"/>
            <p:cNvCxnSpPr/>
            <p:nvPr/>
          </p:nvCxnSpPr>
          <p:spPr bwMode="auto">
            <a:xfrm rot="5400000" flipH="1" flipV="1">
              <a:off x="1314432" y="6053152"/>
              <a:ext cx="361952" cy="180976"/>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3" name="直線コネクタ 82"/>
            <p:cNvCxnSpPr/>
            <p:nvPr/>
          </p:nvCxnSpPr>
          <p:spPr bwMode="auto">
            <a:xfrm>
              <a:off x="1585896" y="5962664"/>
              <a:ext cx="90488"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grpSp>
      <p:cxnSp>
        <p:nvCxnSpPr>
          <p:cNvPr id="84" name="直線コネクタ 83"/>
          <p:cNvCxnSpPr/>
          <p:nvPr/>
        </p:nvCxnSpPr>
        <p:spPr bwMode="auto">
          <a:xfrm rot="10800000">
            <a:off x="8811434" y="5781688"/>
            <a:ext cx="1266038"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5" name="直線コネクタ 84"/>
          <p:cNvCxnSpPr/>
          <p:nvPr/>
        </p:nvCxnSpPr>
        <p:spPr bwMode="auto">
          <a:xfrm rot="10800000">
            <a:off x="6638928" y="6144434"/>
            <a:ext cx="1990736" cy="1588"/>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6" name="直線コネクタ 85"/>
          <p:cNvCxnSpPr/>
          <p:nvPr/>
        </p:nvCxnSpPr>
        <p:spPr bwMode="auto">
          <a:xfrm rot="10800000">
            <a:off x="10258448" y="6144434"/>
            <a:ext cx="180182" cy="794"/>
          </a:xfrm>
          <a:prstGeom prst="line">
            <a:avLst/>
          </a:prstGeom>
          <a:solidFill>
            <a:schemeClr val="accent1"/>
          </a:solidFill>
          <a:ln w="19050" cap="rnd" cmpd="sng" algn="ctr">
            <a:solidFill>
              <a:schemeClr val="tx1"/>
            </a:solidFill>
            <a:prstDash val="solid"/>
            <a:round/>
            <a:headEnd type="none" w="med" len="med"/>
            <a:tailEnd type="none" w="med" len="lg"/>
          </a:ln>
          <a:effectLst/>
        </p:spPr>
      </p:cxnSp>
      <p:cxnSp>
        <p:nvCxnSpPr>
          <p:cNvPr id="87" name="直線矢印コネクタ 86"/>
          <p:cNvCxnSpPr/>
          <p:nvPr/>
        </p:nvCxnSpPr>
        <p:spPr bwMode="auto">
          <a:xfrm rot="16200000" flipH="1">
            <a:off x="3336116"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88" name="直線矢印コネクタ 87"/>
          <p:cNvCxnSpPr/>
          <p:nvPr/>
        </p:nvCxnSpPr>
        <p:spPr bwMode="auto">
          <a:xfrm rot="16200000" flipH="1">
            <a:off x="4783924"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89" name="直線矢印コネクタ 88"/>
          <p:cNvCxnSpPr/>
          <p:nvPr/>
        </p:nvCxnSpPr>
        <p:spPr bwMode="auto">
          <a:xfrm rot="16200000" flipH="1">
            <a:off x="6231732"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90" name="直線矢印コネクタ 89"/>
          <p:cNvCxnSpPr/>
          <p:nvPr/>
        </p:nvCxnSpPr>
        <p:spPr bwMode="auto">
          <a:xfrm rot="16200000" flipH="1">
            <a:off x="6955636"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cxnSp>
        <p:nvCxnSpPr>
          <p:cNvPr id="91" name="直線矢印コネクタ 90"/>
          <p:cNvCxnSpPr/>
          <p:nvPr/>
        </p:nvCxnSpPr>
        <p:spPr bwMode="auto">
          <a:xfrm rot="16200000" flipH="1">
            <a:off x="7679540" y="2207412"/>
            <a:ext cx="452440" cy="361952"/>
          </a:xfrm>
          <a:prstGeom prst="straightConnector1">
            <a:avLst/>
          </a:prstGeom>
          <a:solidFill>
            <a:schemeClr val="accent1"/>
          </a:solidFill>
          <a:ln w="9525" cap="flat" cmpd="sng" algn="ctr">
            <a:solidFill>
              <a:schemeClr val="accent5"/>
            </a:solidFill>
            <a:prstDash val="solid"/>
            <a:round/>
            <a:headEnd type="none" w="med" len="med"/>
            <a:tailEnd type="arrow"/>
          </a:ln>
          <a:effectLst/>
        </p:spPr>
      </p:cxnSp>
      <p:grpSp>
        <p:nvGrpSpPr>
          <p:cNvPr id="3" name="グループ化 2">
            <a:extLst>
              <a:ext uri="{FF2B5EF4-FFF2-40B4-BE49-F238E27FC236}">
                <a16:creationId xmlns:a16="http://schemas.microsoft.com/office/drawing/2014/main" id="{792AD1EF-5072-762F-115B-BE766F2D25D4}"/>
              </a:ext>
            </a:extLst>
          </p:cNvPr>
          <p:cNvGrpSpPr/>
          <p:nvPr/>
        </p:nvGrpSpPr>
        <p:grpSpPr>
          <a:xfrm>
            <a:off x="8436026" y="278968"/>
            <a:ext cx="1441450" cy="1085855"/>
            <a:chOff x="6369707" y="1718772"/>
            <a:chExt cx="1441450" cy="1085855"/>
          </a:xfrm>
        </p:grpSpPr>
        <p:sp>
          <p:nvSpPr>
            <p:cNvPr id="92" name="Line 9">
              <a:extLst>
                <a:ext uri="{FF2B5EF4-FFF2-40B4-BE49-F238E27FC236}">
                  <a16:creationId xmlns:a16="http://schemas.microsoft.com/office/drawing/2014/main" id="{BFBFA04C-29A3-094E-68A8-3ECDBBAED248}"/>
                </a:ext>
              </a:extLst>
            </p:cNvPr>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sp>
          <p:nvSpPr>
            <p:cNvPr id="93" name="Rectangle 6">
              <a:extLst>
                <a:ext uri="{FF2B5EF4-FFF2-40B4-BE49-F238E27FC236}">
                  <a16:creationId xmlns:a16="http://schemas.microsoft.com/office/drawing/2014/main" id="{7D8857CE-3971-4EDB-4CC4-AF2DC86CCE7F}"/>
                </a:ext>
              </a:extLst>
            </p:cNvPr>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a:p>
          </p:txBody>
        </p:sp>
        <p:sp>
          <p:nvSpPr>
            <p:cNvPr id="94" name="Rectangle 7">
              <a:extLst>
                <a:ext uri="{FF2B5EF4-FFF2-40B4-BE49-F238E27FC236}">
                  <a16:creationId xmlns:a16="http://schemas.microsoft.com/office/drawing/2014/main" id="{D7204C1E-F704-34FE-6012-4EF08877FF7F}"/>
                </a:ext>
              </a:extLst>
            </p:cNvPr>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q</a:t>
              </a:r>
              <a:endParaRPr lang="en-US" altLang="ja-JP" dirty="0"/>
            </a:p>
          </p:txBody>
        </p:sp>
        <p:sp>
          <p:nvSpPr>
            <p:cNvPr id="95" name="Rectangle 8">
              <a:extLst>
                <a:ext uri="{FF2B5EF4-FFF2-40B4-BE49-F238E27FC236}">
                  <a16:creationId xmlns:a16="http://schemas.microsoft.com/office/drawing/2014/main" id="{CB8A8DA5-6281-7563-28E3-EAC4579A8E44}"/>
                </a:ext>
              </a:extLst>
            </p:cNvPr>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d</a:t>
              </a:r>
              <a:endParaRPr lang="en-US" altLang="ja-JP" dirty="0"/>
            </a:p>
          </p:txBody>
        </p:sp>
        <p:sp>
          <p:nvSpPr>
            <p:cNvPr id="96" name="Freeform 10">
              <a:extLst>
                <a:ext uri="{FF2B5EF4-FFF2-40B4-BE49-F238E27FC236}">
                  <a16:creationId xmlns:a16="http://schemas.microsoft.com/office/drawing/2014/main" id="{D69591F8-CD54-DAB9-7407-13014BC80E92}"/>
                </a:ext>
              </a:extLst>
            </p:cNvPr>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97" name="Line 12">
              <a:extLst>
                <a:ext uri="{FF2B5EF4-FFF2-40B4-BE49-F238E27FC236}">
                  <a16:creationId xmlns:a16="http://schemas.microsoft.com/office/drawing/2014/main" id="{2E536C42-6245-A133-B22E-604DA42481D2}"/>
                </a:ext>
              </a:extLst>
            </p:cNvPr>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sp>
          <p:nvSpPr>
            <p:cNvPr id="98" name="Rectangle 11">
              <a:extLst>
                <a:ext uri="{FF2B5EF4-FFF2-40B4-BE49-F238E27FC236}">
                  <a16:creationId xmlns:a16="http://schemas.microsoft.com/office/drawing/2014/main" id="{B4A9D607-0B50-B4E0-2113-14D5C39BB7FB}"/>
                </a:ext>
              </a:extLst>
            </p:cNvPr>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i="1" dirty="0"/>
                <a:t>clk</a:t>
              </a:r>
              <a:endParaRPr lang="en-US" altLang="ja-JP" dirty="0"/>
            </a:p>
          </p:txBody>
        </p:sp>
      </p:grpSp>
    </p:spTree>
    <p:extLst>
      <p:ext uri="{BB962C8B-B14F-4D97-AF65-F5344CB8AC3E}">
        <p14:creationId xmlns:p14="http://schemas.microsoft.com/office/powerpoint/2010/main" val="4182178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r>
              <a:rPr lang="ja-JP" altLang="en-US" sz="2400" dirty="0"/>
              <a:t>記憶素子の原理</a:t>
            </a:r>
          </a:p>
        </p:txBody>
      </p:sp>
      <p:sp>
        <p:nvSpPr>
          <p:cNvPr id="715779" name="Rectangle 3"/>
          <p:cNvSpPr>
            <a:spLocks noGrp="1" noChangeArrowheads="1"/>
          </p:cNvSpPr>
          <p:nvPr>
            <p:ph sz="quarter" idx="13"/>
          </p:nvPr>
        </p:nvSpPr>
        <p:spPr>
          <a:xfrm>
            <a:off x="2135956" y="2078985"/>
            <a:ext cx="8280620" cy="1350014"/>
          </a:xfrm>
        </p:spPr>
        <p:txBody>
          <a:bodyPr/>
          <a:lstStyle/>
          <a:p>
            <a:r>
              <a:rPr lang="ja-JP" altLang="en-US" dirty="0"/>
              <a:t>記憶</a:t>
            </a:r>
          </a:p>
          <a:p>
            <a:pPr lvl="1"/>
            <a:r>
              <a:rPr lang="ja-JP" altLang="en-US" dirty="0"/>
              <a:t>２つの </a:t>
            </a:r>
            <a:r>
              <a:rPr lang="en-US" altLang="ja-JP" dirty="0"/>
              <a:t>NOT </a:t>
            </a:r>
            <a:r>
              <a:rPr lang="ja-JP" altLang="en-US" dirty="0"/>
              <a:t>ゲートをループさせた回路により記憶</a:t>
            </a:r>
            <a:endParaRPr lang="en-US" altLang="ja-JP" dirty="0"/>
          </a:p>
          <a:p>
            <a:pPr lvl="1"/>
            <a:r>
              <a:rPr lang="ja-JP" altLang="en-US" dirty="0"/>
              <a:t>２通りの安定状態がある：</a:t>
            </a:r>
            <a:r>
              <a:rPr lang="en-US" altLang="ja-JP" dirty="0"/>
              <a:t>1 bit </a:t>
            </a:r>
            <a:r>
              <a:rPr lang="ja-JP" altLang="en-US" dirty="0"/>
              <a:t>を記憶</a:t>
            </a:r>
          </a:p>
        </p:txBody>
      </p:sp>
      <p:sp>
        <p:nvSpPr>
          <p:cNvPr id="715787" name="Freeform 11"/>
          <p:cNvSpPr>
            <a:spLocks/>
          </p:cNvSpPr>
          <p:nvPr/>
        </p:nvSpPr>
        <p:spPr bwMode="auto">
          <a:xfrm>
            <a:off x="3935387"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8" name="Freeform 12"/>
          <p:cNvSpPr>
            <a:spLocks/>
          </p:cNvSpPr>
          <p:nvPr/>
        </p:nvSpPr>
        <p:spPr bwMode="auto">
          <a:xfrm flipH="1">
            <a:off x="4925987"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9" name="Rectangle 13"/>
          <p:cNvSpPr>
            <a:spLocks noChangeArrowheads="1"/>
          </p:cNvSpPr>
          <p:nvPr/>
        </p:nvSpPr>
        <p:spPr bwMode="auto">
          <a:xfrm>
            <a:off x="3665976" y="4329013"/>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715790" name="Rectangle 14"/>
          <p:cNvSpPr>
            <a:spLocks noChangeArrowheads="1"/>
          </p:cNvSpPr>
          <p:nvPr/>
        </p:nvSpPr>
        <p:spPr bwMode="auto">
          <a:xfrm>
            <a:off x="5376837" y="4329986"/>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715791" name="Picture 15" descr="NOT"/>
          <p:cNvPicPr>
            <a:picLocks noChangeAspect="1" noChangeArrowheads="1"/>
          </p:cNvPicPr>
          <p:nvPr/>
        </p:nvPicPr>
        <p:blipFill>
          <a:blip r:embed="rId3" cstate="print"/>
          <a:srcRect/>
          <a:stretch>
            <a:fillRect/>
          </a:stretch>
        </p:blipFill>
        <p:spPr bwMode="auto">
          <a:xfrm>
            <a:off x="4295750" y="3790236"/>
            <a:ext cx="717550" cy="720725"/>
          </a:xfrm>
          <a:prstGeom prst="rect">
            <a:avLst/>
          </a:prstGeom>
          <a:noFill/>
        </p:spPr>
      </p:pic>
      <p:pic>
        <p:nvPicPr>
          <p:cNvPr id="715792" name="Picture 16" descr="NOT"/>
          <p:cNvPicPr>
            <a:picLocks noChangeAspect="1" noChangeArrowheads="1"/>
          </p:cNvPicPr>
          <p:nvPr/>
        </p:nvPicPr>
        <p:blipFill>
          <a:blip r:embed="rId3" cstate="print"/>
          <a:srcRect/>
          <a:stretch>
            <a:fillRect/>
          </a:stretch>
        </p:blipFill>
        <p:spPr bwMode="auto">
          <a:xfrm flipH="1">
            <a:off x="4295750" y="4509374"/>
            <a:ext cx="717550" cy="720725"/>
          </a:xfrm>
          <a:prstGeom prst="rect">
            <a:avLst/>
          </a:prstGeom>
          <a:noFill/>
        </p:spPr>
      </p:pic>
      <p:sp>
        <p:nvSpPr>
          <p:cNvPr id="52" name="Freeform 11"/>
          <p:cNvSpPr>
            <a:spLocks/>
          </p:cNvSpPr>
          <p:nvPr/>
        </p:nvSpPr>
        <p:spPr bwMode="auto">
          <a:xfrm>
            <a:off x="6815419"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53" name="Freeform 12"/>
          <p:cNvSpPr>
            <a:spLocks/>
          </p:cNvSpPr>
          <p:nvPr/>
        </p:nvSpPr>
        <p:spPr bwMode="auto">
          <a:xfrm flipH="1">
            <a:off x="7806019" y="4149011"/>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54" name="Rectangle 13"/>
          <p:cNvSpPr>
            <a:spLocks noChangeArrowheads="1"/>
          </p:cNvSpPr>
          <p:nvPr/>
        </p:nvSpPr>
        <p:spPr bwMode="auto">
          <a:xfrm>
            <a:off x="8345798" y="4330242"/>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55" name="Rectangle 14"/>
          <p:cNvSpPr>
            <a:spLocks noChangeArrowheads="1"/>
          </p:cNvSpPr>
          <p:nvPr/>
        </p:nvSpPr>
        <p:spPr bwMode="auto">
          <a:xfrm>
            <a:off x="6455774" y="4330242"/>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56" name="Picture 15" descr="NOT"/>
          <p:cNvPicPr>
            <a:picLocks noChangeAspect="1" noChangeArrowheads="1"/>
          </p:cNvPicPr>
          <p:nvPr/>
        </p:nvPicPr>
        <p:blipFill>
          <a:blip r:embed="rId3" cstate="print"/>
          <a:srcRect/>
          <a:stretch>
            <a:fillRect/>
          </a:stretch>
        </p:blipFill>
        <p:spPr bwMode="auto">
          <a:xfrm>
            <a:off x="7175782" y="3790236"/>
            <a:ext cx="717550" cy="720725"/>
          </a:xfrm>
          <a:prstGeom prst="rect">
            <a:avLst/>
          </a:prstGeom>
          <a:noFill/>
        </p:spPr>
      </p:pic>
      <p:pic>
        <p:nvPicPr>
          <p:cNvPr id="57" name="Picture 16" descr="NOT"/>
          <p:cNvPicPr>
            <a:picLocks noChangeAspect="1" noChangeArrowheads="1"/>
          </p:cNvPicPr>
          <p:nvPr/>
        </p:nvPicPr>
        <p:blipFill>
          <a:blip r:embed="rId3" cstate="print"/>
          <a:srcRect/>
          <a:stretch>
            <a:fillRect/>
          </a:stretch>
        </p:blipFill>
        <p:spPr bwMode="auto">
          <a:xfrm flipH="1">
            <a:off x="7175782" y="4509374"/>
            <a:ext cx="717550" cy="720725"/>
          </a:xfrm>
          <a:prstGeom prst="rect">
            <a:avLst/>
          </a:prstGeom>
          <a:noFill/>
        </p:spPr>
      </p:pic>
    </p:spTree>
    <p:extLst>
      <p:ext uri="{BB962C8B-B14F-4D97-AF65-F5344CB8AC3E}">
        <p14:creationId xmlns:p14="http://schemas.microsoft.com/office/powerpoint/2010/main" val="1746398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60" name="Freeform 44"/>
          <p:cNvSpPr>
            <a:spLocks/>
          </p:cNvSpPr>
          <p:nvPr/>
        </p:nvSpPr>
        <p:spPr bwMode="auto">
          <a:xfrm>
            <a:off x="4205980" y="4689017"/>
            <a:ext cx="1600588"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6366006" y="4689014"/>
            <a:ext cx="1601153" cy="721442"/>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62</a:t>
            </a:fld>
            <a:endParaRPr lang="ja-JP" altLang="en-US"/>
          </a:p>
        </p:txBody>
      </p:sp>
      <p:sp>
        <p:nvSpPr>
          <p:cNvPr id="700418" name="Rectangle 2"/>
          <p:cNvSpPr>
            <a:spLocks noGrp="1" noChangeArrowheads="1"/>
          </p:cNvSpPr>
          <p:nvPr>
            <p:ph type="title"/>
          </p:nvPr>
        </p:nvSpPr>
        <p:spPr/>
        <p:txBody>
          <a:bodyPr/>
          <a:lstStyle/>
          <a:p>
            <a:r>
              <a:rPr lang="en-US" altLang="ja-JP" sz="2400" dirty="0"/>
              <a:t>D-FF</a:t>
            </a:r>
            <a:r>
              <a:rPr lang="ja-JP" altLang="en-US" sz="2400" dirty="0"/>
              <a:t> の実装</a:t>
            </a:r>
            <a:endParaRPr lang="en-US" altLang="ja-JP" sz="2400" dirty="0"/>
          </a:p>
        </p:txBody>
      </p:sp>
      <p:pic>
        <p:nvPicPr>
          <p:cNvPr id="700446" name="Picture 30" descr="NOT"/>
          <p:cNvPicPr>
            <a:picLocks noChangeAspect="1" noChangeArrowheads="1"/>
          </p:cNvPicPr>
          <p:nvPr/>
        </p:nvPicPr>
        <p:blipFill>
          <a:blip r:embed="rId3" cstate="print"/>
          <a:srcRect/>
          <a:stretch>
            <a:fillRect/>
          </a:stretch>
        </p:blipFill>
        <p:spPr bwMode="auto">
          <a:xfrm flipH="1">
            <a:off x="4727068" y="4328655"/>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4727068" y="5049380"/>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6887656" y="4328655"/>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6887656" y="5049380"/>
            <a:ext cx="717550" cy="720725"/>
          </a:xfrm>
          <a:prstGeom prst="rect">
            <a:avLst/>
          </a:prstGeom>
          <a:noFill/>
        </p:spPr>
      </p:pic>
      <p:sp>
        <p:nvSpPr>
          <p:cNvPr id="700461" name="Line 45"/>
          <p:cNvSpPr>
            <a:spLocks noChangeShapeType="1"/>
          </p:cNvSpPr>
          <p:nvPr/>
        </p:nvSpPr>
        <p:spPr bwMode="auto">
          <a:xfrm>
            <a:off x="5806571" y="5409738"/>
            <a:ext cx="739437" cy="718"/>
          </a:xfrm>
          <a:prstGeom prst="line">
            <a:avLst/>
          </a:prstGeom>
          <a:noFill/>
          <a:ln w="9525">
            <a:solidFill>
              <a:schemeClr val="tx1"/>
            </a:solidFill>
            <a:round/>
            <a:headEnd type="oval" w="sm" len="sm"/>
            <a:tailEnd type="triangle" w="med" len="med"/>
          </a:ln>
          <a:effectLst/>
        </p:spPr>
        <p:txBody>
          <a:bodyPr wrap="none" lIns="90000" tIns="46800" rIns="90000" bIns="46800" anchor="ctr"/>
          <a:lstStyle/>
          <a:p>
            <a:endParaRPr lang="ja-JP" altLang="en-US"/>
          </a:p>
        </p:txBody>
      </p:sp>
      <p:sp>
        <p:nvSpPr>
          <p:cNvPr id="700462" name="Line 46"/>
          <p:cNvSpPr>
            <a:spLocks noChangeShapeType="1"/>
          </p:cNvSpPr>
          <p:nvPr/>
        </p:nvSpPr>
        <p:spPr bwMode="auto">
          <a:xfrm>
            <a:off x="3647571" y="5409738"/>
            <a:ext cx="738413" cy="718"/>
          </a:xfrm>
          <a:prstGeom prst="line">
            <a:avLst/>
          </a:prstGeom>
          <a:noFill/>
          <a:ln w="9525">
            <a:solidFill>
              <a:schemeClr val="tx1"/>
            </a:solidFill>
            <a:round/>
            <a:headEnd type="none" w="sm" len="sm"/>
            <a:tailEnd type="triangle" w="med" len="med"/>
          </a:ln>
          <a:effectLst/>
        </p:spPr>
        <p:txBody>
          <a:bodyPr wrap="none" lIns="90000" tIns="46800" rIns="90000" bIns="46800" anchor="ctr"/>
          <a:lstStyle/>
          <a:p>
            <a:endParaRPr lang="ja-JP" altLang="en-US"/>
          </a:p>
        </p:txBody>
      </p:sp>
      <p:sp>
        <p:nvSpPr>
          <p:cNvPr id="700472" name="Line 56"/>
          <p:cNvSpPr>
            <a:spLocks noChangeShapeType="1"/>
          </p:cNvSpPr>
          <p:nvPr/>
        </p:nvSpPr>
        <p:spPr bwMode="auto">
          <a:xfrm>
            <a:off x="7967156" y="540973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3287206" y="5230352"/>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8327521" y="5230352"/>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4" name="フローチャート: 手作業 73"/>
          <p:cNvSpPr/>
          <p:nvPr/>
        </p:nvSpPr>
        <p:spPr bwMode="auto">
          <a:xfrm rot="16200000">
            <a:off x="4250983" y="5275454"/>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75" name="Freeform 10"/>
          <p:cNvSpPr>
            <a:spLocks/>
          </p:cNvSpPr>
          <p:nvPr/>
        </p:nvSpPr>
        <p:spPr bwMode="auto">
          <a:xfrm>
            <a:off x="4205979" y="5050452"/>
            <a:ext cx="180002" cy="180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6" name="フローチャート: 手作業 75"/>
          <p:cNvSpPr/>
          <p:nvPr/>
        </p:nvSpPr>
        <p:spPr bwMode="auto">
          <a:xfrm rot="16200000">
            <a:off x="6411007" y="5275454"/>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77" name="Freeform 10"/>
          <p:cNvSpPr>
            <a:spLocks/>
          </p:cNvSpPr>
          <p:nvPr/>
        </p:nvSpPr>
        <p:spPr bwMode="auto">
          <a:xfrm>
            <a:off x="6366003" y="4960453"/>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Rectangle 3"/>
          <p:cNvSpPr txBox="1">
            <a:spLocks noChangeArrowheads="1"/>
          </p:cNvSpPr>
          <p:nvPr/>
        </p:nvSpPr>
        <p:spPr>
          <a:xfrm>
            <a:off x="2135956" y="1358979"/>
            <a:ext cx="8280620" cy="2070023"/>
          </a:xfrm>
          <a:prstGeom prst="rect">
            <a:avLst/>
          </a:prstGeom>
        </p:spPr>
        <p:txBody>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構造：</a:t>
            </a:r>
            <a:endParaRPr lang="en-US" altLang="ja-JP" kern="0" dirty="0"/>
          </a:p>
          <a:p>
            <a:pPr lvl="1"/>
            <a:r>
              <a:rPr lang="ja-JP" altLang="en-US" dirty="0"/>
              <a:t> </a:t>
            </a:r>
            <a:r>
              <a:rPr lang="en-US" altLang="ja-JP" dirty="0"/>
              <a:t>NOT </a:t>
            </a:r>
            <a:r>
              <a:rPr lang="ja-JP" altLang="en-US" dirty="0"/>
              <a:t>ゲートの</a:t>
            </a:r>
            <a:r>
              <a:rPr lang="ja-JP" altLang="en-US" kern="0" dirty="0"/>
              <a:t>ループを二段に接続</a:t>
            </a:r>
            <a:endParaRPr lang="en-US" altLang="ja-JP" kern="0" dirty="0"/>
          </a:p>
          <a:p>
            <a:pPr lvl="1"/>
            <a:r>
              <a:rPr lang="ja-JP" altLang="en-US" kern="0" dirty="0"/>
              <a:t>各ループにはマルチプレクサが入っている</a:t>
            </a:r>
            <a:endParaRPr lang="en-US" altLang="ja-JP" kern="0" dirty="0"/>
          </a:p>
          <a:p>
            <a:r>
              <a:rPr lang="ja-JP" altLang="en-US" kern="0" dirty="0"/>
              <a:t>この構造は，クロックのエッジで記憶を更新するため</a:t>
            </a:r>
            <a:endParaRPr lang="en-US" altLang="ja-JP" kern="0" dirty="0"/>
          </a:p>
        </p:txBody>
      </p:sp>
      <p:cxnSp>
        <p:nvCxnSpPr>
          <p:cNvPr id="79" name="直線矢印コネクタ 78"/>
          <p:cNvCxnSpPr/>
          <p:nvPr/>
        </p:nvCxnSpPr>
        <p:spPr bwMode="auto">
          <a:xfrm flipV="1">
            <a:off x="4475985" y="5589024"/>
            <a:ext cx="1" cy="360004"/>
          </a:xfrm>
          <a:prstGeom prst="straightConnector1">
            <a:avLst/>
          </a:prstGeom>
          <a:noFill/>
          <a:ln w="9525" cap="flat" cmpd="sng" algn="ctr">
            <a:solidFill>
              <a:schemeClr val="tx1"/>
            </a:solidFill>
            <a:prstDash val="solid"/>
            <a:round/>
            <a:headEnd type="none" w="sm" len="sm"/>
            <a:tailEnd type="triangle"/>
          </a:ln>
          <a:effectLst/>
        </p:spPr>
      </p:cxnSp>
      <p:sp>
        <p:nvSpPr>
          <p:cNvPr id="80" name="正方形/長方形 79"/>
          <p:cNvSpPr/>
          <p:nvPr/>
        </p:nvSpPr>
        <p:spPr bwMode="auto">
          <a:xfrm>
            <a:off x="4295980" y="594902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rtlCol="0" anchor="ctr"/>
          <a:lstStyle/>
          <a:p>
            <a:pPr algn="ctr"/>
            <a:r>
              <a:rPr lang="en-US" altLang="ja-JP" dirty="0">
                <a:latin typeface="メイリオ" panose="020B0604030504040204" pitchFamily="50" charset="-128"/>
                <a:ea typeface="メイリオ" panose="020B0604030504040204" pitchFamily="50" charset="-128"/>
              </a:rPr>
              <a:t>clock</a:t>
            </a:r>
            <a:endParaRPr lang="ja-JP" altLang="en-US" dirty="0">
              <a:latin typeface="メイリオ" panose="020B0604030504040204" pitchFamily="50" charset="-128"/>
              <a:ea typeface="メイリオ" panose="020B0604030504040204" pitchFamily="50" charset="-128"/>
            </a:endParaRPr>
          </a:p>
        </p:txBody>
      </p:sp>
      <p:cxnSp>
        <p:nvCxnSpPr>
          <p:cNvPr id="82" name="直線矢印コネクタ 81"/>
          <p:cNvCxnSpPr/>
          <p:nvPr/>
        </p:nvCxnSpPr>
        <p:spPr bwMode="auto">
          <a:xfrm flipV="1">
            <a:off x="6636009" y="5589024"/>
            <a:ext cx="1" cy="360004"/>
          </a:xfrm>
          <a:prstGeom prst="straightConnector1">
            <a:avLst/>
          </a:prstGeom>
          <a:noFill/>
          <a:ln w="9525" cap="flat" cmpd="sng" algn="ctr">
            <a:solidFill>
              <a:schemeClr val="tx1"/>
            </a:solidFill>
            <a:prstDash val="solid"/>
            <a:round/>
            <a:headEnd type="none" w="sm" len="sm"/>
            <a:tailEnd type="triangle"/>
          </a:ln>
          <a:effectLst/>
        </p:spPr>
      </p:cxnSp>
      <p:sp>
        <p:nvSpPr>
          <p:cNvPr id="83" name="正方形/長方形 82"/>
          <p:cNvSpPr/>
          <p:nvPr/>
        </p:nvSpPr>
        <p:spPr bwMode="auto">
          <a:xfrm>
            <a:off x="6456004" y="594902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rtlCol="0" anchor="ctr"/>
          <a:lstStyle/>
          <a:p>
            <a:pPr algn="ctr"/>
            <a:r>
              <a:rPr lang="en-US" altLang="ja-JP" dirty="0">
                <a:latin typeface="メイリオ" panose="020B0604030504040204" pitchFamily="50" charset="-128"/>
                <a:ea typeface="メイリオ" panose="020B0604030504040204" pitchFamily="50" charset="-128"/>
              </a:rPr>
              <a:t>clock'</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816170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63</a:t>
            </a:fld>
            <a:endParaRPr lang="ja-JP" altLang="en-US"/>
          </a:p>
        </p:txBody>
      </p:sp>
      <p:sp>
        <p:nvSpPr>
          <p:cNvPr id="700418" name="Rectangle 2"/>
          <p:cNvSpPr>
            <a:spLocks noGrp="1" noChangeArrowheads="1"/>
          </p:cNvSpPr>
          <p:nvPr>
            <p:ph type="title"/>
          </p:nvPr>
        </p:nvSpPr>
        <p:spPr/>
        <p:txBody>
          <a:bodyPr/>
          <a:lstStyle/>
          <a:p>
            <a:r>
              <a:rPr lang="en-US" altLang="ja-JP" sz="2400" dirty="0"/>
              <a:t>D-FF</a:t>
            </a:r>
            <a:r>
              <a:rPr lang="ja-JP" altLang="en-US" sz="2400" dirty="0"/>
              <a:t> の実現例</a:t>
            </a:r>
            <a:endParaRPr lang="en-US" altLang="ja-JP" sz="2400" dirty="0"/>
          </a:p>
        </p:txBody>
      </p:sp>
      <p:grpSp>
        <p:nvGrpSpPr>
          <p:cNvPr id="3" name="グループ化 2"/>
          <p:cNvGrpSpPr/>
          <p:nvPr/>
        </p:nvGrpSpPr>
        <p:grpSpPr>
          <a:xfrm>
            <a:off x="3395973" y="4779018"/>
            <a:ext cx="5400675" cy="1620223"/>
            <a:chOff x="1673205" y="1448415"/>
            <a:chExt cx="5400675" cy="1620223"/>
          </a:xfrm>
        </p:grpSpPr>
        <p:sp>
          <p:nvSpPr>
            <p:cNvPr id="700460" name="Freeform 44"/>
            <p:cNvSpPr>
              <a:spLocks/>
            </p:cNvSpPr>
            <p:nvPr/>
          </p:nvSpPr>
          <p:spPr bwMode="auto">
            <a:xfrm>
              <a:off x="2752705" y="1987550"/>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4913292" y="1987550"/>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3113067" y="1627188"/>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3113067" y="2347913"/>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5273655" y="1627188"/>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5273655" y="2347913"/>
              <a:ext cx="717550" cy="720725"/>
            </a:xfrm>
            <a:prstGeom prst="rect">
              <a:avLst/>
            </a:prstGeom>
            <a:noFill/>
          </p:spPr>
        </p:pic>
        <p:sp>
          <p:nvSpPr>
            <p:cNvPr id="700461" name="Line 45"/>
            <p:cNvSpPr>
              <a:spLocks noChangeShapeType="1"/>
            </p:cNvSpPr>
            <p:nvPr/>
          </p:nvSpPr>
          <p:spPr bwMode="auto">
            <a:xfrm>
              <a:off x="4192567" y="2708275"/>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53" name="Group 37"/>
            <p:cNvGrpSpPr>
              <a:grpSpLocks/>
            </p:cNvGrpSpPr>
            <p:nvPr/>
          </p:nvGrpSpPr>
          <p:grpSpPr bwMode="auto">
            <a:xfrm>
              <a:off x="4822805" y="2257425"/>
              <a:ext cx="180975" cy="180975"/>
              <a:chOff x="2823" y="1990"/>
              <a:chExt cx="227" cy="227"/>
            </a:xfrm>
          </p:grpSpPr>
          <p:sp>
            <p:nvSpPr>
              <p:cNvPr id="700454" name="Rectangle 3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5" name="Oval 3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56" name="Group 40"/>
            <p:cNvGrpSpPr>
              <a:grpSpLocks/>
            </p:cNvGrpSpPr>
            <p:nvPr/>
          </p:nvGrpSpPr>
          <p:grpSpPr bwMode="auto">
            <a:xfrm>
              <a:off x="4462442" y="2617788"/>
              <a:ext cx="180975" cy="180975"/>
              <a:chOff x="2823" y="1990"/>
              <a:chExt cx="227" cy="227"/>
            </a:xfrm>
          </p:grpSpPr>
          <p:sp>
            <p:nvSpPr>
              <p:cNvPr id="700457" name="Rectangle 4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8" name="Oval 4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62" name="Line 46"/>
            <p:cNvSpPr>
              <a:spLocks noChangeShapeType="1"/>
            </p:cNvSpPr>
            <p:nvPr/>
          </p:nvSpPr>
          <p:spPr bwMode="auto">
            <a:xfrm>
              <a:off x="2033567" y="2708275"/>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2663805" y="2257425"/>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2303442" y="2617788"/>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6353155" y="2708275"/>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1673205" y="2528888"/>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6713517" y="2528888"/>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2303442" y="2617788"/>
              <a:ext cx="449263" cy="9048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2663805" y="2617788"/>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7" name="Line 61"/>
            <p:cNvSpPr>
              <a:spLocks noChangeShapeType="1"/>
            </p:cNvSpPr>
            <p:nvPr/>
          </p:nvSpPr>
          <p:spPr bwMode="auto">
            <a:xfrm flipH="1" flipV="1">
              <a:off x="4822805" y="2257425"/>
              <a:ext cx="88900" cy="45085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52" name="Group 36"/>
            <p:cNvGrpSpPr>
              <a:grpSpLocks/>
            </p:cNvGrpSpPr>
            <p:nvPr/>
          </p:nvGrpSpPr>
          <p:grpSpPr bwMode="auto">
            <a:xfrm>
              <a:off x="4822805" y="2617788"/>
              <a:ext cx="180975" cy="180975"/>
              <a:chOff x="2823" y="1990"/>
              <a:chExt cx="227" cy="227"/>
            </a:xfrm>
          </p:grpSpPr>
          <p:sp>
            <p:nvSpPr>
              <p:cNvPr id="700451" name="Rectangle 35"/>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0" name="Oval 3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9" name="Rectangle 93"/>
            <p:cNvSpPr>
              <a:spLocks noChangeArrowheads="1"/>
            </p:cNvSpPr>
            <p:nvPr/>
          </p:nvSpPr>
          <p:spPr bwMode="auto">
            <a:xfrm>
              <a:off x="4013231" y="1448415"/>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0</a:t>
              </a:r>
            </a:p>
          </p:txBody>
        </p:sp>
      </p:grpSp>
      <p:grpSp>
        <p:nvGrpSpPr>
          <p:cNvPr id="5" name="グループ化 4"/>
          <p:cNvGrpSpPr/>
          <p:nvPr/>
        </p:nvGrpSpPr>
        <p:grpSpPr>
          <a:xfrm>
            <a:off x="3395973" y="2528990"/>
            <a:ext cx="5400675" cy="1621452"/>
            <a:chOff x="1673205" y="4328498"/>
            <a:chExt cx="5400675" cy="1621452"/>
          </a:xfrm>
        </p:grpSpPr>
        <p:sp>
          <p:nvSpPr>
            <p:cNvPr id="700478" name="Freeform 62"/>
            <p:cNvSpPr>
              <a:spLocks/>
            </p:cNvSpPr>
            <p:nvPr/>
          </p:nvSpPr>
          <p:spPr bwMode="auto">
            <a:xfrm>
              <a:off x="2752705" y="4868863"/>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4913292" y="4868863"/>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3113067" y="4508500"/>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3113067" y="5229225"/>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5273655" y="4508500"/>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5273655" y="5229225"/>
              <a:ext cx="717550" cy="720725"/>
            </a:xfrm>
            <a:prstGeom prst="rect">
              <a:avLst/>
            </a:prstGeom>
            <a:noFill/>
          </p:spPr>
        </p:pic>
        <p:sp>
          <p:nvSpPr>
            <p:cNvPr id="700484" name="Line 68"/>
            <p:cNvSpPr>
              <a:spLocks noChangeShapeType="1"/>
            </p:cNvSpPr>
            <p:nvPr/>
          </p:nvSpPr>
          <p:spPr bwMode="auto">
            <a:xfrm>
              <a:off x="4192567" y="5589588"/>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4822805" y="5138738"/>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4462442" y="5499100"/>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2033567" y="5589588"/>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2663805" y="5138738"/>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2303442" y="5499100"/>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6353155" y="5589588"/>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1673205" y="541020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6713517" y="5410200"/>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2662217" y="5140325"/>
              <a:ext cx="90488" cy="4492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2663805" y="5499100"/>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4462442" y="5499100"/>
              <a:ext cx="449263" cy="90488"/>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4822805" y="5499100"/>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10" name="Rectangle 94"/>
            <p:cNvSpPr>
              <a:spLocks noChangeArrowheads="1"/>
            </p:cNvSpPr>
            <p:nvPr/>
          </p:nvSpPr>
          <p:spPr bwMode="auto">
            <a:xfrm>
              <a:off x="4013231" y="4328498"/>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1</a:t>
              </a:r>
            </a:p>
          </p:txBody>
        </p:sp>
      </p:grpSp>
      <p:grpSp>
        <p:nvGrpSpPr>
          <p:cNvPr id="700516" name="Group 100"/>
          <p:cNvGrpSpPr>
            <a:grpSpLocks/>
          </p:cNvGrpSpPr>
          <p:nvPr/>
        </p:nvGrpSpPr>
        <p:grpSpPr bwMode="auto">
          <a:xfrm>
            <a:off x="9786044" y="4689014"/>
            <a:ext cx="358775" cy="360362"/>
            <a:chOff x="159" y="2500"/>
            <a:chExt cx="226" cy="227"/>
          </a:xfrm>
        </p:grpSpPr>
        <p:sp>
          <p:nvSpPr>
            <p:cNvPr id="700511" name="Freeform 95"/>
            <p:cNvSpPr>
              <a:spLocks/>
            </p:cNvSpPr>
            <p:nvPr/>
          </p:nvSpPr>
          <p:spPr bwMode="auto">
            <a:xfrm>
              <a:off x="159" y="2500"/>
              <a:ext cx="113" cy="227"/>
            </a:xfrm>
            <a:custGeom>
              <a:avLst/>
              <a:gdLst/>
              <a:ahLst/>
              <a:cxnLst>
                <a:cxn ang="0">
                  <a:pos x="0" y="227"/>
                </a:cxn>
                <a:cxn ang="0">
                  <a:pos x="113" y="227"/>
                </a:cxn>
                <a:cxn ang="0">
                  <a:pos x="113" y="0"/>
                </a:cxn>
              </a:cxnLst>
              <a:rect l="0" t="0" r="r" b="b"/>
              <a:pathLst>
                <a:path w="113" h="227">
                  <a:moveTo>
                    <a:pt x="0" y="227"/>
                  </a:moveTo>
                  <a:lnTo>
                    <a:pt x="113" y="227"/>
                  </a:lnTo>
                  <a:lnTo>
                    <a:pt x="113"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700512" name="Line 96"/>
            <p:cNvSpPr>
              <a:spLocks noChangeShapeType="1"/>
            </p:cNvSpPr>
            <p:nvPr/>
          </p:nvSpPr>
          <p:spPr bwMode="auto">
            <a:xfrm>
              <a:off x="272" y="2500"/>
              <a:ext cx="113"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grpSp>
      <p:sp>
        <p:nvSpPr>
          <p:cNvPr id="700513" name="Freeform 97"/>
          <p:cNvSpPr>
            <a:spLocks/>
          </p:cNvSpPr>
          <p:nvPr/>
        </p:nvSpPr>
        <p:spPr bwMode="auto">
          <a:xfrm flipV="1">
            <a:off x="2225957" y="4869019"/>
            <a:ext cx="360362" cy="360363"/>
          </a:xfrm>
          <a:custGeom>
            <a:avLst/>
            <a:gdLst/>
            <a:ahLst/>
            <a:cxnLst>
              <a:cxn ang="0">
                <a:pos x="0" y="227"/>
              </a:cxn>
              <a:cxn ang="0">
                <a:pos x="114" y="227"/>
              </a:cxn>
              <a:cxn ang="0">
                <a:pos x="114" y="0"/>
              </a:cxn>
              <a:cxn ang="0">
                <a:pos x="227" y="0"/>
              </a:cxn>
            </a:cxnLst>
            <a:rect l="0" t="0" r="r" b="b"/>
            <a:pathLst>
              <a:path w="227" h="227">
                <a:moveTo>
                  <a:pt x="0" y="227"/>
                </a:moveTo>
                <a:lnTo>
                  <a:pt x="114" y="227"/>
                </a:lnTo>
                <a:lnTo>
                  <a:pt x="114" y="0"/>
                </a:lnTo>
                <a:lnTo>
                  <a:pt x="227" y="0"/>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514" name="AutoShape 98"/>
          <p:cNvSpPr>
            <a:spLocks noChangeArrowheads="1"/>
          </p:cNvSpPr>
          <p:nvPr/>
        </p:nvSpPr>
        <p:spPr bwMode="auto">
          <a:xfrm>
            <a:off x="2855964" y="4149011"/>
            <a:ext cx="539750" cy="1709737"/>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00515" name="AutoShape 99"/>
          <p:cNvSpPr>
            <a:spLocks noChangeArrowheads="1"/>
          </p:cNvSpPr>
          <p:nvPr/>
        </p:nvSpPr>
        <p:spPr bwMode="auto">
          <a:xfrm rot="-10800000">
            <a:off x="8976032" y="4059007"/>
            <a:ext cx="539750" cy="1709738"/>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5" name="Rectangle 5"/>
          <p:cNvSpPr txBox="1">
            <a:spLocks noChangeArrowheads="1"/>
          </p:cNvSpPr>
          <p:nvPr/>
        </p:nvSpPr>
        <p:spPr>
          <a:xfrm>
            <a:off x="2225960" y="1358977"/>
            <a:ext cx="8281219" cy="630844"/>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マルチプレクサを，切り替えスイッチとして説明</a:t>
            </a:r>
          </a:p>
          <a:p>
            <a:pPr lvl="1"/>
            <a:r>
              <a:rPr lang="ja-JP" altLang="en-US" kern="0" dirty="0"/>
              <a:t>クロックの立ち上がりのたびに，</a:t>
            </a:r>
            <a:r>
              <a:rPr lang="en-US" altLang="ja-JP" i="1" kern="0" dirty="0"/>
              <a:t>d</a:t>
            </a:r>
            <a:r>
              <a:rPr lang="ja-JP" altLang="en-US" kern="0" dirty="0"/>
              <a:t> の値がサンプリングされる</a:t>
            </a:r>
            <a:endParaRPr lang="en-US" altLang="ja-JP" kern="0" dirty="0"/>
          </a:p>
          <a:p>
            <a:pPr lvl="1"/>
            <a:r>
              <a:rPr lang="ja-JP" altLang="en-US" kern="0" dirty="0"/>
              <a:t>その値が次のサイクルの間 </a:t>
            </a:r>
            <a:r>
              <a:rPr lang="en-US" altLang="ja-JP" i="1" kern="0" dirty="0"/>
              <a:t>q</a:t>
            </a:r>
            <a:r>
              <a:rPr lang="ja-JP" altLang="en-US" kern="0" dirty="0"/>
              <a:t> から出力される</a:t>
            </a:r>
            <a:endParaRPr lang="en-US" altLang="ja-JP" kern="0" dirty="0"/>
          </a:p>
        </p:txBody>
      </p:sp>
      <p:sp>
        <p:nvSpPr>
          <p:cNvPr id="77" name="Rectangle 93"/>
          <p:cNvSpPr>
            <a:spLocks noChangeArrowheads="1"/>
          </p:cNvSpPr>
          <p:nvPr/>
        </p:nvSpPr>
        <p:spPr bwMode="auto">
          <a:xfrm>
            <a:off x="8886034" y="3609002"/>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立ち上がり</a:t>
            </a:r>
            <a:endParaRPr lang="en-US" altLang="ja-JP" dirty="0"/>
          </a:p>
        </p:txBody>
      </p:sp>
      <p:sp>
        <p:nvSpPr>
          <p:cNvPr id="78" name="Rectangle 93"/>
          <p:cNvSpPr>
            <a:spLocks noChangeArrowheads="1"/>
          </p:cNvSpPr>
          <p:nvPr/>
        </p:nvSpPr>
        <p:spPr bwMode="auto">
          <a:xfrm>
            <a:off x="1865956" y="5859027"/>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立ち下がり</a:t>
            </a:r>
            <a:endParaRPr lang="en-US" altLang="ja-JP" dirty="0"/>
          </a:p>
        </p:txBody>
      </p:sp>
    </p:spTree>
    <p:extLst>
      <p:ext uri="{BB962C8B-B14F-4D97-AF65-F5344CB8AC3E}">
        <p14:creationId xmlns:p14="http://schemas.microsoft.com/office/powerpoint/2010/main" val="13156828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メモリやレジスタ・ファイル</a:t>
            </a:r>
          </a:p>
        </p:txBody>
      </p:sp>
      <p:sp>
        <p:nvSpPr>
          <p:cNvPr id="3" name="テキスト プレースホルダー 2"/>
          <p:cNvSpPr>
            <a:spLocks noGrp="1"/>
          </p:cNvSpPr>
          <p:nvPr>
            <p:ph type="body" sz="quarter" idx="10"/>
          </p:nvPr>
        </p:nvSpPr>
        <p:spPr>
          <a:xfrm>
            <a:off x="1685954" y="4869019"/>
            <a:ext cx="8910099" cy="1439709"/>
          </a:xfrm>
        </p:spPr>
        <p:txBody>
          <a:bodyPr/>
          <a:lstStyle/>
          <a:p>
            <a:r>
              <a:rPr kumimoji="1" lang="en-US" altLang="ja-JP" dirty="0"/>
              <a:t>D-FF </a:t>
            </a:r>
            <a:r>
              <a:rPr kumimoji="1" lang="ja-JP" altLang="en-US" dirty="0"/>
              <a:t>を必要なだけ並べて，マルチプレクサで選択することで実現できる</a:t>
            </a:r>
            <a:endParaRPr kumimoji="1" lang="en-US" altLang="ja-JP" dirty="0"/>
          </a:p>
          <a:p>
            <a:pPr lvl="1"/>
            <a:r>
              <a:rPr kumimoji="1" lang="ja-JP" altLang="en-US" dirty="0"/>
              <a:t>実際には，もっと最適化された回路（</a:t>
            </a:r>
            <a:r>
              <a:rPr kumimoji="1" lang="en-US" altLang="ja-JP" dirty="0"/>
              <a:t>SRAM</a:t>
            </a:r>
            <a:r>
              <a:rPr kumimoji="1" lang="ja-JP" altLang="en-US" dirty="0"/>
              <a:t>）が使用される事が多い</a:t>
            </a:r>
            <a:endParaRPr kumimoji="1" lang="en-US" altLang="ja-JP" dirty="0"/>
          </a:p>
          <a:p>
            <a:pPr lvl="1"/>
            <a:r>
              <a:rPr kumimoji="1" lang="ja-JP" altLang="en-US" dirty="0"/>
              <a:t>（後の講義で詳しく説明する予定</a:t>
            </a:r>
          </a:p>
        </p:txBody>
      </p:sp>
      <p:grpSp>
        <p:nvGrpSpPr>
          <p:cNvPr id="4" name="グループ化 3"/>
          <p:cNvGrpSpPr/>
          <p:nvPr/>
        </p:nvGrpSpPr>
        <p:grpSpPr>
          <a:xfrm>
            <a:off x="4745988" y="1268976"/>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grpSp>
        <p:nvGrpSpPr>
          <p:cNvPr id="12" name="グループ化 11"/>
          <p:cNvGrpSpPr/>
          <p:nvPr/>
        </p:nvGrpSpPr>
        <p:grpSpPr>
          <a:xfrm>
            <a:off x="4745988" y="2168986"/>
            <a:ext cx="990011" cy="720008"/>
            <a:chOff x="6369707" y="1718772"/>
            <a:chExt cx="1441450" cy="1085855"/>
          </a:xfrm>
        </p:grpSpPr>
        <p:sp>
          <p:nvSpPr>
            <p:cNvPr id="13"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4"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15"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16"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17"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8"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19"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grpSp>
        <p:nvGrpSpPr>
          <p:cNvPr id="20" name="グループ化 19"/>
          <p:cNvGrpSpPr/>
          <p:nvPr/>
        </p:nvGrpSpPr>
        <p:grpSpPr>
          <a:xfrm>
            <a:off x="4745988" y="3068996"/>
            <a:ext cx="990011" cy="720008"/>
            <a:chOff x="6369707" y="1718772"/>
            <a:chExt cx="1441450" cy="1085855"/>
          </a:xfrm>
        </p:grpSpPr>
        <p:sp>
          <p:nvSpPr>
            <p:cNvPr id="21"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2"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23"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24"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2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2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7"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grpSp>
        <p:nvGrpSpPr>
          <p:cNvPr id="28" name="グループ化 27"/>
          <p:cNvGrpSpPr/>
          <p:nvPr/>
        </p:nvGrpSpPr>
        <p:grpSpPr>
          <a:xfrm>
            <a:off x="4745988" y="3969006"/>
            <a:ext cx="990011" cy="720008"/>
            <a:chOff x="6369707" y="1718772"/>
            <a:chExt cx="1441450" cy="1085855"/>
          </a:xfrm>
        </p:grpSpPr>
        <p:sp>
          <p:nvSpPr>
            <p:cNvPr id="29"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0"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31"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q</a:t>
              </a:r>
              <a:endParaRPr lang="en-US" altLang="ja-JP" sz="1200" dirty="0"/>
            </a:p>
          </p:txBody>
        </p:sp>
        <p:sp>
          <p:nvSpPr>
            <p:cNvPr id="32"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200" i="1" dirty="0"/>
                <a:t>d</a:t>
              </a:r>
              <a:endParaRPr lang="en-US" altLang="ja-JP" sz="1200" dirty="0"/>
            </a:p>
          </p:txBody>
        </p:sp>
        <p:sp>
          <p:nvSpPr>
            <p:cNvPr id="33"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34"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5"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200" i="1" dirty="0"/>
                <a:t>clk</a:t>
              </a:r>
              <a:endParaRPr lang="en-US" altLang="ja-JP" sz="1200" dirty="0"/>
            </a:p>
          </p:txBody>
        </p:sp>
      </p:grpSp>
      <p:sp>
        <p:nvSpPr>
          <p:cNvPr id="36" name="フローチャート: 手作業 35"/>
          <p:cNvSpPr/>
          <p:nvPr/>
        </p:nvSpPr>
        <p:spPr bwMode="auto">
          <a:xfrm rot="16200000">
            <a:off x="5555994" y="1808982"/>
            <a:ext cx="1260014"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37" name="フローチャート: 手作業 36"/>
          <p:cNvSpPr/>
          <p:nvPr/>
        </p:nvSpPr>
        <p:spPr bwMode="auto">
          <a:xfrm rot="16200000">
            <a:off x="5555994" y="3609002"/>
            <a:ext cx="1260014"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38" name="Line 9"/>
          <p:cNvSpPr>
            <a:spLocks noChangeShapeType="1"/>
          </p:cNvSpPr>
          <p:nvPr/>
        </p:nvSpPr>
        <p:spPr bwMode="auto">
          <a:xfrm>
            <a:off x="6546008" y="243898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9" name="Line 9"/>
          <p:cNvSpPr>
            <a:spLocks noChangeShapeType="1"/>
          </p:cNvSpPr>
          <p:nvPr/>
        </p:nvSpPr>
        <p:spPr bwMode="auto">
          <a:xfrm>
            <a:off x="6546008" y="333899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0" name="フローチャート: 手作業 39"/>
          <p:cNvSpPr/>
          <p:nvPr/>
        </p:nvSpPr>
        <p:spPr bwMode="auto">
          <a:xfrm rot="16200000">
            <a:off x="6456004" y="2798993"/>
            <a:ext cx="1260014"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41" name="Freeform 10"/>
          <p:cNvSpPr>
            <a:spLocks/>
          </p:cNvSpPr>
          <p:nvPr/>
        </p:nvSpPr>
        <p:spPr bwMode="auto">
          <a:xfrm flipH="1" flipV="1">
            <a:off x="6276003" y="1898985"/>
            <a:ext cx="270003" cy="54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2" name="Freeform 10"/>
          <p:cNvSpPr>
            <a:spLocks/>
          </p:cNvSpPr>
          <p:nvPr/>
        </p:nvSpPr>
        <p:spPr bwMode="auto">
          <a:xfrm flipH="1">
            <a:off x="6276003" y="3339000"/>
            <a:ext cx="270003"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Line 9"/>
          <p:cNvSpPr>
            <a:spLocks noChangeShapeType="1"/>
          </p:cNvSpPr>
          <p:nvPr/>
        </p:nvSpPr>
        <p:spPr bwMode="auto">
          <a:xfrm>
            <a:off x="7176015" y="288899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4" name="Line 9"/>
          <p:cNvSpPr>
            <a:spLocks noChangeShapeType="1"/>
          </p:cNvSpPr>
          <p:nvPr/>
        </p:nvSpPr>
        <p:spPr bwMode="auto">
          <a:xfrm>
            <a:off x="5735997" y="1454527"/>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5" name="Line 9"/>
          <p:cNvSpPr>
            <a:spLocks noChangeShapeType="1"/>
          </p:cNvSpPr>
          <p:nvPr/>
        </p:nvSpPr>
        <p:spPr bwMode="auto">
          <a:xfrm>
            <a:off x="5735996" y="2352964"/>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6" name="Line 9"/>
          <p:cNvSpPr>
            <a:spLocks noChangeShapeType="1"/>
          </p:cNvSpPr>
          <p:nvPr/>
        </p:nvSpPr>
        <p:spPr bwMode="auto">
          <a:xfrm>
            <a:off x="5735996" y="3250571"/>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7" name="Line 9"/>
          <p:cNvSpPr>
            <a:spLocks noChangeShapeType="1"/>
          </p:cNvSpPr>
          <p:nvPr/>
        </p:nvSpPr>
        <p:spPr bwMode="auto">
          <a:xfrm>
            <a:off x="5735996" y="4152984"/>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Tree>
    <p:extLst>
      <p:ext uri="{BB962C8B-B14F-4D97-AF65-F5344CB8AC3E}">
        <p14:creationId xmlns:p14="http://schemas.microsoft.com/office/powerpoint/2010/main" val="1877691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組み合わせ回路</a:t>
            </a:r>
            <a:r>
              <a:rPr lang="en-US" altLang="ja-JP" dirty="0"/>
              <a:t>/</a:t>
            </a:r>
            <a:r>
              <a:rPr kumimoji="1" lang="ja-JP" altLang="en-US" dirty="0"/>
              <a:t>順序回路のまとめ</a:t>
            </a:r>
          </a:p>
        </p:txBody>
      </p:sp>
      <p:sp>
        <p:nvSpPr>
          <p:cNvPr id="3" name="テキスト プレースホルダー 2"/>
          <p:cNvSpPr>
            <a:spLocks noGrp="1"/>
          </p:cNvSpPr>
          <p:nvPr>
            <p:ph type="body" sz="quarter" idx="10"/>
          </p:nvPr>
        </p:nvSpPr>
        <p:spPr/>
        <p:txBody>
          <a:bodyPr/>
          <a:lstStyle/>
          <a:p>
            <a:r>
              <a:rPr kumimoji="1" lang="ja-JP" altLang="en-US" dirty="0"/>
              <a:t>記憶素子も，</a:t>
            </a:r>
            <a:r>
              <a:rPr lang="ja-JP" altLang="en-US" dirty="0"/>
              <a:t> </a:t>
            </a:r>
            <a:r>
              <a:rPr lang="en-US" altLang="ja-JP" dirty="0"/>
              <a:t>NOT </a:t>
            </a:r>
            <a:r>
              <a:rPr lang="ja-JP" altLang="en-US" dirty="0"/>
              <a:t>ゲート</a:t>
            </a:r>
            <a:r>
              <a:rPr kumimoji="1" lang="ja-JP" altLang="en-US" dirty="0"/>
              <a:t>などの論理ゲートで構成される</a:t>
            </a:r>
            <a:endParaRPr kumimoji="1" lang="en-US" altLang="ja-JP" dirty="0"/>
          </a:p>
          <a:p>
            <a:r>
              <a:rPr kumimoji="1" lang="ja-JP" altLang="en-US" dirty="0">
                <a:solidFill>
                  <a:schemeClr val="accent5"/>
                </a:solidFill>
              </a:rPr>
              <a:t>結果として，任意の組み合わせ回路</a:t>
            </a:r>
            <a:r>
              <a:rPr kumimoji="1" lang="en-US" altLang="ja-JP" dirty="0">
                <a:solidFill>
                  <a:schemeClr val="accent5"/>
                </a:solidFill>
              </a:rPr>
              <a:t>/</a:t>
            </a:r>
            <a:r>
              <a:rPr kumimoji="1" lang="ja-JP" altLang="en-US" dirty="0">
                <a:solidFill>
                  <a:schemeClr val="accent5"/>
                </a:solidFill>
              </a:rPr>
              <a:t>順序回路は</a:t>
            </a:r>
            <a:endParaRPr kumimoji="1" lang="en-US" altLang="ja-JP" dirty="0">
              <a:solidFill>
                <a:schemeClr val="accent5"/>
              </a:solidFill>
            </a:endParaRPr>
          </a:p>
          <a:p>
            <a:pPr lvl="1"/>
            <a:r>
              <a:rPr lang="ja-JP" altLang="en-US" dirty="0">
                <a:solidFill>
                  <a:schemeClr val="accent5"/>
                </a:solidFill>
              </a:rPr>
              <a:t>原理的には，完全集合の要素の組み合わせに落とし込める</a:t>
            </a:r>
            <a:endParaRPr lang="en-US" altLang="ja-JP" dirty="0">
              <a:solidFill>
                <a:schemeClr val="accent5"/>
              </a:solidFill>
            </a:endParaRPr>
          </a:p>
          <a:p>
            <a:pPr lvl="1"/>
            <a:r>
              <a:rPr kumimoji="1" lang="ja-JP" altLang="en-US" dirty="0"/>
              <a:t>たとえば </a:t>
            </a:r>
            <a:r>
              <a:rPr kumimoji="1" lang="en-US" altLang="ja-JP" dirty="0"/>
              <a:t>{AND, OR, NOT} </a:t>
            </a:r>
            <a:r>
              <a:rPr kumimoji="1" lang="ja-JP" altLang="en-US" dirty="0"/>
              <a:t>を組み合わせれば，全部つくれる</a:t>
            </a:r>
            <a:endParaRPr kumimoji="1" lang="en-US" altLang="ja-JP" dirty="0"/>
          </a:p>
        </p:txBody>
      </p:sp>
    </p:spTree>
    <p:extLst>
      <p:ext uri="{BB962C8B-B14F-4D97-AF65-F5344CB8AC3E}">
        <p14:creationId xmlns:p14="http://schemas.microsoft.com/office/powerpoint/2010/main" val="712103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z="2400" dirty="0"/>
              <a:t>これまでに説明した </a:t>
            </a:r>
            <a:r>
              <a:rPr lang="en-US" altLang="ja-JP" sz="2400" dirty="0"/>
              <a:t>CPU </a:t>
            </a:r>
            <a:r>
              <a:rPr lang="ja-JP" altLang="en-US" sz="2400" dirty="0"/>
              <a:t>の要素は，全てこれでカバー可能</a:t>
            </a:r>
          </a:p>
        </p:txBody>
      </p:sp>
      <p:sp>
        <p:nvSpPr>
          <p:cNvPr id="5" name="正方形/長方形 4"/>
          <p:cNvSpPr/>
          <p:nvPr/>
        </p:nvSpPr>
        <p:spPr bwMode="auto">
          <a:xfrm>
            <a:off x="3755976" y="1988986"/>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accent5"/>
              </a:solidFill>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6546005" y="1988987"/>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6546005" y="1628981"/>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6546005" y="1988985"/>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solidFill>
                <a:latin typeface="メイリオ" panose="020B0604030504040204" pitchFamily="50" charset="-128"/>
                <a:ea typeface="メイリオ" panose="020B0604030504040204" pitchFamily="50" charset="-128"/>
              </a:rPr>
              <a:t>0235</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6546005" y="2348989"/>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6546005" y="2708993"/>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6546005" y="3068997"/>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3665973" y="1628981"/>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6186001" y="1988985"/>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6186001" y="2348989"/>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6186001" y="2708993"/>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6186001" y="3068997"/>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cxnSp>
        <p:nvCxnSpPr>
          <p:cNvPr id="17" name="曲線コネクタ 16"/>
          <p:cNvCxnSpPr>
            <a:endCxn id="24" idx="1"/>
          </p:cNvCxnSpPr>
          <p:nvPr/>
        </p:nvCxnSpPr>
        <p:spPr bwMode="auto">
          <a:xfrm flipV="1">
            <a:off x="5555997" y="2168987"/>
            <a:ext cx="630007" cy="180002"/>
          </a:xfrm>
          <a:prstGeom prst="curvedConnector3">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2" name="直線コネクタ 41"/>
          <p:cNvCxnSpPr>
            <a:endCxn id="73" idx="2"/>
          </p:cNvCxnSpPr>
          <p:nvPr/>
        </p:nvCxnSpPr>
        <p:spPr bwMode="auto">
          <a:xfrm flipV="1">
            <a:off x="4745985" y="5229021"/>
            <a:ext cx="0" cy="360004"/>
          </a:xfrm>
          <a:prstGeom prst="line">
            <a:avLst/>
          </a:prstGeom>
          <a:ln w="15875">
            <a:solidFill>
              <a:schemeClr val="accent5"/>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4745985" y="5589025"/>
            <a:ext cx="2520028" cy="0"/>
          </a:xfrm>
          <a:prstGeom prst="line">
            <a:avLst/>
          </a:prstGeom>
          <a:ln w="15875">
            <a:solidFill>
              <a:schemeClr val="accent5"/>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p:cNvCxnSpPr/>
          <p:nvPr/>
        </p:nvCxnSpPr>
        <p:spPr bwMode="auto">
          <a:xfrm flipV="1">
            <a:off x="7266016" y="2258989"/>
            <a:ext cx="1" cy="3330036"/>
          </a:xfrm>
          <a:prstGeom prst="line">
            <a:avLst/>
          </a:prstGeom>
          <a:ln w="15875">
            <a:solidFill>
              <a:schemeClr val="accent5"/>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8" name="正方形/長方形 47"/>
          <p:cNvSpPr/>
          <p:nvPr/>
        </p:nvSpPr>
        <p:spPr bwMode="auto">
          <a:xfrm>
            <a:off x="3845975" y="2168987"/>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4835986" y="2168987"/>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3845975" y="2528991"/>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3845975" y="2888995"/>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3845975" y="3248999"/>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4918792" y="3076192"/>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3845975" y="3609003"/>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3845975" y="3969007"/>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4205979" y="2168987"/>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4205979" y="2528991"/>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4205979" y="2888995"/>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4205979" y="3248999"/>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4205979" y="3609003"/>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4205979" y="3969007"/>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5195990" y="2168987"/>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4655984" y="2168987"/>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4745985" y="2168987"/>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4655984" y="2978996"/>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4745988" y="3519002"/>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4385981" y="4419012"/>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4385985" y="4599014"/>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5555997" y="3248999"/>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5645998" y="3249002"/>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4385981" y="4869017"/>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accent5"/>
                </a:solidFill>
                <a:latin typeface="メイリオ" panose="020B0604030504040204" pitchFamily="50" charset="-128"/>
                <a:ea typeface="メイリオ" panose="020B0604030504040204" pitchFamily="50" charset="-128"/>
              </a:rPr>
              <a:t>0235</a:t>
            </a:r>
            <a:endParaRPr lang="ja-JP" altLang="en-US" dirty="0">
              <a:solidFill>
                <a:schemeClr val="accent5"/>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77306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２進数や１６進数による数値表現</a:t>
            </a:r>
            <a:endParaRPr lang="en-US" altLang="ja-JP" dirty="0"/>
          </a:p>
          <a:p>
            <a:pPr marL="457200" indent="-457200">
              <a:buFont typeface="+mj-lt"/>
              <a:buAutoNum type="arabicPeriod"/>
            </a:pPr>
            <a:r>
              <a:rPr lang="ja-JP" altLang="en-US" dirty="0"/>
              <a:t>論理回路による実装</a:t>
            </a:r>
            <a:endParaRPr lang="en-US" altLang="ja-JP" dirty="0"/>
          </a:p>
          <a:p>
            <a:pPr lvl="1"/>
            <a:r>
              <a:rPr lang="en-US" altLang="ja-JP" dirty="0"/>
              <a:t>CPU </a:t>
            </a:r>
            <a:r>
              <a:rPr lang="ja-JP" altLang="en-US" dirty="0"/>
              <a:t>の論理的な動作と，それを実現する物理的な回路の繋がり</a:t>
            </a:r>
            <a:endParaRPr lang="en-US" altLang="ja-JP" dirty="0"/>
          </a:p>
          <a:p>
            <a:r>
              <a:rPr lang="ja-JP" altLang="en-US" sz="1400" dirty="0"/>
              <a:t>この講義資料では（ていうか，今後の資料も結構），一部，五島先生の「ディジタル回路」の講義資料の図を使用しています</a:t>
            </a:r>
          </a:p>
        </p:txBody>
      </p:sp>
    </p:spTree>
    <p:extLst>
      <p:ext uri="{BB962C8B-B14F-4D97-AF65-F5344CB8AC3E}">
        <p14:creationId xmlns:p14="http://schemas.microsoft.com/office/powerpoint/2010/main" val="155079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p:txBody>
          <a:bodyPr/>
          <a:lstStyle/>
          <a:p>
            <a:pPr marL="457200" indent="-457200">
              <a:buFont typeface="+mj-lt"/>
              <a:buAutoNum type="arabicPeriod"/>
            </a:pPr>
            <a:r>
              <a:rPr lang="ja-JP" altLang="en-US" dirty="0"/>
              <a:t>感想や質問を投稿してください</a:t>
            </a:r>
            <a:endParaRPr lang="en-US" altLang="ja-JP" dirty="0"/>
          </a:p>
          <a:p>
            <a:pPr lvl="1"/>
            <a:r>
              <a:rPr lang="en-US" altLang="ja-JP" dirty="0"/>
              <a:t>Moodle </a:t>
            </a:r>
            <a:r>
              <a:rPr lang="ja-JP" altLang="en-US" dirty="0"/>
              <a:t>の「感想や質問」のところからお願いします</a:t>
            </a:r>
            <a:endParaRPr lang="en-US" altLang="ja-JP" dirty="0"/>
          </a:p>
          <a:p>
            <a:pPr marL="457200" indent="-457200">
              <a:buFont typeface="+mj-lt"/>
              <a:buAutoNum type="arabicPeriod"/>
            </a:pPr>
            <a:r>
              <a:rPr lang="ja-JP" altLang="en-US" dirty="0"/>
              <a:t>以降で説明する課題を「課題」に提出してください</a:t>
            </a:r>
            <a:endParaRPr lang="en-US" altLang="ja-JP" dirty="0"/>
          </a:p>
          <a:p>
            <a:pPr lvl="1"/>
            <a:r>
              <a:rPr lang="ja-JP" altLang="en-US" dirty="0">
                <a:solidFill>
                  <a:schemeClr val="accent5"/>
                </a:solidFill>
              </a:rPr>
              <a:t>課題は自力でがんばって提出することに意義があります</a:t>
            </a:r>
            <a:endParaRPr lang="en-US" altLang="ja-JP" dirty="0">
              <a:solidFill>
                <a:schemeClr val="accent5"/>
              </a:solidFill>
            </a:endParaRPr>
          </a:p>
          <a:p>
            <a:pPr lvl="1"/>
            <a:r>
              <a:rPr lang="ja-JP" altLang="en-US" dirty="0">
                <a:solidFill>
                  <a:schemeClr val="accent5"/>
                </a:solidFill>
              </a:rPr>
              <a:t>途中で力尽きてもある程度頑張った様子があれば，別に正解していなくても満点がつきます</a:t>
            </a:r>
            <a:endParaRPr lang="en-US" altLang="ja-JP" dirty="0">
              <a:solidFill>
                <a:schemeClr val="accent5"/>
              </a:solidFill>
            </a:endParaRPr>
          </a:p>
          <a:p>
            <a:r>
              <a:rPr lang="ja-JP" altLang="en-US" dirty="0"/>
              <a:t>締め切りは次回講義の開始時です</a:t>
            </a:r>
            <a:endParaRPr lang="en-US" altLang="ja-JP" dirty="0"/>
          </a:p>
          <a:p>
            <a:r>
              <a:rPr lang="ja-JP" altLang="en-US" dirty="0"/>
              <a:t>生成 </a:t>
            </a:r>
            <a:r>
              <a:rPr lang="en-US" altLang="ja-JP" dirty="0"/>
              <a:t>AI </a:t>
            </a:r>
            <a:r>
              <a:rPr lang="ja-JP" altLang="en-US" dirty="0"/>
              <a:t>で課題の結果を生成したりしないでください</a:t>
            </a:r>
            <a:endParaRPr lang="en-US" altLang="ja-JP" dirty="0"/>
          </a:p>
          <a:p>
            <a:pPr lvl="1"/>
            <a:r>
              <a:rPr lang="en-US" altLang="ja-JP" dirty="0"/>
              <a:t>AI </a:t>
            </a:r>
            <a:r>
              <a:rPr lang="ja-JP" altLang="en-US" dirty="0"/>
              <a:t>に聞くのはありですが，かならず理解してください</a:t>
            </a:r>
            <a:endParaRPr lang="en-US" altLang="ja-JP" dirty="0"/>
          </a:p>
        </p:txBody>
      </p:sp>
    </p:spTree>
    <p:extLst>
      <p:ext uri="{BB962C8B-B14F-4D97-AF65-F5344CB8AC3E}">
        <p14:creationId xmlns:p14="http://schemas.microsoft.com/office/powerpoint/2010/main" val="3388947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課題３</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p:txBody>
          <a:bodyPr/>
          <a:lstStyle/>
          <a:p>
            <a:r>
              <a:rPr lang="ja-JP" altLang="en-US" dirty="0"/>
              <a:t>以下では </a:t>
            </a:r>
            <a:r>
              <a:rPr lang="en-US" altLang="ja-JP" dirty="0"/>
              <a:t>2</a:t>
            </a:r>
            <a:r>
              <a:rPr lang="ja-JP" altLang="en-US" dirty="0"/>
              <a:t>進数は </a:t>
            </a:r>
            <a:r>
              <a:rPr lang="en-US" altLang="ja-JP" dirty="0"/>
              <a:t>0b... 16</a:t>
            </a:r>
            <a:r>
              <a:rPr lang="ja-JP" altLang="en-US" dirty="0"/>
              <a:t>進数は </a:t>
            </a:r>
            <a:r>
              <a:rPr lang="en-US" altLang="ja-JP" dirty="0"/>
              <a:t>0x... </a:t>
            </a:r>
            <a:r>
              <a:rPr lang="ja-JP" altLang="en-US" dirty="0"/>
              <a:t>と表記するものとする</a:t>
            </a:r>
            <a:endParaRPr lang="en-US" altLang="ja-JP" dirty="0"/>
          </a:p>
          <a:p>
            <a:r>
              <a:rPr lang="ja-JP" altLang="en-US" dirty="0"/>
              <a:t>以下の１６進数を２進数で表記せよ</a:t>
            </a:r>
            <a:endParaRPr lang="en-US" altLang="ja-JP" dirty="0"/>
          </a:p>
          <a:p>
            <a:pPr lvl="1"/>
            <a:r>
              <a:rPr lang="en-US" altLang="ja-JP" dirty="0"/>
              <a:t>(1) 0x1011 </a:t>
            </a:r>
          </a:p>
          <a:p>
            <a:pPr lvl="1"/>
            <a:r>
              <a:rPr lang="en-US" altLang="ja-JP" dirty="0"/>
              <a:t>(2) 0x1234abcd </a:t>
            </a:r>
          </a:p>
          <a:p>
            <a:r>
              <a:rPr lang="ja-JP" altLang="en-US" dirty="0"/>
              <a:t>以下の２進数を１６進数で表記せよ</a:t>
            </a:r>
            <a:endParaRPr lang="en-US" altLang="ja-JP" dirty="0"/>
          </a:p>
          <a:p>
            <a:pPr lvl="1"/>
            <a:r>
              <a:rPr lang="en-US" altLang="ja-JP" dirty="0"/>
              <a:t>(3) 0b101011</a:t>
            </a:r>
          </a:p>
          <a:p>
            <a:pPr lvl="1"/>
            <a:r>
              <a:rPr lang="en-US" altLang="ja-JP" dirty="0"/>
              <a:t>(4) 0b111100001111 </a:t>
            </a:r>
          </a:p>
          <a:p>
            <a:r>
              <a:rPr lang="ja-JP" altLang="en-US" dirty="0"/>
              <a:t>以下の演算を行え</a:t>
            </a:r>
            <a:endParaRPr lang="en-US" altLang="ja-JP" dirty="0"/>
          </a:p>
          <a:p>
            <a:pPr lvl="1"/>
            <a:r>
              <a:rPr lang="en-US" altLang="ja-JP" dirty="0"/>
              <a:t>(5) 0b11011010 / 0b10 (</a:t>
            </a:r>
            <a:r>
              <a:rPr lang="ja-JP" altLang="en-US" dirty="0"/>
              <a:t>「</a:t>
            </a:r>
            <a:r>
              <a:rPr lang="en-US" altLang="ja-JP" dirty="0"/>
              <a:t>/</a:t>
            </a:r>
            <a:r>
              <a:rPr lang="ja-JP" altLang="en-US" dirty="0"/>
              <a:t>」</a:t>
            </a:r>
            <a:r>
              <a:rPr lang="en-US" altLang="ja-JP" dirty="0"/>
              <a:t> </a:t>
            </a:r>
            <a:r>
              <a:rPr lang="ja-JP" altLang="en-US" dirty="0"/>
              <a:t>は割り算</a:t>
            </a:r>
            <a:r>
              <a:rPr lang="en-US" altLang="ja-JP" dirty="0"/>
              <a:t>)</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69</a:t>
            </a:fld>
            <a:endParaRPr kumimoji="1" lang="ja-JP" altLang="en-US" dirty="0"/>
          </a:p>
        </p:txBody>
      </p:sp>
    </p:spTree>
    <p:extLst>
      <p:ext uri="{BB962C8B-B14F-4D97-AF65-F5344CB8AC3E}">
        <p14:creationId xmlns:p14="http://schemas.microsoft.com/office/powerpoint/2010/main" val="760368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感想や質問</a:t>
            </a:r>
          </a:p>
        </p:txBody>
      </p:sp>
    </p:spTree>
    <p:extLst>
      <p:ext uri="{BB962C8B-B14F-4D97-AF65-F5344CB8AC3E}">
        <p14:creationId xmlns:p14="http://schemas.microsoft.com/office/powerpoint/2010/main" val="25723724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09B5DC-F8CA-C55F-BFBB-1B5752A4BFE8}"/>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3A5A566C-0471-B938-B941-0450ECF50318}"/>
              </a:ext>
            </a:extLst>
          </p:cNvPr>
          <p:cNvSpPr>
            <a:spLocks noGrp="1"/>
          </p:cNvSpPr>
          <p:nvPr>
            <p:ph type="body" sz="quarter" idx="10"/>
          </p:nvPr>
        </p:nvSpPr>
        <p:spPr/>
        <p:txBody>
          <a:bodyPr/>
          <a:lstStyle/>
          <a:p>
            <a:r>
              <a:rPr lang="ja-JP" altLang="en-US" dirty="0"/>
              <a:t>番地は適当に空いているところを選んだだけで番地の数字そのものに意味がない、というのを番地は何でもいいから</a:t>
            </a:r>
            <a:r>
              <a:rPr lang="en-US" altLang="ja-JP" dirty="0"/>
              <a:t>CPU</a:t>
            </a:r>
            <a:r>
              <a:rPr lang="ja-JP" altLang="en-US" dirty="0"/>
              <a:t>内でどのような処理がされるかが分かっていればいい、という風に取ったので、課題</a:t>
            </a:r>
            <a:r>
              <a:rPr lang="en-US" altLang="ja-JP" dirty="0"/>
              <a:t>2</a:t>
            </a:r>
            <a:r>
              <a:rPr lang="ja-JP" altLang="en-US" dirty="0"/>
              <a:t>（</a:t>
            </a:r>
            <a:r>
              <a:rPr lang="en-US" altLang="ja-JP" dirty="0"/>
              <a:t>2</a:t>
            </a:r>
            <a:r>
              <a:rPr lang="ja-JP" altLang="en-US" dirty="0"/>
              <a:t>）ではアセンブリ言語のプログラム</a:t>
            </a:r>
            <a:r>
              <a:rPr lang="en-US" altLang="ja-JP" dirty="0"/>
              <a:t>1</a:t>
            </a:r>
            <a:r>
              <a:rPr lang="ja-JP" altLang="en-US" dirty="0"/>
              <a:t>行ごとに系列を書いたんですがそれで大丈夫えすか？</a:t>
            </a:r>
            <a:endParaRPr lang="en-US" altLang="ja-JP" dirty="0"/>
          </a:p>
          <a:p>
            <a:r>
              <a:rPr lang="ja-JP" altLang="en-US" dirty="0"/>
              <a:t>また、少し調べたところメモリの中で命令用と数値（データ）用の場所（他にもヒープ？やスタックというもの用の場所も）が分かれていることを知り、それによって実行時の混乱が防がれているのだなと納得できました。</a:t>
            </a:r>
            <a:endParaRPr kumimoji="1" lang="en-US" altLang="ja-JP" dirty="0"/>
          </a:p>
        </p:txBody>
      </p:sp>
    </p:spTree>
    <p:extLst>
      <p:ext uri="{BB962C8B-B14F-4D97-AF65-F5344CB8AC3E}">
        <p14:creationId xmlns:p14="http://schemas.microsoft.com/office/powerpoint/2010/main" val="24590236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40727-9DC6-4951-6BAB-A3D3169EEB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C550ED-4FCE-D871-3525-245398A17495}"/>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CF609D4E-6EA9-2FD4-C28A-5BD2D50A75BC}"/>
              </a:ext>
            </a:extLst>
          </p:cNvPr>
          <p:cNvSpPr>
            <a:spLocks noGrp="1"/>
          </p:cNvSpPr>
          <p:nvPr>
            <p:ph type="body" sz="quarter" idx="10"/>
          </p:nvPr>
        </p:nvSpPr>
        <p:spPr/>
        <p:txBody>
          <a:bodyPr/>
          <a:lstStyle/>
          <a:p>
            <a:r>
              <a:rPr lang="en-US" altLang="ja-JP" dirty="0" err="1"/>
              <a:t>ld</a:t>
            </a:r>
            <a:r>
              <a:rPr lang="ja-JP" altLang="en-US" dirty="0"/>
              <a:t>命令が演算器を介してメモリの場所を読み込んでいるのに対し、</a:t>
            </a:r>
            <a:r>
              <a:rPr lang="en-US" altLang="ja-JP" dirty="0" err="1"/>
              <a:t>st</a:t>
            </a:r>
            <a:r>
              <a:rPr lang="ja-JP" altLang="en-US" dirty="0"/>
              <a:t>命令が演算器を介さず書き込んでいるのはなぜでしょうか。</a:t>
            </a:r>
            <a:endParaRPr kumimoji="1" lang="en-US" altLang="ja-JP" dirty="0"/>
          </a:p>
        </p:txBody>
      </p:sp>
    </p:spTree>
    <p:extLst>
      <p:ext uri="{BB962C8B-B14F-4D97-AF65-F5344CB8AC3E}">
        <p14:creationId xmlns:p14="http://schemas.microsoft.com/office/powerpoint/2010/main" val="1594109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B2027-E73E-59DB-A8AC-07C974AB67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4BB9A88-8B91-DDB8-3187-2E5F40A026BC}"/>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708044B9-F07A-A493-FE2D-9D6F905D916D}"/>
              </a:ext>
            </a:extLst>
          </p:cNvPr>
          <p:cNvSpPr>
            <a:spLocks noGrp="1"/>
          </p:cNvSpPr>
          <p:nvPr>
            <p:ph type="body" sz="quarter" idx="10"/>
          </p:nvPr>
        </p:nvSpPr>
        <p:spPr/>
        <p:txBody>
          <a:bodyPr/>
          <a:lstStyle/>
          <a:p>
            <a:r>
              <a:rPr lang="en-US" altLang="ja-JP" dirty="0"/>
              <a:t>RISC-V</a:t>
            </a:r>
            <a:r>
              <a:rPr lang="ja-JP" altLang="en-US" dirty="0"/>
              <a:t>の話で、</a:t>
            </a:r>
            <a:r>
              <a:rPr lang="en-US" altLang="ja-JP" dirty="0"/>
              <a:t>R-type</a:t>
            </a:r>
            <a:r>
              <a:rPr lang="ja-JP" altLang="en-US" dirty="0"/>
              <a:t>は何となく分かったのですが、</a:t>
            </a:r>
            <a:r>
              <a:rPr lang="en-US" altLang="ja-JP" dirty="0"/>
              <a:t>I-type</a:t>
            </a:r>
            <a:r>
              <a:rPr lang="ja-JP" altLang="en-US" dirty="0"/>
              <a:t>の話が理解できませんでした。たとえば</a:t>
            </a:r>
            <a:r>
              <a:rPr lang="en-US" altLang="ja-JP" dirty="0"/>
              <a:t>ADDI</a:t>
            </a:r>
            <a:r>
              <a:rPr lang="ja-JP" altLang="en-US" dirty="0"/>
              <a:t>なら、</a:t>
            </a:r>
            <a:r>
              <a:rPr lang="en-US" altLang="ja-JP" dirty="0"/>
              <a:t>25〜31</a:t>
            </a:r>
            <a:r>
              <a:rPr lang="ja-JP" altLang="en-US" dirty="0"/>
              <a:t>ビット部分の</a:t>
            </a:r>
            <a:r>
              <a:rPr lang="en-US" altLang="ja-JP" dirty="0"/>
              <a:t>funct7</a:t>
            </a:r>
            <a:r>
              <a:rPr lang="ja-JP" altLang="en-US" dirty="0"/>
              <a:t>の値？を演算に使っているようですが、他の</a:t>
            </a:r>
            <a:r>
              <a:rPr lang="en-US" altLang="ja-JP" dirty="0"/>
              <a:t>I-type</a:t>
            </a:r>
            <a:r>
              <a:rPr lang="ja-JP" altLang="en-US" dirty="0"/>
              <a:t>の命令とどこで区別しているのでしょうか？</a:t>
            </a:r>
            <a:endParaRPr kumimoji="1" lang="en-US" altLang="ja-JP" dirty="0"/>
          </a:p>
        </p:txBody>
      </p:sp>
    </p:spTree>
    <p:extLst>
      <p:ext uri="{BB962C8B-B14F-4D97-AF65-F5344CB8AC3E}">
        <p14:creationId xmlns:p14="http://schemas.microsoft.com/office/powerpoint/2010/main" val="23043983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138A5-DD74-374C-A18F-31AE456F3D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7ADE3B-51B2-AA05-3725-3B194E8873C3}"/>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367A46EA-7AE9-188A-E0D6-9D3ED1BA563E}"/>
              </a:ext>
            </a:extLst>
          </p:cNvPr>
          <p:cNvSpPr>
            <a:spLocks noGrp="1"/>
          </p:cNvSpPr>
          <p:nvPr>
            <p:ph type="body" sz="quarter" idx="10"/>
          </p:nvPr>
        </p:nvSpPr>
        <p:spPr/>
        <p:txBody>
          <a:bodyPr/>
          <a:lstStyle/>
          <a:p>
            <a:r>
              <a:rPr lang="en-US" altLang="ja-JP" dirty="0"/>
              <a:t>"LABEL:" </a:t>
            </a:r>
            <a:r>
              <a:rPr lang="ja-JP" altLang="en-US" dirty="0"/>
              <a:t>の後に書いたものが</a:t>
            </a:r>
            <a:r>
              <a:rPr lang="en-US" altLang="ja-JP" dirty="0"/>
              <a:t>LABEL</a:t>
            </a:r>
            <a:r>
              <a:rPr lang="ja-JP" altLang="en-US" dirty="0"/>
              <a:t>の中身なのかそうでないのかを判断する基準はありますか。それとも</a:t>
            </a:r>
            <a:r>
              <a:rPr lang="en-US" altLang="ja-JP" dirty="0"/>
              <a:t>LABEL</a:t>
            </a:r>
            <a:r>
              <a:rPr lang="ja-JP" altLang="en-US" dirty="0"/>
              <a:t>の中身という認識自体が間違っていて、</a:t>
            </a:r>
            <a:r>
              <a:rPr lang="en-US" altLang="ja-JP" dirty="0"/>
              <a:t>"LABEL:"</a:t>
            </a:r>
            <a:r>
              <a:rPr lang="ja-JP" altLang="en-US" dirty="0"/>
              <a:t>はただジャンプする際の目印に過ぎないということですか。</a:t>
            </a:r>
            <a:endParaRPr kumimoji="1" lang="en-US" altLang="ja-JP" dirty="0"/>
          </a:p>
        </p:txBody>
      </p:sp>
    </p:spTree>
    <p:extLst>
      <p:ext uri="{BB962C8B-B14F-4D97-AF65-F5344CB8AC3E}">
        <p14:creationId xmlns:p14="http://schemas.microsoft.com/office/powerpoint/2010/main" val="2885849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54A6A-E098-8DA6-5DE0-57D36B6153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B259FB-F6C1-7D56-86E2-9A2A5CD365E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F6B868EB-773A-E872-A336-790A105108D4}"/>
              </a:ext>
            </a:extLst>
          </p:cNvPr>
          <p:cNvSpPr>
            <a:spLocks noGrp="1"/>
          </p:cNvSpPr>
          <p:nvPr>
            <p:ph type="body" sz="quarter" idx="10"/>
          </p:nvPr>
        </p:nvSpPr>
        <p:spPr/>
        <p:txBody>
          <a:bodyPr/>
          <a:lstStyle/>
          <a:p>
            <a:r>
              <a:rPr lang="ja-JP" altLang="en-US" dirty="0"/>
              <a:t>リアクションペーパーが苦手なのですが、この講義では感想質問が浅いと減点などありますか？それとも何かしら書いて出してさえいれば大丈夫ですか？</a:t>
            </a:r>
            <a:endParaRPr kumimoji="1" lang="en-US" altLang="ja-JP" dirty="0"/>
          </a:p>
        </p:txBody>
      </p:sp>
    </p:spTree>
    <p:extLst>
      <p:ext uri="{BB962C8B-B14F-4D97-AF65-F5344CB8AC3E}">
        <p14:creationId xmlns:p14="http://schemas.microsoft.com/office/powerpoint/2010/main" val="21135762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177D6-40D7-48DD-87B4-880C9E38BD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DAA385-762F-AFA3-4E21-1C9623BD6976}"/>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A270D839-8D17-CACE-1EDD-41FFBA3A8284}"/>
              </a:ext>
            </a:extLst>
          </p:cNvPr>
          <p:cNvSpPr>
            <a:spLocks noGrp="1"/>
          </p:cNvSpPr>
          <p:nvPr>
            <p:ph type="body" sz="quarter" idx="10"/>
          </p:nvPr>
        </p:nvSpPr>
        <p:spPr/>
        <p:txBody>
          <a:bodyPr/>
          <a:lstStyle/>
          <a:p>
            <a:r>
              <a:rPr lang="ja-JP" altLang="en-US" dirty="0"/>
              <a:t>先輩から毎回の課題ができればテストも大丈夫だと聞いたのですが、課題以外の範囲も復習必須でしょうか？スライドが多く時間も多くはかけられないのでどこまで復習するか悩みます</a:t>
            </a:r>
            <a:endParaRPr kumimoji="1" lang="en-US" altLang="ja-JP" dirty="0"/>
          </a:p>
        </p:txBody>
      </p:sp>
    </p:spTree>
    <p:extLst>
      <p:ext uri="{BB962C8B-B14F-4D97-AF65-F5344CB8AC3E}">
        <p14:creationId xmlns:p14="http://schemas.microsoft.com/office/powerpoint/2010/main" val="29348031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903F5-BB6F-D2E1-689C-BEFDD76D4D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93D54E-E935-5DD6-F520-0FF957728D54}"/>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CA4C893-FEAB-469A-837D-332BC0D1414C}"/>
              </a:ext>
            </a:extLst>
          </p:cNvPr>
          <p:cNvSpPr>
            <a:spLocks noGrp="1"/>
          </p:cNvSpPr>
          <p:nvPr>
            <p:ph type="body" sz="quarter" idx="10"/>
          </p:nvPr>
        </p:nvSpPr>
        <p:spPr/>
        <p:txBody>
          <a:bodyPr/>
          <a:lstStyle/>
          <a:p>
            <a:r>
              <a:rPr lang="ja-JP" altLang="en-US" dirty="0"/>
              <a:t>課題もとても難しく、くじけそうです</a:t>
            </a:r>
            <a:r>
              <a:rPr lang="en-US" altLang="ja-JP" dirty="0"/>
              <a:t>…</a:t>
            </a:r>
            <a:endParaRPr kumimoji="1" lang="en-US" altLang="ja-JP" dirty="0"/>
          </a:p>
        </p:txBody>
      </p:sp>
    </p:spTree>
    <p:extLst>
      <p:ext uri="{BB962C8B-B14F-4D97-AF65-F5344CB8AC3E}">
        <p14:creationId xmlns:p14="http://schemas.microsoft.com/office/powerpoint/2010/main" val="8926833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7F83C-75D6-4823-521E-B8B89BB129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04D4C7-C18D-9CC4-A4A8-1E1AEEEF0F77}"/>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E6243CB4-90F9-48CE-3ED3-A8B72593747B}"/>
              </a:ext>
            </a:extLst>
          </p:cNvPr>
          <p:cNvSpPr>
            <a:spLocks noGrp="1"/>
          </p:cNvSpPr>
          <p:nvPr>
            <p:ph type="body" sz="quarter" idx="10"/>
          </p:nvPr>
        </p:nvSpPr>
        <p:spPr/>
        <p:txBody>
          <a:bodyPr/>
          <a:lstStyle/>
          <a:p>
            <a:r>
              <a:rPr lang="ja-JP" altLang="en-US" dirty="0"/>
              <a:t>命令セットアーキテクチャが違うと互換性がないとのことですが、例えば</a:t>
            </a:r>
            <a:r>
              <a:rPr lang="en-US" altLang="ja-JP" dirty="0"/>
              <a:t>Mac</a:t>
            </a:r>
            <a:r>
              <a:rPr lang="ja-JP" altLang="en-US" dirty="0"/>
              <a:t>と</a:t>
            </a:r>
            <a:r>
              <a:rPr lang="en-US" altLang="ja-JP" dirty="0"/>
              <a:t>Windows</a:t>
            </a:r>
            <a:r>
              <a:rPr lang="ja-JP" altLang="en-US" dirty="0"/>
              <a:t>の命令セットアーキテクチャは異なると言うことでしょうか？</a:t>
            </a:r>
            <a:br>
              <a:rPr lang="en-US" altLang="ja-JP" dirty="0"/>
            </a:br>
            <a:r>
              <a:rPr lang="ja-JP" altLang="en-US" dirty="0"/>
              <a:t>そうならば、互換性のないコンピュータにて同じプログラミング言語を使えるって凄いことですね</a:t>
            </a:r>
            <a:r>
              <a:rPr lang="en-US" altLang="ja-JP" dirty="0"/>
              <a:t>………</a:t>
            </a:r>
            <a:r>
              <a:rPr lang="ja-JP" altLang="en-US" dirty="0"/>
              <a:t>！</a:t>
            </a:r>
            <a:endParaRPr kumimoji="1" lang="en-US" altLang="ja-JP" dirty="0"/>
          </a:p>
        </p:txBody>
      </p:sp>
    </p:spTree>
    <p:extLst>
      <p:ext uri="{BB962C8B-B14F-4D97-AF65-F5344CB8AC3E}">
        <p14:creationId xmlns:p14="http://schemas.microsoft.com/office/powerpoint/2010/main" val="1470020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F873-3A99-9A3D-53F2-F2BAEFDA97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3E0354-AE0A-97B7-8C99-0EEAD2C427D4}"/>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C4611D64-29C0-8AE4-63C2-9A12B855A392}"/>
              </a:ext>
            </a:extLst>
          </p:cNvPr>
          <p:cNvSpPr>
            <a:spLocks noGrp="1"/>
          </p:cNvSpPr>
          <p:nvPr>
            <p:ph type="body" sz="quarter" idx="10"/>
          </p:nvPr>
        </p:nvSpPr>
        <p:spPr/>
        <p:txBody>
          <a:bodyPr/>
          <a:lstStyle/>
          <a:p>
            <a:r>
              <a:rPr lang="en-US" altLang="ja-JP" dirty="0"/>
              <a:t>LABEL: </a:t>
            </a:r>
            <a:r>
              <a:rPr lang="ja-JP" altLang="en-US" dirty="0"/>
              <a:t>という表記以外は左詰めではなく空白を作るといった決まりはありますか？</a:t>
            </a:r>
            <a:endParaRPr kumimoji="1" lang="en-US" altLang="ja-JP" dirty="0"/>
          </a:p>
        </p:txBody>
      </p:sp>
    </p:spTree>
    <p:extLst>
      <p:ext uri="{BB962C8B-B14F-4D97-AF65-F5344CB8AC3E}">
        <p14:creationId xmlns:p14="http://schemas.microsoft.com/office/powerpoint/2010/main" val="2427839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57327-372B-8B96-7453-BA94928424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99856C-DE62-3F2D-1987-74186A6C0A28}"/>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4D5D934F-D857-1782-E606-E817BA7B7C00}"/>
              </a:ext>
            </a:extLst>
          </p:cNvPr>
          <p:cNvSpPr>
            <a:spLocks noGrp="1"/>
          </p:cNvSpPr>
          <p:nvPr>
            <p:ph type="body" sz="quarter" idx="10"/>
          </p:nvPr>
        </p:nvSpPr>
        <p:spPr/>
        <p:txBody>
          <a:bodyPr/>
          <a:lstStyle/>
          <a:p>
            <a:r>
              <a:rPr lang="ja-JP" altLang="en-US" dirty="0"/>
              <a:t>授業資料に乗っているアセンブリ言語の例は公式に使われている文法ですか？</a:t>
            </a:r>
            <a:endParaRPr kumimoji="1" lang="en-US" altLang="ja-JP" dirty="0"/>
          </a:p>
        </p:txBody>
      </p:sp>
    </p:spTree>
    <p:extLst>
      <p:ext uri="{BB962C8B-B14F-4D97-AF65-F5344CB8AC3E}">
        <p14:creationId xmlns:p14="http://schemas.microsoft.com/office/powerpoint/2010/main" val="27989286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67978-78EF-15AE-826F-0BF3AC9841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8817DB2-D071-5AF2-450E-AAE025739B60}"/>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DBD2A2AB-F7A5-C025-538B-58E9387317B6}"/>
              </a:ext>
            </a:extLst>
          </p:cNvPr>
          <p:cNvSpPr>
            <a:spLocks noGrp="1"/>
          </p:cNvSpPr>
          <p:nvPr>
            <p:ph type="body" sz="quarter" idx="10"/>
          </p:nvPr>
        </p:nvSpPr>
        <p:spPr/>
        <p:txBody>
          <a:bodyPr/>
          <a:lstStyle/>
          <a:p>
            <a:r>
              <a:rPr lang="ja-JP" altLang="en-US" dirty="0"/>
              <a:t>もし授業中に説明されていた内容でしたらすみません。</a:t>
            </a:r>
            <a:br>
              <a:rPr lang="ja-JP" altLang="en-US" dirty="0"/>
            </a:br>
            <a:r>
              <a:rPr lang="ja-JP" altLang="en-US" dirty="0"/>
              <a:t>今回のスライドの</a:t>
            </a:r>
            <a:r>
              <a:rPr lang="en-US" altLang="ja-JP" dirty="0"/>
              <a:t>p.53</a:t>
            </a:r>
            <a:r>
              <a:rPr lang="ja-JP" altLang="en-US" dirty="0"/>
              <a:t>と</a:t>
            </a:r>
            <a:r>
              <a:rPr lang="en-US" altLang="ja-JP" dirty="0"/>
              <a:t>p.77,78</a:t>
            </a:r>
            <a:r>
              <a:rPr lang="ja-JP" altLang="en-US" dirty="0"/>
              <a:t>の「</a:t>
            </a:r>
            <a:r>
              <a:rPr lang="en-US" altLang="ja-JP" dirty="0"/>
              <a:t>LABEL</a:t>
            </a:r>
            <a:r>
              <a:rPr lang="ja-JP" altLang="en-US" dirty="0"/>
              <a:t>」は、同じ働きをするものなのでしょうか。</a:t>
            </a:r>
            <a:br>
              <a:rPr lang="ja-JP" altLang="en-US" dirty="0"/>
            </a:br>
            <a:r>
              <a:rPr lang="ja-JP" altLang="en-US" dirty="0"/>
              <a:t>書き方を見ると、</a:t>
            </a:r>
            <a:r>
              <a:rPr lang="en-US" altLang="ja-JP" dirty="0"/>
              <a:t>p.53</a:t>
            </a:r>
            <a:r>
              <a:rPr lang="ja-JP" altLang="en-US" dirty="0"/>
              <a:t>は</a:t>
            </a:r>
            <a:r>
              <a:rPr lang="en-US" altLang="ja-JP" dirty="0"/>
              <a:t>C</a:t>
            </a:r>
            <a:r>
              <a:rPr lang="ja-JP" altLang="en-US" dirty="0"/>
              <a:t>言語で</a:t>
            </a:r>
            <a:r>
              <a:rPr lang="en-US" altLang="ja-JP" dirty="0"/>
              <a:t>p.77,78</a:t>
            </a:r>
            <a:r>
              <a:rPr lang="ja-JP" altLang="en-US" dirty="0"/>
              <a:t>はアセンブリ言語のように感じました。</a:t>
            </a:r>
            <a:br>
              <a:rPr lang="ja-JP" altLang="en-US" dirty="0"/>
            </a:br>
            <a:r>
              <a:rPr lang="ja-JP" altLang="en-US" dirty="0"/>
              <a:t>どちらの言語でもラベルは使えるのでしょうか？</a:t>
            </a:r>
            <a:br>
              <a:rPr lang="ja-JP" altLang="en-US" dirty="0"/>
            </a:br>
            <a:r>
              <a:rPr lang="ja-JP" altLang="en-US" dirty="0"/>
              <a:t>その場合、条件文を書く際には、</a:t>
            </a:r>
            <a:r>
              <a:rPr lang="en-US" altLang="ja-JP" dirty="0"/>
              <a:t>LABEL</a:t>
            </a:r>
            <a:r>
              <a:rPr lang="ja-JP" altLang="en-US" dirty="0"/>
              <a:t>を使うかアドレスを直接打ち込むかどちらを使うべきか教えていただきたいです。</a:t>
            </a:r>
            <a:endParaRPr kumimoji="1" lang="en-US" altLang="ja-JP" dirty="0"/>
          </a:p>
        </p:txBody>
      </p:sp>
    </p:spTree>
    <p:extLst>
      <p:ext uri="{BB962C8B-B14F-4D97-AF65-F5344CB8AC3E}">
        <p14:creationId xmlns:p14="http://schemas.microsoft.com/office/powerpoint/2010/main" val="3400020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2CC35-4CD5-D362-7168-0504F5A1BE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9A7428-C650-2999-699B-58F25635C5F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22E87F2-DAC7-B484-CD2F-CC90DCAF2B92}"/>
              </a:ext>
            </a:extLst>
          </p:cNvPr>
          <p:cNvSpPr>
            <a:spLocks noGrp="1"/>
          </p:cNvSpPr>
          <p:nvPr>
            <p:ph type="body" sz="quarter" idx="10"/>
          </p:nvPr>
        </p:nvSpPr>
        <p:spPr/>
        <p:txBody>
          <a:bodyPr/>
          <a:lstStyle/>
          <a:p>
            <a:r>
              <a:rPr lang="ja-JP" altLang="en-US" dirty="0"/>
              <a:t>定義したラベルが前の方にありその後ろにそのラベルに飛ぶという命令がある時（ループするやつ）、一周目のラベルの定義の中身は実行されるのでしょうか？それとも、ラベルに飛ぶという指示が出るまでラベルの中身は実行されないのでしょうか？</a:t>
            </a:r>
            <a:endParaRPr lang="en-US" altLang="ja-JP" dirty="0"/>
          </a:p>
          <a:p>
            <a:r>
              <a:rPr lang="ja-JP" altLang="en-US" dirty="0"/>
              <a:t>また、課題はループしないようでしたのでこのように提出したのですが、ラベルに飛ぶという指示の後にラベルの定義を書くのは問題ないのでしょうか？</a:t>
            </a:r>
            <a:endParaRPr kumimoji="1" lang="en-US" altLang="ja-JP" dirty="0"/>
          </a:p>
        </p:txBody>
      </p:sp>
    </p:spTree>
    <p:extLst>
      <p:ext uri="{BB962C8B-B14F-4D97-AF65-F5344CB8AC3E}">
        <p14:creationId xmlns:p14="http://schemas.microsoft.com/office/powerpoint/2010/main" val="16524787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C9D79-6DD6-3B1D-D499-ED2EFDB756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4BBF97-2D06-E00A-9B31-EC7EC9B4757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E634646B-A6C6-1235-14B1-D709FE815991}"/>
              </a:ext>
            </a:extLst>
          </p:cNvPr>
          <p:cNvSpPr>
            <a:spLocks noGrp="1"/>
          </p:cNvSpPr>
          <p:nvPr>
            <p:ph type="body" sz="quarter" idx="10"/>
          </p:nvPr>
        </p:nvSpPr>
        <p:spPr/>
        <p:txBody>
          <a:bodyPr/>
          <a:lstStyle/>
          <a:p>
            <a:r>
              <a:rPr lang="ja-JP" altLang="en-US" dirty="0"/>
              <a:t>アセンブリ言語に入っている幾つかの命令から、さまざまな処理を維持できる点がおもしろかった。</a:t>
            </a:r>
            <a:r>
              <a:rPr lang="en-US" altLang="ja-JP" dirty="0"/>
              <a:t>Program Counter</a:t>
            </a:r>
            <a:r>
              <a:rPr lang="ja-JP" altLang="en-US" dirty="0"/>
              <a:t>の略称</a:t>
            </a:r>
            <a:r>
              <a:rPr lang="en-US" altLang="ja-JP" dirty="0"/>
              <a:t>PC</a:t>
            </a:r>
            <a:r>
              <a:rPr lang="ja-JP" altLang="en-US" dirty="0"/>
              <a:t>は、無意識に</a:t>
            </a:r>
            <a:r>
              <a:rPr lang="en-US" altLang="ja-JP" dirty="0"/>
              <a:t>Personal Computer</a:t>
            </a:r>
            <a:r>
              <a:rPr lang="ja-JP" altLang="en-US" dirty="0"/>
              <a:t>と呼んでしまうので混乱した。</a:t>
            </a:r>
            <a:endParaRPr kumimoji="1" lang="en-US" altLang="ja-JP" dirty="0"/>
          </a:p>
        </p:txBody>
      </p:sp>
    </p:spTree>
    <p:extLst>
      <p:ext uri="{BB962C8B-B14F-4D97-AF65-F5344CB8AC3E}">
        <p14:creationId xmlns:p14="http://schemas.microsoft.com/office/powerpoint/2010/main" val="2691001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DF8D2-B1B7-F47A-D745-400AD467C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DCD08A-825A-2A16-63A3-0F32D28DC75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7D7E762-9A35-84AE-C085-4D9D3490C3A0}"/>
              </a:ext>
            </a:extLst>
          </p:cNvPr>
          <p:cNvSpPr>
            <a:spLocks noGrp="1"/>
          </p:cNvSpPr>
          <p:nvPr>
            <p:ph type="body" sz="quarter" idx="10"/>
          </p:nvPr>
        </p:nvSpPr>
        <p:spPr/>
        <p:txBody>
          <a:bodyPr/>
          <a:lstStyle/>
          <a:p>
            <a:r>
              <a:rPr lang="ja-JP" altLang="en-US" sz="1600" dirty="0"/>
              <a:t>①</a:t>
            </a:r>
            <a:r>
              <a:rPr lang="en-US" altLang="ja-JP" sz="1600" dirty="0"/>
              <a:t>LABEL</a:t>
            </a:r>
            <a:r>
              <a:rPr lang="ja-JP" altLang="en-US" sz="1600" dirty="0"/>
              <a:t>がついているメモリ番地から下の番地は、ジャンプしない限りは読まれないのですか。それによって</a:t>
            </a:r>
            <a:r>
              <a:rPr lang="en-US" altLang="ja-JP" sz="1600" dirty="0"/>
              <a:t>(2)</a:t>
            </a:r>
            <a:r>
              <a:rPr lang="ja-JP" altLang="en-US" sz="1600" dirty="0"/>
              <a:t>の書き方が変わってくると思いました。</a:t>
            </a:r>
          </a:p>
          <a:p>
            <a:r>
              <a:rPr lang="ja-JP" altLang="en-US" sz="1600" dirty="0"/>
              <a:t>②</a:t>
            </a:r>
            <a:r>
              <a:rPr lang="en-US" altLang="ja-JP" sz="1600" dirty="0"/>
              <a:t>(1)</a:t>
            </a:r>
            <a:r>
              <a:rPr lang="ja-JP" altLang="en-US" sz="1600" dirty="0"/>
              <a:t>で</a:t>
            </a:r>
            <a:r>
              <a:rPr lang="en-US" altLang="ja-JP" sz="1600" dirty="0"/>
              <a:t>LABEL</a:t>
            </a:r>
            <a:r>
              <a:rPr lang="ja-JP" altLang="en-US" sz="1600" dirty="0"/>
              <a:t>とそれに続く式を書くべき位置がわからないのですが、もしかしてどこでもいいのですか。</a:t>
            </a:r>
          </a:p>
          <a:p>
            <a:r>
              <a:rPr lang="ja-JP" altLang="en-US" sz="1600" dirty="0"/>
              <a:t>③</a:t>
            </a:r>
            <a:r>
              <a:rPr lang="en-US" altLang="ja-JP" sz="1600" dirty="0"/>
              <a:t>li 0x420-&gt; B </a:t>
            </a:r>
            <a:r>
              <a:rPr lang="ja-JP" altLang="en-US" sz="1600" dirty="0"/>
              <a:t>ってこんなにたくさん書く必要ありますか。</a:t>
            </a:r>
          </a:p>
          <a:p>
            <a:r>
              <a:rPr lang="ja-JP" altLang="en-US" sz="1600" dirty="0"/>
              <a:t>④メモリに書いてある命令はどうなったら終了なのですか。</a:t>
            </a:r>
            <a:r>
              <a:rPr lang="en-US" altLang="ja-JP" sz="1600" dirty="0"/>
              <a:t>end</a:t>
            </a:r>
            <a:r>
              <a:rPr lang="ja-JP" altLang="en-US" sz="1600" dirty="0"/>
              <a:t>とかを書くのでしょうか。</a:t>
            </a:r>
          </a:p>
          <a:p>
            <a:r>
              <a:rPr lang="ja-JP" altLang="en-US" sz="1600" dirty="0"/>
              <a:t>また</a:t>
            </a:r>
            <a:r>
              <a:rPr lang="en-US" altLang="ja-JP" sz="1600" dirty="0"/>
              <a:t>LABEL</a:t>
            </a:r>
            <a:r>
              <a:rPr lang="ja-JP" altLang="en-US" sz="1600" dirty="0"/>
              <a:t>があるところとその下の式は</a:t>
            </a:r>
            <a:r>
              <a:rPr lang="en-US" altLang="ja-JP" sz="1600" dirty="0"/>
              <a:t>if</a:t>
            </a:r>
            <a:r>
              <a:rPr lang="ja-JP" altLang="en-US" sz="1600" dirty="0"/>
              <a:t>文が</a:t>
            </a:r>
            <a:r>
              <a:rPr lang="en-US" altLang="ja-JP" sz="1600" dirty="0"/>
              <a:t>false</a:t>
            </a:r>
            <a:r>
              <a:rPr lang="ja-JP" altLang="en-US" sz="1600" dirty="0"/>
              <a:t>の時でもスキップしないで読まれてしまうのですか。</a:t>
            </a:r>
          </a:p>
          <a:p>
            <a:r>
              <a:rPr lang="ja-JP" altLang="en-US" sz="1600" dirty="0"/>
              <a:t>⑤</a:t>
            </a:r>
            <a:r>
              <a:rPr lang="en-US" altLang="ja-JP" sz="1600" dirty="0"/>
              <a:t>if</a:t>
            </a:r>
            <a:r>
              <a:rPr lang="ja-JP" altLang="en-US" sz="1600" dirty="0"/>
              <a:t>文が真の時、何も処理をしなくても値は変わらないので、何も処理をしないというのは、プログラム通りではないですがメモリの節約にはなるので良いとは思ったのですが実際はどうなのでしょう。</a:t>
            </a:r>
          </a:p>
          <a:p>
            <a:endParaRPr kumimoji="1" lang="en-US" altLang="ja-JP" sz="1600" dirty="0"/>
          </a:p>
        </p:txBody>
      </p:sp>
    </p:spTree>
    <p:extLst>
      <p:ext uri="{BB962C8B-B14F-4D97-AF65-F5344CB8AC3E}">
        <p14:creationId xmlns:p14="http://schemas.microsoft.com/office/powerpoint/2010/main" val="3141704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A132A-BCCA-C444-B6D5-5586C8DD09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D190089-8F1B-A709-937B-6255835E6933}"/>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23E00411-DC27-F112-5288-FACEBA799D22}"/>
              </a:ext>
            </a:extLst>
          </p:cNvPr>
          <p:cNvSpPr>
            <a:spLocks noGrp="1"/>
          </p:cNvSpPr>
          <p:nvPr>
            <p:ph type="body" sz="quarter" idx="10"/>
          </p:nvPr>
        </p:nvSpPr>
        <p:spPr/>
        <p:txBody>
          <a:bodyPr/>
          <a:lstStyle/>
          <a:p>
            <a:r>
              <a:rPr lang="ja-JP" altLang="en-US" dirty="0"/>
              <a:t>アドレスやポインタに対して若干の苦手意識があるのですが、この授業でコンピュータの中身について知っていくことで二重ポインタや三重ポインタも臆することなく使えるようになりたいと思いました。</a:t>
            </a:r>
            <a:endParaRPr kumimoji="1" lang="en-US" altLang="ja-JP" dirty="0"/>
          </a:p>
        </p:txBody>
      </p:sp>
    </p:spTree>
    <p:extLst>
      <p:ext uri="{BB962C8B-B14F-4D97-AF65-F5344CB8AC3E}">
        <p14:creationId xmlns:p14="http://schemas.microsoft.com/office/powerpoint/2010/main" val="6914352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A366E-F2ED-91B5-0CC0-5B8973D48D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D2CCF04-4711-3D36-87D4-1D062F65843B}"/>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1FE9BA2E-6B02-4E4A-A16D-BE1FC486672B}"/>
              </a:ext>
            </a:extLst>
          </p:cNvPr>
          <p:cNvSpPr>
            <a:spLocks noGrp="1"/>
          </p:cNvSpPr>
          <p:nvPr>
            <p:ph type="body" sz="quarter" idx="10"/>
          </p:nvPr>
        </p:nvSpPr>
        <p:spPr/>
        <p:txBody>
          <a:bodyPr/>
          <a:lstStyle/>
          <a:p>
            <a:r>
              <a:rPr lang="ja-JP" altLang="en-US" dirty="0"/>
              <a:t>カレーのレシピで例えるのが分かりやすかったです。用語をどこまで覚えないといけないのかが気になってます。</a:t>
            </a:r>
            <a:endParaRPr kumimoji="1" lang="en-US" altLang="ja-JP" dirty="0"/>
          </a:p>
        </p:txBody>
      </p:sp>
    </p:spTree>
    <p:extLst>
      <p:ext uri="{BB962C8B-B14F-4D97-AF65-F5344CB8AC3E}">
        <p14:creationId xmlns:p14="http://schemas.microsoft.com/office/powerpoint/2010/main" val="3309116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65C8E-DE11-1687-1D59-1254CBCDF4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BE52DD-086F-8460-A558-9BA2A30F608C}"/>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BA1335DD-471D-D870-C1EC-CB7D9CE63FCC}"/>
              </a:ext>
            </a:extLst>
          </p:cNvPr>
          <p:cNvSpPr>
            <a:spLocks noGrp="1"/>
          </p:cNvSpPr>
          <p:nvPr>
            <p:ph type="body" sz="quarter" idx="10"/>
          </p:nvPr>
        </p:nvSpPr>
        <p:spPr/>
        <p:txBody>
          <a:bodyPr/>
          <a:lstStyle/>
          <a:p>
            <a:r>
              <a:rPr lang="ja-JP" altLang="en-US" dirty="0"/>
              <a:t>アセンブリ言語の名前の由来などはありますか？</a:t>
            </a:r>
            <a:endParaRPr kumimoji="1" lang="en-US" altLang="ja-JP" dirty="0"/>
          </a:p>
        </p:txBody>
      </p:sp>
    </p:spTree>
    <p:extLst>
      <p:ext uri="{BB962C8B-B14F-4D97-AF65-F5344CB8AC3E}">
        <p14:creationId xmlns:p14="http://schemas.microsoft.com/office/powerpoint/2010/main" val="3016448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13239-776C-A440-CDAA-69B772C28A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F356BC-1B8E-38DD-EF3F-284A83FA379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4DA66E43-26E7-0C6A-9A64-D01655890533}"/>
              </a:ext>
            </a:extLst>
          </p:cNvPr>
          <p:cNvSpPr>
            <a:spLocks noGrp="1"/>
          </p:cNvSpPr>
          <p:nvPr>
            <p:ph type="body" sz="quarter" idx="10"/>
          </p:nvPr>
        </p:nvSpPr>
        <p:spPr/>
        <p:txBody>
          <a:bodyPr/>
          <a:lstStyle/>
          <a:p>
            <a:r>
              <a:rPr lang="ja-JP" altLang="en-US" dirty="0"/>
              <a:t>アセンブリ言語という存在を初めて知りました。</a:t>
            </a:r>
            <a:r>
              <a:rPr lang="en-US" altLang="ja-JP" dirty="0"/>
              <a:t>C</a:t>
            </a:r>
            <a:r>
              <a:rPr lang="ja-JP" altLang="en-US" dirty="0"/>
              <a:t>言語は１年生の頃から習ってきたが分かりにくいことも多くありました。アセンブリ言語は読みやすくて起こっていることを把握しやすく、人間とコンピュータを繋ぐと感じられました。アセンブリ言語をはじめに習いたかったです。</a:t>
            </a:r>
            <a:endParaRPr kumimoji="1" lang="en-US" altLang="ja-JP" dirty="0"/>
          </a:p>
        </p:txBody>
      </p:sp>
    </p:spTree>
    <p:extLst>
      <p:ext uri="{BB962C8B-B14F-4D97-AF65-F5344CB8AC3E}">
        <p14:creationId xmlns:p14="http://schemas.microsoft.com/office/powerpoint/2010/main" val="1436221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CE537-C5D1-F79B-41CF-CB2A0594EE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C094A5E-91F1-9855-9B55-83AC597A4356}"/>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20324B94-4BFD-6881-C827-9FC5F8F73536}"/>
              </a:ext>
            </a:extLst>
          </p:cNvPr>
          <p:cNvSpPr>
            <a:spLocks noGrp="1"/>
          </p:cNvSpPr>
          <p:nvPr>
            <p:ph type="body" sz="quarter" idx="10"/>
          </p:nvPr>
        </p:nvSpPr>
        <p:spPr/>
        <p:txBody>
          <a:bodyPr/>
          <a:lstStyle/>
          <a:p>
            <a:r>
              <a:rPr lang="ja-JP" altLang="en-US" dirty="0"/>
              <a:t>質問</a:t>
            </a:r>
            <a:r>
              <a:rPr lang="en-US" altLang="ja-JP" dirty="0"/>
              <a:t>,</a:t>
            </a:r>
            <a:r>
              <a:rPr lang="ja-JP" altLang="en-US" dirty="0"/>
              <a:t>感想</a:t>
            </a:r>
            <a:r>
              <a:rPr lang="en-US" altLang="ja-JP" dirty="0"/>
              <a:t>:</a:t>
            </a:r>
            <a:r>
              <a:rPr lang="ja-JP" altLang="en-US" dirty="0"/>
              <a:t>アドレスとポインタの話がとても難しかったです。プログラムを書いているときもどこにアクセスしているかわからなくなってしまうことが多いので復習します。期末テストは今回のアドレスなどの内容がわかってないとまずいですか？頑張ります。</a:t>
            </a:r>
            <a:endParaRPr kumimoji="1" lang="en-US" altLang="ja-JP" dirty="0"/>
          </a:p>
        </p:txBody>
      </p:sp>
    </p:spTree>
    <p:extLst>
      <p:ext uri="{BB962C8B-B14F-4D97-AF65-F5344CB8AC3E}">
        <p14:creationId xmlns:p14="http://schemas.microsoft.com/office/powerpoint/2010/main" val="10564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904E-BE49-D9C2-755B-FFB64722EF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02AD32-68E7-E233-E652-892DDA5D913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7F56A7A6-D926-314F-50AE-CFA08CF306F5}"/>
              </a:ext>
            </a:extLst>
          </p:cNvPr>
          <p:cNvSpPr>
            <a:spLocks noGrp="1"/>
          </p:cNvSpPr>
          <p:nvPr>
            <p:ph type="body" sz="quarter" idx="10"/>
          </p:nvPr>
        </p:nvSpPr>
        <p:spPr/>
        <p:txBody>
          <a:bodyPr/>
          <a:lstStyle/>
          <a:p>
            <a:r>
              <a:rPr lang="ja-JP" altLang="en-US" dirty="0"/>
              <a:t>スライド</a:t>
            </a:r>
            <a:r>
              <a:rPr lang="en-US" altLang="ja-JP" dirty="0"/>
              <a:t>48</a:t>
            </a:r>
            <a:r>
              <a:rPr lang="ja-JP" altLang="en-US" dirty="0"/>
              <a:t>頁の</a:t>
            </a:r>
            <a:r>
              <a:rPr lang="en-US" altLang="ja-JP" dirty="0" err="1"/>
              <a:t>i</a:t>
            </a:r>
            <a:r>
              <a:rPr lang="ja-JP" altLang="en-US" dirty="0"/>
              <a:t>について、グローバル変数としている理由を知りたいと思いました。ローカル変数だと不都合があるのでしょうか。</a:t>
            </a:r>
            <a:endParaRPr kumimoji="1" lang="en-US" altLang="ja-JP" dirty="0"/>
          </a:p>
        </p:txBody>
      </p:sp>
    </p:spTree>
    <p:extLst>
      <p:ext uri="{BB962C8B-B14F-4D97-AF65-F5344CB8AC3E}">
        <p14:creationId xmlns:p14="http://schemas.microsoft.com/office/powerpoint/2010/main" val="3860103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E8B0F-25AF-61E3-D990-4C2EF1E1EA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4ACCE2-2597-C9B6-8B5B-74926906D88D}"/>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D5D6BD2-11CA-F99A-C730-2DE3BF4BEE71}"/>
              </a:ext>
            </a:extLst>
          </p:cNvPr>
          <p:cNvSpPr>
            <a:spLocks noGrp="1"/>
          </p:cNvSpPr>
          <p:nvPr>
            <p:ph type="body" sz="quarter" idx="10"/>
          </p:nvPr>
        </p:nvSpPr>
        <p:spPr/>
        <p:txBody>
          <a:bodyPr/>
          <a:lstStyle/>
          <a:p>
            <a:r>
              <a:rPr lang="ja-JP" altLang="en-US" dirty="0"/>
              <a:t>用語を問われるような問題も期末テストに出ますか。それとも今回の課題のような問題が中心ですか。</a:t>
            </a:r>
            <a:endParaRPr kumimoji="1" lang="en-US" altLang="ja-JP" dirty="0"/>
          </a:p>
        </p:txBody>
      </p:sp>
    </p:spTree>
    <p:extLst>
      <p:ext uri="{BB962C8B-B14F-4D97-AF65-F5344CB8AC3E}">
        <p14:creationId xmlns:p14="http://schemas.microsoft.com/office/powerpoint/2010/main" val="2097961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A5335-34FD-7478-747C-881749F67D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02E9336-2B69-B877-C872-579BE38F49C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5A8FF177-6991-5FD8-A875-2673DF3EB353}"/>
              </a:ext>
            </a:extLst>
          </p:cNvPr>
          <p:cNvSpPr>
            <a:spLocks noGrp="1"/>
          </p:cNvSpPr>
          <p:nvPr>
            <p:ph type="body" sz="quarter" idx="10"/>
          </p:nvPr>
        </p:nvSpPr>
        <p:spPr/>
        <p:txBody>
          <a:bodyPr/>
          <a:lstStyle/>
          <a:p>
            <a:r>
              <a:rPr lang="en-US" altLang="ja-JP" dirty="0"/>
              <a:t>C</a:t>
            </a:r>
            <a:r>
              <a:rPr lang="ja-JP" altLang="en-US" dirty="0"/>
              <a:t>言語のループの置き換えについて、</a:t>
            </a:r>
            <a:r>
              <a:rPr lang="en-US" altLang="ja-JP" dirty="0"/>
              <a:t>B</a:t>
            </a:r>
            <a:r>
              <a:rPr lang="ja-JP" altLang="en-US" dirty="0"/>
              <a:t>と</a:t>
            </a:r>
            <a:r>
              <a:rPr lang="en-US" altLang="ja-JP" dirty="0"/>
              <a:t>(B)</a:t>
            </a:r>
            <a:r>
              <a:rPr lang="ja-JP" altLang="en-US" dirty="0"/>
              <a:t>の違いは何でしょうか？</a:t>
            </a:r>
            <a:endParaRPr kumimoji="1" lang="en-US" altLang="ja-JP" dirty="0"/>
          </a:p>
        </p:txBody>
      </p:sp>
    </p:spTree>
    <p:extLst>
      <p:ext uri="{BB962C8B-B14F-4D97-AF65-F5344CB8AC3E}">
        <p14:creationId xmlns:p14="http://schemas.microsoft.com/office/powerpoint/2010/main" val="1207936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C1CB5-C2E9-8B43-E906-D56FDF0A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C98494-861A-27DC-BCB2-6AF3B710B757}"/>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838D6C47-204B-9BB6-24A1-96A735D042AF}"/>
              </a:ext>
            </a:extLst>
          </p:cNvPr>
          <p:cNvSpPr>
            <a:spLocks noGrp="1"/>
          </p:cNvSpPr>
          <p:nvPr>
            <p:ph type="body" sz="quarter" idx="10"/>
          </p:nvPr>
        </p:nvSpPr>
        <p:spPr/>
        <p:txBody>
          <a:bodyPr/>
          <a:lstStyle/>
          <a:p>
            <a:r>
              <a:rPr lang="ja-JP" altLang="ja-JP" dirty="0"/>
              <a:t>普段プログラミングをする際にはC言語や</a:t>
            </a:r>
            <a:r>
              <a:rPr lang="en-US" altLang="ja-JP" dirty="0"/>
              <a:t>Python</a:t>
            </a:r>
            <a:r>
              <a:rPr lang="ja-JP" altLang="ja-JP" dirty="0"/>
              <a:t>、Rなどを用いてコードを書くが、それらを全てアセンブリ言語に置き換えて記述することは可能なのかと、実際にアセンブリ言語はどこで使用されているのかが疑問に思った。</a:t>
            </a:r>
            <a:endParaRPr kumimoji="1" lang="en-US" altLang="ja-JP" dirty="0"/>
          </a:p>
        </p:txBody>
      </p:sp>
    </p:spTree>
    <p:extLst>
      <p:ext uri="{BB962C8B-B14F-4D97-AF65-F5344CB8AC3E}">
        <p14:creationId xmlns:p14="http://schemas.microsoft.com/office/powerpoint/2010/main" val="2863872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D0727-978C-F719-E311-36DD059B25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69A1961-5088-93BE-FDCB-C5140EBF8FA8}"/>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E4528B0-FA77-D6D7-AC25-1257E07EDE35}"/>
              </a:ext>
            </a:extLst>
          </p:cNvPr>
          <p:cNvSpPr>
            <a:spLocks noGrp="1"/>
          </p:cNvSpPr>
          <p:nvPr>
            <p:ph type="body" sz="quarter" idx="10"/>
          </p:nvPr>
        </p:nvSpPr>
        <p:spPr/>
        <p:txBody>
          <a:bodyPr/>
          <a:lstStyle/>
          <a:p>
            <a:r>
              <a:rPr lang="ja-JP" altLang="en-US" dirty="0"/>
              <a:t>「機械語⇒バイナリないしはアセンブリ言語で表現されたプログラム」というのが腑に落ちませんでした。アセンブリ言語と機械語は区別されるべきものではないのでしょうか。</a:t>
            </a:r>
            <a:endParaRPr kumimoji="1" lang="en-US" altLang="ja-JP" dirty="0"/>
          </a:p>
        </p:txBody>
      </p:sp>
    </p:spTree>
    <p:extLst>
      <p:ext uri="{BB962C8B-B14F-4D97-AF65-F5344CB8AC3E}">
        <p14:creationId xmlns:p14="http://schemas.microsoft.com/office/powerpoint/2010/main" val="4055631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BE370-D585-3436-9591-7C8F76CE5E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602D0A-BEE4-50BA-D891-F18D61E6AED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4C06E8B9-3F3D-5970-3AB2-6581E864651E}"/>
              </a:ext>
            </a:extLst>
          </p:cNvPr>
          <p:cNvSpPr>
            <a:spLocks noGrp="1"/>
          </p:cNvSpPr>
          <p:nvPr>
            <p:ph type="body" sz="quarter" idx="10"/>
          </p:nvPr>
        </p:nvSpPr>
        <p:spPr/>
        <p:txBody>
          <a:bodyPr/>
          <a:lstStyle/>
          <a:p>
            <a:r>
              <a:rPr lang="ja-JP" altLang="en-US" dirty="0"/>
              <a:t>バイナリはコンピュータが直接理解できる言語だという説明があったが、逆に人間が翻訳などなくバイナリだけを解読することは可能なのか気になった。</a:t>
            </a:r>
            <a:endParaRPr kumimoji="1" lang="en-US" altLang="ja-JP" dirty="0"/>
          </a:p>
        </p:txBody>
      </p:sp>
    </p:spTree>
    <p:extLst>
      <p:ext uri="{BB962C8B-B14F-4D97-AF65-F5344CB8AC3E}">
        <p14:creationId xmlns:p14="http://schemas.microsoft.com/office/powerpoint/2010/main" val="3062288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8FC48-432C-55C6-59BB-7F086A2041E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FEF3D8-B3E5-13B3-522F-F56953B036A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754320CF-7B1D-ACAD-A6DF-31D035125FBC}"/>
              </a:ext>
            </a:extLst>
          </p:cNvPr>
          <p:cNvSpPr>
            <a:spLocks noGrp="1"/>
          </p:cNvSpPr>
          <p:nvPr>
            <p:ph type="body" sz="quarter" idx="10"/>
          </p:nvPr>
        </p:nvSpPr>
        <p:spPr/>
        <p:txBody>
          <a:bodyPr/>
          <a:lstStyle/>
          <a:p>
            <a:r>
              <a:rPr lang="en-US" altLang="ja-JP" dirty="0"/>
              <a:t>RISC-V</a:t>
            </a:r>
            <a:r>
              <a:rPr lang="ja-JP" altLang="en-US" dirty="0"/>
              <a:t>のような命令セットの設計思想（</a:t>
            </a:r>
            <a:r>
              <a:rPr lang="en-US" altLang="ja-JP" dirty="0"/>
              <a:t>RISC</a:t>
            </a:r>
            <a:r>
              <a:rPr lang="ja-JP" altLang="en-US" dirty="0"/>
              <a:t>）において、命令をあえて単純化することで処理効率上が上がるのはもちろんだが、それがもたらす最大のメリットは何か気になった。</a:t>
            </a:r>
            <a:endParaRPr kumimoji="1" lang="en-US" altLang="ja-JP" dirty="0"/>
          </a:p>
        </p:txBody>
      </p:sp>
    </p:spTree>
    <p:extLst>
      <p:ext uri="{BB962C8B-B14F-4D97-AF65-F5344CB8AC3E}">
        <p14:creationId xmlns:p14="http://schemas.microsoft.com/office/powerpoint/2010/main" val="3173584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F759F-358A-E1E9-3524-798617BE1B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96592D-0568-6C48-A1E9-2D4FCD28CA2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A974499C-5A3C-A2D2-0D84-DCB1EFBB2508}"/>
              </a:ext>
            </a:extLst>
          </p:cNvPr>
          <p:cNvSpPr>
            <a:spLocks noGrp="1"/>
          </p:cNvSpPr>
          <p:nvPr>
            <p:ph type="body" sz="quarter" idx="10"/>
          </p:nvPr>
        </p:nvSpPr>
        <p:spPr/>
        <p:txBody>
          <a:bodyPr/>
          <a:lstStyle/>
          <a:p>
            <a:r>
              <a:rPr lang="ja-JP" altLang="en-US" dirty="0"/>
              <a:t>条件分岐では「条件が偽のときに分岐する」ように逆の条件で書くことが多いと感じたが、これはハードウェア的な制約によるものなのか、それとも効率の観点からそうしているのかが気になった。</a:t>
            </a:r>
            <a:endParaRPr kumimoji="1" lang="en-US" altLang="ja-JP" dirty="0"/>
          </a:p>
        </p:txBody>
      </p:sp>
    </p:spTree>
    <p:extLst>
      <p:ext uri="{BB962C8B-B14F-4D97-AF65-F5344CB8AC3E}">
        <p14:creationId xmlns:p14="http://schemas.microsoft.com/office/powerpoint/2010/main" val="2034847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cai-shioya-02</Template>
  <TotalTime>0</TotalTime>
  <Words>6423</Words>
  <Application>Microsoft Office PowerPoint</Application>
  <PresentationFormat>ワイド画面</PresentationFormat>
  <Paragraphs>976</Paragraphs>
  <Slides>97</Slides>
  <Notes>6</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97</vt:i4>
      </vt:variant>
    </vt:vector>
  </HeadingPairs>
  <TitlesOfParts>
    <vt:vector size="108" baseType="lpstr">
      <vt:lpstr>HG丸ｺﾞｼｯｸM-PRO</vt:lpstr>
      <vt:lpstr>MeiryoKe_PGothic</vt:lpstr>
      <vt:lpstr>メイリオ</vt:lpstr>
      <vt:lpstr>Arial Narrow</vt:lpstr>
      <vt:lpstr>Calibri</vt:lpstr>
      <vt:lpstr>Cambria Math</vt:lpstr>
      <vt:lpstr>Consolas</vt:lpstr>
      <vt:lpstr>Segoe UI</vt:lpstr>
      <vt:lpstr>Times New Roman</vt:lpstr>
      <vt:lpstr>Wingdings</vt:lpstr>
      <vt:lpstr>cerulean</vt:lpstr>
      <vt:lpstr>塩谷 亮太 (shioya@ci.i.u-tokyo.ac.jp) 東京大学大学院情報理工学系研究科 創造情報学専攻</vt:lpstr>
      <vt:lpstr>もくじ</vt:lpstr>
      <vt:lpstr>前回の振り返り （プログラムと簡単な CPU）</vt:lpstr>
      <vt:lpstr>プログラム</vt:lpstr>
      <vt:lpstr>例：A + B - C</vt:lpstr>
      <vt:lpstr>プログラムの表現と用語（１）</vt:lpstr>
      <vt:lpstr>プログラムの表現と用語（２）</vt:lpstr>
      <vt:lpstr>CPU</vt:lpstr>
      <vt:lpstr>CPU の動作</vt:lpstr>
      <vt:lpstr>1. 命令の読み出し（フェッチ）</vt:lpstr>
      <vt:lpstr>CPU の動作は料理に似ている</vt:lpstr>
      <vt:lpstr>課題２の解説</vt:lpstr>
      <vt:lpstr>課題２で使用する命令セット</vt:lpstr>
      <vt:lpstr>課題２で使用する命令セット</vt:lpstr>
      <vt:lpstr>課題２で使用する命令セット</vt:lpstr>
      <vt:lpstr>課題２で使用する命令セット</vt:lpstr>
      <vt:lpstr>課題２ (1, 2)</vt:lpstr>
      <vt:lpstr>補足１</vt:lpstr>
      <vt:lpstr>補足２</vt:lpstr>
      <vt:lpstr>解答例 (a)</vt:lpstr>
      <vt:lpstr>解答例 (b)</vt:lpstr>
      <vt:lpstr>２進数や１６進数による数値表現</vt:lpstr>
      <vt:lpstr>２進数や１６進数による数値表現</vt:lpstr>
      <vt:lpstr>表記方法</vt:lpstr>
      <vt:lpstr>現代のコンピュータは基本的に２進数ベースで出来ている</vt:lpstr>
      <vt:lpstr>現代のコンピュータは基本的に２進数ベースで出来ている</vt:lpstr>
      <vt:lpstr>情報分野では２進/１６進/１０進が混じって出てくる事が多い</vt:lpstr>
      <vt:lpstr>ではなぜ複数の表記を使うのか？</vt:lpstr>
      <vt:lpstr>２進数で表記する利点</vt:lpstr>
      <vt:lpstr>たとえば４ビットのデータを考える</vt:lpstr>
      <vt:lpstr>２進数の欠点</vt:lpstr>
      <vt:lpstr>１６進数</vt:lpstr>
      <vt:lpstr>２進数と１６進数の相互変化</vt:lpstr>
      <vt:lpstr>（余談）手計算でやるとき</vt:lpstr>
      <vt:lpstr>なぜ１６なのか？</vt:lpstr>
      <vt:lpstr>（余談）二進化十進表現（Binary-coded decimal: BCD）</vt:lpstr>
      <vt:lpstr>BCD</vt:lpstr>
      <vt:lpstr>論理回路による実装</vt:lpstr>
      <vt:lpstr>回路と遅延</vt:lpstr>
      <vt:lpstr>前回は，「C 言語で書かれたプログラムを動かすためには」という視点で上から迫っていた</vt:lpstr>
      <vt:lpstr>今回は，「コンピュータのハードを作るためには」 という視点で，さらに下がっていく</vt:lpstr>
      <vt:lpstr>論理回路の復習</vt:lpstr>
      <vt:lpstr>組み合わせ回路と順序回路</vt:lpstr>
      <vt:lpstr>組み合わせ回路の例：2入力論理ゲート</vt:lpstr>
      <vt:lpstr>完全性（Completeness，完備性）</vt:lpstr>
      <vt:lpstr>完全性の証明 {AND, OR, NOT}</vt:lpstr>
      <vt:lpstr>完全性の証明 {AND, OR, NOT}</vt:lpstr>
      <vt:lpstr>真理値表による表現と，積和標準系による回路</vt:lpstr>
      <vt:lpstr>回路の例：RISC-V の AND/OR/XOR 命令の演算</vt:lpstr>
      <vt:lpstr>制御の例：RISC-V の AND/OR/XOR 命令</vt:lpstr>
      <vt:lpstr>制御の例：RISC-V の AND/OR/XOR 命令</vt:lpstr>
      <vt:lpstr>マルチプレクサ：複数入力から1つを選ぶ回路</vt:lpstr>
      <vt:lpstr>選択信号を出すための論理関数</vt:lpstr>
      <vt:lpstr>回路の生成のまとめ</vt:lpstr>
      <vt:lpstr>回路の生成のまとめ</vt:lpstr>
      <vt:lpstr>組み合わせ回路と順序回路</vt:lpstr>
      <vt:lpstr>順序回路</vt:lpstr>
      <vt:lpstr>CPU の PC 部分</vt:lpstr>
      <vt:lpstr>記憶素子の例：D-FF（Flip Flop）</vt:lpstr>
      <vt:lpstr>D-FF の動作</vt:lpstr>
      <vt:lpstr>記憶素子の原理</vt:lpstr>
      <vt:lpstr>D-FF の実装</vt:lpstr>
      <vt:lpstr>D-FF の実現例</vt:lpstr>
      <vt:lpstr>メモリやレジスタ・ファイル</vt:lpstr>
      <vt:lpstr>組み合わせ回路/順序回路のまとめ</vt:lpstr>
      <vt:lpstr>これまでに説明した CPU の要素は，全てこれでカバー可能</vt:lpstr>
      <vt:lpstr>まとめ</vt:lpstr>
      <vt:lpstr>課題</vt:lpstr>
      <vt:lpstr>課題３</vt:lpstr>
      <vt:lpstr>感想や質問</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2026-05-12T05:27:43Z</dcterms:modified>
</cp:coreProperties>
</file>